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88952" cy="6858000"/>
  <p:notesSz cx="6858000" cy="12188952"/>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[~20s] “80 đơn hàng cần giao. 10 chiếc xe tải. Và công cụ điều phối duy nhất… là một file Excel. Bạn có thấy quen không? Đó là buổi sáng bình thường của rất nhiều doanh nghiệp vận tải Việt Nam — tuyến chồng chéo, xe chạy vòng, cuối ngày gần một phần ba số xe quay về tay không. Và đó chính là lý do GreenLogix ra đời — tối ưu vận chuyển, tiết kiệm chi phí, kiến tạo tương lai xanh!”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[~12s] “Câu chuyện đó không phải cá biệt. Logistics Việt Nam đang tiêu tốn tới 17% GDP — gấp rưỡi mức bình quân thế giới — trong khi 80% phát thải CO2 ngành giao thông đến từ đường bộ, và có tới 30-35% xe chạy rỗng mỗi ngày.”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[~10s] “Đứng sau bài toán đó là 5 sinh viên đa ngành — công nghệ, tài chính, kinh doanh — cùng chung một mục tiêu: xanh hoá logistics Việt Nam.”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[~15s] “Với chúng tôi, logistics xanh không phải một lựa chọn xa xỉ, mà là con đường tất yếu để doanh nghiệp Việt Nam phát triển bền vững. Đó cũng là lý do GreenLogix hướng tới trở thành nền tảng quản trị vận tải và phát thải hàng đầu Việt Nam, đồng hành cùng mục tiêu Net Zero 2050.”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[~20s] “Vậy GreenLogix giải quyết bài toán đó như thế nào? Nền tảng tự động sắp tuyến, chủ động cảnh báo lệch tuyến, ghép đơn chiều về để giảm xe chạy rỗng, và tự động đo lường — báo cáo CO2 theo chuẩn quốc tế GLEC và GHG Protocol — tất cả trên cùng một hệ thống.”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[~15s] “Toàn bộ được quản lý qua một giao diện trực quan: người quản lý tải đơn hàng lên, hệ thống tự nhóm tuyến, theo dõi vị trí xe theo thời gian thực, và xuất báo cáo phát thải chỉ trong vài cú nhấp chuột.”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[~15s] “Không chỉ vậy, khác với cách làm cũ vốn thủ công và không đo lường được phát thải, GreenLogix là nền tảng duy nhất kết hợp đồng thời tối ưu vận hành và đo lường CO2 minh bạch, truy vết đến từng đơn hàng cụ thể.”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[~20s] “Quay lại với kho hàng 80 đơn hàng, 10 xe tải ở đầu video — đó chính là kịch bản thực tế mà GreenLogix đã mô phỏng thành công trên MVP tại greenlogix.w9.nu. Với thời gian hoàn vốn khoảng 1,68 năm, IRR 28%, và lợi nhuận dương từ năm thứ hai, đây là mô hình vừa khả thi, vừa bền vững.”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[~20s] “Và hơn cả những con số, chúng tôi tin một tuyến đường không chạy rỗng cũng là một hơi thở trong lành hơn cho thành phố, một ngày làm việc nhẹ nhàng hơn cho người tài xế — nơi phát triển kinh tế và bảo vệ môi trường có thể song hành.”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[~10s] “Tối ưu vận chuyển, tiết kiệm chi phí, kiến tạo tương lai xanh — đó là những gì GreenLogix mang lại. Cảm ơn bạn đã dành thời gian đồng hành cùng chúng tôi.”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1.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image" Target="../media/image-7-8.png"/><Relationship Id="rId9" Type="http://schemas.openxmlformats.org/officeDocument/2006/relationships/slideLayout" Target="../slideLayouts/slideLayout1.xml"/><Relationship Id="rId10"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slideLayout" Target="../slideLayouts/slideLayout1.xml"/><Relationship Id="rId7"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1.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8FBF9"/>
        </a:solidFill>
      </p:bgPr>
    </p:bg>
    <p:spTree>
      <p:nvGrpSpPr>
        <p:cNvPr id="1" name=""/>
        <p:cNvGrpSpPr/>
        <p:nvPr/>
      </p:nvGrpSpPr>
      <p:grpSpPr>
        <a:xfrm>
          <a:off x="0" y="0"/>
          <a:ext cx="0" cy="0"/>
          <a:chOff x="0" y="0"/>
          <a:chExt cx="0" cy="0"/>
        </a:xfrm>
      </p:grpSpPr>
      <p:sp>
        <p:nvSpPr>
          <p:cNvPr id="3" name="Shape 0"/>
          <p:cNvSpPr/>
          <p:nvPr/>
        </p:nvSpPr>
        <p:spPr>
          <a:xfrm>
            <a:off x="548640" y="457200"/>
            <a:ext cx="357530" cy="357530"/>
          </a:xfrm>
          <a:prstGeom prst="ellipse">
            <a:avLst/>
          </a:prstGeom>
          <a:solidFill>
            <a:srgbClr val="146B39"/>
          </a:solidFill>
          <a:ln/>
        </p:spPr>
      </p:sp>
      <p:pic>
        <p:nvPicPr>
          <p:cNvPr id="4" name="Image 0" descr="preencoded.png">    </p:cNvPr>
          <p:cNvPicPr>
            <a:picLocks noChangeAspect="1"/>
          </p:cNvPicPr>
          <p:nvPr/>
        </p:nvPicPr>
        <p:blipFill>
          <a:blip r:embed="rId1"/>
          <a:stretch>
            <a:fillRect/>
          </a:stretch>
        </p:blipFill>
        <p:spPr>
          <a:xfrm>
            <a:off x="620146" y="528706"/>
            <a:ext cx="214518" cy="214518"/>
          </a:xfrm>
          <a:prstGeom prst="rect">
            <a:avLst/>
          </a:prstGeom>
        </p:spPr>
      </p:pic>
      <p:sp>
        <p:nvSpPr>
          <p:cNvPr id="5" name="Text 1"/>
          <p:cNvSpPr txBox="1"/>
          <p:nvPr/>
        </p:nvSpPr>
        <p:spPr>
          <a:xfrm>
            <a:off x="1015898" y="425653"/>
            <a:ext cx="3154680" cy="357530"/>
          </a:xfrm>
          <a:prstGeom prst="rect">
            <a:avLst/>
          </a:prstGeom>
          <a:noFill/>
          <a:ln/>
        </p:spPr>
        <p:txBody>
          <a:bodyPr wrap="square" lIns="0" tIns="0" rIns="0" bIns="0" rtlCol="0" anchor="ctr"/>
          <a:lstStyle/>
          <a:p>
            <a:pPr indent="0" marL="0">
              <a:buNone/>
            </a:pPr>
            <a:r>
              <a:rPr lang="en-US" sz="1725" b="1" dirty="0">
                <a:solidFill>
                  <a:srgbClr val="16211C"/>
                </a:solidFill>
                <a:latin typeface="Times New Roman" pitchFamily="34" charset="0"/>
                <a:ea typeface="Times New Roman" pitchFamily="34" charset="-122"/>
                <a:cs typeface="Times New Roman" pitchFamily="34" charset="-120"/>
              </a:rPr>
              <a:t>GREEN</a:t>
            </a:r>
            <a:pPr indent="0" marL="0">
              <a:buNone/>
            </a:pPr>
            <a:r>
              <a:rPr lang="en-US" sz="1725" b="1" dirty="0">
                <a:solidFill>
                  <a:srgbClr val="1E7A46"/>
                </a:solidFill>
                <a:latin typeface="Times New Roman" pitchFamily="34" charset="0"/>
                <a:ea typeface="Times New Roman" pitchFamily="34" charset="-122"/>
                <a:cs typeface="Times New Roman" pitchFamily="34" charset="-120"/>
              </a:rPr>
              <a:t>LOGIX</a:t>
            </a:r>
            <a:endParaRPr lang="en-US" sz="1725" dirty="0"/>
          </a:p>
        </p:txBody>
      </p:sp>
      <p:sp>
        <p:nvSpPr>
          <p:cNvPr id="6" name="Text 2"/>
          <p:cNvSpPr txBox="1"/>
          <p:nvPr/>
        </p:nvSpPr>
        <p:spPr>
          <a:xfrm>
            <a:off x="594360" y="1737360"/>
            <a:ext cx="9601200" cy="2834640"/>
          </a:xfrm>
          <a:prstGeom prst="rect">
            <a:avLst/>
          </a:prstGeom>
          <a:noFill/>
          <a:ln/>
        </p:spPr>
        <p:txBody>
          <a:bodyPr wrap="square" lIns="0" tIns="0" rIns="0" bIns="0" rtlCol="0" anchor="ctr"/>
          <a:lstStyle/>
          <a:p>
            <a:pPr indent="0" marL="0">
              <a:lnSpc>
                <a:spcPts val="5800"/>
              </a:lnSpc>
              <a:buNone/>
            </a:pPr>
            <a:r>
              <a:rPr lang="en-US" sz="3800" b="1" dirty="0">
                <a:solidFill>
                  <a:srgbClr val="16211C"/>
                </a:solidFill>
                <a:latin typeface="Times New Roman" pitchFamily="34" charset="0"/>
                <a:ea typeface="Times New Roman" pitchFamily="34" charset="-122"/>
                <a:cs typeface="Times New Roman" pitchFamily="34" charset="-120"/>
              </a:rPr>
              <a:t>TỐI ƯU VẬN CHUYỂN
</a:t>
            </a:r>
            <a:pPr indent="0" marL="0">
              <a:lnSpc>
                <a:spcPts val="5800"/>
              </a:lnSpc>
              <a:buNone/>
            </a:pPr>
            <a:r>
              <a:rPr lang="en-US" sz="3800" b="1" dirty="0">
                <a:solidFill>
                  <a:srgbClr val="9C6B00"/>
                </a:solidFill>
                <a:latin typeface="Times New Roman" pitchFamily="34" charset="0"/>
                <a:ea typeface="Times New Roman" pitchFamily="34" charset="-122"/>
                <a:cs typeface="Times New Roman" pitchFamily="34" charset="-120"/>
              </a:rPr>
              <a:t>TIẾT KIỆM CHI PHÍ
</a:t>
            </a:r>
            <a:pPr indent="0" marL="0">
              <a:lnSpc>
                <a:spcPts val="5800"/>
              </a:lnSpc>
              <a:buNone/>
            </a:pPr>
            <a:r>
              <a:rPr lang="en-US" sz="3800" b="1" dirty="0">
                <a:solidFill>
                  <a:srgbClr val="16211C"/>
                </a:solidFill>
                <a:latin typeface="Times New Roman" pitchFamily="34" charset="0"/>
                <a:ea typeface="Times New Roman" pitchFamily="34" charset="-122"/>
                <a:cs typeface="Times New Roman" pitchFamily="34" charset="-120"/>
              </a:rPr>
              <a:t>KIẾN TẠO TƯƠNG LAI XANH</a:t>
            </a:r>
            <a:endParaRPr lang="en-US" sz="3800" dirty="0"/>
          </a:p>
        </p:txBody>
      </p:sp>
      <p:sp>
        <p:nvSpPr>
          <p:cNvPr id="7" name="Text 3"/>
          <p:cNvSpPr txBox="1"/>
          <p:nvPr/>
        </p:nvSpPr>
        <p:spPr>
          <a:xfrm>
            <a:off x="621792" y="4434840"/>
            <a:ext cx="8229600" cy="457200"/>
          </a:xfrm>
          <a:prstGeom prst="rect">
            <a:avLst/>
          </a:prstGeom>
          <a:noFill/>
          <a:ln/>
        </p:spPr>
        <p:txBody>
          <a:bodyPr wrap="square" lIns="0" tIns="0" rIns="0" bIns="0" rtlCol="0" anchor="ctr"/>
          <a:lstStyle/>
          <a:p>
            <a:pPr indent="0" marL="0">
              <a:buNone/>
            </a:pPr>
            <a:r>
              <a:rPr lang="en-US" sz="1600" i="1" dirty="0">
                <a:solidFill>
                  <a:srgbClr val="5B6B62"/>
                </a:solidFill>
                <a:latin typeface="Times New Roman" pitchFamily="34" charset="0"/>
                <a:ea typeface="Times New Roman" pitchFamily="34" charset="-122"/>
                <a:cs typeface="Times New Roman" pitchFamily="34" charset="-120"/>
              </a:rPr>
              <a:t>Phần mềm tối ưu tuyến đường vận tải đô thị &amp; đo lường phát thải CO₂</a:t>
            </a:r>
            <a:endParaRPr lang="en-US" sz="1600" dirty="0"/>
          </a:p>
        </p:txBody>
      </p:sp>
      <p:sp>
        <p:nvSpPr>
          <p:cNvPr id="8" name="Shape 4"/>
          <p:cNvSpPr/>
          <p:nvPr/>
        </p:nvSpPr>
        <p:spPr>
          <a:xfrm>
            <a:off x="1188720" y="5907024"/>
            <a:ext cx="1353312" cy="0"/>
          </a:xfrm>
          <a:prstGeom prst="line">
            <a:avLst/>
          </a:prstGeom>
          <a:noFill/>
          <a:ln w="12700">
            <a:solidFill>
              <a:srgbClr val="8B978F"/>
            </a:solidFill>
            <a:prstDash val="dash"/>
          </a:ln>
        </p:spPr>
      </p:sp>
      <p:sp>
        <p:nvSpPr>
          <p:cNvPr id="9" name="Shape 5"/>
          <p:cNvSpPr/>
          <p:nvPr/>
        </p:nvSpPr>
        <p:spPr>
          <a:xfrm>
            <a:off x="3108960" y="5907024"/>
            <a:ext cx="1353312" cy="0"/>
          </a:xfrm>
          <a:prstGeom prst="line">
            <a:avLst/>
          </a:prstGeom>
          <a:noFill/>
          <a:ln w="12700">
            <a:solidFill>
              <a:srgbClr val="8B978F"/>
            </a:solidFill>
            <a:prstDash val="dash"/>
          </a:ln>
        </p:spPr>
      </p:sp>
      <p:sp>
        <p:nvSpPr>
          <p:cNvPr id="10" name="Shape 6"/>
          <p:cNvSpPr/>
          <p:nvPr/>
        </p:nvSpPr>
        <p:spPr>
          <a:xfrm>
            <a:off x="5029200" y="5907024"/>
            <a:ext cx="1353312" cy="0"/>
          </a:xfrm>
          <a:prstGeom prst="line">
            <a:avLst/>
          </a:prstGeom>
          <a:noFill/>
          <a:ln w="12700">
            <a:solidFill>
              <a:srgbClr val="8B978F"/>
            </a:solidFill>
            <a:prstDash val="dash"/>
          </a:ln>
        </p:spPr>
      </p:sp>
      <p:sp>
        <p:nvSpPr>
          <p:cNvPr id="11" name="Shape 7"/>
          <p:cNvSpPr/>
          <p:nvPr/>
        </p:nvSpPr>
        <p:spPr>
          <a:xfrm>
            <a:off x="621792" y="5623560"/>
            <a:ext cx="566928" cy="566928"/>
          </a:xfrm>
          <a:prstGeom prst="ellipse">
            <a:avLst/>
          </a:prstGeom>
          <a:solidFill>
            <a:srgbClr val="EEF4EF"/>
          </a:solidFill>
          <a:ln w="19050">
            <a:solidFill>
              <a:srgbClr val="9C6B00"/>
            </a:solidFill>
            <a:prstDash val="solid"/>
          </a:ln>
        </p:spPr>
      </p:sp>
      <p:pic>
        <p:nvPicPr>
          <p:cNvPr id="12" name="Image 1" descr="preencoded.png">    </p:cNvPr>
          <p:cNvPicPr>
            <a:picLocks noChangeAspect="1"/>
          </p:cNvPicPr>
          <p:nvPr/>
        </p:nvPicPr>
        <p:blipFill>
          <a:blip r:embed="rId2"/>
          <a:stretch>
            <a:fillRect/>
          </a:stretch>
        </p:blipFill>
        <p:spPr>
          <a:xfrm>
            <a:off x="729508" y="5731276"/>
            <a:ext cx="351495" cy="351495"/>
          </a:xfrm>
          <a:prstGeom prst="rect">
            <a:avLst/>
          </a:prstGeom>
        </p:spPr>
      </p:pic>
      <p:sp>
        <p:nvSpPr>
          <p:cNvPr id="13" name="Shape 8"/>
          <p:cNvSpPr/>
          <p:nvPr/>
        </p:nvSpPr>
        <p:spPr>
          <a:xfrm>
            <a:off x="2542032" y="5623560"/>
            <a:ext cx="566928" cy="566928"/>
          </a:xfrm>
          <a:prstGeom prst="ellipse">
            <a:avLst/>
          </a:prstGeom>
          <a:solidFill>
            <a:srgbClr val="EEF4EF"/>
          </a:solidFill>
          <a:ln w="19050">
            <a:solidFill>
              <a:srgbClr val="9C6B00"/>
            </a:solidFill>
            <a:prstDash val="solid"/>
          </a:ln>
        </p:spPr>
      </p:sp>
      <p:pic>
        <p:nvPicPr>
          <p:cNvPr id="14" name="Image 2" descr="preencoded.png">    </p:cNvPr>
          <p:cNvPicPr>
            <a:picLocks noChangeAspect="1"/>
          </p:cNvPicPr>
          <p:nvPr/>
        </p:nvPicPr>
        <p:blipFill>
          <a:blip r:embed="rId3"/>
          <a:stretch>
            <a:fillRect/>
          </a:stretch>
        </p:blipFill>
        <p:spPr>
          <a:xfrm>
            <a:off x="2649748" y="5731276"/>
            <a:ext cx="351495" cy="351495"/>
          </a:xfrm>
          <a:prstGeom prst="rect">
            <a:avLst/>
          </a:prstGeom>
        </p:spPr>
      </p:pic>
      <p:sp>
        <p:nvSpPr>
          <p:cNvPr id="15" name="Shape 9"/>
          <p:cNvSpPr/>
          <p:nvPr/>
        </p:nvSpPr>
        <p:spPr>
          <a:xfrm>
            <a:off x="4462272" y="5623560"/>
            <a:ext cx="566928" cy="566928"/>
          </a:xfrm>
          <a:prstGeom prst="ellipse">
            <a:avLst/>
          </a:prstGeom>
          <a:solidFill>
            <a:srgbClr val="EEF4EF"/>
          </a:solidFill>
          <a:ln w="19050">
            <a:solidFill>
              <a:srgbClr val="9C6B00"/>
            </a:solidFill>
            <a:prstDash val="solid"/>
          </a:ln>
        </p:spPr>
      </p:sp>
      <p:pic>
        <p:nvPicPr>
          <p:cNvPr id="16" name="Image 3" descr="preencoded.png">    </p:cNvPr>
          <p:cNvPicPr>
            <a:picLocks noChangeAspect="1"/>
          </p:cNvPicPr>
          <p:nvPr/>
        </p:nvPicPr>
        <p:blipFill>
          <a:blip r:embed="rId4"/>
          <a:stretch>
            <a:fillRect/>
          </a:stretch>
        </p:blipFill>
        <p:spPr>
          <a:xfrm>
            <a:off x="4569988" y="5731276"/>
            <a:ext cx="351495" cy="351495"/>
          </a:xfrm>
          <a:prstGeom prst="rect">
            <a:avLst/>
          </a:prstGeom>
        </p:spPr>
      </p:pic>
      <p:sp>
        <p:nvSpPr>
          <p:cNvPr id="17" name="Text 10"/>
          <p:cNvSpPr txBox="1"/>
          <p:nvPr/>
        </p:nvSpPr>
        <p:spPr>
          <a:xfrm>
            <a:off x="8503920" y="6309360"/>
            <a:ext cx="3108960" cy="320040"/>
          </a:xfrm>
          <a:prstGeom prst="rect">
            <a:avLst/>
          </a:prstGeom>
          <a:noFill/>
          <a:ln/>
        </p:spPr>
        <p:txBody>
          <a:bodyPr wrap="square" lIns="0" tIns="0" rIns="0" bIns="0" rtlCol="0" anchor="ctr"/>
          <a:lstStyle/>
          <a:p>
            <a:pPr algn="r" indent="0" marL="0">
              <a:buNone/>
            </a:pPr>
            <a:r>
              <a:rPr lang="en-US" sz="1100" dirty="0">
                <a:solidFill>
                  <a:srgbClr val="5B6B62"/>
                </a:solidFill>
                <a:latin typeface="Times New Roman" pitchFamily="34" charset="0"/>
                <a:ea typeface="Times New Roman" pitchFamily="34" charset="-122"/>
                <a:cs typeface="Times New Roman" pitchFamily="34" charset="-120"/>
              </a:rPr>
              <a:t>DEMO: greenlogix.w9.nu</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BF9"/>
        </a:solidFill>
      </p:bgPr>
    </p:bg>
    <p:spTree>
      <p:nvGrpSpPr>
        <p:cNvPr id="1" name=""/>
        <p:cNvGrpSpPr/>
        <p:nvPr/>
      </p:nvGrpSpPr>
      <p:grpSpPr>
        <a:xfrm>
          <a:off x="0" y="0"/>
          <a:ext cx="0" cy="0"/>
          <a:chOff x="0" y="0"/>
          <a:chExt cx="0" cy="0"/>
        </a:xfrm>
      </p:grpSpPr>
      <p:sp>
        <p:nvSpPr>
          <p:cNvPr id="3" name="Text 0"/>
          <p:cNvSpPr txBox="1"/>
          <p:nvPr/>
        </p:nvSpPr>
        <p:spPr>
          <a:xfrm>
            <a:off x="594360" y="502920"/>
            <a:ext cx="4572000" cy="320040"/>
          </a:xfrm>
          <a:prstGeom prst="rect">
            <a:avLst/>
          </a:prstGeom>
          <a:noFill/>
          <a:ln/>
        </p:spPr>
        <p:txBody>
          <a:bodyPr wrap="square" lIns="0" tIns="0" rIns="0" bIns="0" rtlCol="0" anchor="ctr"/>
          <a:lstStyle/>
          <a:p>
            <a:pPr indent="0" marL="0">
              <a:buNone/>
            </a:pPr>
            <a:r>
              <a:rPr lang="en-US" sz="1200" b="1" spc="200" kern="0" dirty="0">
                <a:solidFill>
                  <a:srgbClr val="9C6B00"/>
                </a:solidFill>
                <a:latin typeface="Times New Roman" pitchFamily="34" charset="0"/>
                <a:ea typeface="Times New Roman" pitchFamily="34" charset="-122"/>
                <a:cs typeface="Times New Roman" pitchFamily="34" charset="-120"/>
              </a:rPr>
              <a:t>VẤN ĐỀ</a:t>
            </a:r>
            <a:endParaRPr lang="en-US" sz="1200" dirty="0"/>
          </a:p>
        </p:txBody>
      </p:sp>
      <p:sp>
        <p:nvSpPr>
          <p:cNvPr id="4" name="Text 1"/>
          <p:cNvSpPr txBox="1"/>
          <p:nvPr/>
        </p:nvSpPr>
        <p:spPr>
          <a:xfrm>
            <a:off x="594360" y="822960"/>
            <a:ext cx="10515600" cy="822960"/>
          </a:xfrm>
          <a:prstGeom prst="rect">
            <a:avLst/>
          </a:prstGeom>
          <a:noFill/>
          <a:ln/>
        </p:spPr>
        <p:txBody>
          <a:bodyPr wrap="square" lIns="0" tIns="0" rIns="0" bIns="0" rtlCol="0" anchor="ctr"/>
          <a:lstStyle/>
          <a:p>
            <a:pPr indent="0" marL="0">
              <a:buNone/>
            </a:pPr>
            <a:r>
              <a:rPr lang="en-US" sz="3000" b="1" dirty="0">
                <a:solidFill>
                  <a:srgbClr val="16211C"/>
                </a:solidFill>
                <a:latin typeface="Times New Roman" pitchFamily="34" charset="0"/>
                <a:ea typeface="Times New Roman" pitchFamily="34" charset="-122"/>
                <a:cs typeface="Times New Roman" pitchFamily="34" charset="-120"/>
              </a:rPr>
              <a:t>Mỗi ngày, hàng nghìn chuyến xe… chạy rỗng</a:t>
            </a:r>
            <a:endParaRPr lang="en-US" sz="3000" dirty="0"/>
          </a:p>
        </p:txBody>
      </p:sp>
      <p:sp>
        <p:nvSpPr>
          <p:cNvPr id="5" name="Shape 2"/>
          <p:cNvSpPr/>
          <p:nvPr/>
        </p:nvSpPr>
        <p:spPr>
          <a:xfrm>
            <a:off x="594360" y="1920240"/>
            <a:ext cx="3291840" cy="2743200"/>
          </a:xfrm>
          <a:prstGeom prst="roundRect">
            <a:avLst>
              <a:gd name="adj" fmla="val 4000"/>
            </a:avLst>
          </a:prstGeom>
          <a:solidFill>
            <a:srgbClr val="FFFFFF"/>
          </a:solidFill>
          <a:ln w="12700">
            <a:solidFill>
              <a:srgbClr val="DEE8E1"/>
            </a:solidFill>
            <a:prstDash val="solid"/>
          </a:ln>
        </p:spPr>
      </p:sp>
      <p:sp>
        <p:nvSpPr>
          <p:cNvPr id="6" name="Text 3"/>
          <p:cNvSpPr txBox="1"/>
          <p:nvPr/>
        </p:nvSpPr>
        <p:spPr>
          <a:xfrm>
            <a:off x="822960" y="2240280"/>
            <a:ext cx="2834640" cy="1005840"/>
          </a:xfrm>
          <a:prstGeom prst="rect">
            <a:avLst/>
          </a:prstGeom>
          <a:noFill/>
          <a:ln/>
        </p:spPr>
        <p:txBody>
          <a:bodyPr wrap="square" lIns="0" tIns="0" rIns="0" bIns="0" rtlCol="0" anchor="ctr"/>
          <a:lstStyle/>
          <a:p>
            <a:pPr indent="0" marL="0">
              <a:buNone/>
            </a:pPr>
            <a:r>
              <a:rPr lang="en-US" sz="4600" b="1" dirty="0">
                <a:solidFill>
                  <a:srgbClr val="9C6B00"/>
                </a:solidFill>
                <a:latin typeface="Times New Roman" pitchFamily="34" charset="0"/>
                <a:ea typeface="Times New Roman" pitchFamily="34" charset="-122"/>
                <a:cs typeface="Times New Roman" pitchFamily="34" charset="-120"/>
              </a:rPr>
              <a:t>17%</a:t>
            </a:r>
            <a:endParaRPr lang="en-US" sz="4600" dirty="0"/>
          </a:p>
        </p:txBody>
      </p:sp>
      <p:sp>
        <p:nvSpPr>
          <p:cNvPr id="7" name="Text 4"/>
          <p:cNvSpPr txBox="1"/>
          <p:nvPr/>
        </p:nvSpPr>
        <p:spPr>
          <a:xfrm>
            <a:off x="822960" y="3337560"/>
            <a:ext cx="2834640" cy="1143000"/>
          </a:xfrm>
          <a:prstGeom prst="rect">
            <a:avLst/>
          </a:prstGeom>
          <a:noFill/>
          <a:ln/>
        </p:spPr>
        <p:txBody>
          <a:bodyPr wrap="square" lIns="0" tIns="0" rIns="0" bIns="0" rtlCol="0" anchor="ctr"/>
          <a:lstStyle/>
          <a:p>
            <a:pPr indent="0" marL="0">
              <a:lnSpc>
                <a:spcPts val="1900"/>
              </a:lnSpc>
              <a:buNone/>
            </a:pPr>
            <a:r>
              <a:rPr lang="en-US" sz="1400" dirty="0">
                <a:solidFill>
                  <a:srgbClr val="5B6B62"/>
                </a:solidFill>
                <a:latin typeface="Times New Roman" pitchFamily="34" charset="0"/>
                <a:ea typeface="Times New Roman" pitchFamily="34" charset="-122"/>
                <a:cs typeface="Times New Roman" pitchFamily="34" charset="-120"/>
              </a:rPr>
              <a:t>GDP cho chi phí logistics — gấp rưỡi mức bình quân thế giới</a:t>
            </a:r>
            <a:endParaRPr lang="en-US" sz="1400" dirty="0"/>
          </a:p>
        </p:txBody>
      </p:sp>
      <p:sp>
        <p:nvSpPr>
          <p:cNvPr id="8" name="Shape 5"/>
          <p:cNvSpPr/>
          <p:nvPr/>
        </p:nvSpPr>
        <p:spPr>
          <a:xfrm>
            <a:off x="4206240" y="1920240"/>
            <a:ext cx="3291840" cy="2743200"/>
          </a:xfrm>
          <a:prstGeom prst="roundRect">
            <a:avLst>
              <a:gd name="adj" fmla="val 4000"/>
            </a:avLst>
          </a:prstGeom>
          <a:solidFill>
            <a:srgbClr val="FFFFFF"/>
          </a:solidFill>
          <a:ln w="12700">
            <a:solidFill>
              <a:srgbClr val="DEE8E1"/>
            </a:solidFill>
            <a:prstDash val="solid"/>
          </a:ln>
        </p:spPr>
      </p:sp>
      <p:sp>
        <p:nvSpPr>
          <p:cNvPr id="9" name="Text 6"/>
          <p:cNvSpPr txBox="1"/>
          <p:nvPr/>
        </p:nvSpPr>
        <p:spPr>
          <a:xfrm>
            <a:off x="4434840" y="2240280"/>
            <a:ext cx="2834640" cy="1005840"/>
          </a:xfrm>
          <a:prstGeom prst="rect">
            <a:avLst/>
          </a:prstGeom>
          <a:noFill/>
          <a:ln/>
        </p:spPr>
        <p:txBody>
          <a:bodyPr wrap="square" lIns="0" tIns="0" rIns="0" bIns="0" rtlCol="0" anchor="ctr"/>
          <a:lstStyle/>
          <a:p>
            <a:pPr indent="0" marL="0">
              <a:buNone/>
            </a:pPr>
            <a:r>
              <a:rPr lang="en-US" sz="4600" b="1" dirty="0">
                <a:solidFill>
                  <a:srgbClr val="9C6B00"/>
                </a:solidFill>
                <a:latin typeface="Times New Roman" pitchFamily="34" charset="0"/>
                <a:ea typeface="Times New Roman" pitchFamily="34" charset="-122"/>
                <a:cs typeface="Times New Roman" pitchFamily="34" charset="-120"/>
              </a:rPr>
              <a:t>80%</a:t>
            </a:r>
            <a:endParaRPr lang="en-US" sz="4600" dirty="0"/>
          </a:p>
        </p:txBody>
      </p:sp>
      <p:sp>
        <p:nvSpPr>
          <p:cNvPr id="10" name="Text 7"/>
          <p:cNvSpPr txBox="1"/>
          <p:nvPr/>
        </p:nvSpPr>
        <p:spPr>
          <a:xfrm>
            <a:off x="4434840" y="3337560"/>
            <a:ext cx="2834640" cy="1143000"/>
          </a:xfrm>
          <a:prstGeom prst="rect">
            <a:avLst/>
          </a:prstGeom>
          <a:noFill/>
          <a:ln/>
        </p:spPr>
        <p:txBody>
          <a:bodyPr wrap="square" lIns="0" tIns="0" rIns="0" bIns="0" rtlCol="0" anchor="ctr"/>
          <a:lstStyle/>
          <a:p>
            <a:pPr indent="0" marL="0">
              <a:lnSpc>
                <a:spcPts val="1900"/>
              </a:lnSpc>
              <a:buNone/>
            </a:pPr>
            <a:r>
              <a:rPr lang="en-US" sz="1400" dirty="0">
                <a:solidFill>
                  <a:srgbClr val="5B6B62"/>
                </a:solidFill>
                <a:latin typeface="Times New Roman" pitchFamily="34" charset="0"/>
                <a:ea typeface="Times New Roman" pitchFamily="34" charset="-122"/>
                <a:cs typeface="Times New Roman" pitchFamily="34" charset="-120"/>
              </a:rPr>
              <a:t>phát thải CO₂ ngành giao thông đến từ đường bộ</a:t>
            </a:r>
            <a:endParaRPr lang="en-US" sz="1400" dirty="0"/>
          </a:p>
        </p:txBody>
      </p:sp>
      <p:sp>
        <p:nvSpPr>
          <p:cNvPr id="11" name="Shape 8"/>
          <p:cNvSpPr/>
          <p:nvPr/>
        </p:nvSpPr>
        <p:spPr>
          <a:xfrm>
            <a:off x="7818120" y="1920240"/>
            <a:ext cx="3291840" cy="2743200"/>
          </a:xfrm>
          <a:prstGeom prst="roundRect">
            <a:avLst>
              <a:gd name="adj" fmla="val 4000"/>
            </a:avLst>
          </a:prstGeom>
          <a:solidFill>
            <a:srgbClr val="FFFFFF"/>
          </a:solidFill>
          <a:ln w="12700">
            <a:solidFill>
              <a:srgbClr val="DEE8E1"/>
            </a:solidFill>
            <a:prstDash val="solid"/>
          </a:ln>
        </p:spPr>
      </p:sp>
      <p:sp>
        <p:nvSpPr>
          <p:cNvPr id="12" name="Text 9"/>
          <p:cNvSpPr txBox="1"/>
          <p:nvPr/>
        </p:nvSpPr>
        <p:spPr>
          <a:xfrm>
            <a:off x="8046720" y="2240280"/>
            <a:ext cx="2834640" cy="1005840"/>
          </a:xfrm>
          <a:prstGeom prst="rect">
            <a:avLst/>
          </a:prstGeom>
          <a:noFill/>
          <a:ln/>
        </p:spPr>
        <p:txBody>
          <a:bodyPr wrap="square" lIns="0" tIns="0" rIns="0" bIns="0" rtlCol="0" anchor="ctr"/>
          <a:lstStyle/>
          <a:p>
            <a:pPr indent="0" marL="0">
              <a:buNone/>
            </a:pPr>
            <a:r>
              <a:rPr lang="en-US" sz="4600" b="1" dirty="0">
                <a:solidFill>
                  <a:srgbClr val="9C6B00"/>
                </a:solidFill>
                <a:latin typeface="Times New Roman" pitchFamily="34" charset="0"/>
                <a:ea typeface="Times New Roman" pitchFamily="34" charset="-122"/>
                <a:cs typeface="Times New Roman" pitchFamily="34" charset="-120"/>
              </a:rPr>
              <a:t>30–35%</a:t>
            </a:r>
            <a:endParaRPr lang="en-US" sz="4600" dirty="0"/>
          </a:p>
        </p:txBody>
      </p:sp>
      <p:sp>
        <p:nvSpPr>
          <p:cNvPr id="13" name="Text 10"/>
          <p:cNvSpPr txBox="1"/>
          <p:nvPr/>
        </p:nvSpPr>
        <p:spPr>
          <a:xfrm>
            <a:off x="8046720" y="3337560"/>
            <a:ext cx="2834640" cy="1143000"/>
          </a:xfrm>
          <a:prstGeom prst="rect">
            <a:avLst/>
          </a:prstGeom>
          <a:noFill/>
          <a:ln/>
        </p:spPr>
        <p:txBody>
          <a:bodyPr wrap="square" lIns="0" tIns="0" rIns="0" bIns="0" rtlCol="0" anchor="ctr"/>
          <a:lstStyle/>
          <a:p>
            <a:pPr indent="0" marL="0">
              <a:lnSpc>
                <a:spcPts val="1900"/>
              </a:lnSpc>
              <a:buNone/>
            </a:pPr>
            <a:r>
              <a:rPr lang="en-US" sz="1400" dirty="0">
                <a:solidFill>
                  <a:srgbClr val="5B6B62"/>
                </a:solidFill>
                <a:latin typeface="Times New Roman" pitchFamily="34" charset="0"/>
                <a:ea typeface="Times New Roman" pitchFamily="34" charset="-122"/>
                <a:cs typeface="Times New Roman" pitchFamily="34" charset="-120"/>
              </a:rPr>
              <a:t>tỷ lệ xe tải chạy rỗng chiều về hiện nay</a:t>
            </a:r>
            <a:endParaRPr lang="en-US" sz="1400" dirty="0"/>
          </a:p>
        </p:txBody>
      </p:sp>
      <p:sp>
        <p:nvSpPr>
          <p:cNvPr id="14" name="Text 11"/>
          <p:cNvSpPr txBox="1"/>
          <p:nvPr/>
        </p:nvSpPr>
        <p:spPr>
          <a:xfrm>
            <a:off x="594360" y="5074920"/>
            <a:ext cx="10058400" cy="457200"/>
          </a:xfrm>
          <a:prstGeom prst="rect">
            <a:avLst/>
          </a:prstGeom>
          <a:noFill/>
          <a:ln/>
        </p:spPr>
        <p:txBody>
          <a:bodyPr wrap="square" lIns="0" tIns="0" rIns="0" bIns="0" rtlCol="0" anchor="ctr"/>
          <a:lstStyle/>
          <a:p>
            <a:pPr indent="0" marL="0">
              <a:buNone/>
            </a:pPr>
            <a:r>
              <a:rPr lang="en-US" sz="1600" i="1" dirty="0">
                <a:solidFill>
                  <a:srgbClr val="16211C"/>
                </a:solidFill>
                <a:latin typeface="Times New Roman" pitchFamily="34" charset="0"/>
                <a:ea typeface="Times New Roman" pitchFamily="34" charset="-122"/>
                <a:cs typeface="Times New Roman" pitchFamily="34" charset="-120"/>
              </a:rPr>
              <a:t>Đó là bài toán mà GreenLogix sinh ra để giải quyết.</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BF9"/>
        </a:solidFill>
      </p:bgPr>
    </p:bg>
    <p:spTree>
      <p:nvGrpSpPr>
        <p:cNvPr id="1" name=""/>
        <p:cNvGrpSpPr/>
        <p:nvPr/>
      </p:nvGrpSpPr>
      <p:grpSpPr>
        <a:xfrm>
          <a:off x="0" y="0"/>
          <a:ext cx="0" cy="0"/>
          <a:chOff x="0" y="0"/>
          <a:chExt cx="0" cy="0"/>
        </a:xfrm>
      </p:grpSpPr>
      <p:sp>
        <p:nvSpPr>
          <p:cNvPr id="3" name="Text 0"/>
          <p:cNvSpPr txBox="1"/>
          <p:nvPr/>
        </p:nvSpPr>
        <p:spPr>
          <a:xfrm>
            <a:off x="594360" y="502920"/>
            <a:ext cx="4572000" cy="320040"/>
          </a:xfrm>
          <a:prstGeom prst="rect">
            <a:avLst/>
          </a:prstGeom>
          <a:noFill/>
          <a:ln/>
        </p:spPr>
        <p:txBody>
          <a:bodyPr wrap="square" lIns="0" tIns="0" rIns="0" bIns="0" rtlCol="0" anchor="ctr"/>
          <a:lstStyle/>
          <a:p>
            <a:pPr indent="0" marL="0">
              <a:buNone/>
            </a:pPr>
            <a:r>
              <a:rPr lang="en-US" sz="1200" b="1" spc="200" kern="0" dirty="0">
                <a:solidFill>
                  <a:srgbClr val="9C6B00"/>
                </a:solidFill>
                <a:latin typeface="Times New Roman" pitchFamily="34" charset="0"/>
                <a:ea typeface="Times New Roman" pitchFamily="34" charset="-122"/>
                <a:cs typeface="Times New Roman" pitchFamily="34" charset="-120"/>
              </a:rPr>
              <a:t>ĐỘI THI</a:t>
            </a:r>
            <a:endParaRPr lang="en-US" sz="1200" dirty="0"/>
          </a:p>
        </p:txBody>
      </p:sp>
      <p:sp>
        <p:nvSpPr>
          <p:cNvPr id="4" name="Text 1"/>
          <p:cNvSpPr txBox="1"/>
          <p:nvPr/>
        </p:nvSpPr>
        <p:spPr>
          <a:xfrm>
            <a:off x="594360" y="822960"/>
            <a:ext cx="9144000" cy="640080"/>
          </a:xfrm>
          <a:prstGeom prst="rect">
            <a:avLst/>
          </a:prstGeom>
          <a:noFill/>
          <a:ln/>
        </p:spPr>
        <p:txBody>
          <a:bodyPr wrap="square" lIns="0" tIns="0" rIns="0" bIns="0" rtlCol="0" anchor="ctr"/>
          <a:lstStyle/>
          <a:p>
            <a:pPr indent="0" marL="0">
              <a:buNone/>
            </a:pPr>
            <a:r>
              <a:rPr lang="en-US" sz="3000" b="1" dirty="0">
                <a:solidFill>
                  <a:srgbClr val="16211C"/>
                </a:solidFill>
                <a:latin typeface="Times New Roman" pitchFamily="34" charset="0"/>
                <a:ea typeface="Times New Roman" pitchFamily="34" charset="-122"/>
                <a:cs typeface="Times New Roman" pitchFamily="34" charset="-120"/>
              </a:rPr>
              <a:t>Đội ngũ GreenLogix</a:t>
            </a:r>
            <a:endParaRPr lang="en-US" sz="3000" dirty="0"/>
          </a:p>
        </p:txBody>
      </p:sp>
      <p:sp>
        <p:nvSpPr>
          <p:cNvPr id="5" name="Text 2"/>
          <p:cNvSpPr txBox="1"/>
          <p:nvPr/>
        </p:nvSpPr>
        <p:spPr>
          <a:xfrm>
            <a:off x="594360" y="1417320"/>
            <a:ext cx="9601200" cy="457200"/>
          </a:xfrm>
          <a:prstGeom prst="rect">
            <a:avLst/>
          </a:prstGeom>
          <a:noFill/>
          <a:ln/>
        </p:spPr>
        <p:txBody>
          <a:bodyPr wrap="square" lIns="0" tIns="0" rIns="0" bIns="0" rtlCol="0" anchor="ctr"/>
          <a:lstStyle/>
          <a:p>
            <a:pPr indent="0" marL="0">
              <a:buNone/>
            </a:pPr>
            <a:r>
              <a:rPr lang="en-US" sz="1500" dirty="0">
                <a:solidFill>
                  <a:srgbClr val="5B6B62"/>
                </a:solidFill>
                <a:latin typeface="Times New Roman" pitchFamily="34" charset="0"/>
                <a:ea typeface="Times New Roman" pitchFamily="34" charset="-122"/>
                <a:cs typeface="Times New Roman" pitchFamily="34" charset="-120"/>
              </a:rPr>
              <a:t>5 thành viên đa ngành — tài chính, công nghệ, kinh doanh — cùng một mục tiêu.</a:t>
            </a:r>
            <a:endParaRPr lang="en-US" sz="1500" dirty="0"/>
          </a:p>
        </p:txBody>
      </p:sp>
      <p:sp>
        <p:nvSpPr>
          <p:cNvPr id="6" name="Shape 3"/>
          <p:cNvSpPr/>
          <p:nvPr/>
        </p:nvSpPr>
        <p:spPr>
          <a:xfrm>
            <a:off x="1897380" y="2834640"/>
            <a:ext cx="1371600" cy="1371600"/>
          </a:xfrm>
          <a:prstGeom prst="ellipse">
            <a:avLst/>
          </a:prstGeom>
          <a:solidFill>
            <a:srgbClr val="EEF4EF"/>
          </a:solidFill>
          <a:ln w="25400">
            <a:solidFill>
              <a:srgbClr val="146B39"/>
            </a:solidFill>
            <a:prstDash val="solid"/>
          </a:ln>
        </p:spPr>
      </p:sp>
      <p:sp>
        <p:nvSpPr>
          <p:cNvPr id="7" name="Text 4"/>
          <p:cNvSpPr txBox="1"/>
          <p:nvPr/>
        </p:nvSpPr>
        <p:spPr>
          <a:xfrm>
            <a:off x="1897380" y="2834640"/>
            <a:ext cx="1371600" cy="1371600"/>
          </a:xfrm>
          <a:prstGeom prst="rect">
            <a:avLst/>
          </a:prstGeom>
          <a:noFill/>
          <a:ln/>
        </p:spPr>
        <p:txBody>
          <a:bodyPr wrap="square" lIns="0" tIns="0" rIns="0" bIns="0" rtlCol="0" anchor="ctr"/>
          <a:lstStyle/>
          <a:p>
            <a:pPr algn="ctr" indent="0" marL="0">
              <a:buNone/>
            </a:pPr>
            <a:r>
              <a:rPr lang="en-US" sz="4000" b="1" dirty="0">
                <a:solidFill>
                  <a:srgbClr val="1E7A46"/>
                </a:solidFill>
                <a:latin typeface="Times New Roman" pitchFamily="34" charset="0"/>
                <a:ea typeface="Times New Roman" pitchFamily="34" charset="-122"/>
                <a:cs typeface="Times New Roman" pitchFamily="34" charset="-120"/>
              </a:rPr>
              <a:t>K</a:t>
            </a:r>
            <a:endParaRPr lang="en-US" sz="4000" dirty="0"/>
          </a:p>
        </p:txBody>
      </p:sp>
      <p:sp>
        <p:nvSpPr>
          <p:cNvPr id="8" name="Text 5"/>
          <p:cNvSpPr txBox="1"/>
          <p:nvPr/>
        </p:nvSpPr>
        <p:spPr>
          <a:xfrm>
            <a:off x="1577340" y="4370832"/>
            <a:ext cx="2011680" cy="502920"/>
          </a:xfrm>
          <a:prstGeom prst="rect">
            <a:avLst/>
          </a:prstGeom>
          <a:noFill/>
          <a:ln/>
        </p:spPr>
        <p:txBody>
          <a:bodyPr wrap="square" lIns="0" tIns="0" rIns="0" bIns="0" rtlCol="0" anchor="ctr"/>
          <a:lstStyle/>
          <a:p>
            <a:pPr algn="ctr" indent="0" marL="0">
              <a:lnSpc>
                <a:spcPts val="1400"/>
              </a:lnSpc>
              <a:buNone/>
            </a:pPr>
            <a:r>
              <a:rPr lang="en-US" sz="1250" b="1" dirty="0">
                <a:solidFill>
                  <a:srgbClr val="16211C"/>
                </a:solidFill>
                <a:latin typeface="Times New Roman" pitchFamily="34" charset="0"/>
                <a:ea typeface="Times New Roman" pitchFamily="34" charset="-122"/>
                <a:cs typeface="Times New Roman" pitchFamily="34" charset="-120"/>
              </a:rPr>
              <a:t>Tống Ngọc Khang</a:t>
            </a:r>
            <a:endParaRPr lang="en-US" sz="1250" dirty="0"/>
          </a:p>
        </p:txBody>
      </p:sp>
      <p:sp>
        <p:nvSpPr>
          <p:cNvPr id="9" name="Text 6"/>
          <p:cNvSpPr txBox="1"/>
          <p:nvPr/>
        </p:nvSpPr>
        <p:spPr>
          <a:xfrm>
            <a:off x="1577340" y="4864608"/>
            <a:ext cx="2011680" cy="320040"/>
          </a:xfrm>
          <a:prstGeom prst="rect">
            <a:avLst/>
          </a:prstGeom>
          <a:noFill/>
          <a:ln/>
        </p:spPr>
        <p:txBody>
          <a:bodyPr wrap="square" lIns="0" tIns="0" rIns="0" bIns="0" rtlCol="0" anchor="ctr"/>
          <a:lstStyle/>
          <a:p>
            <a:pPr algn="ctr" indent="0" marL="0">
              <a:buNone/>
            </a:pPr>
            <a:r>
              <a:rPr lang="en-US" sz="1150" dirty="0">
                <a:solidFill>
                  <a:srgbClr val="9C6B00"/>
                </a:solidFill>
                <a:latin typeface="Times New Roman" pitchFamily="34" charset="0"/>
                <a:ea typeface="Times New Roman" pitchFamily="34" charset="-122"/>
                <a:cs typeface="Times New Roman" pitchFamily="34" charset="-120"/>
              </a:rPr>
              <a:t>Trưởng nhóm</a:t>
            </a:r>
            <a:endParaRPr lang="en-US" sz="1150" dirty="0"/>
          </a:p>
        </p:txBody>
      </p:sp>
      <p:sp>
        <p:nvSpPr>
          <p:cNvPr id="10" name="Shape 7"/>
          <p:cNvSpPr/>
          <p:nvPr/>
        </p:nvSpPr>
        <p:spPr>
          <a:xfrm>
            <a:off x="3653028" y="2834640"/>
            <a:ext cx="1371600" cy="1371600"/>
          </a:xfrm>
          <a:prstGeom prst="ellipse">
            <a:avLst/>
          </a:prstGeom>
          <a:solidFill>
            <a:srgbClr val="EEF4EF"/>
          </a:solidFill>
          <a:ln w="25400">
            <a:solidFill>
              <a:srgbClr val="146B39"/>
            </a:solidFill>
            <a:prstDash val="solid"/>
          </a:ln>
        </p:spPr>
      </p:sp>
      <p:sp>
        <p:nvSpPr>
          <p:cNvPr id="11" name="Text 8"/>
          <p:cNvSpPr txBox="1"/>
          <p:nvPr/>
        </p:nvSpPr>
        <p:spPr>
          <a:xfrm>
            <a:off x="3653028" y="2834640"/>
            <a:ext cx="1371600" cy="1371600"/>
          </a:xfrm>
          <a:prstGeom prst="rect">
            <a:avLst/>
          </a:prstGeom>
          <a:noFill/>
          <a:ln/>
        </p:spPr>
        <p:txBody>
          <a:bodyPr wrap="square" lIns="0" tIns="0" rIns="0" bIns="0" rtlCol="0" anchor="ctr"/>
          <a:lstStyle/>
          <a:p>
            <a:pPr algn="ctr" indent="0" marL="0">
              <a:buNone/>
            </a:pPr>
            <a:r>
              <a:rPr lang="en-US" sz="4000" b="1" dirty="0">
                <a:solidFill>
                  <a:srgbClr val="1E7A46"/>
                </a:solidFill>
                <a:latin typeface="Times New Roman" pitchFamily="34" charset="0"/>
                <a:ea typeface="Times New Roman" pitchFamily="34" charset="-122"/>
                <a:cs typeface="Times New Roman" pitchFamily="34" charset="-120"/>
              </a:rPr>
              <a:t>T</a:t>
            </a:r>
            <a:endParaRPr lang="en-US" sz="4000" dirty="0"/>
          </a:p>
        </p:txBody>
      </p:sp>
      <p:sp>
        <p:nvSpPr>
          <p:cNvPr id="12" name="Text 9"/>
          <p:cNvSpPr txBox="1"/>
          <p:nvPr/>
        </p:nvSpPr>
        <p:spPr>
          <a:xfrm>
            <a:off x="3332988" y="4370832"/>
            <a:ext cx="2011680" cy="502920"/>
          </a:xfrm>
          <a:prstGeom prst="rect">
            <a:avLst/>
          </a:prstGeom>
          <a:noFill/>
          <a:ln/>
        </p:spPr>
        <p:txBody>
          <a:bodyPr wrap="square" lIns="0" tIns="0" rIns="0" bIns="0" rtlCol="0" anchor="ctr"/>
          <a:lstStyle/>
          <a:p>
            <a:pPr algn="ctr" indent="0" marL="0">
              <a:lnSpc>
                <a:spcPts val="1400"/>
              </a:lnSpc>
              <a:buNone/>
            </a:pPr>
            <a:r>
              <a:rPr lang="en-US" sz="1250" b="1" dirty="0">
                <a:solidFill>
                  <a:srgbClr val="16211C"/>
                </a:solidFill>
                <a:latin typeface="Times New Roman" pitchFamily="34" charset="0"/>
                <a:ea typeface="Times New Roman" pitchFamily="34" charset="-122"/>
                <a:cs typeface="Times New Roman" pitchFamily="34" charset="-120"/>
              </a:rPr>
              <a:t>Phạm Quốc Thanh</a:t>
            </a:r>
            <a:endParaRPr lang="en-US" sz="1250" dirty="0"/>
          </a:p>
        </p:txBody>
      </p:sp>
      <p:sp>
        <p:nvSpPr>
          <p:cNvPr id="13" name="Text 10"/>
          <p:cNvSpPr txBox="1"/>
          <p:nvPr/>
        </p:nvSpPr>
        <p:spPr>
          <a:xfrm>
            <a:off x="3332988" y="4864608"/>
            <a:ext cx="2011680" cy="320040"/>
          </a:xfrm>
          <a:prstGeom prst="rect">
            <a:avLst/>
          </a:prstGeom>
          <a:noFill/>
          <a:ln/>
        </p:spPr>
        <p:txBody>
          <a:bodyPr wrap="square" lIns="0" tIns="0" rIns="0" bIns="0" rtlCol="0" anchor="ctr"/>
          <a:lstStyle/>
          <a:p>
            <a:pPr algn="ctr" indent="0" marL="0">
              <a:buNone/>
            </a:pPr>
            <a:r>
              <a:rPr lang="en-US" sz="1150" dirty="0">
                <a:solidFill>
                  <a:srgbClr val="9C6B00"/>
                </a:solidFill>
                <a:latin typeface="Times New Roman" pitchFamily="34" charset="0"/>
                <a:ea typeface="Times New Roman" pitchFamily="34" charset="-122"/>
                <a:cs typeface="Times New Roman" pitchFamily="34" charset="-120"/>
              </a:rPr>
              <a:t>Công nghệ</a:t>
            </a:r>
            <a:endParaRPr lang="en-US" sz="1150" dirty="0"/>
          </a:p>
        </p:txBody>
      </p:sp>
      <p:sp>
        <p:nvSpPr>
          <p:cNvPr id="14" name="Shape 11"/>
          <p:cNvSpPr/>
          <p:nvPr/>
        </p:nvSpPr>
        <p:spPr>
          <a:xfrm>
            <a:off x="5408676" y="2834640"/>
            <a:ext cx="1371600" cy="1371600"/>
          </a:xfrm>
          <a:prstGeom prst="ellipse">
            <a:avLst/>
          </a:prstGeom>
          <a:solidFill>
            <a:srgbClr val="EEF4EF"/>
          </a:solidFill>
          <a:ln w="25400">
            <a:solidFill>
              <a:srgbClr val="146B39"/>
            </a:solidFill>
            <a:prstDash val="solid"/>
          </a:ln>
        </p:spPr>
      </p:sp>
      <p:sp>
        <p:nvSpPr>
          <p:cNvPr id="15" name="Text 12"/>
          <p:cNvSpPr txBox="1"/>
          <p:nvPr/>
        </p:nvSpPr>
        <p:spPr>
          <a:xfrm>
            <a:off x="5408676" y="2834640"/>
            <a:ext cx="1371600" cy="1371600"/>
          </a:xfrm>
          <a:prstGeom prst="rect">
            <a:avLst/>
          </a:prstGeom>
          <a:noFill/>
          <a:ln/>
        </p:spPr>
        <p:txBody>
          <a:bodyPr wrap="square" lIns="0" tIns="0" rIns="0" bIns="0" rtlCol="0" anchor="ctr"/>
          <a:lstStyle/>
          <a:p>
            <a:pPr algn="ctr" indent="0" marL="0">
              <a:buNone/>
            </a:pPr>
            <a:r>
              <a:rPr lang="en-US" sz="4000" b="1" dirty="0">
                <a:solidFill>
                  <a:srgbClr val="1E7A46"/>
                </a:solidFill>
                <a:latin typeface="Times New Roman" pitchFamily="34" charset="0"/>
                <a:ea typeface="Times New Roman" pitchFamily="34" charset="-122"/>
                <a:cs typeface="Times New Roman" pitchFamily="34" charset="-120"/>
              </a:rPr>
              <a:t>P</a:t>
            </a:r>
            <a:endParaRPr lang="en-US" sz="4000" dirty="0"/>
          </a:p>
        </p:txBody>
      </p:sp>
      <p:sp>
        <p:nvSpPr>
          <p:cNvPr id="16" name="Text 13"/>
          <p:cNvSpPr txBox="1"/>
          <p:nvPr/>
        </p:nvSpPr>
        <p:spPr>
          <a:xfrm>
            <a:off x="5088636" y="4370832"/>
            <a:ext cx="2011680" cy="502920"/>
          </a:xfrm>
          <a:prstGeom prst="rect">
            <a:avLst/>
          </a:prstGeom>
          <a:noFill/>
          <a:ln/>
        </p:spPr>
        <p:txBody>
          <a:bodyPr wrap="square" lIns="0" tIns="0" rIns="0" bIns="0" rtlCol="0" anchor="ctr"/>
          <a:lstStyle/>
          <a:p>
            <a:pPr algn="ctr" indent="0" marL="0">
              <a:lnSpc>
                <a:spcPts val="1400"/>
              </a:lnSpc>
              <a:buNone/>
            </a:pPr>
            <a:r>
              <a:rPr lang="en-US" sz="1250" b="1" dirty="0">
                <a:solidFill>
                  <a:srgbClr val="16211C"/>
                </a:solidFill>
                <a:latin typeface="Times New Roman" pitchFamily="34" charset="0"/>
                <a:ea typeface="Times New Roman" pitchFamily="34" charset="-122"/>
                <a:cs typeface="Times New Roman" pitchFamily="34" charset="-120"/>
              </a:rPr>
              <a:t>Nguyễn N. Khánh Phương</a:t>
            </a:r>
            <a:endParaRPr lang="en-US" sz="1250" dirty="0"/>
          </a:p>
        </p:txBody>
      </p:sp>
      <p:sp>
        <p:nvSpPr>
          <p:cNvPr id="17" name="Text 14"/>
          <p:cNvSpPr txBox="1"/>
          <p:nvPr/>
        </p:nvSpPr>
        <p:spPr>
          <a:xfrm>
            <a:off x="5088636" y="4864608"/>
            <a:ext cx="2011680" cy="320040"/>
          </a:xfrm>
          <a:prstGeom prst="rect">
            <a:avLst/>
          </a:prstGeom>
          <a:noFill/>
          <a:ln/>
        </p:spPr>
        <p:txBody>
          <a:bodyPr wrap="square" lIns="0" tIns="0" rIns="0" bIns="0" rtlCol="0" anchor="ctr"/>
          <a:lstStyle/>
          <a:p>
            <a:pPr algn="ctr" indent="0" marL="0">
              <a:buNone/>
            </a:pPr>
            <a:r>
              <a:rPr lang="en-US" sz="1150" dirty="0">
                <a:solidFill>
                  <a:srgbClr val="9C6B00"/>
                </a:solidFill>
                <a:latin typeface="Times New Roman" pitchFamily="34" charset="0"/>
                <a:ea typeface="Times New Roman" pitchFamily="34" charset="-122"/>
                <a:cs typeface="Times New Roman" pitchFamily="34" charset="-120"/>
              </a:rPr>
              <a:t>Kinh doanh</a:t>
            </a:r>
            <a:endParaRPr lang="en-US" sz="1150" dirty="0"/>
          </a:p>
        </p:txBody>
      </p:sp>
      <p:sp>
        <p:nvSpPr>
          <p:cNvPr id="18" name="Shape 15"/>
          <p:cNvSpPr/>
          <p:nvPr/>
        </p:nvSpPr>
        <p:spPr>
          <a:xfrm>
            <a:off x="7164324" y="2834640"/>
            <a:ext cx="1371600" cy="1371600"/>
          </a:xfrm>
          <a:prstGeom prst="ellipse">
            <a:avLst/>
          </a:prstGeom>
          <a:solidFill>
            <a:srgbClr val="EEF4EF"/>
          </a:solidFill>
          <a:ln w="25400">
            <a:solidFill>
              <a:srgbClr val="146B39"/>
            </a:solidFill>
            <a:prstDash val="solid"/>
          </a:ln>
        </p:spPr>
      </p:sp>
      <p:sp>
        <p:nvSpPr>
          <p:cNvPr id="19" name="Text 16"/>
          <p:cNvSpPr txBox="1"/>
          <p:nvPr/>
        </p:nvSpPr>
        <p:spPr>
          <a:xfrm>
            <a:off x="7164324" y="2834640"/>
            <a:ext cx="1371600" cy="1371600"/>
          </a:xfrm>
          <a:prstGeom prst="rect">
            <a:avLst/>
          </a:prstGeom>
          <a:noFill/>
          <a:ln/>
        </p:spPr>
        <p:txBody>
          <a:bodyPr wrap="square" lIns="0" tIns="0" rIns="0" bIns="0" rtlCol="0" anchor="ctr"/>
          <a:lstStyle/>
          <a:p>
            <a:pPr algn="ctr" indent="0" marL="0">
              <a:buNone/>
            </a:pPr>
            <a:r>
              <a:rPr lang="en-US" sz="4000" b="1" dirty="0">
                <a:solidFill>
                  <a:srgbClr val="1E7A46"/>
                </a:solidFill>
                <a:latin typeface="Times New Roman" pitchFamily="34" charset="0"/>
                <a:ea typeface="Times New Roman" pitchFamily="34" charset="-122"/>
                <a:cs typeface="Times New Roman" pitchFamily="34" charset="-120"/>
              </a:rPr>
              <a:t>P</a:t>
            </a:r>
            <a:endParaRPr lang="en-US" sz="4000" dirty="0"/>
          </a:p>
        </p:txBody>
      </p:sp>
      <p:sp>
        <p:nvSpPr>
          <p:cNvPr id="20" name="Text 17"/>
          <p:cNvSpPr txBox="1"/>
          <p:nvPr/>
        </p:nvSpPr>
        <p:spPr>
          <a:xfrm>
            <a:off x="6844284" y="4370832"/>
            <a:ext cx="2011680" cy="502920"/>
          </a:xfrm>
          <a:prstGeom prst="rect">
            <a:avLst/>
          </a:prstGeom>
          <a:noFill/>
          <a:ln/>
        </p:spPr>
        <p:txBody>
          <a:bodyPr wrap="square" lIns="0" tIns="0" rIns="0" bIns="0" rtlCol="0" anchor="ctr"/>
          <a:lstStyle/>
          <a:p>
            <a:pPr algn="ctr" indent="0" marL="0">
              <a:lnSpc>
                <a:spcPts val="1400"/>
              </a:lnSpc>
              <a:buNone/>
            </a:pPr>
            <a:r>
              <a:rPr lang="en-US" sz="1250" b="1" dirty="0">
                <a:solidFill>
                  <a:srgbClr val="16211C"/>
                </a:solidFill>
                <a:latin typeface="Times New Roman" pitchFamily="34" charset="0"/>
                <a:ea typeface="Times New Roman" pitchFamily="34" charset="-122"/>
                <a:cs typeface="Times New Roman" pitchFamily="34" charset="-120"/>
              </a:rPr>
              <a:t>Nguyễn Hồng Phúc</a:t>
            </a:r>
            <a:endParaRPr lang="en-US" sz="1250" dirty="0"/>
          </a:p>
        </p:txBody>
      </p:sp>
      <p:sp>
        <p:nvSpPr>
          <p:cNvPr id="21" name="Text 18"/>
          <p:cNvSpPr txBox="1"/>
          <p:nvPr/>
        </p:nvSpPr>
        <p:spPr>
          <a:xfrm>
            <a:off x="6844284" y="4864608"/>
            <a:ext cx="2011680" cy="320040"/>
          </a:xfrm>
          <a:prstGeom prst="rect">
            <a:avLst/>
          </a:prstGeom>
          <a:noFill/>
          <a:ln/>
        </p:spPr>
        <p:txBody>
          <a:bodyPr wrap="square" lIns="0" tIns="0" rIns="0" bIns="0" rtlCol="0" anchor="ctr"/>
          <a:lstStyle/>
          <a:p>
            <a:pPr algn="ctr" indent="0" marL="0">
              <a:buNone/>
            </a:pPr>
            <a:r>
              <a:rPr lang="en-US" sz="1150" dirty="0">
                <a:solidFill>
                  <a:srgbClr val="9C6B00"/>
                </a:solidFill>
                <a:latin typeface="Times New Roman" pitchFamily="34" charset="0"/>
                <a:ea typeface="Times New Roman" pitchFamily="34" charset="-122"/>
                <a:cs typeface="Times New Roman" pitchFamily="34" charset="-120"/>
              </a:rPr>
              <a:t>Tài chính</a:t>
            </a:r>
            <a:endParaRPr lang="en-US" sz="1150" dirty="0"/>
          </a:p>
        </p:txBody>
      </p:sp>
      <p:sp>
        <p:nvSpPr>
          <p:cNvPr id="22" name="Shape 19"/>
          <p:cNvSpPr/>
          <p:nvPr/>
        </p:nvSpPr>
        <p:spPr>
          <a:xfrm>
            <a:off x="8919972" y="2834640"/>
            <a:ext cx="1371600" cy="1371600"/>
          </a:xfrm>
          <a:prstGeom prst="ellipse">
            <a:avLst/>
          </a:prstGeom>
          <a:solidFill>
            <a:srgbClr val="EEF4EF"/>
          </a:solidFill>
          <a:ln w="25400">
            <a:solidFill>
              <a:srgbClr val="146B39"/>
            </a:solidFill>
            <a:prstDash val="solid"/>
          </a:ln>
        </p:spPr>
      </p:sp>
      <p:sp>
        <p:nvSpPr>
          <p:cNvPr id="23" name="Text 20"/>
          <p:cNvSpPr txBox="1"/>
          <p:nvPr/>
        </p:nvSpPr>
        <p:spPr>
          <a:xfrm>
            <a:off x="8919972" y="2834640"/>
            <a:ext cx="1371600" cy="1371600"/>
          </a:xfrm>
          <a:prstGeom prst="rect">
            <a:avLst/>
          </a:prstGeom>
          <a:noFill/>
          <a:ln/>
        </p:spPr>
        <p:txBody>
          <a:bodyPr wrap="square" lIns="0" tIns="0" rIns="0" bIns="0" rtlCol="0" anchor="ctr"/>
          <a:lstStyle/>
          <a:p>
            <a:pPr algn="ctr" indent="0" marL="0">
              <a:buNone/>
            </a:pPr>
            <a:r>
              <a:rPr lang="en-US" sz="4000" b="1" dirty="0">
                <a:solidFill>
                  <a:srgbClr val="1E7A46"/>
                </a:solidFill>
                <a:latin typeface="Times New Roman" pitchFamily="34" charset="0"/>
                <a:ea typeface="Times New Roman" pitchFamily="34" charset="-122"/>
                <a:cs typeface="Times New Roman" pitchFamily="34" charset="-120"/>
              </a:rPr>
              <a:t>C</a:t>
            </a:r>
            <a:endParaRPr lang="en-US" sz="4000" dirty="0"/>
          </a:p>
        </p:txBody>
      </p:sp>
      <p:sp>
        <p:nvSpPr>
          <p:cNvPr id="24" name="Text 21"/>
          <p:cNvSpPr txBox="1"/>
          <p:nvPr/>
        </p:nvSpPr>
        <p:spPr>
          <a:xfrm>
            <a:off x="8599932" y="4370832"/>
            <a:ext cx="2011680" cy="502920"/>
          </a:xfrm>
          <a:prstGeom prst="rect">
            <a:avLst/>
          </a:prstGeom>
          <a:noFill/>
          <a:ln/>
        </p:spPr>
        <p:txBody>
          <a:bodyPr wrap="square" lIns="0" tIns="0" rIns="0" bIns="0" rtlCol="0" anchor="ctr"/>
          <a:lstStyle/>
          <a:p>
            <a:pPr algn="ctr" indent="0" marL="0">
              <a:lnSpc>
                <a:spcPts val="1400"/>
              </a:lnSpc>
              <a:buNone/>
            </a:pPr>
            <a:r>
              <a:rPr lang="en-US" sz="1250" b="1" dirty="0">
                <a:solidFill>
                  <a:srgbClr val="16211C"/>
                </a:solidFill>
                <a:latin typeface="Times New Roman" pitchFamily="34" charset="0"/>
                <a:ea typeface="Times New Roman" pitchFamily="34" charset="-122"/>
                <a:cs typeface="Times New Roman" pitchFamily="34" charset="-120"/>
              </a:rPr>
              <a:t>Nguyễn Quang Chiến</a:t>
            </a:r>
            <a:endParaRPr lang="en-US" sz="1250" dirty="0"/>
          </a:p>
        </p:txBody>
      </p:sp>
      <p:sp>
        <p:nvSpPr>
          <p:cNvPr id="25" name="Text 22"/>
          <p:cNvSpPr txBox="1"/>
          <p:nvPr/>
        </p:nvSpPr>
        <p:spPr>
          <a:xfrm>
            <a:off x="8599932" y="4864608"/>
            <a:ext cx="2011680" cy="320040"/>
          </a:xfrm>
          <a:prstGeom prst="rect">
            <a:avLst/>
          </a:prstGeom>
          <a:noFill/>
          <a:ln/>
        </p:spPr>
        <p:txBody>
          <a:bodyPr wrap="square" lIns="0" tIns="0" rIns="0" bIns="0" rtlCol="0" anchor="ctr"/>
          <a:lstStyle/>
          <a:p>
            <a:pPr algn="ctr" indent="0" marL="0">
              <a:buNone/>
            </a:pPr>
            <a:r>
              <a:rPr lang="en-US" sz="1150" dirty="0">
                <a:solidFill>
                  <a:srgbClr val="9C6B00"/>
                </a:solidFill>
                <a:latin typeface="Times New Roman" pitchFamily="34" charset="0"/>
                <a:ea typeface="Times New Roman" pitchFamily="34" charset="-122"/>
                <a:cs typeface="Times New Roman" pitchFamily="34" charset="-120"/>
              </a:rPr>
              <a:t>Công nghệ</a:t>
            </a:r>
            <a:endParaRPr lang="en-US" sz="11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BF9"/>
        </a:solidFill>
      </p:bgPr>
    </p:bg>
    <p:spTree>
      <p:nvGrpSpPr>
        <p:cNvPr id="1" name=""/>
        <p:cNvGrpSpPr/>
        <p:nvPr/>
      </p:nvGrpSpPr>
      <p:grpSpPr>
        <a:xfrm>
          <a:off x="0" y="0"/>
          <a:ext cx="0" cy="0"/>
          <a:chOff x="0" y="0"/>
          <a:chExt cx="0" cy="0"/>
        </a:xfrm>
      </p:grpSpPr>
      <p:sp>
        <p:nvSpPr>
          <p:cNvPr id="3" name="Text 0"/>
          <p:cNvSpPr txBox="1"/>
          <p:nvPr/>
        </p:nvSpPr>
        <p:spPr>
          <a:xfrm>
            <a:off x="594360" y="502920"/>
            <a:ext cx="4572000" cy="320040"/>
          </a:xfrm>
          <a:prstGeom prst="rect">
            <a:avLst/>
          </a:prstGeom>
          <a:noFill/>
          <a:ln/>
        </p:spPr>
        <p:txBody>
          <a:bodyPr wrap="square" lIns="0" tIns="0" rIns="0" bIns="0" rtlCol="0" anchor="ctr"/>
          <a:lstStyle/>
          <a:p>
            <a:pPr indent="0" marL="0">
              <a:buNone/>
            </a:pPr>
            <a:r>
              <a:rPr lang="en-US" sz="1200" b="1" spc="200" kern="0" dirty="0">
                <a:solidFill>
                  <a:srgbClr val="9C6B00"/>
                </a:solidFill>
                <a:latin typeface="Times New Roman" pitchFamily="34" charset="0"/>
                <a:ea typeface="Times New Roman" pitchFamily="34" charset="-122"/>
                <a:cs typeface="Times New Roman" pitchFamily="34" charset="-120"/>
              </a:rPr>
              <a:t>Ý NGHĨA DỰ ÁN</a:t>
            </a:r>
            <a:endParaRPr lang="en-US" sz="1200" dirty="0"/>
          </a:p>
        </p:txBody>
      </p:sp>
      <p:pic>
        <p:nvPicPr>
          <p:cNvPr id="4" name="Image 0" descr="preencoded.png">    </p:cNvPr>
          <p:cNvPicPr>
            <a:picLocks noChangeAspect="1"/>
          </p:cNvPicPr>
          <p:nvPr/>
        </p:nvPicPr>
        <p:blipFill>
          <a:blip r:embed="rId1"/>
          <a:stretch>
            <a:fillRect/>
          </a:stretch>
        </p:blipFill>
        <p:spPr>
          <a:xfrm>
            <a:off x="594360" y="960120"/>
            <a:ext cx="548640" cy="548640"/>
          </a:xfrm>
          <a:prstGeom prst="rect">
            <a:avLst/>
          </a:prstGeom>
        </p:spPr>
      </p:pic>
      <p:sp>
        <p:nvSpPr>
          <p:cNvPr id="5" name="Text 1"/>
          <p:cNvSpPr txBox="1"/>
          <p:nvPr/>
        </p:nvSpPr>
        <p:spPr>
          <a:xfrm>
            <a:off x="594360" y="1645920"/>
            <a:ext cx="10607040" cy="1920240"/>
          </a:xfrm>
          <a:prstGeom prst="rect">
            <a:avLst/>
          </a:prstGeom>
          <a:noFill/>
          <a:ln/>
        </p:spPr>
        <p:txBody>
          <a:bodyPr wrap="square" lIns="0" tIns="0" rIns="0" bIns="0" rtlCol="0" anchor="ctr"/>
          <a:lstStyle/>
          <a:p>
            <a:pPr indent="0" marL="0">
              <a:lnSpc>
                <a:spcPts val="3600"/>
              </a:lnSpc>
              <a:buNone/>
            </a:pPr>
            <a:r>
              <a:rPr lang="en-US" sz="2800" b="1" i="1" dirty="0">
                <a:solidFill>
                  <a:srgbClr val="16211C"/>
                </a:solidFill>
                <a:latin typeface="Times New Roman" pitchFamily="34" charset="0"/>
                <a:ea typeface="Times New Roman" pitchFamily="34" charset="-122"/>
                <a:cs typeface="Times New Roman" pitchFamily="34" charset="-120"/>
              </a:rPr>
              <a:t>Logistics xanh không phải một lựa chọn xa xỉ — mà là con đường tất yếu để doanh nghiệp Việt Nam phát triển bền vững.</a:t>
            </a:r>
            <a:endParaRPr lang="en-US" sz="2800" dirty="0"/>
          </a:p>
        </p:txBody>
      </p:sp>
      <p:sp>
        <p:nvSpPr>
          <p:cNvPr id="6" name="Shape 2"/>
          <p:cNvSpPr/>
          <p:nvPr/>
        </p:nvSpPr>
        <p:spPr>
          <a:xfrm>
            <a:off x="594360" y="3977640"/>
            <a:ext cx="10607040" cy="1737360"/>
          </a:xfrm>
          <a:prstGeom prst="roundRect">
            <a:avLst>
              <a:gd name="adj" fmla="val 6316"/>
            </a:avLst>
          </a:prstGeom>
          <a:solidFill>
            <a:srgbClr val="FFFFFF"/>
          </a:solidFill>
          <a:ln w="12700">
            <a:solidFill>
              <a:srgbClr val="DEE8E1"/>
            </a:solidFill>
            <a:prstDash val="solid"/>
          </a:ln>
        </p:spPr>
      </p:sp>
      <p:sp>
        <p:nvSpPr>
          <p:cNvPr id="7" name="Shape 3"/>
          <p:cNvSpPr/>
          <p:nvPr/>
        </p:nvSpPr>
        <p:spPr>
          <a:xfrm>
            <a:off x="822960" y="4361688"/>
            <a:ext cx="969264" cy="969264"/>
          </a:xfrm>
          <a:prstGeom prst="ellipse">
            <a:avLst/>
          </a:prstGeom>
          <a:solidFill>
            <a:srgbClr val="146B39"/>
          </a:solidFill>
          <a:ln/>
        </p:spPr>
      </p:sp>
      <p:pic>
        <p:nvPicPr>
          <p:cNvPr id="8" name="Image 1" descr="preencoded.png">    </p:cNvPr>
          <p:cNvPicPr>
            <a:picLocks noChangeAspect="1"/>
          </p:cNvPicPr>
          <p:nvPr/>
        </p:nvPicPr>
        <p:blipFill>
          <a:blip r:embed="rId2"/>
          <a:stretch>
            <a:fillRect/>
          </a:stretch>
        </p:blipFill>
        <p:spPr>
          <a:xfrm>
            <a:off x="1033272" y="4572000"/>
            <a:ext cx="548640" cy="548640"/>
          </a:xfrm>
          <a:prstGeom prst="rect">
            <a:avLst/>
          </a:prstGeom>
        </p:spPr>
      </p:pic>
      <p:sp>
        <p:nvSpPr>
          <p:cNvPr id="9" name="Text 4"/>
          <p:cNvSpPr txBox="1"/>
          <p:nvPr/>
        </p:nvSpPr>
        <p:spPr>
          <a:xfrm>
            <a:off x="2148840" y="4297680"/>
            <a:ext cx="8778240" cy="1371600"/>
          </a:xfrm>
          <a:prstGeom prst="rect">
            <a:avLst/>
          </a:prstGeom>
          <a:noFill/>
          <a:ln/>
        </p:spPr>
        <p:txBody>
          <a:bodyPr wrap="square" lIns="0" tIns="0" rIns="0" bIns="0" rtlCol="0" anchor="ctr"/>
          <a:lstStyle/>
          <a:p>
            <a:pPr indent="0" marL="0">
              <a:lnSpc>
                <a:spcPts val="2200"/>
              </a:lnSpc>
              <a:buNone/>
            </a:pPr>
            <a:r>
              <a:rPr lang="en-US" sz="1600" b="1" dirty="0">
                <a:solidFill>
                  <a:srgbClr val="1E7A46"/>
                </a:solidFill>
                <a:latin typeface="Times New Roman" pitchFamily="34" charset="0"/>
                <a:ea typeface="Times New Roman" pitchFamily="34" charset="-122"/>
                <a:cs typeface="Times New Roman" pitchFamily="34" charset="-120"/>
              </a:rPr>
              <a:t>Tầm nhìn: </a:t>
            </a:r>
            <a:pPr indent="0" marL="0">
              <a:lnSpc>
                <a:spcPts val="2200"/>
              </a:lnSpc>
              <a:buNone/>
            </a:pPr>
            <a:r>
              <a:rPr lang="en-US" sz="1600" dirty="0">
                <a:solidFill>
                  <a:srgbClr val="16211C"/>
                </a:solidFill>
                <a:latin typeface="Times New Roman" pitchFamily="34" charset="0"/>
                <a:ea typeface="Times New Roman" pitchFamily="34" charset="-122"/>
                <a:cs typeface="Times New Roman" pitchFamily="34" charset="-120"/>
              </a:rPr>
              <a:t>trở thành nền tảng quản trị vận tải và phát thải hàng đầu cho doanh nghiệp logistics vừa và nhỏ tại Việt Nam, đóng góp cụ thể vào mục tiêu Net Zero 2050 của quốc gia.</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BF9"/>
        </a:solidFill>
      </p:bgPr>
    </p:bg>
    <p:spTree>
      <p:nvGrpSpPr>
        <p:cNvPr id="1" name=""/>
        <p:cNvGrpSpPr/>
        <p:nvPr/>
      </p:nvGrpSpPr>
      <p:grpSpPr>
        <a:xfrm>
          <a:off x="0" y="0"/>
          <a:ext cx="0" cy="0"/>
          <a:chOff x="0" y="0"/>
          <a:chExt cx="0" cy="0"/>
        </a:xfrm>
      </p:grpSpPr>
      <p:sp>
        <p:nvSpPr>
          <p:cNvPr id="3" name="Text 0"/>
          <p:cNvSpPr txBox="1"/>
          <p:nvPr/>
        </p:nvSpPr>
        <p:spPr>
          <a:xfrm>
            <a:off x="594360" y="457200"/>
            <a:ext cx="4572000" cy="320040"/>
          </a:xfrm>
          <a:prstGeom prst="rect">
            <a:avLst/>
          </a:prstGeom>
          <a:noFill/>
          <a:ln/>
        </p:spPr>
        <p:txBody>
          <a:bodyPr wrap="square" lIns="0" tIns="0" rIns="0" bIns="0" rtlCol="0" anchor="ctr"/>
          <a:lstStyle/>
          <a:p>
            <a:pPr indent="0" marL="0">
              <a:buNone/>
            </a:pPr>
            <a:r>
              <a:rPr lang="en-US" sz="1200" b="1" spc="200" kern="0" dirty="0">
                <a:solidFill>
                  <a:srgbClr val="9C6B00"/>
                </a:solidFill>
                <a:latin typeface="Times New Roman" pitchFamily="34" charset="0"/>
                <a:ea typeface="Times New Roman" pitchFamily="34" charset="-122"/>
                <a:cs typeface="Times New Roman" pitchFamily="34" charset="-120"/>
              </a:rPr>
              <a:t>SẢN PHẨM</a:t>
            </a:r>
            <a:endParaRPr lang="en-US" sz="1200" dirty="0"/>
          </a:p>
        </p:txBody>
      </p:sp>
      <p:sp>
        <p:nvSpPr>
          <p:cNvPr id="4" name="Text 1"/>
          <p:cNvSpPr txBox="1"/>
          <p:nvPr/>
        </p:nvSpPr>
        <p:spPr>
          <a:xfrm>
            <a:off x="594360" y="777240"/>
            <a:ext cx="10607040" cy="640080"/>
          </a:xfrm>
          <a:prstGeom prst="rect">
            <a:avLst/>
          </a:prstGeom>
          <a:noFill/>
          <a:ln/>
        </p:spPr>
        <p:txBody>
          <a:bodyPr wrap="square" lIns="0" tIns="0" rIns="0" bIns="0" rtlCol="0" anchor="ctr"/>
          <a:lstStyle/>
          <a:p>
            <a:pPr indent="0" marL="0">
              <a:buNone/>
            </a:pPr>
            <a:r>
              <a:rPr lang="en-US" sz="2700" b="1" dirty="0">
                <a:solidFill>
                  <a:srgbClr val="16211C"/>
                </a:solidFill>
                <a:latin typeface="Times New Roman" pitchFamily="34" charset="0"/>
                <a:ea typeface="Times New Roman" pitchFamily="34" charset="-122"/>
                <a:cs typeface="Times New Roman" pitchFamily="34" charset="-120"/>
              </a:rPr>
              <a:t>4 cách GreenLogix giúp vận hành hiệu quả hơn</a:t>
            </a:r>
            <a:endParaRPr lang="en-US" sz="2700" dirty="0"/>
          </a:p>
        </p:txBody>
      </p:sp>
      <p:sp>
        <p:nvSpPr>
          <p:cNvPr id="5" name="Shape 2"/>
          <p:cNvSpPr/>
          <p:nvPr/>
        </p:nvSpPr>
        <p:spPr>
          <a:xfrm>
            <a:off x="594360" y="1691640"/>
            <a:ext cx="5120640" cy="1874520"/>
          </a:xfrm>
          <a:prstGeom prst="roundRect">
            <a:avLst>
              <a:gd name="adj" fmla="val 4878"/>
            </a:avLst>
          </a:prstGeom>
          <a:solidFill>
            <a:srgbClr val="FFFFFF"/>
          </a:solidFill>
          <a:ln w="12700">
            <a:solidFill>
              <a:srgbClr val="DEE8E1"/>
            </a:solidFill>
            <a:prstDash val="solid"/>
          </a:ln>
        </p:spPr>
      </p:sp>
      <p:sp>
        <p:nvSpPr>
          <p:cNvPr id="6" name="Shape 3"/>
          <p:cNvSpPr/>
          <p:nvPr/>
        </p:nvSpPr>
        <p:spPr>
          <a:xfrm>
            <a:off x="868680" y="1965960"/>
            <a:ext cx="566928" cy="566928"/>
          </a:xfrm>
          <a:prstGeom prst="ellipse">
            <a:avLst/>
          </a:prstGeom>
          <a:solidFill>
            <a:srgbClr val="EEF4EF"/>
          </a:solidFill>
          <a:ln/>
        </p:spPr>
      </p:sp>
      <p:pic>
        <p:nvPicPr>
          <p:cNvPr id="7" name="Image 0" descr="preencoded.png">    </p:cNvPr>
          <p:cNvPicPr>
            <a:picLocks noChangeAspect="1"/>
          </p:cNvPicPr>
          <p:nvPr/>
        </p:nvPicPr>
        <p:blipFill>
          <a:blip r:embed="rId1"/>
          <a:stretch>
            <a:fillRect/>
          </a:stretch>
        </p:blipFill>
        <p:spPr>
          <a:xfrm>
            <a:off x="996696" y="2093976"/>
            <a:ext cx="310896" cy="310896"/>
          </a:xfrm>
          <a:prstGeom prst="rect">
            <a:avLst/>
          </a:prstGeom>
        </p:spPr>
      </p:pic>
      <p:sp>
        <p:nvSpPr>
          <p:cNvPr id="8" name="Text 4"/>
          <p:cNvSpPr txBox="1"/>
          <p:nvPr/>
        </p:nvSpPr>
        <p:spPr>
          <a:xfrm>
            <a:off x="1600200" y="1947672"/>
            <a:ext cx="3886200" cy="457200"/>
          </a:xfrm>
          <a:prstGeom prst="rect">
            <a:avLst/>
          </a:prstGeom>
          <a:noFill/>
          <a:ln/>
        </p:spPr>
        <p:txBody>
          <a:bodyPr wrap="square" lIns="0" tIns="0" rIns="0" bIns="0" rtlCol="0" anchor="ctr"/>
          <a:lstStyle/>
          <a:p>
            <a:pPr indent="0" marL="0">
              <a:buNone/>
            </a:pPr>
            <a:r>
              <a:rPr lang="en-US" sz="1650" b="1" dirty="0">
                <a:solidFill>
                  <a:srgbClr val="16211C"/>
                </a:solidFill>
                <a:latin typeface="Times New Roman" pitchFamily="34" charset="0"/>
                <a:ea typeface="Times New Roman" pitchFamily="34" charset="-122"/>
                <a:cs typeface="Times New Roman" pitchFamily="34" charset="-120"/>
              </a:rPr>
              <a:t>Tự động sắp tuyến</a:t>
            </a:r>
            <a:endParaRPr lang="en-US" sz="1650" dirty="0"/>
          </a:p>
        </p:txBody>
      </p:sp>
      <p:sp>
        <p:nvSpPr>
          <p:cNvPr id="9" name="Text 5"/>
          <p:cNvSpPr txBox="1"/>
          <p:nvPr/>
        </p:nvSpPr>
        <p:spPr>
          <a:xfrm>
            <a:off x="868680" y="2560320"/>
            <a:ext cx="4572000" cy="914400"/>
          </a:xfrm>
          <a:prstGeom prst="rect">
            <a:avLst/>
          </a:prstGeom>
          <a:noFill/>
          <a:ln/>
        </p:spPr>
        <p:txBody>
          <a:bodyPr wrap="square" lIns="0" tIns="0" rIns="0" bIns="0" rtlCol="0" anchor="ctr"/>
          <a:lstStyle/>
          <a:p>
            <a:pPr indent="0" marL="0">
              <a:lnSpc>
                <a:spcPts val="1600"/>
              </a:lnSpc>
              <a:buNone/>
            </a:pPr>
            <a:r>
              <a:rPr lang="en-US" sz="1250" dirty="0">
                <a:solidFill>
                  <a:srgbClr val="5B6B62"/>
                </a:solidFill>
                <a:latin typeface="Times New Roman" pitchFamily="34" charset="0"/>
                <a:ea typeface="Times New Roman" pitchFamily="34" charset="-122"/>
                <a:cs typeface="Times New Roman" pitchFamily="34" charset="-120"/>
              </a:rPr>
              <a:t>Gom điểm giao gần nhau, tính theo tải trọng xe — tạo lộ trình hợp lý chỉ trong vài giây.</a:t>
            </a:r>
            <a:endParaRPr lang="en-US" sz="1250" dirty="0"/>
          </a:p>
        </p:txBody>
      </p:sp>
      <p:sp>
        <p:nvSpPr>
          <p:cNvPr id="10" name="Shape 6"/>
          <p:cNvSpPr/>
          <p:nvPr/>
        </p:nvSpPr>
        <p:spPr>
          <a:xfrm>
            <a:off x="6080760" y="1691640"/>
            <a:ext cx="5120640" cy="1874520"/>
          </a:xfrm>
          <a:prstGeom prst="roundRect">
            <a:avLst>
              <a:gd name="adj" fmla="val 4878"/>
            </a:avLst>
          </a:prstGeom>
          <a:solidFill>
            <a:srgbClr val="FFFFFF"/>
          </a:solidFill>
          <a:ln w="12700">
            <a:solidFill>
              <a:srgbClr val="DEE8E1"/>
            </a:solidFill>
            <a:prstDash val="solid"/>
          </a:ln>
        </p:spPr>
      </p:sp>
      <p:sp>
        <p:nvSpPr>
          <p:cNvPr id="11" name="Shape 7"/>
          <p:cNvSpPr/>
          <p:nvPr/>
        </p:nvSpPr>
        <p:spPr>
          <a:xfrm>
            <a:off x="6355080" y="1965960"/>
            <a:ext cx="566928" cy="566928"/>
          </a:xfrm>
          <a:prstGeom prst="ellipse">
            <a:avLst/>
          </a:prstGeom>
          <a:solidFill>
            <a:srgbClr val="EEF4EF"/>
          </a:solidFill>
          <a:ln/>
        </p:spPr>
      </p:sp>
      <p:pic>
        <p:nvPicPr>
          <p:cNvPr id="12" name="Image 1" descr="preencoded.png">    </p:cNvPr>
          <p:cNvPicPr>
            <a:picLocks noChangeAspect="1"/>
          </p:cNvPicPr>
          <p:nvPr/>
        </p:nvPicPr>
        <p:blipFill>
          <a:blip r:embed="rId2"/>
          <a:stretch>
            <a:fillRect/>
          </a:stretch>
        </p:blipFill>
        <p:spPr>
          <a:xfrm>
            <a:off x="6483096" y="2093976"/>
            <a:ext cx="310896" cy="310896"/>
          </a:xfrm>
          <a:prstGeom prst="rect">
            <a:avLst/>
          </a:prstGeom>
        </p:spPr>
      </p:pic>
      <p:sp>
        <p:nvSpPr>
          <p:cNvPr id="13" name="Text 8"/>
          <p:cNvSpPr txBox="1"/>
          <p:nvPr/>
        </p:nvSpPr>
        <p:spPr>
          <a:xfrm>
            <a:off x="7086600" y="1947672"/>
            <a:ext cx="3886200" cy="457200"/>
          </a:xfrm>
          <a:prstGeom prst="rect">
            <a:avLst/>
          </a:prstGeom>
          <a:noFill/>
          <a:ln/>
        </p:spPr>
        <p:txBody>
          <a:bodyPr wrap="square" lIns="0" tIns="0" rIns="0" bIns="0" rtlCol="0" anchor="ctr"/>
          <a:lstStyle/>
          <a:p>
            <a:pPr indent="0" marL="0">
              <a:buNone/>
            </a:pPr>
            <a:r>
              <a:rPr lang="en-US" sz="1650" b="1" dirty="0">
                <a:solidFill>
                  <a:srgbClr val="16211C"/>
                </a:solidFill>
                <a:latin typeface="Times New Roman" pitchFamily="34" charset="0"/>
                <a:ea typeface="Times New Roman" pitchFamily="34" charset="-122"/>
                <a:cs typeface="Times New Roman" pitchFamily="34" charset="-120"/>
              </a:rPr>
              <a:t>Chủ động tránh ùn tắc</a:t>
            </a:r>
            <a:endParaRPr lang="en-US" sz="1650" dirty="0"/>
          </a:p>
        </p:txBody>
      </p:sp>
      <p:sp>
        <p:nvSpPr>
          <p:cNvPr id="14" name="Text 9"/>
          <p:cNvSpPr txBox="1"/>
          <p:nvPr/>
        </p:nvSpPr>
        <p:spPr>
          <a:xfrm>
            <a:off x="6355080" y="2560320"/>
            <a:ext cx="4572000" cy="914400"/>
          </a:xfrm>
          <a:prstGeom prst="rect">
            <a:avLst/>
          </a:prstGeom>
          <a:noFill/>
          <a:ln/>
        </p:spPr>
        <p:txBody>
          <a:bodyPr wrap="square" lIns="0" tIns="0" rIns="0" bIns="0" rtlCol="0" anchor="ctr"/>
          <a:lstStyle/>
          <a:p>
            <a:pPr indent="0" marL="0">
              <a:lnSpc>
                <a:spcPts val="1600"/>
              </a:lnSpc>
              <a:buNone/>
            </a:pPr>
            <a:r>
              <a:rPr lang="en-US" sz="1250" dirty="0">
                <a:solidFill>
                  <a:srgbClr val="5B6B62"/>
                </a:solidFill>
                <a:latin typeface="Times New Roman" pitchFamily="34" charset="0"/>
                <a:ea typeface="Times New Roman" pitchFamily="34" charset="-122"/>
                <a:cs typeface="Times New Roman" pitchFamily="34" charset="-120"/>
              </a:rPr>
              <a:t>Cảnh báo lệch tuyến tức thì, tăng tỷ lệ giao đúng hẹn lên tới 98,8%.</a:t>
            </a:r>
            <a:endParaRPr lang="en-US" sz="1250" dirty="0"/>
          </a:p>
        </p:txBody>
      </p:sp>
      <p:sp>
        <p:nvSpPr>
          <p:cNvPr id="15" name="Shape 10"/>
          <p:cNvSpPr/>
          <p:nvPr/>
        </p:nvSpPr>
        <p:spPr>
          <a:xfrm>
            <a:off x="594360" y="3840480"/>
            <a:ext cx="5120640" cy="1874520"/>
          </a:xfrm>
          <a:prstGeom prst="roundRect">
            <a:avLst>
              <a:gd name="adj" fmla="val 4878"/>
            </a:avLst>
          </a:prstGeom>
          <a:solidFill>
            <a:srgbClr val="FFFFFF"/>
          </a:solidFill>
          <a:ln w="12700">
            <a:solidFill>
              <a:srgbClr val="DEE8E1"/>
            </a:solidFill>
            <a:prstDash val="solid"/>
          </a:ln>
        </p:spPr>
      </p:sp>
      <p:sp>
        <p:nvSpPr>
          <p:cNvPr id="16" name="Shape 11"/>
          <p:cNvSpPr/>
          <p:nvPr/>
        </p:nvSpPr>
        <p:spPr>
          <a:xfrm>
            <a:off x="868680" y="4114800"/>
            <a:ext cx="566928" cy="566928"/>
          </a:xfrm>
          <a:prstGeom prst="ellipse">
            <a:avLst/>
          </a:prstGeom>
          <a:solidFill>
            <a:srgbClr val="EEF4EF"/>
          </a:solidFill>
          <a:ln/>
        </p:spPr>
      </p:sp>
      <p:pic>
        <p:nvPicPr>
          <p:cNvPr id="17" name="Image 2" descr="preencoded.png">    </p:cNvPr>
          <p:cNvPicPr>
            <a:picLocks noChangeAspect="1"/>
          </p:cNvPicPr>
          <p:nvPr/>
        </p:nvPicPr>
        <p:blipFill>
          <a:blip r:embed="rId3"/>
          <a:stretch>
            <a:fillRect/>
          </a:stretch>
        </p:blipFill>
        <p:spPr>
          <a:xfrm>
            <a:off x="996696" y="4242816"/>
            <a:ext cx="310896" cy="310896"/>
          </a:xfrm>
          <a:prstGeom prst="rect">
            <a:avLst/>
          </a:prstGeom>
        </p:spPr>
      </p:pic>
      <p:sp>
        <p:nvSpPr>
          <p:cNvPr id="18" name="Text 12"/>
          <p:cNvSpPr txBox="1"/>
          <p:nvPr/>
        </p:nvSpPr>
        <p:spPr>
          <a:xfrm>
            <a:off x="1600200" y="4096512"/>
            <a:ext cx="3886200" cy="457200"/>
          </a:xfrm>
          <a:prstGeom prst="rect">
            <a:avLst/>
          </a:prstGeom>
          <a:noFill/>
          <a:ln/>
        </p:spPr>
        <p:txBody>
          <a:bodyPr wrap="square" lIns="0" tIns="0" rIns="0" bIns="0" rtlCol="0" anchor="ctr"/>
          <a:lstStyle/>
          <a:p>
            <a:pPr indent="0" marL="0">
              <a:buNone/>
            </a:pPr>
            <a:r>
              <a:rPr lang="en-US" sz="1650" b="1" dirty="0">
                <a:solidFill>
                  <a:srgbClr val="16211C"/>
                </a:solidFill>
                <a:latin typeface="Times New Roman" pitchFamily="34" charset="0"/>
                <a:ea typeface="Times New Roman" pitchFamily="34" charset="-122"/>
                <a:cs typeface="Times New Roman" pitchFamily="34" charset="-120"/>
              </a:rPr>
              <a:t>Ghép đơn chiều về</a:t>
            </a:r>
            <a:endParaRPr lang="en-US" sz="1650" dirty="0"/>
          </a:p>
        </p:txBody>
      </p:sp>
      <p:sp>
        <p:nvSpPr>
          <p:cNvPr id="19" name="Text 13"/>
          <p:cNvSpPr txBox="1"/>
          <p:nvPr/>
        </p:nvSpPr>
        <p:spPr>
          <a:xfrm>
            <a:off x="868680" y="4709160"/>
            <a:ext cx="4572000" cy="914400"/>
          </a:xfrm>
          <a:prstGeom prst="rect">
            <a:avLst/>
          </a:prstGeom>
          <a:noFill/>
          <a:ln/>
        </p:spPr>
        <p:txBody>
          <a:bodyPr wrap="square" lIns="0" tIns="0" rIns="0" bIns="0" rtlCol="0" anchor="ctr"/>
          <a:lstStyle/>
          <a:p>
            <a:pPr indent="0" marL="0">
              <a:lnSpc>
                <a:spcPts val="1600"/>
              </a:lnSpc>
              <a:buNone/>
            </a:pPr>
            <a:r>
              <a:rPr lang="en-US" sz="1250" dirty="0">
                <a:solidFill>
                  <a:srgbClr val="5B6B62"/>
                </a:solidFill>
                <a:latin typeface="Times New Roman" pitchFamily="34" charset="0"/>
                <a:ea typeface="Times New Roman" pitchFamily="34" charset="-122"/>
                <a:cs typeface="Times New Roman" pitchFamily="34" charset="-120"/>
              </a:rPr>
              <a:t>Tận dụng chuyến quay về, giảm tỷ lệ xe chạy rỗng từ 30–35% xuống còn 5–10%.</a:t>
            </a:r>
            <a:endParaRPr lang="en-US" sz="1250" dirty="0"/>
          </a:p>
        </p:txBody>
      </p:sp>
      <p:sp>
        <p:nvSpPr>
          <p:cNvPr id="20" name="Shape 14"/>
          <p:cNvSpPr/>
          <p:nvPr/>
        </p:nvSpPr>
        <p:spPr>
          <a:xfrm>
            <a:off x="6080760" y="3840480"/>
            <a:ext cx="5120640" cy="1874520"/>
          </a:xfrm>
          <a:prstGeom prst="roundRect">
            <a:avLst>
              <a:gd name="adj" fmla="val 4878"/>
            </a:avLst>
          </a:prstGeom>
          <a:solidFill>
            <a:srgbClr val="FFFFFF"/>
          </a:solidFill>
          <a:ln w="12700">
            <a:solidFill>
              <a:srgbClr val="DEE8E1"/>
            </a:solidFill>
            <a:prstDash val="solid"/>
          </a:ln>
        </p:spPr>
      </p:sp>
      <p:sp>
        <p:nvSpPr>
          <p:cNvPr id="21" name="Shape 15"/>
          <p:cNvSpPr/>
          <p:nvPr/>
        </p:nvSpPr>
        <p:spPr>
          <a:xfrm>
            <a:off x="6355080" y="4114800"/>
            <a:ext cx="566928" cy="566928"/>
          </a:xfrm>
          <a:prstGeom prst="ellipse">
            <a:avLst/>
          </a:prstGeom>
          <a:solidFill>
            <a:srgbClr val="EEF4EF"/>
          </a:solidFill>
          <a:ln/>
        </p:spPr>
      </p:sp>
      <p:pic>
        <p:nvPicPr>
          <p:cNvPr id="22" name="Image 3" descr="preencoded.png">    </p:cNvPr>
          <p:cNvPicPr>
            <a:picLocks noChangeAspect="1"/>
          </p:cNvPicPr>
          <p:nvPr/>
        </p:nvPicPr>
        <p:blipFill>
          <a:blip r:embed="rId4"/>
          <a:stretch>
            <a:fillRect/>
          </a:stretch>
        </p:blipFill>
        <p:spPr>
          <a:xfrm>
            <a:off x="6483096" y="4242816"/>
            <a:ext cx="310896" cy="310896"/>
          </a:xfrm>
          <a:prstGeom prst="rect">
            <a:avLst/>
          </a:prstGeom>
        </p:spPr>
      </p:pic>
      <p:sp>
        <p:nvSpPr>
          <p:cNvPr id="23" name="Text 16"/>
          <p:cNvSpPr txBox="1"/>
          <p:nvPr/>
        </p:nvSpPr>
        <p:spPr>
          <a:xfrm>
            <a:off x="7086600" y="4096512"/>
            <a:ext cx="3886200" cy="457200"/>
          </a:xfrm>
          <a:prstGeom prst="rect">
            <a:avLst/>
          </a:prstGeom>
          <a:noFill/>
          <a:ln/>
        </p:spPr>
        <p:txBody>
          <a:bodyPr wrap="square" lIns="0" tIns="0" rIns="0" bIns="0" rtlCol="0" anchor="ctr"/>
          <a:lstStyle/>
          <a:p>
            <a:pPr indent="0" marL="0">
              <a:buNone/>
            </a:pPr>
            <a:r>
              <a:rPr lang="en-US" sz="1650" b="1" dirty="0">
                <a:solidFill>
                  <a:srgbClr val="16211C"/>
                </a:solidFill>
                <a:latin typeface="Times New Roman" pitchFamily="34" charset="0"/>
                <a:ea typeface="Times New Roman" pitchFamily="34" charset="-122"/>
                <a:cs typeface="Times New Roman" pitchFamily="34" charset="-120"/>
              </a:rPr>
              <a:t>Đo lường &amp; báo cáo CO₂</a:t>
            </a:r>
            <a:endParaRPr lang="en-US" sz="1650" dirty="0"/>
          </a:p>
        </p:txBody>
      </p:sp>
      <p:sp>
        <p:nvSpPr>
          <p:cNvPr id="24" name="Text 17"/>
          <p:cNvSpPr txBox="1"/>
          <p:nvPr/>
        </p:nvSpPr>
        <p:spPr>
          <a:xfrm>
            <a:off x="6355080" y="4709160"/>
            <a:ext cx="4572000" cy="914400"/>
          </a:xfrm>
          <a:prstGeom prst="rect">
            <a:avLst/>
          </a:prstGeom>
          <a:noFill/>
          <a:ln/>
        </p:spPr>
        <p:txBody>
          <a:bodyPr wrap="square" lIns="0" tIns="0" rIns="0" bIns="0" rtlCol="0" anchor="ctr"/>
          <a:lstStyle/>
          <a:p>
            <a:pPr indent="0" marL="0">
              <a:lnSpc>
                <a:spcPts val="1600"/>
              </a:lnSpc>
              <a:buNone/>
            </a:pPr>
            <a:r>
              <a:rPr lang="en-US" sz="1250" dirty="0">
                <a:solidFill>
                  <a:srgbClr val="5B6B62"/>
                </a:solidFill>
                <a:latin typeface="Times New Roman" pitchFamily="34" charset="0"/>
                <a:ea typeface="Times New Roman" pitchFamily="34" charset="-122"/>
                <a:cs typeface="Times New Roman" pitchFamily="34" charset="-120"/>
              </a:rPr>
              <a:t>Tự động tính toán và xuất báo cáo phát thải theo chuẩn quốc tế GLEC / GHG Protocol.</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BF9"/>
        </a:solidFill>
      </p:bgPr>
    </p:bg>
    <p:spTree>
      <p:nvGrpSpPr>
        <p:cNvPr id="1" name=""/>
        <p:cNvGrpSpPr/>
        <p:nvPr/>
      </p:nvGrpSpPr>
      <p:grpSpPr>
        <a:xfrm>
          <a:off x="0" y="0"/>
          <a:ext cx="0" cy="0"/>
          <a:chOff x="0" y="0"/>
          <a:chExt cx="0" cy="0"/>
        </a:xfrm>
      </p:grpSpPr>
      <p:sp>
        <p:nvSpPr>
          <p:cNvPr id="3" name="Text 0"/>
          <p:cNvSpPr txBox="1"/>
          <p:nvPr/>
        </p:nvSpPr>
        <p:spPr>
          <a:xfrm>
            <a:off x="594360" y="457200"/>
            <a:ext cx="4572000" cy="320040"/>
          </a:xfrm>
          <a:prstGeom prst="rect">
            <a:avLst/>
          </a:prstGeom>
          <a:noFill/>
          <a:ln/>
        </p:spPr>
        <p:txBody>
          <a:bodyPr wrap="square" lIns="0" tIns="0" rIns="0" bIns="0" rtlCol="0" anchor="ctr"/>
          <a:lstStyle/>
          <a:p>
            <a:pPr indent="0" marL="0">
              <a:buNone/>
            </a:pPr>
            <a:r>
              <a:rPr lang="en-US" sz="1200" b="1" spc="200" kern="0" dirty="0">
                <a:solidFill>
                  <a:srgbClr val="9C6B00"/>
                </a:solidFill>
                <a:latin typeface="Times New Roman" pitchFamily="34" charset="0"/>
                <a:ea typeface="Times New Roman" pitchFamily="34" charset="-122"/>
                <a:cs typeface="Times New Roman" pitchFamily="34" charset="-120"/>
              </a:rPr>
              <a:t>SẢN PHẨM</a:t>
            </a:r>
            <a:endParaRPr lang="en-US" sz="1200" dirty="0"/>
          </a:p>
        </p:txBody>
      </p:sp>
      <p:sp>
        <p:nvSpPr>
          <p:cNvPr id="4" name="Text 1"/>
          <p:cNvSpPr txBox="1"/>
          <p:nvPr/>
        </p:nvSpPr>
        <p:spPr>
          <a:xfrm>
            <a:off x="594360" y="777240"/>
            <a:ext cx="10058400" cy="640080"/>
          </a:xfrm>
          <a:prstGeom prst="rect">
            <a:avLst/>
          </a:prstGeom>
          <a:noFill/>
          <a:ln/>
        </p:spPr>
        <p:txBody>
          <a:bodyPr wrap="square" lIns="0" tIns="0" rIns="0" bIns="0" rtlCol="0" anchor="ctr"/>
          <a:lstStyle/>
          <a:p>
            <a:pPr indent="0" marL="0">
              <a:buNone/>
            </a:pPr>
            <a:r>
              <a:rPr lang="en-US" sz="2700" b="1" dirty="0">
                <a:solidFill>
                  <a:srgbClr val="16211C"/>
                </a:solidFill>
                <a:latin typeface="Times New Roman" pitchFamily="34" charset="0"/>
                <a:ea typeface="Times New Roman" pitchFamily="34" charset="-122"/>
                <a:cs typeface="Times New Roman" pitchFamily="34" charset="-120"/>
              </a:rPr>
              <a:t>Giao diện quản lý trực quan</a:t>
            </a:r>
            <a:endParaRPr lang="en-US" sz="2700" dirty="0"/>
          </a:p>
        </p:txBody>
      </p:sp>
      <p:sp>
        <p:nvSpPr>
          <p:cNvPr id="5" name="Text 2"/>
          <p:cNvSpPr txBox="1"/>
          <p:nvPr/>
        </p:nvSpPr>
        <p:spPr>
          <a:xfrm>
            <a:off x="594360" y="1371600"/>
            <a:ext cx="10607040" cy="640080"/>
          </a:xfrm>
          <a:prstGeom prst="rect">
            <a:avLst/>
          </a:prstGeom>
          <a:noFill/>
          <a:ln/>
        </p:spPr>
        <p:txBody>
          <a:bodyPr wrap="square" lIns="0" tIns="0" rIns="0" bIns="0" rtlCol="0" anchor="ctr"/>
          <a:lstStyle/>
          <a:p>
            <a:pPr indent="0" marL="0">
              <a:lnSpc>
                <a:spcPts val="1700"/>
              </a:lnSpc>
              <a:buNone/>
            </a:pPr>
            <a:r>
              <a:rPr lang="en-US" sz="1350" dirty="0">
                <a:solidFill>
                  <a:srgbClr val="5B6B62"/>
                </a:solidFill>
                <a:latin typeface="Times New Roman" pitchFamily="34" charset="0"/>
                <a:ea typeface="Times New Roman" pitchFamily="34" charset="-122"/>
                <a:cs typeface="Times New Roman" pitchFamily="34" charset="-120"/>
              </a:rPr>
              <a:t>Người quản lý tải danh sách đơn hàng lên, hệ thống tự nhóm điểm giao, đề xuất tuyến và hiển thị tiến độ từng xe trên bản đồ — đúng như màn hình điều hành đang chạy tại console.greenlogix.vn.</a:t>
            </a:r>
            <a:endParaRPr lang="en-US" sz="1350" dirty="0"/>
          </a:p>
        </p:txBody>
      </p:sp>
      <p:sp>
        <p:nvSpPr>
          <p:cNvPr id="6" name="Shape 3"/>
          <p:cNvSpPr/>
          <p:nvPr/>
        </p:nvSpPr>
        <p:spPr>
          <a:xfrm>
            <a:off x="594360" y="2148840"/>
            <a:ext cx="10972800" cy="4343400"/>
          </a:xfrm>
          <a:prstGeom prst="roundRect">
            <a:avLst>
              <a:gd name="adj" fmla="val 2526"/>
            </a:avLst>
          </a:prstGeom>
          <a:solidFill>
            <a:srgbClr val="FFFFFF"/>
          </a:solidFill>
          <a:ln w="12700">
            <a:solidFill>
              <a:srgbClr val="DEE8E1"/>
            </a:solidFill>
            <a:prstDash val="solid"/>
          </a:ln>
        </p:spPr>
      </p:sp>
      <p:sp>
        <p:nvSpPr>
          <p:cNvPr id="7" name="Shape 4"/>
          <p:cNvSpPr/>
          <p:nvPr/>
        </p:nvSpPr>
        <p:spPr>
          <a:xfrm>
            <a:off x="594360" y="2148840"/>
            <a:ext cx="10972800" cy="384048"/>
          </a:xfrm>
          <a:prstGeom prst="roundRect">
            <a:avLst/>
          </a:prstGeom>
          <a:solidFill>
            <a:srgbClr val="EEF4EF"/>
          </a:solidFill>
          <a:ln/>
        </p:spPr>
      </p:sp>
      <p:sp>
        <p:nvSpPr>
          <p:cNvPr id="8" name="Shape 5"/>
          <p:cNvSpPr/>
          <p:nvPr/>
        </p:nvSpPr>
        <p:spPr>
          <a:xfrm>
            <a:off x="795528" y="2276856"/>
            <a:ext cx="118872" cy="118872"/>
          </a:xfrm>
          <a:prstGeom prst="ellipse">
            <a:avLst/>
          </a:prstGeom>
          <a:solidFill>
            <a:srgbClr val="C0392B"/>
          </a:solidFill>
          <a:ln/>
        </p:spPr>
      </p:sp>
      <p:sp>
        <p:nvSpPr>
          <p:cNvPr id="9" name="Shape 6"/>
          <p:cNvSpPr/>
          <p:nvPr/>
        </p:nvSpPr>
        <p:spPr>
          <a:xfrm>
            <a:off x="1014984" y="2276856"/>
            <a:ext cx="118872" cy="118872"/>
          </a:xfrm>
          <a:prstGeom prst="ellipse">
            <a:avLst/>
          </a:prstGeom>
          <a:solidFill>
            <a:srgbClr val="9C6B00"/>
          </a:solidFill>
          <a:ln/>
        </p:spPr>
      </p:sp>
      <p:sp>
        <p:nvSpPr>
          <p:cNvPr id="10" name="Shape 7"/>
          <p:cNvSpPr/>
          <p:nvPr/>
        </p:nvSpPr>
        <p:spPr>
          <a:xfrm>
            <a:off x="1234440" y="2276856"/>
            <a:ext cx="118872" cy="118872"/>
          </a:xfrm>
          <a:prstGeom prst="ellipse">
            <a:avLst/>
          </a:prstGeom>
          <a:solidFill>
            <a:srgbClr val="1E7A46"/>
          </a:solidFill>
          <a:ln/>
        </p:spPr>
      </p:sp>
      <p:sp>
        <p:nvSpPr>
          <p:cNvPr id="11" name="Text 8"/>
          <p:cNvSpPr txBox="1"/>
          <p:nvPr/>
        </p:nvSpPr>
        <p:spPr>
          <a:xfrm>
            <a:off x="4800600" y="2176272"/>
            <a:ext cx="2743200" cy="329184"/>
          </a:xfrm>
          <a:prstGeom prst="rect">
            <a:avLst/>
          </a:prstGeom>
          <a:noFill/>
          <a:ln/>
        </p:spPr>
        <p:txBody>
          <a:bodyPr wrap="square" lIns="0" tIns="0" rIns="0" bIns="0" rtlCol="0" anchor="ctr"/>
          <a:lstStyle/>
          <a:p>
            <a:pPr algn="ctr" indent="0" marL="0">
              <a:buNone/>
            </a:pPr>
            <a:r>
              <a:rPr lang="en-US" sz="1050" dirty="0">
                <a:solidFill>
                  <a:srgbClr val="5B6B62"/>
                </a:solidFill>
                <a:latin typeface="Times New Roman" pitchFamily="34" charset="0"/>
                <a:ea typeface="Times New Roman" pitchFamily="34" charset="-122"/>
                <a:cs typeface="Times New Roman" pitchFamily="34" charset="-120"/>
              </a:rPr>
              <a:t>console.greenlogix.vn</a:t>
            </a:r>
            <a:endParaRPr lang="en-US" sz="1050" dirty="0"/>
          </a:p>
        </p:txBody>
      </p:sp>
      <p:sp>
        <p:nvSpPr>
          <p:cNvPr id="12" name="Shape 9"/>
          <p:cNvSpPr/>
          <p:nvPr/>
        </p:nvSpPr>
        <p:spPr>
          <a:xfrm>
            <a:off x="914400" y="2697480"/>
            <a:ext cx="4160520" cy="749808"/>
          </a:xfrm>
          <a:prstGeom prst="roundRect">
            <a:avLst>
              <a:gd name="adj" fmla="val 9756"/>
            </a:avLst>
          </a:prstGeom>
          <a:solidFill>
            <a:srgbClr val="EEF4EF"/>
          </a:solidFill>
          <a:ln/>
        </p:spPr>
      </p:sp>
      <p:sp>
        <p:nvSpPr>
          <p:cNvPr id="13" name="Text 10"/>
          <p:cNvSpPr txBox="1"/>
          <p:nvPr/>
        </p:nvSpPr>
        <p:spPr>
          <a:xfrm>
            <a:off x="1097280" y="2770632"/>
            <a:ext cx="3794760" cy="274320"/>
          </a:xfrm>
          <a:prstGeom prst="rect">
            <a:avLst/>
          </a:prstGeom>
          <a:noFill/>
          <a:ln/>
        </p:spPr>
        <p:txBody>
          <a:bodyPr wrap="square" lIns="0" tIns="0" rIns="0" bIns="0" rtlCol="0" anchor="ctr"/>
          <a:lstStyle/>
          <a:p>
            <a:pPr indent="0" marL="0">
              <a:buNone/>
            </a:pPr>
            <a:r>
              <a:rPr lang="en-US" sz="1150" dirty="0">
                <a:solidFill>
                  <a:srgbClr val="5B6B62"/>
                </a:solidFill>
                <a:latin typeface="Times New Roman" pitchFamily="34" charset="0"/>
                <a:ea typeface="Times New Roman" pitchFamily="34" charset="-122"/>
                <a:cs typeface="Times New Roman" pitchFamily="34" charset="-120"/>
              </a:rPr>
              <a:t>Đơn hàng hôm nay</a:t>
            </a:r>
            <a:endParaRPr lang="en-US" sz="1150" dirty="0"/>
          </a:p>
        </p:txBody>
      </p:sp>
      <p:sp>
        <p:nvSpPr>
          <p:cNvPr id="14" name="Text 11"/>
          <p:cNvSpPr txBox="1"/>
          <p:nvPr/>
        </p:nvSpPr>
        <p:spPr>
          <a:xfrm>
            <a:off x="1097280" y="3026664"/>
            <a:ext cx="3794760" cy="384048"/>
          </a:xfrm>
          <a:prstGeom prst="rect">
            <a:avLst/>
          </a:prstGeom>
          <a:noFill/>
          <a:ln/>
        </p:spPr>
        <p:txBody>
          <a:bodyPr wrap="square" lIns="0" tIns="0" rIns="0" bIns="0" rtlCol="0" anchor="ctr"/>
          <a:lstStyle/>
          <a:p>
            <a:pPr indent="0" marL="0">
              <a:buNone/>
            </a:pPr>
            <a:r>
              <a:rPr lang="en-US" sz="2100" b="1" dirty="0">
                <a:solidFill>
                  <a:srgbClr val="16211C"/>
                </a:solidFill>
                <a:latin typeface="Times New Roman" pitchFamily="34" charset="0"/>
                <a:ea typeface="Times New Roman" pitchFamily="34" charset="-122"/>
                <a:cs typeface="Times New Roman" pitchFamily="34" charset="-120"/>
              </a:rPr>
              <a:t>80 / 80</a:t>
            </a:r>
            <a:endParaRPr lang="en-US" sz="2100" dirty="0"/>
          </a:p>
        </p:txBody>
      </p:sp>
      <p:sp>
        <p:nvSpPr>
          <p:cNvPr id="15" name="Shape 12"/>
          <p:cNvSpPr/>
          <p:nvPr/>
        </p:nvSpPr>
        <p:spPr>
          <a:xfrm>
            <a:off x="914400" y="3593592"/>
            <a:ext cx="4160520" cy="749808"/>
          </a:xfrm>
          <a:prstGeom prst="roundRect">
            <a:avLst>
              <a:gd name="adj" fmla="val 9756"/>
            </a:avLst>
          </a:prstGeom>
          <a:solidFill>
            <a:srgbClr val="EEF4EF"/>
          </a:solidFill>
          <a:ln/>
        </p:spPr>
      </p:sp>
      <p:sp>
        <p:nvSpPr>
          <p:cNvPr id="16" name="Text 13"/>
          <p:cNvSpPr txBox="1"/>
          <p:nvPr/>
        </p:nvSpPr>
        <p:spPr>
          <a:xfrm>
            <a:off x="1097280" y="3666744"/>
            <a:ext cx="3794760" cy="274320"/>
          </a:xfrm>
          <a:prstGeom prst="rect">
            <a:avLst/>
          </a:prstGeom>
          <a:noFill/>
          <a:ln/>
        </p:spPr>
        <p:txBody>
          <a:bodyPr wrap="square" lIns="0" tIns="0" rIns="0" bIns="0" rtlCol="0" anchor="ctr"/>
          <a:lstStyle/>
          <a:p>
            <a:pPr indent="0" marL="0">
              <a:buNone/>
            </a:pPr>
            <a:r>
              <a:rPr lang="en-US" sz="1150" dirty="0">
                <a:solidFill>
                  <a:srgbClr val="5B6B62"/>
                </a:solidFill>
                <a:latin typeface="Times New Roman" pitchFamily="34" charset="0"/>
                <a:ea typeface="Times New Roman" pitchFamily="34" charset="-122"/>
                <a:cs typeface="Times New Roman" pitchFamily="34" charset="-120"/>
              </a:rPr>
              <a:t>Đội xe hoạt động</a:t>
            </a:r>
            <a:endParaRPr lang="en-US" sz="1150" dirty="0"/>
          </a:p>
        </p:txBody>
      </p:sp>
      <p:sp>
        <p:nvSpPr>
          <p:cNvPr id="17" name="Text 14"/>
          <p:cNvSpPr txBox="1"/>
          <p:nvPr/>
        </p:nvSpPr>
        <p:spPr>
          <a:xfrm>
            <a:off x="1097280" y="3922776"/>
            <a:ext cx="3794760" cy="384048"/>
          </a:xfrm>
          <a:prstGeom prst="rect">
            <a:avLst/>
          </a:prstGeom>
          <a:noFill/>
          <a:ln/>
        </p:spPr>
        <p:txBody>
          <a:bodyPr wrap="square" lIns="0" tIns="0" rIns="0" bIns="0" rtlCol="0" anchor="ctr"/>
          <a:lstStyle/>
          <a:p>
            <a:pPr indent="0" marL="0">
              <a:buNone/>
            </a:pPr>
            <a:r>
              <a:rPr lang="en-US" sz="2100" b="1" dirty="0">
                <a:solidFill>
                  <a:srgbClr val="16211C"/>
                </a:solidFill>
                <a:latin typeface="Times New Roman" pitchFamily="34" charset="0"/>
                <a:ea typeface="Times New Roman" pitchFamily="34" charset="-122"/>
                <a:cs typeface="Times New Roman" pitchFamily="34" charset="-120"/>
              </a:rPr>
              <a:t>10 xe</a:t>
            </a:r>
            <a:endParaRPr lang="en-US" sz="2100" dirty="0"/>
          </a:p>
        </p:txBody>
      </p:sp>
      <p:sp>
        <p:nvSpPr>
          <p:cNvPr id="18" name="Shape 15"/>
          <p:cNvSpPr/>
          <p:nvPr/>
        </p:nvSpPr>
        <p:spPr>
          <a:xfrm>
            <a:off x="914400" y="4489704"/>
            <a:ext cx="4160520" cy="749808"/>
          </a:xfrm>
          <a:prstGeom prst="roundRect">
            <a:avLst>
              <a:gd name="adj" fmla="val 9756"/>
            </a:avLst>
          </a:prstGeom>
          <a:solidFill>
            <a:srgbClr val="EEF4EF"/>
          </a:solidFill>
          <a:ln/>
        </p:spPr>
      </p:sp>
      <p:sp>
        <p:nvSpPr>
          <p:cNvPr id="19" name="Text 16"/>
          <p:cNvSpPr txBox="1"/>
          <p:nvPr/>
        </p:nvSpPr>
        <p:spPr>
          <a:xfrm>
            <a:off x="1097280" y="4562856"/>
            <a:ext cx="3794760" cy="274320"/>
          </a:xfrm>
          <a:prstGeom prst="rect">
            <a:avLst/>
          </a:prstGeom>
          <a:noFill/>
          <a:ln/>
        </p:spPr>
        <p:txBody>
          <a:bodyPr wrap="square" lIns="0" tIns="0" rIns="0" bIns="0" rtlCol="0" anchor="ctr"/>
          <a:lstStyle/>
          <a:p>
            <a:pPr indent="0" marL="0">
              <a:buNone/>
            </a:pPr>
            <a:r>
              <a:rPr lang="en-US" sz="1150" dirty="0">
                <a:solidFill>
                  <a:srgbClr val="5B6B62"/>
                </a:solidFill>
                <a:latin typeface="Times New Roman" pitchFamily="34" charset="0"/>
                <a:ea typeface="Times New Roman" pitchFamily="34" charset="-122"/>
                <a:cs typeface="Times New Roman" pitchFamily="34" charset="-120"/>
              </a:rPr>
              <a:t>CO₂ tiết giảm</a:t>
            </a:r>
            <a:endParaRPr lang="en-US" sz="1150" dirty="0"/>
          </a:p>
        </p:txBody>
      </p:sp>
      <p:sp>
        <p:nvSpPr>
          <p:cNvPr id="20" name="Text 17"/>
          <p:cNvSpPr txBox="1"/>
          <p:nvPr/>
        </p:nvSpPr>
        <p:spPr>
          <a:xfrm>
            <a:off x="1097280" y="4818888"/>
            <a:ext cx="3794760" cy="384048"/>
          </a:xfrm>
          <a:prstGeom prst="rect">
            <a:avLst/>
          </a:prstGeom>
          <a:noFill/>
          <a:ln/>
        </p:spPr>
        <p:txBody>
          <a:bodyPr wrap="square" lIns="0" tIns="0" rIns="0" bIns="0" rtlCol="0" anchor="ctr"/>
          <a:lstStyle/>
          <a:p>
            <a:pPr indent="0" marL="0">
              <a:buNone/>
            </a:pPr>
            <a:r>
              <a:rPr lang="en-US" sz="2100" b="1" dirty="0">
                <a:solidFill>
                  <a:srgbClr val="1E7A46"/>
                </a:solidFill>
                <a:latin typeface="Times New Roman" pitchFamily="34" charset="0"/>
                <a:ea typeface="Times New Roman" pitchFamily="34" charset="-122"/>
                <a:cs typeface="Times New Roman" pitchFamily="34" charset="-120"/>
              </a:rPr>
              <a:t>-142,8 kg</a:t>
            </a:r>
            <a:endParaRPr lang="en-US" sz="2100" dirty="0"/>
          </a:p>
        </p:txBody>
      </p:sp>
      <p:sp>
        <p:nvSpPr>
          <p:cNvPr id="21" name="Shape 18"/>
          <p:cNvSpPr/>
          <p:nvPr/>
        </p:nvSpPr>
        <p:spPr>
          <a:xfrm>
            <a:off x="914400" y="5477256"/>
            <a:ext cx="4160520" cy="960120"/>
          </a:xfrm>
          <a:prstGeom prst="roundRect">
            <a:avLst>
              <a:gd name="adj" fmla="val 7619"/>
            </a:avLst>
          </a:prstGeom>
          <a:solidFill>
            <a:srgbClr val="EEF4EF"/>
          </a:solidFill>
          <a:ln/>
        </p:spPr>
      </p:sp>
      <p:sp>
        <p:nvSpPr>
          <p:cNvPr id="22" name="Text 19"/>
          <p:cNvSpPr txBox="1"/>
          <p:nvPr/>
        </p:nvSpPr>
        <p:spPr>
          <a:xfrm>
            <a:off x="1097280" y="5568696"/>
            <a:ext cx="3794760" cy="292608"/>
          </a:xfrm>
          <a:prstGeom prst="rect">
            <a:avLst/>
          </a:prstGeom>
          <a:noFill/>
          <a:ln/>
        </p:spPr>
        <p:txBody>
          <a:bodyPr wrap="square" lIns="0" tIns="0" rIns="0" bIns="0" rtlCol="0" anchor="ctr"/>
          <a:lstStyle/>
          <a:p>
            <a:pPr indent="0" marL="0">
              <a:buNone/>
            </a:pPr>
            <a:r>
              <a:rPr lang="en-US" sz="1250" b="1" dirty="0">
                <a:solidFill>
                  <a:srgbClr val="16211C"/>
                </a:solidFill>
                <a:latin typeface="Times New Roman" pitchFamily="34" charset="0"/>
                <a:ea typeface="Times New Roman" pitchFamily="34" charset="-122"/>
                <a:cs typeface="Times New Roman" pitchFamily="34" charset="-120"/>
              </a:rPr>
              <a:t>Xe 03   </a:t>
            </a:r>
            <a:pPr indent="0" marL="0">
              <a:buNone/>
            </a:pPr>
            <a:r>
              <a:rPr lang="en-US" sz="1050" dirty="0">
                <a:solidFill>
                  <a:srgbClr val="1E7A46"/>
                </a:solidFill>
                <a:latin typeface="Times New Roman" pitchFamily="34" charset="0"/>
                <a:ea typeface="Times New Roman" pitchFamily="34" charset="-122"/>
                <a:cs typeface="Times New Roman" pitchFamily="34" charset="-120"/>
              </a:rPr>
              <a:t>● Đang di chuyển</a:t>
            </a:r>
            <a:endParaRPr lang="en-US" sz="1250" dirty="0"/>
          </a:p>
        </p:txBody>
      </p:sp>
      <p:sp>
        <p:nvSpPr>
          <p:cNvPr id="23" name="Text 20"/>
          <p:cNvSpPr txBox="1"/>
          <p:nvPr/>
        </p:nvSpPr>
        <p:spPr>
          <a:xfrm>
            <a:off x="1097280" y="5879592"/>
            <a:ext cx="3794760" cy="274320"/>
          </a:xfrm>
          <a:prstGeom prst="rect">
            <a:avLst/>
          </a:prstGeom>
          <a:noFill/>
          <a:ln/>
        </p:spPr>
        <p:txBody>
          <a:bodyPr wrap="square" lIns="0" tIns="0" rIns="0" bIns="0" rtlCol="0" anchor="ctr"/>
          <a:lstStyle/>
          <a:p>
            <a:pPr indent="0" marL="0">
              <a:buNone/>
            </a:pPr>
            <a:r>
              <a:rPr lang="en-US" sz="1100" dirty="0">
                <a:solidFill>
                  <a:srgbClr val="5B6B62"/>
                </a:solidFill>
                <a:latin typeface="Times New Roman" pitchFamily="34" charset="0"/>
                <a:ea typeface="Times New Roman" pitchFamily="34" charset="-122"/>
                <a:cs typeface="Times New Roman" pitchFamily="34" charset="-120"/>
              </a:rPr>
              <a:t>Kho Tân Bình → Bình Thạnh (8 đơn) → Thủ Đức (12 đơn)</a:t>
            </a:r>
            <a:endParaRPr lang="en-US" sz="1100" dirty="0"/>
          </a:p>
        </p:txBody>
      </p:sp>
      <p:sp>
        <p:nvSpPr>
          <p:cNvPr id="24" name="Text 21"/>
          <p:cNvSpPr txBox="1"/>
          <p:nvPr/>
        </p:nvSpPr>
        <p:spPr>
          <a:xfrm>
            <a:off x="1097280" y="6135624"/>
            <a:ext cx="3794760" cy="256032"/>
          </a:xfrm>
          <a:prstGeom prst="rect">
            <a:avLst/>
          </a:prstGeom>
          <a:noFill/>
          <a:ln/>
        </p:spPr>
        <p:txBody>
          <a:bodyPr wrap="square" lIns="0" tIns="0" rIns="0" bIns="0" rtlCol="0" anchor="ctr"/>
          <a:lstStyle/>
          <a:p>
            <a:pPr indent="0" marL="0">
              <a:buNone/>
            </a:pPr>
            <a:r>
              <a:rPr lang="en-US" sz="1100" dirty="0">
                <a:solidFill>
                  <a:srgbClr val="1E7A46"/>
                </a:solidFill>
                <a:latin typeface="Times New Roman" pitchFamily="34" charset="0"/>
                <a:ea typeface="Times New Roman" pitchFamily="34" charset="-122"/>
                <a:cs typeface="Times New Roman" pitchFamily="34" charset="-120"/>
              </a:rPr>
              <a:t>Đã ghép 1 đơn lấy hàng chiều về</a:t>
            </a:r>
            <a:endParaRPr lang="en-US" sz="1100" dirty="0"/>
          </a:p>
        </p:txBody>
      </p:sp>
      <p:sp>
        <p:nvSpPr>
          <p:cNvPr id="25" name="Shape 22"/>
          <p:cNvSpPr/>
          <p:nvPr/>
        </p:nvSpPr>
        <p:spPr>
          <a:xfrm>
            <a:off x="5394960" y="2697480"/>
            <a:ext cx="5852160" cy="3520440"/>
          </a:xfrm>
          <a:prstGeom prst="roundRect">
            <a:avLst>
              <a:gd name="adj" fmla="val 2597"/>
            </a:avLst>
          </a:prstGeom>
          <a:solidFill>
            <a:srgbClr val="EAF2ED"/>
          </a:solidFill>
          <a:ln w="12700">
            <a:solidFill>
              <a:srgbClr val="DEE8E1"/>
            </a:solidFill>
            <a:prstDash val="solid"/>
          </a:ln>
        </p:spPr>
      </p:sp>
      <p:sp>
        <p:nvSpPr>
          <p:cNvPr id="26" name="Shape 23"/>
          <p:cNvSpPr/>
          <p:nvPr/>
        </p:nvSpPr>
        <p:spPr>
          <a:xfrm>
            <a:off x="6565392" y="2834640"/>
            <a:ext cx="0" cy="3246120"/>
          </a:xfrm>
          <a:prstGeom prst="line">
            <a:avLst/>
          </a:prstGeom>
          <a:noFill/>
          <a:ln w="12700">
            <a:solidFill>
              <a:srgbClr val="D3E2D9"/>
            </a:solidFill>
            <a:prstDash val="solid"/>
          </a:ln>
        </p:spPr>
      </p:sp>
      <p:sp>
        <p:nvSpPr>
          <p:cNvPr id="27" name="Shape 24"/>
          <p:cNvSpPr/>
          <p:nvPr/>
        </p:nvSpPr>
        <p:spPr>
          <a:xfrm>
            <a:off x="7735824" y="2834640"/>
            <a:ext cx="0" cy="3246120"/>
          </a:xfrm>
          <a:prstGeom prst="line">
            <a:avLst/>
          </a:prstGeom>
          <a:noFill/>
          <a:ln w="12700">
            <a:solidFill>
              <a:srgbClr val="D3E2D9"/>
            </a:solidFill>
            <a:prstDash val="solid"/>
          </a:ln>
        </p:spPr>
      </p:sp>
      <p:sp>
        <p:nvSpPr>
          <p:cNvPr id="28" name="Shape 25"/>
          <p:cNvSpPr/>
          <p:nvPr/>
        </p:nvSpPr>
        <p:spPr>
          <a:xfrm>
            <a:off x="8906256" y="2834640"/>
            <a:ext cx="0" cy="3246120"/>
          </a:xfrm>
          <a:prstGeom prst="line">
            <a:avLst/>
          </a:prstGeom>
          <a:noFill/>
          <a:ln w="12700">
            <a:solidFill>
              <a:srgbClr val="D3E2D9"/>
            </a:solidFill>
            <a:prstDash val="solid"/>
          </a:ln>
        </p:spPr>
      </p:sp>
      <p:sp>
        <p:nvSpPr>
          <p:cNvPr id="29" name="Shape 26"/>
          <p:cNvSpPr/>
          <p:nvPr/>
        </p:nvSpPr>
        <p:spPr>
          <a:xfrm>
            <a:off x="10076688" y="2834640"/>
            <a:ext cx="0" cy="3246120"/>
          </a:xfrm>
          <a:prstGeom prst="line">
            <a:avLst/>
          </a:prstGeom>
          <a:noFill/>
          <a:ln w="12700">
            <a:solidFill>
              <a:srgbClr val="D3E2D9"/>
            </a:solidFill>
            <a:prstDash val="solid"/>
          </a:ln>
        </p:spPr>
      </p:sp>
      <p:sp>
        <p:nvSpPr>
          <p:cNvPr id="30" name="Shape 27"/>
          <p:cNvSpPr/>
          <p:nvPr/>
        </p:nvSpPr>
        <p:spPr>
          <a:xfrm>
            <a:off x="5532120" y="3870960"/>
            <a:ext cx="5577840" cy="0"/>
          </a:xfrm>
          <a:prstGeom prst="line">
            <a:avLst/>
          </a:prstGeom>
          <a:noFill/>
          <a:ln w="12700">
            <a:solidFill>
              <a:srgbClr val="D3E2D9"/>
            </a:solidFill>
            <a:prstDash val="solid"/>
          </a:ln>
        </p:spPr>
      </p:sp>
      <p:sp>
        <p:nvSpPr>
          <p:cNvPr id="31" name="Shape 28"/>
          <p:cNvSpPr/>
          <p:nvPr/>
        </p:nvSpPr>
        <p:spPr>
          <a:xfrm>
            <a:off x="5532120" y="5044440"/>
            <a:ext cx="5577840" cy="0"/>
          </a:xfrm>
          <a:prstGeom prst="line">
            <a:avLst/>
          </a:prstGeom>
          <a:noFill/>
          <a:ln w="12700">
            <a:solidFill>
              <a:srgbClr val="D3E2D9"/>
            </a:solidFill>
            <a:prstDash val="solid"/>
          </a:ln>
        </p:spPr>
      </p:sp>
      <p:sp>
        <p:nvSpPr>
          <p:cNvPr id="32" name="Shape 29"/>
          <p:cNvSpPr/>
          <p:nvPr/>
        </p:nvSpPr>
        <p:spPr>
          <a:xfrm>
            <a:off x="6448349" y="3471977"/>
            <a:ext cx="2165299" cy="1408176"/>
          </a:xfrm>
          <a:prstGeom prst="line">
            <a:avLst/>
          </a:prstGeom>
          <a:noFill/>
          <a:ln w="31750">
            <a:solidFill>
              <a:srgbClr val="1E7A46"/>
            </a:solidFill>
            <a:prstDash val="dash"/>
          </a:ln>
        </p:spPr>
      </p:sp>
      <p:sp>
        <p:nvSpPr>
          <p:cNvPr id="33" name="Shape 30"/>
          <p:cNvSpPr/>
          <p:nvPr/>
        </p:nvSpPr>
        <p:spPr>
          <a:xfrm>
            <a:off x="8613648" y="4880153"/>
            <a:ext cx="1755648" cy="-1126541"/>
          </a:xfrm>
          <a:prstGeom prst="line">
            <a:avLst/>
          </a:prstGeom>
          <a:noFill/>
          <a:ln w="31750">
            <a:solidFill>
              <a:srgbClr val="1E7A46"/>
            </a:solidFill>
            <a:prstDash val="dash"/>
          </a:ln>
        </p:spPr>
      </p:sp>
      <p:sp>
        <p:nvSpPr>
          <p:cNvPr id="34" name="Shape 31"/>
          <p:cNvSpPr/>
          <p:nvPr/>
        </p:nvSpPr>
        <p:spPr>
          <a:xfrm>
            <a:off x="6292901" y="3316529"/>
            <a:ext cx="310896" cy="310896"/>
          </a:xfrm>
          <a:prstGeom prst="ellipse">
            <a:avLst/>
          </a:prstGeom>
          <a:solidFill>
            <a:srgbClr val="146B39"/>
          </a:solidFill>
          <a:ln w="19050">
            <a:solidFill>
              <a:srgbClr val="FFFFFF"/>
            </a:solidFill>
            <a:prstDash val="solid"/>
          </a:ln>
        </p:spPr>
      </p:sp>
      <p:pic>
        <p:nvPicPr>
          <p:cNvPr id="35" name="Image 0" descr="preencoded.png">    </p:cNvPr>
          <p:cNvPicPr>
            <a:picLocks noChangeAspect="1"/>
          </p:cNvPicPr>
          <p:nvPr/>
        </p:nvPicPr>
        <p:blipFill>
          <a:blip r:embed="rId1"/>
          <a:stretch>
            <a:fillRect/>
          </a:stretch>
        </p:blipFill>
        <p:spPr>
          <a:xfrm>
            <a:off x="6361298" y="3372490"/>
            <a:ext cx="174102" cy="174102"/>
          </a:xfrm>
          <a:prstGeom prst="rect">
            <a:avLst/>
          </a:prstGeom>
        </p:spPr>
      </p:pic>
      <p:sp>
        <p:nvSpPr>
          <p:cNvPr id="36" name="Text 32"/>
          <p:cNvSpPr txBox="1"/>
          <p:nvPr/>
        </p:nvSpPr>
        <p:spPr>
          <a:xfrm>
            <a:off x="5762549" y="3664001"/>
            <a:ext cx="1371600" cy="256032"/>
          </a:xfrm>
          <a:prstGeom prst="rect">
            <a:avLst/>
          </a:prstGeom>
          <a:noFill/>
          <a:ln/>
        </p:spPr>
        <p:txBody>
          <a:bodyPr wrap="square" lIns="0" tIns="0" rIns="0" bIns="0" rtlCol="0" anchor="ctr"/>
          <a:lstStyle/>
          <a:p>
            <a:pPr algn="ctr" indent="0" marL="0">
              <a:buNone/>
            </a:pPr>
            <a:r>
              <a:rPr lang="en-US" sz="950" b="1" dirty="0">
                <a:solidFill>
                  <a:srgbClr val="16211C"/>
                </a:solidFill>
                <a:latin typeface="Times New Roman" pitchFamily="34" charset="0"/>
                <a:ea typeface="Times New Roman" pitchFamily="34" charset="-122"/>
                <a:cs typeface="Times New Roman" pitchFamily="34" charset="-120"/>
              </a:rPr>
              <a:t>Kho Tân Bình</a:t>
            </a:r>
            <a:endParaRPr lang="en-US" sz="950" dirty="0"/>
          </a:p>
        </p:txBody>
      </p:sp>
      <p:sp>
        <p:nvSpPr>
          <p:cNvPr id="37" name="Shape 33"/>
          <p:cNvSpPr/>
          <p:nvPr/>
        </p:nvSpPr>
        <p:spPr>
          <a:xfrm>
            <a:off x="8458200" y="4724705"/>
            <a:ext cx="310896" cy="310896"/>
          </a:xfrm>
          <a:prstGeom prst="ellipse">
            <a:avLst/>
          </a:prstGeom>
          <a:solidFill>
            <a:srgbClr val="9C6B00"/>
          </a:solidFill>
          <a:ln w="19050">
            <a:solidFill>
              <a:srgbClr val="FFFFFF"/>
            </a:solidFill>
            <a:prstDash val="solid"/>
          </a:ln>
        </p:spPr>
      </p:sp>
      <p:pic>
        <p:nvPicPr>
          <p:cNvPr id="38" name="Image 1" descr="preencoded.png">    </p:cNvPr>
          <p:cNvPicPr>
            <a:picLocks noChangeAspect="1"/>
          </p:cNvPicPr>
          <p:nvPr/>
        </p:nvPicPr>
        <p:blipFill>
          <a:blip r:embed="rId2"/>
          <a:stretch>
            <a:fillRect/>
          </a:stretch>
        </p:blipFill>
        <p:spPr>
          <a:xfrm>
            <a:off x="8526597" y="4780666"/>
            <a:ext cx="174102" cy="174102"/>
          </a:xfrm>
          <a:prstGeom prst="rect">
            <a:avLst/>
          </a:prstGeom>
        </p:spPr>
      </p:pic>
      <p:sp>
        <p:nvSpPr>
          <p:cNvPr id="39" name="Text 34"/>
          <p:cNvSpPr txBox="1"/>
          <p:nvPr/>
        </p:nvSpPr>
        <p:spPr>
          <a:xfrm>
            <a:off x="7927848" y="5072177"/>
            <a:ext cx="1371600" cy="256032"/>
          </a:xfrm>
          <a:prstGeom prst="rect">
            <a:avLst/>
          </a:prstGeom>
          <a:noFill/>
          <a:ln/>
        </p:spPr>
        <p:txBody>
          <a:bodyPr wrap="square" lIns="0" tIns="0" rIns="0" bIns="0" rtlCol="0" anchor="ctr"/>
          <a:lstStyle/>
          <a:p>
            <a:pPr algn="ctr" indent="0" marL="0">
              <a:buNone/>
            </a:pPr>
            <a:r>
              <a:rPr lang="en-US" sz="950" b="1" dirty="0">
                <a:solidFill>
                  <a:srgbClr val="16211C"/>
                </a:solidFill>
                <a:latin typeface="Times New Roman" pitchFamily="34" charset="0"/>
                <a:ea typeface="Times New Roman" pitchFamily="34" charset="-122"/>
                <a:cs typeface="Times New Roman" pitchFamily="34" charset="-120"/>
              </a:rPr>
              <a:t>Bình Thạnh</a:t>
            </a:r>
            <a:endParaRPr lang="en-US" sz="950" dirty="0"/>
          </a:p>
        </p:txBody>
      </p:sp>
      <p:sp>
        <p:nvSpPr>
          <p:cNvPr id="40" name="Shape 35"/>
          <p:cNvSpPr/>
          <p:nvPr/>
        </p:nvSpPr>
        <p:spPr>
          <a:xfrm>
            <a:off x="10213848" y="3598164"/>
            <a:ext cx="310896" cy="310896"/>
          </a:xfrm>
          <a:prstGeom prst="ellipse">
            <a:avLst/>
          </a:prstGeom>
          <a:solidFill>
            <a:srgbClr val="146B39"/>
          </a:solidFill>
          <a:ln w="19050">
            <a:solidFill>
              <a:srgbClr val="FFFFFF"/>
            </a:solidFill>
            <a:prstDash val="solid"/>
          </a:ln>
        </p:spPr>
      </p:sp>
      <p:pic>
        <p:nvPicPr>
          <p:cNvPr id="41" name="Image 2" descr="preencoded.png">    </p:cNvPr>
          <p:cNvPicPr>
            <a:picLocks noChangeAspect="1"/>
          </p:cNvPicPr>
          <p:nvPr/>
        </p:nvPicPr>
        <p:blipFill>
          <a:blip r:embed="rId3"/>
          <a:stretch>
            <a:fillRect/>
          </a:stretch>
        </p:blipFill>
        <p:spPr>
          <a:xfrm>
            <a:off x="10282245" y="3654125"/>
            <a:ext cx="174102" cy="174102"/>
          </a:xfrm>
          <a:prstGeom prst="rect">
            <a:avLst/>
          </a:prstGeom>
        </p:spPr>
      </p:pic>
      <p:sp>
        <p:nvSpPr>
          <p:cNvPr id="42" name="Text 36"/>
          <p:cNvSpPr txBox="1"/>
          <p:nvPr/>
        </p:nvSpPr>
        <p:spPr>
          <a:xfrm>
            <a:off x="9683496" y="3945636"/>
            <a:ext cx="1371600" cy="256032"/>
          </a:xfrm>
          <a:prstGeom prst="rect">
            <a:avLst/>
          </a:prstGeom>
          <a:noFill/>
          <a:ln/>
        </p:spPr>
        <p:txBody>
          <a:bodyPr wrap="square" lIns="0" tIns="0" rIns="0" bIns="0" rtlCol="0" anchor="ctr"/>
          <a:lstStyle/>
          <a:p>
            <a:pPr algn="ctr" indent="0" marL="0">
              <a:buNone/>
            </a:pPr>
            <a:r>
              <a:rPr lang="en-US" sz="950" b="1" dirty="0">
                <a:solidFill>
                  <a:srgbClr val="16211C"/>
                </a:solidFill>
                <a:latin typeface="Times New Roman" pitchFamily="34" charset="0"/>
                <a:ea typeface="Times New Roman" pitchFamily="34" charset="-122"/>
                <a:cs typeface="Times New Roman" pitchFamily="34" charset="-120"/>
              </a:rPr>
              <a:t>Thủ Đức</a:t>
            </a:r>
            <a:endParaRPr lang="en-US" sz="950" dirty="0"/>
          </a:p>
        </p:txBody>
      </p:sp>
      <p:sp>
        <p:nvSpPr>
          <p:cNvPr id="43" name="Text 37"/>
          <p:cNvSpPr txBox="1"/>
          <p:nvPr/>
        </p:nvSpPr>
        <p:spPr>
          <a:xfrm>
            <a:off x="5532120" y="5925312"/>
            <a:ext cx="5577840" cy="237744"/>
          </a:xfrm>
          <a:prstGeom prst="rect">
            <a:avLst/>
          </a:prstGeom>
          <a:noFill/>
          <a:ln/>
        </p:spPr>
        <p:txBody>
          <a:bodyPr wrap="square" lIns="0" tIns="0" rIns="0" bIns="0" rtlCol="0" anchor="ctr"/>
          <a:lstStyle/>
          <a:p>
            <a:pPr indent="0" marL="0">
              <a:buNone/>
            </a:pPr>
            <a:r>
              <a:rPr lang="en-US" sz="950" i="1" dirty="0">
                <a:solidFill>
                  <a:srgbClr val="8B978F"/>
                </a:solidFill>
                <a:latin typeface="Times New Roman" pitchFamily="34" charset="0"/>
                <a:ea typeface="Times New Roman" pitchFamily="34" charset="-122"/>
                <a:cs typeface="Times New Roman" pitchFamily="34" charset="-120"/>
              </a:rPr>
              <a:t>Bản đồ tuyến giao hàng được tự động sắp xếp</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BF9"/>
        </a:solidFill>
      </p:bgPr>
    </p:bg>
    <p:spTree>
      <p:nvGrpSpPr>
        <p:cNvPr id="1" name=""/>
        <p:cNvGrpSpPr/>
        <p:nvPr/>
      </p:nvGrpSpPr>
      <p:grpSpPr>
        <a:xfrm>
          <a:off x="0" y="0"/>
          <a:ext cx="0" cy="0"/>
          <a:chOff x="0" y="0"/>
          <a:chExt cx="0" cy="0"/>
        </a:xfrm>
      </p:grpSpPr>
      <p:sp>
        <p:nvSpPr>
          <p:cNvPr id="3" name="Text 0"/>
          <p:cNvSpPr txBox="1"/>
          <p:nvPr/>
        </p:nvSpPr>
        <p:spPr>
          <a:xfrm>
            <a:off x="594360" y="457200"/>
            <a:ext cx="4572000" cy="320040"/>
          </a:xfrm>
          <a:prstGeom prst="rect">
            <a:avLst/>
          </a:prstGeom>
          <a:noFill/>
          <a:ln/>
        </p:spPr>
        <p:txBody>
          <a:bodyPr wrap="square" lIns="0" tIns="0" rIns="0" bIns="0" rtlCol="0" anchor="ctr"/>
          <a:lstStyle/>
          <a:p>
            <a:pPr indent="0" marL="0">
              <a:buNone/>
            </a:pPr>
            <a:r>
              <a:rPr lang="en-US" sz="1200" b="1" spc="200" kern="0" dirty="0">
                <a:solidFill>
                  <a:srgbClr val="9C6B00"/>
                </a:solidFill>
                <a:latin typeface="Times New Roman" pitchFamily="34" charset="0"/>
                <a:ea typeface="Times New Roman" pitchFamily="34" charset="-122"/>
                <a:cs typeface="Times New Roman" pitchFamily="34" charset="-120"/>
              </a:rPr>
              <a:t>LỢI THẾ CẠNH TRANH</a:t>
            </a:r>
            <a:endParaRPr lang="en-US" sz="1200" dirty="0"/>
          </a:p>
        </p:txBody>
      </p:sp>
      <p:sp>
        <p:nvSpPr>
          <p:cNvPr id="4" name="Text 1"/>
          <p:cNvSpPr txBox="1"/>
          <p:nvPr/>
        </p:nvSpPr>
        <p:spPr>
          <a:xfrm>
            <a:off x="594360" y="777240"/>
            <a:ext cx="10607040" cy="640080"/>
          </a:xfrm>
          <a:prstGeom prst="rect">
            <a:avLst/>
          </a:prstGeom>
          <a:noFill/>
          <a:ln/>
        </p:spPr>
        <p:txBody>
          <a:bodyPr wrap="square" lIns="0" tIns="0" rIns="0" bIns="0" rtlCol="0" anchor="ctr"/>
          <a:lstStyle/>
          <a:p>
            <a:pPr indent="0" marL="0">
              <a:buNone/>
            </a:pPr>
            <a:r>
              <a:rPr lang="en-US" sz="2700" b="1" dirty="0">
                <a:solidFill>
                  <a:srgbClr val="16211C"/>
                </a:solidFill>
                <a:latin typeface="Times New Roman" pitchFamily="34" charset="0"/>
                <a:ea typeface="Times New Roman" pitchFamily="34" charset="-122"/>
                <a:cs typeface="Times New Roman" pitchFamily="34" charset="-120"/>
              </a:rPr>
              <a:t>So sánh hiệu quả: cách làm cũ và GreenLogix</a:t>
            </a:r>
            <a:endParaRPr lang="en-US" sz="2700" dirty="0"/>
          </a:p>
        </p:txBody>
      </p:sp>
      <p:sp>
        <p:nvSpPr>
          <p:cNvPr id="5" name="Shape 2"/>
          <p:cNvSpPr/>
          <p:nvPr/>
        </p:nvSpPr>
        <p:spPr>
          <a:xfrm>
            <a:off x="594360" y="1691640"/>
            <a:ext cx="10954512" cy="502920"/>
          </a:xfrm>
          <a:prstGeom prst="roundRect">
            <a:avLst>
              <a:gd name="adj" fmla="val 10909"/>
            </a:avLst>
          </a:prstGeom>
          <a:solidFill>
            <a:srgbClr val="EEF4EF"/>
          </a:solidFill>
          <a:ln/>
        </p:spPr>
      </p:sp>
      <p:sp>
        <p:nvSpPr>
          <p:cNvPr id="6" name="Text 3"/>
          <p:cNvSpPr txBox="1"/>
          <p:nvPr/>
        </p:nvSpPr>
        <p:spPr>
          <a:xfrm>
            <a:off x="777240" y="1691640"/>
            <a:ext cx="2743200" cy="502920"/>
          </a:xfrm>
          <a:prstGeom prst="rect">
            <a:avLst/>
          </a:prstGeom>
          <a:noFill/>
          <a:ln/>
        </p:spPr>
        <p:txBody>
          <a:bodyPr wrap="square" lIns="0" tIns="0" rIns="0" bIns="0" rtlCol="0" anchor="ctr"/>
          <a:lstStyle/>
          <a:p>
            <a:pPr indent="0" marL="0">
              <a:buNone/>
            </a:pPr>
            <a:r>
              <a:rPr lang="en-US" sz="1300" b="1" dirty="0">
                <a:solidFill>
                  <a:srgbClr val="5B6B62"/>
                </a:solidFill>
                <a:latin typeface="Times New Roman" pitchFamily="34" charset="0"/>
                <a:ea typeface="Times New Roman" pitchFamily="34" charset="-122"/>
                <a:cs typeface="Times New Roman" pitchFamily="34" charset="-120"/>
              </a:rPr>
              <a:t>Tiêu chí</a:t>
            </a:r>
            <a:endParaRPr lang="en-US" sz="1300" dirty="0"/>
          </a:p>
        </p:txBody>
      </p:sp>
      <p:sp>
        <p:nvSpPr>
          <p:cNvPr id="7" name="Text 4"/>
          <p:cNvSpPr txBox="1"/>
          <p:nvPr/>
        </p:nvSpPr>
        <p:spPr>
          <a:xfrm>
            <a:off x="3886200" y="1691640"/>
            <a:ext cx="3566160" cy="502920"/>
          </a:xfrm>
          <a:prstGeom prst="rect">
            <a:avLst/>
          </a:prstGeom>
          <a:noFill/>
          <a:ln/>
        </p:spPr>
        <p:txBody>
          <a:bodyPr wrap="square" lIns="0" tIns="0" rIns="0" bIns="0" rtlCol="0" anchor="ctr"/>
          <a:lstStyle/>
          <a:p>
            <a:pPr indent="0" marL="0">
              <a:buNone/>
            </a:pPr>
            <a:r>
              <a:rPr lang="en-US" sz="1300" b="1" dirty="0">
                <a:solidFill>
                  <a:srgbClr val="5B6B62"/>
                </a:solidFill>
                <a:latin typeface="Times New Roman" pitchFamily="34" charset="0"/>
                <a:ea typeface="Times New Roman" pitchFamily="34" charset="-122"/>
                <a:cs typeface="Times New Roman" pitchFamily="34" charset="-120"/>
              </a:rPr>
              <a:t>Cách làm cũ (thủ công)</a:t>
            </a:r>
            <a:endParaRPr lang="en-US" sz="1300" dirty="0"/>
          </a:p>
        </p:txBody>
      </p:sp>
      <p:sp>
        <p:nvSpPr>
          <p:cNvPr id="8" name="Text 5"/>
          <p:cNvSpPr txBox="1"/>
          <p:nvPr/>
        </p:nvSpPr>
        <p:spPr>
          <a:xfrm>
            <a:off x="7818120" y="1691640"/>
            <a:ext cx="3639312" cy="502920"/>
          </a:xfrm>
          <a:prstGeom prst="rect">
            <a:avLst/>
          </a:prstGeom>
          <a:noFill/>
          <a:ln/>
        </p:spPr>
        <p:txBody>
          <a:bodyPr wrap="square" lIns="0" tIns="0" rIns="0" bIns="0" rtlCol="0" anchor="ctr"/>
          <a:lstStyle/>
          <a:p>
            <a:pPr indent="0" marL="0">
              <a:buNone/>
            </a:pPr>
            <a:r>
              <a:rPr lang="en-US" sz="1300" b="1" dirty="0">
                <a:solidFill>
                  <a:srgbClr val="1E7A46"/>
                </a:solidFill>
                <a:latin typeface="Times New Roman" pitchFamily="34" charset="0"/>
                <a:ea typeface="Times New Roman" pitchFamily="34" charset="-122"/>
                <a:cs typeface="Times New Roman" pitchFamily="34" charset="-120"/>
              </a:rPr>
              <a:t>GreenLogix</a:t>
            </a:r>
            <a:endParaRPr lang="en-US" sz="1300" dirty="0"/>
          </a:p>
        </p:txBody>
      </p:sp>
      <p:sp>
        <p:nvSpPr>
          <p:cNvPr id="9" name="Shape 6"/>
          <p:cNvSpPr/>
          <p:nvPr/>
        </p:nvSpPr>
        <p:spPr>
          <a:xfrm>
            <a:off x="594360" y="2304288"/>
            <a:ext cx="10954512" cy="914400"/>
          </a:xfrm>
          <a:prstGeom prst="roundRect">
            <a:avLst>
              <a:gd name="adj" fmla="val 6000"/>
            </a:avLst>
          </a:prstGeom>
          <a:solidFill>
            <a:srgbClr val="FFFFFF"/>
          </a:solidFill>
          <a:ln w="9525">
            <a:solidFill>
              <a:srgbClr val="DEE8E1"/>
            </a:solidFill>
            <a:prstDash val="solid"/>
          </a:ln>
        </p:spPr>
      </p:sp>
      <p:sp>
        <p:nvSpPr>
          <p:cNvPr id="10" name="Text 7"/>
          <p:cNvSpPr txBox="1"/>
          <p:nvPr/>
        </p:nvSpPr>
        <p:spPr>
          <a:xfrm>
            <a:off x="777240" y="2304288"/>
            <a:ext cx="2697480" cy="914400"/>
          </a:xfrm>
          <a:prstGeom prst="rect">
            <a:avLst/>
          </a:prstGeom>
          <a:noFill/>
          <a:ln/>
        </p:spPr>
        <p:txBody>
          <a:bodyPr wrap="square" lIns="0" tIns="0" rIns="0" bIns="0" rtlCol="0" anchor="ctr"/>
          <a:lstStyle/>
          <a:p>
            <a:pPr indent="0" marL="0">
              <a:lnSpc>
                <a:spcPts val="1600"/>
              </a:lnSpc>
              <a:buNone/>
            </a:pPr>
            <a:r>
              <a:rPr lang="en-US" sz="1300" b="1" dirty="0">
                <a:solidFill>
                  <a:srgbClr val="16211C"/>
                </a:solidFill>
                <a:latin typeface="Times New Roman" pitchFamily="34" charset="0"/>
                <a:ea typeface="Times New Roman" pitchFamily="34" charset="-122"/>
                <a:cs typeface="Times New Roman" pitchFamily="34" charset="-120"/>
              </a:rPr>
              <a:t>Tỷ lệ xe chạy rỗng chiều về</a:t>
            </a:r>
            <a:endParaRPr lang="en-US" sz="1300" dirty="0"/>
          </a:p>
        </p:txBody>
      </p:sp>
      <p:pic>
        <p:nvPicPr>
          <p:cNvPr id="11" name="Image 0" descr="preencoded.png">    </p:cNvPr>
          <p:cNvPicPr>
            <a:picLocks noChangeAspect="1"/>
          </p:cNvPicPr>
          <p:nvPr/>
        </p:nvPicPr>
        <p:blipFill>
          <a:blip r:embed="rId1"/>
          <a:stretch>
            <a:fillRect/>
          </a:stretch>
        </p:blipFill>
        <p:spPr>
          <a:xfrm>
            <a:off x="3886200" y="2642616"/>
            <a:ext cx="237744" cy="237744"/>
          </a:xfrm>
          <a:prstGeom prst="rect">
            <a:avLst/>
          </a:prstGeom>
        </p:spPr>
      </p:pic>
      <p:sp>
        <p:nvSpPr>
          <p:cNvPr id="12" name="Text 8"/>
          <p:cNvSpPr txBox="1"/>
          <p:nvPr/>
        </p:nvSpPr>
        <p:spPr>
          <a:xfrm>
            <a:off x="4233672" y="2304288"/>
            <a:ext cx="3154680" cy="914400"/>
          </a:xfrm>
          <a:prstGeom prst="rect">
            <a:avLst/>
          </a:prstGeom>
          <a:noFill/>
          <a:ln/>
        </p:spPr>
        <p:txBody>
          <a:bodyPr wrap="square" lIns="0" tIns="0" rIns="0" bIns="0" rtlCol="0" anchor="ctr"/>
          <a:lstStyle/>
          <a:p>
            <a:pPr indent="0" marL="0">
              <a:lnSpc>
                <a:spcPts val="1500"/>
              </a:lnSpc>
              <a:buNone/>
            </a:pPr>
            <a:r>
              <a:rPr lang="en-US" sz="1250" dirty="0">
                <a:solidFill>
                  <a:srgbClr val="5B6B62"/>
                </a:solidFill>
                <a:latin typeface="Times New Roman" pitchFamily="34" charset="0"/>
                <a:ea typeface="Times New Roman" pitchFamily="34" charset="-122"/>
                <a:cs typeface="Times New Roman" pitchFamily="34" charset="-120"/>
              </a:rPr>
              <a:t>30–35% xe chạy rỗng sau khi giao</a:t>
            </a:r>
            <a:endParaRPr lang="en-US" sz="1250" dirty="0"/>
          </a:p>
        </p:txBody>
      </p:sp>
      <p:pic>
        <p:nvPicPr>
          <p:cNvPr id="13" name="Image 1" descr="preencoded.png">    </p:cNvPr>
          <p:cNvPicPr>
            <a:picLocks noChangeAspect="1"/>
          </p:cNvPicPr>
          <p:nvPr/>
        </p:nvPicPr>
        <p:blipFill>
          <a:blip r:embed="rId2"/>
          <a:stretch>
            <a:fillRect/>
          </a:stretch>
        </p:blipFill>
        <p:spPr>
          <a:xfrm>
            <a:off x="7818120" y="2642616"/>
            <a:ext cx="237744" cy="237744"/>
          </a:xfrm>
          <a:prstGeom prst="rect">
            <a:avLst/>
          </a:prstGeom>
        </p:spPr>
      </p:pic>
      <p:sp>
        <p:nvSpPr>
          <p:cNvPr id="14" name="Text 9"/>
          <p:cNvSpPr txBox="1"/>
          <p:nvPr/>
        </p:nvSpPr>
        <p:spPr>
          <a:xfrm>
            <a:off x="8165592" y="2304288"/>
            <a:ext cx="3227832" cy="914400"/>
          </a:xfrm>
          <a:prstGeom prst="rect">
            <a:avLst/>
          </a:prstGeom>
          <a:noFill/>
          <a:ln/>
        </p:spPr>
        <p:txBody>
          <a:bodyPr wrap="square" lIns="0" tIns="0" rIns="0" bIns="0" rtlCol="0" anchor="ctr"/>
          <a:lstStyle/>
          <a:p>
            <a:pPr indent="0" marL="0">
              <a:lnSpc>
                <a:spcPts val="1500"/>
              </a:lnSpc>
              <a:buNone/>
            </a:pPr>
            <a:r>
              <a:rPr lang="en-US" sz="1250" dirty="0">
                <a:solidFill>
                  <a:srgbClr val="16211C"/>
                </a:solidFill>
                <a:latin typeface="Times New Roman" pitchFamily="34" charset="0"/>
                <a:ea typeface="Times New Roman" pitchFamily="34" charset="-122"/>
                <a:cs typeface="Times New Roman" pitchFamily="34" charset="-120"/>
              </a:rPr>
              <a:t>Ghép đơn chiều về, giảm còn 5–10%</a:t>
            </a:r>
            <a:endParaRPr lang="en-US" sz="1250" dirty="0"/>
          </a:p>
        </p:txBody>
      </p:sp>
      <p:sp>
        <p:nvSpPr>
          <p:cNvPr id="15" name="Shape 10"/>
          <p:cNvSpPr/>
          <p:nvPr/>
        </p:nvSpPr>
        <p:spPr>
          <a:xfrm>
            <a:off x="594360" y="3310128"/>
            <a:ext cx="10954512" cy="914400"/>
          </a:xfrm>
          <a:prstGeom prst="roundRect">
            <a:avLst>
              <a:gd name="adj" fmla="val 6000"/>
            </a:avLst>
          </a:prstGeom>
          <a:solidFill>
            <a:srgbClr val="F2F7F4"/>
          </a:solidFill>
          <a:ln w="9525">
            <a:solidFill>
              <a:srgbClr val="DEE8E1"/>
            </a:solidFill>
            <a:prstDash val="solid"/>
          </a:ln>
        </p:spPr>
      </p:sp>
      <p:sp>
        <p:nvSpPr>
          <p:cNvPr id="16" name="Text 11"/>
          <p:cNvSpPr txBox="1"/>
          <p:nvPr/>
        </p:nvSpPr>
        <p:spPr>
          <a:xfrm>
            <a:off x="777240" y="3310128"/>
            <a:ext cx="2697480" cy="914400"/>
          </a:xfrm>
          <a:prstGeom prst="rect">
            <a:avLst/>
          </a:prstGeom>
          <a:noFill/>
          <a:ln/>
        </p:spPr>
        <p:txBody>
          <a:bodyPr wrap="square" lIns="0" tIns="0" rIns="0" bIns="0" rtlCol="0" anchor="ctr"/>
          <a:lstStyle/>
          <a:p>
            <a:pPr indent="0" marL="0">
              <a:lnSpc>
                <a:spcPts val="1600"/>
              </a:lnSpc>
              <a:buNone/>
            </a:pPr>
            <a:r>
              <a:rPr lang="en-US" sz="1300" b="1" dirty="0">
                <a:solidFill>
                  <a:srgbClr val="16211C"/>
                </a:solidFill>
                <a:latin typeface="Times New Roman" pitchFamily="34" charset="0"/>
                <a:ea typeface="Times New Roman" pitchFamily="34" charset="-122"/>
                <a:cs typeface="Times New Roman" pitchFamily="34" charset="-120"/>
              </a:rPr>
              <a:t>Đo lường phát thải CO₂</a:t>
            </a:r>
            <a:endParaRPr lang="en-US" sz="1300" dirty="0"/>
          </a:p>
        </p:txBody>
      </p:sp>
      <p:pic>
        <p:nvPicPr>
          <p:cNvPr id="17" name="Image 2" descr="preencoded.png">    </p:cNvPr>
          <p:cNvPicPr>
            <a:picLocks noChangeAspect="1"/>
          </p:cNvPicPr>
          <p:nvPr/>
        </p:nvPicPr>
        <p:blipFill>
          <a:blip r:embed="rId3"/>
          <a:stretch>
            <a:fillRect/>
          </a:stretch>
        </p:blipFill>
        <p:spPr>
          <a:xfrm>
            <a:off x="3886200" y="3648456"/>
            <a:ext cx="237744" cy="237744"/>
          </a:xfrm>
          <a:prstGeom prst="rect">
            <a:avLst/>
          </a:prstGeom>
        </p:spPr>
      </p:pic>
      <p:sp>
        <p:nvSpPr>
          <p:cNvPr id="18" name="Text 12"/>
          <p:cNvSpPr txBox="1"/>
          <p:nvPr/>
        </p:nvSpPr>
        <p:spPr>
          <a:xfrm>
            <a:off x="4233672" y="3310128"/>
            <a:ext cx="3154680" cy="914400"/>
          </a:xfrm>
          <a:prstGeom prst="rect">
            <a:avLst/>
          </a:prstGeom>
          <a:noFill/>
          <a:ln/>
        </p:spPr>
        <p:txBody>
          <a:bodyPr wrap="square" lIns="0" tIns="0" rIns="0" bIns="0" rtlCol="0" anchor="ctr"/>
          <a:lstStyle/>
          <a:p>
            <a:pPr indent="0" marL="0">
              <a:lnSpc>
                <a:spcPts val="1500"/>
              </a:lnSpc>
              <a:buNone/>
            </a:pPr>
            <a:r>
              <a:rPr lang="en-US" sz="1250" dirty="0">
                <a:solidFill>
                  <a:srgbClr val="5B6B62"/>
                </a:solidFill>
                <a:latin typeface="Times New Roman" pitchFamily="34" charset="0"/>
                <a:ea typeface="Times New Roman" pitchFamily="34" charset="-122"/>
                <a:cs typeface="Times New Roman" pitchFamily="34" charset="-120"/>
              </a:rPr>
              <a:t>Không có dữ liệu / không tính được</a:t>
            </a:r>
            <a:endParaRPr lang="en-US" sz="1250" dirty="0"/>
          </a:p>
        </p:txBody>
      </p:sp>
      <p:pic>
        <p:nvPicPr>
          <p:cNvPr id="19" name="Image 3" descr="preencoded.png">    </p:cNvPr>
          <p:cNvPicPr>
            <a:picLocks noChangeAspect="1"/>
          </p:cNvPicPr>
          <p:nvPr/>
        </p:nvPicPr>
        <p:blipFill>
          <a:blip r:embed="rId4"/>
          <a:stretch>
            <a:fillRect/>
          </a:stretch>
        </p:blipFill>
        <p:spPr>
          <a:xfrm>
            <a:off x="7818120" y="3648456"/>
            <a:ext cx="237744" cy="237744"/>
          </a:xfrm>
          <a:prstGeom prst="rect">
            <a:avLst/>
          </a:prstGeom>
        </p:spPr>
      </p:pic>
      <p:sp>
        <p:nvSpPr>
          <p:cNvPr id="20" name="Text 13"/>
          <p:cNvSpPr txBox="1"/>
          <p:nvPr/>
        </p:nvSpPr>
        <p:spPr>
          <a:xfrm>
            <a:off x="8165592" y="3310128"/>
            <a:ext cx="3227832" cy="914400"/>
          </a:xfrm>
          <a:prstGeom prst="rect">
            <a:avLst/>
          </a:prstGeom>
          <a:noFill/>
          <a:ln/>
        </p:spPr>
        <p:txBody>
          <a:bodyPr wrap="square" lIns="0" tIns="0" rIns="0" bIns="0" rtlCol="0" anchor="ctr"/>
          <a:lstStyle/>
          <a:p>
            <a:pPr indent="0" marL="0">
              <a:lnSpc>
                <a:spcPts val="1500"/>
              </a:lnSpc>
              <a:buNone/>
            </a:pPr>
            <a:r>
              <a:rPr lang="en-US" sz="1250" dirty="0">
                <a:solidFill>
                  <a:srgbClr val="16211C"/>
                </a:solidFill>
                <a:latin typeface="Times New Roman" pitchFamily="34" charset="0"/>
                <a:ea typeface="Times New Roman" pitchFamily="34" charset="-122"/>
                <a:cs typeface="Times New Roman" pitchFamily="34" charset="-120"/>
              </a:rPr>
              <a:t>Tự động, theo chuẩn GLEC / GHG Protocol</a:t>
            </a:r>
            <a:endParaRPr lang="en-US" sz="1250" dirty="0"/>
          </a:p>
        </p:txBody>
      </p:sp>
      <p:sp>
        <p:nvSpPr>
          <p:cNvPr id="21" name="Shape 14"/>
          <p:cNvSpPr/>
          <p:nvPr/>
        </p:nvSpPr>
        <p:spPr>
          <a:xfrm>
            <a:off x="594360" y="4315968"/>
            <a:ext cx="10954512" cy="914400"/>
          </a:xfrm>
          <a:prstGeom prst="roundRect">
            <a:avLst>
              <a:gd name="adj" fmla="val 6000"/>
            </a:avLst>
          </a:prstGeom>
          <a:solidFill>
            <a:srgbClr val="FFFFFF"/>
          </a:solidFill>
          <a:ln w="9525">
            <a:solidFill>
              <a:srgbClr val="DEE8E1"/>
            </a:solidFill>
            <a:prstDash val="solid"/>
          </a:ln>
        </p:spPr>
      </p:sp>
      <p:sp>
        <p:nvSpPr>
          <p:cNvPr id="22" name="Text 15"/>
          <p:cNvSpPr txBox="1"/>
          <p:nvPr/>
        </p:nvSpPr>
        <p:spPr>
          <a:xfrm>
            <a:off x="777240" y="4315968"/>
            <a:ext cx="2697480" cy="914400"/>
          </a:xfrm>
          <a:prstGeom prst="rect">
            <a:avLst/>
          </a:prstGeom>
          <a:noFill/>
          <a:ln/>
        </p:spPr>
        <p:txBody>
          <a:bodyPr wrap="square" lIns="0" tIns="0" rIns="0" bIns="0" rtlCol="0" anchor="ctr"/>
          <a:lstStyle/>
          <a:p>
            <a:pPr indent="0" marL="0">
              <a:lnSpc>
                <a:spcPts val="1600"/>
              </a:lnSpc>
              <a:buNone/>
            </a:pPr>
            <a:r>
              <a:rPr lang="en-US" sz="1300" b="1" dirty="0">
                <a:solidFill>
                  <a:srgbClr val="16211C"/>
                </a:solidFill>
                <a:latin typeface="Times New Roman" pitchFamily="34" charset="0"/>
                <a:ea typeface="Times New Roman" pitchFamily="34" charset="-122"/>
                <a:cs typeface="Times New Roman" pitchFamily="34" charset="-120"/>
              </a:rPr>
              <a:t>Thời gian điều phối mỗi ngày</a:t>
            </a:r>
            <a:endParaRPr lang="en-US" sz="1300" dirty="0"/>
          </a:p>
        </p:txBody>
      </p:sp>
      <p:pic>
        <p:nvPicPr>
          <p:cNvPr id="23" name="Image 4" descr="preencoded.png">    </p:cNvPr>
          <p:cNvPicPr>
            <a:picLocks noChangeAspect="1"/>
          </p:cNvPicPr>
          <p:nvPr/>
        </p:nvPicPr>
        <p:blipFill>
          <a:blip r:embed="rId5"/>
          <a:stretch>
            <a:fillRect/>
          </a:stretch>
        </p:blipFill>
        <p:spPr>
          <a:xfrm>
            <a:off x="3886200" y="4654296"/>
            <a:ext cx="237744" cy="237744"/>
          </a:xfrm>
          <a:prstGeom prst="rect">
            <a:avLst/>
          </a:prstGeom>
        </p:spPr>
      </p:pic>
      <p:sp>
        <p:nvSpPr>
          <p:cNvPr id="24" name="Text 16"/>
          <p:cNvSpPr txBox="1"/>
          <p:nvPr/>
        </p:nvSpPr>
        <p:spPr>
          <a:xfrm>
            <a:off x="4233672" y="4315968"/>
            <a:ext cx="3154680" cy="914400"/>
          </a:xfrm>
          <a:prstGeom prst="rect">
            <a:avLst/>
          </a:prstGeom>
          <a:noFill/>
          <a:ln/>
        </p:spPr>
        <p:txBody>
          <a:bodyPr wrap="square" lIns="0" tIns="0" rIns="0" bIns="0" rtlCol="0" anchor="ctr"/>
          <a:lstStyle/>
          <a:p>
            <a:pPr indent="0" marL="0">
              <a:lnSpc>
                <a:spcPts val="1500"/>
              </a:lnSpc>
              <a:buNone/>
            </a:pPr>
            <a:r>
              <a:rPr lang="en-US" sz="1250" dirty="0">
                <a:solidFill>
                  <a:srgbClr val="5B6B62"/>
                </a:solidFill>
                <a:latin typeface="Times New Roman" pitchFamily="34" charset="0"/>
                <a:ea typeface="Times New Roman" pitchFamily="34" charset="-122"/>
                <a:cs typeface="Times New Roman" pitchFamily="34" charset="-120"/>
              </a:rPr>
              <a:t>Thủ công trên bảng tính, mất nhiều giờ</a:t>
            </a:r>
            <a:endParaRPr lang="en-US" sz="1250" dirty="0"/>
          </a:p>
        </p:txBody>
      </p:sp>
      <p:pic>
        <p:nvPicPr>
          <p:cNvPr id="25" name="Image 5" descr="preencoded.png">    </p:cNvPr>
          <p:cNvPicPr>
            <a:picLocks noChangeAspect="1"/>
          </p:cNvPicPr>
          <p:nvPr/>
        </p:nvPicPr>
        <p:blipFill>
          <a:blip r:embed="rId6"/>
          <a:stretch>
            <a:fillRect/>
          </a:stretch>
        </p:blipFill>
        <p:spPr>
          <a:xfrm>
            <a:off x="7818120" y="4654296"/>
            <a:ext cx="237744" cy="237744"/>
          </a:xfrm>
          <a:prstGeom prst="rect">
            <a:avLst/>
          </a:prstGeom>
        </p:spPr>
      </p:pic>
      <p:sp>
        <p:nvSpPr>
          <p:cNvPr id="26" name="Text 17"/>
          <p:cNvSpPr txBox="1"/>
          <p:nvPr/>
        </p:nvSpPr>
        <p:spPr>
          <a:xfrm>
            <a:off x="8165592" y="4315968"/>
            <a:ext cx="3227832" cy="914400"/>
          </a:xfrm>
          <a:prstGeom prst="rect">
            <a:avLst/>
          </a:prstGeom>
          <a:noFill/>
          <a:ln/>
        </p:spPr>
        <p:txBody>
          <a:bodyPr wrap="square" lIns="0" tIns="0" rIns="0" bIns="0" rtlCol="0" anchor="ctr"/>
          <a:lstStyle/>
          <a:p>
            <a:pPr indent="0" marL="0">
              <a:lnSpc>
                <a:spcPts val="1500"/>
              </a:lnSpc>
              <a:buNone/>
            </a:pPr>
            <a:r>
              <a:rPr lang="en-US" sz="1250" dirty="0">
                <a:solidFill>
                  <a:srgbClr val="16211C"/>
                </a:solidFill>
                <a:latin typeface="Times New Roman" pitchFamily="34" charset="0"/>
                <a:ea typeface="Times New Roman" pitchFamily="34" charset="-122"/>
                <a:cs typeface="Times New Roman" pitchFamily="34" charset="-120"/>
              </a:rPr>
              <a:t>Tự động hoá, rút ngắn 80–90% thời gian</a:t>
            </a:r>
            <a:endParaRPr lang="en-US" sz="1250" dirty="0"/>
          </a:p>
        </p:txBody>
      </p:sp>
      <p:sp>
        <p:nvSpPr>
          <p:cNvPr id="27" name="Shape 18"/>
          <p:cNvSpPr/>
          <p:nvPr/>
        </p:nvSpPr>
        <p:spPr>
          <a:xfrm>
            <a:off x="594360" y="5321808"/>
            <a:ext cx="10954512" cy="914400"/>
          </a:xfrm>
          <a:prstGeom prst="roundRect">
            <a:avLst>
              <a:gd name="adj" fmla="val 6000"/>
            </a:avLst>
          </a:prstGeom>
          <a:solidFill>
            <a:srgbClr val="F2F7F4"/>
          </a:solidFill>
          <a:ln w="9525">
            <a:solidFill>
              <a:srgbClr val="DEE8E1"/>
            </a:solidFill>
            <a:prstDash val="solid"/>
          </a:ln>
        </p:spPr>
      </p:sp>
      <p:sp>
        <p:nvSpPr>
          <p:cNvPr id="28" name="Text 19"/>
          <p:cNvSpPr txBox="1"/>
          <p:nvPr/>
        </p:nvSpPr>
        <p:spPr>
          <a:xfrm>
            <a:off x="777240" y="5321808"/>
            <a:ext cx="2697480" cy="914400"/>
          </a:xfrm>
          <a:prstGeom prst="rect">
            <a:avLst/>
          </a:prstGeom>
          <a:noFill/>
          <a:ln/>
        </p:spPr>
        <p:txBody>
          <a:bodyPr wrap="square" lIns="0" tIns="0" rIns="0" bIns="0" rtlCol="0" anchor="ctr"/>
          <a:lstStyle/>
          <a:p>
            <a:pPr indent="0" marL="0">
              <a:lnSpc>
                <a:spcPts val="1600"/>
              </a:lnSpc>
              <a:buNone/>
            </a:pPr>
            <a:r>
              <a:rPr lang="en-US" sz="1300" b="1" dirty="0">
                <a:solidFill>
                  <a:srgbClr val="16211C"/>
                </a:solidFill>
                <a:latin typeface="Times New Roman" pitchFamily="34" charset="0"/>
                <a:ea typeface="Times New Roman" pitchFamily="34" charset="-122"/>
                <a:cs typeface="Times New Roman" pitchFamily="34" charset="-120"/>
              </a:rPr>
              <a:t>Cách nhập dữ liệu</a:t>
            </a:r>
            <a:endParaRPr lang="en-US" sz="1300" dirty="0"/>
          </a:p>
        </p:txBody>
      </p:sp>
      <p:pic>
        <p:nvPicPr>
          <p:cNvPr id="29" name="Image 6" descr="preencoded.png">    </p:cNvPr>
          <p:cNvPicPr>
            <a:picLocks noChangeAspect="1"/>
          </p:cNvPicPr>
          <p:nvPr/>
        </p:nvPicPr>
        <p:blipFill>
          <a:blip r:embed="rId7"/>
          <a:stretch>
            <a:fillRect/>
          </a:stretch>
        </p:blipFill>
        <p:spPr>
          <a:xfrm>
            <a:off x="3886200" y="5660136"/>
            <a:ext cx="237744" cy="237744"/>
          </a:xfrm>
          <a:prstGeom prst="rect">
            <a:avLst/>
          </a:prstGeom>
        </p:spPr>
      </p:pic>
      <p:sp>
        <p:nvSpPr>
          <p:cNvPr id="30" name="Text 20"/>
          <p:cNvSpPr txBox="1"/>
          <p:nvPr/>
        </p:nvSpPr>
        <p:spPr>
          <a:xfrm>
            <a:off x="4233672" y="5321808"/>
            <a:ext cx="3154680" cy="914400"/>
          </a:xfrm>
          <a:prstGeom prst="rect">
            <a:avLst/>
          </a:prstGeom>
          <a:noFill/>
          <a:ln/>
        </p:spPr>
        <p:txBody>
          <a:bodyPr wrap="square" lIns="0" tIns="0" rIns="0" bIns="0" rtlCol="0" anchor="ctr"/>
          <a:lstStyle/>
          <a:p>
            <a:pPr indent="0" marL="0">
              <a:lnSpc>
                <a:spcPts val="1500"/>
              </a:lnSpc>
              <a:buNone/>
            </a:pPr>
            <a:r>
              <a:rPr lang="en-US" sz="1250" dirty="0">
                <a:solidFill>
                  <a:srgbClr val="5B6B62"/>
                </a:solidFill>
                <a:latin typeface="Times New Roman" pitchFamily="34" charset="0"/>
                <a:ea typeface="Times New Roman" pitchFamily="34" charset="-122"/>
                <a:cs typeface="Times New Roman" pitchFamily="34" charset="-120"/>
              </a:rPr>
              <a:t>Cần tích hợp hệ thống ERP phức tạp</a:t>
            </a:r>
            <a:endParaRPr lang="en-US" sz="1250" dirty="0"/>
          </a:p>
        </p:txBody>
      </p:sp>
      <p:pic>
        <p:nvPicPr>
          <p:cNvPr id="31" name="Image 7" descr="preencoded.png">    </p:cNvPr>
          <p:cNvPicPr>
            <a:picLocks noChangeAspect="1"/>
          </p:cNvPicPr>
          <p:nvPr/>
        </p:nvPicPr>
        <p:blipFill>
          <a:blip r:embed="rId8"/>
          <a:stretch>
            <a:fillRect/>
          </a:stretch>
        </p:blipFill>
        <p:spPr>
          <a:xfrm>
            <a:off x="7818120" y="5660136"/>
            <a:ext cx="237744" cy="237744"/>
          </a:xfrm>
          <a:prstGeom prst="rect">
            <a:avLst/>
          </a:prstGeom>
        </p:spPr>
      </p:pic>
      <p:sp>
        <p:nvSpPr>
          <p:cNvPr id="32" name="Text 21"/>
          <p:cNvSpPr txBox="1"/>
          <p:nvPr/>
        </p:nvSpPr>
        <p:spPr>
          <a:xfrm>
            <a:off x="8165592" y="5321808"/>
            <a:ext cx="3227832" cy="914400"/>
          </a:xfrm>
          <a:prstGeom prst="rect">
            <a:avLst/>
          </a:prstGeom>
          <a:noFill/>
          <a:ln/>
        </p:spPr>
        <p:txBody>
          <a:bodyPr wrap="square" lIns="0" tIns="0" rIns="0" bIns="0" rtlCol="0" anchor="ctr"/>
          <a:lstStyle/>
          <a:p>
            <a:pPr indent="0" marL="0">
              <a:lnSpc>
                <a:spcPts val="1500"/>
              </a:lnSpc>
              <a:buNone/>
            </a:pPr>
            <a:r>
              <a:rPr lang="en-US" sz="1250" dirty="0">
                <a:solidFill>
                  <a:srgbClr val="16211C"/>
                </a:solidFill>
                <a:latin typeface="Times New Roman" pitchFamily="34" charset="0"/>
                <a:ea typeface="Times New Roman" pitchFamily="34" charset="-122"/>
                <a:cs typeface="Times New Roman" pitchFamily="34" charset="-120"/>
              </a:rPr>
              <a:t>Đơn giản qua Excel / Google Sheets</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BF9"/>
        </a:solidFill>
      </p:bgPr>
    </p:bg>
    <p:spTree>
      <p:nvGrpSpPr>
        <p:cNvPr id="1" name=""/>
        <p:cNvGrpSpPr/>
        <p:nvPr/>
      </p:nvGrpSpPr>
      <p:grpSpPr>
        <a:xfrm>
          <a:off x="0" y="0"/>
          <a:ext cx="0" cy="0"/>
          <a:chOff x="0" y="0"/>
          <a:chExt cx="0" cy="0"/>
        </a:xfrm>
      </p:grpSpPr>
      <p:sp>
        <p:nvSpPr>
          <p:cNvPr id="3" name="Text 0"/>
          <p:cNvSpPr txBox="1"/>
          <p:nvPr/>
        </p:nvSpPr>
        <p:spPr>
          <a:xfrm>
            <a:off x="594360" y="457200"/>
            <a:ext cx="4572000" cy="320040"/>
          </a:xfrm>
          <a:prstGeom prst="rect">
            <a:avLst/>
          </a:prstGeom>
          <a:noFill/>
          <a:ln/>
        </p:spPr>
        <p:txBody>
          <a:bodyPr wrap="square" lIns="0" tIns="0" rIns="0" bIns="0" rtlCol="0" anchor="ctr"/>
          <a:lstStyle/>
          <a:p>
            <a:pPr indent="0" marL="0">
              <a:buNone/>
            </a:pPr>
            <a:r>
              <a:rPr lang="en-US" sz="1200" b="1" spc="200" kern="0" dirty="0">
                <a:solidFill>
                  <a:srgbClr val="9C6B00"/>
                </a:solidFill>
                <a:latin typeface="Times New Roman" pitchFamily="34" charset="0"/>
                <a:ea typeface="Times New Roman" pitchFamily="34" charset="-122"/>
                <a:cs typeface="Times New Roman" pitchFamily="34" charset="-120"/>
              </a:rPr>
              <a:t>TÍNH KHẢ THI</a:t>
            </a:r>
            <a:endParaRPr lang="en-US" sz="1200" dirty="0"/>
          </a:p>
        </p:txBody>
      </p:sp>
      <p:sp>
        <p:nvSpPr>
          <p:cNvPr id="4" name="Text 1"/>
          <p:cNvSpPr txBox="1"/>
          <p:nvPr/>
        </p:nvSpPr>
        <p:spPr>
          <a:xfrm>
            <a:off x="594360" y="777240"/>
            <a:ext cx="10607040" cy="640080"/>
          </a:xfrm>
          <a:prstGeom prst="rect">
            <a:avLst/>
          </a:prstGeom>
          <a:noFill/>
          <a:ln/>
        </p:spPr>
        <p:txBody>
          <a:bodyPr wrap="square" lIns="0" tIns="0" rIns="0" bIns="0" rtlCol="0" anchor="ctr"/>
          <a:lstStyle/>
          <a:p>
            <a:pPr indent="0" marL="0">
              <a:buNone/>
            </a:pPr>
            <a:r>
              <a:rPr lang="en-US" sz="2700" b="1" dirty="0">
                <a:solidFill>
                  <a:srgbClr val="16211C"/>
                </a:solidFill>
                <a:latin typeface="Times New Roman" pitchFamily="34" charset="0"/>
                <a:ea typeface="Times New Roman" pitchFamily="34" charset="-122"/>
                <a:cs typeface="Times New Roman" pitchFamily="34" charset="-120"/>
              </a:rPr>
              <a:t>Không chỉ là ý tưởng — đã có sản phẩm thật</a:t>
            </a:r>
            <a:endParaRPr lang="en-US" sz="2700" dirty="0"/>
          </a:p>
        </p:txBody>
      </p:sp>
      <p:sp>
        <p:nvSpPr>
          <p:cNvPr id="5" name="Shape 2"/>
          <p:cNvSpPr/>
          <p:nvPr/>
        </p:nvSpPr>
        <p:spPr>
          <a:xfrm>
            <a:off x="594360" y="1554480"/>
            <a:ext cx="4206240" cy="502920"/>
          </a:xfrm>
          <a:prstGeom prst="roundRect">
            <a:avLst>
              <a:gd name="adj" fmla="val 50909"/>
            </a:avLst>
          </a:prstGeom>
          <a:solidFill>
            <a:srgbClr val="E6F5EC"/>
          </a:solidFill>
          <a:ln w="12700">
            <a:solidFill>
              <a:srgbClr val="1E7A46"/>
            </a:solidFill>
            <a:prstDash val="solid"/>
          </a:ln>
        </p:spPr>
      </p:sp>
      <p:pic>
        <p:nvPicPr>
          <p:cNvPr id="6" name="Image 0" descr="preencoded.png">    </p:cNvPr>
          <p:cNvPicPr>
            <a:picLocks noChangeAspect="1"/>
          </p:cNvPicPr>
          <p:nvPr/>
        </p:nvPicPr>
        <p:blipFill>
          <a:blip r:embed="rId1"/>
          <a:stretch>
            <a:fillRect/>
          </a:stretch>
        </p:blipFill>
        <p:spPr>
          <a:xfrm>
            <a:off x="777240" y="1673352"/>
            <a:ext cx="256032" cy="256032"/>
          </a:xfrm>
          <a:prstGeom prst="rect">
            <a:avLst/>
          </a:prstGeom>
        </p:spPr>
      </p:pic>
      <p:sp>
        <p:nvSpPr>
          <p:cNvPr id="7" name="Text 3"/>
          <p:cNvSpPr txBox="1"/>
          <p:nvPr/>
        </p:nvSpPr>
        <p:spPr>
          <a:xfrm>
            <a:off x="1143000" y="1554480"/>
            <a:ext cx="3566160" cy="502920"/>
          </a:xfrm>
          <a:prstGeom prst="rect">
            <a:avLst/>
          </a:prstGeom>
          <a:noFill/>
          <a:ln/>
        </p:spPr>
        <p:txBody>
          <a:bodyPr wrap="square" lIns="0" tIns="0" rIns="0" bIns="0" rtlCol="0" anchor="ctr"/>
          <a:lstStyle/>
          <a:p>
            <a:pPr indent="0" marL="0">
              <a:buNone/>
            </a:pPr>
            <a:r>
              <a:rPr lang="en-US" sz="1250" b="1" dirty="0">
                <a:solidFill>
                  <a:srgbClr val="1E7A46"/>
                </a:solidFill>
                <a:latin typeface="Times New Roman" pitchFamily="34" charset="0"/>
                <a:ea typeface="Times New Roman" pitchFamily="34" charset="-122"/>
                <a:cs typeface="Times New Roman" pitchFamily="34" charset="-120"/>
              </a:rPr>
              <a:t>MVP đang hoạt động — greenlogix.w9.nu</a:t>
            </a:r>
            <a:endParaRPr lang="en-US" sz="1250" dirty="0"/>
          </a:p>
        </p:txBody>
      </p:sp>
      <p:sp>
        <p:nvSpPr>
          <p:cNvPr id="8" name="Shape 4"/>
          <p:cNvSpPr/>
          <p:nvPr/>
        </p:nvSpPr>
        <p:spPr>
          <a:xfrm>
            <a:off x="594360" y="2377440"/>
            <a:ext cx="2542032" cy="2743200"/>
          </a:xfrm>
          <a:prstGeom prst="roundRect">
            <a:avLst>
              <a:gd name="adj" fmla="val 3597"/>
            </a:avLst>
          </a:prstGeom>
          <a:solidFill>
            <a:srgbClr val="FFFFFF"/>
          </a:solidFill>
          <a:ln w="12700">
            <a:solidFill>
              <a:srgbClr val="DEE8E1"/>
            </a:solidFill>
            <a:prstDash val="solid"/>
          </a:ln>
        </p:spPr>
      </p:sp>
      <p:sp>
        <p:nvSpPr>
          <p:cNvPr id="9" name="Shape 5"/>
          <p:cNvSpPr/>
          <p:nvPr/>
        </p:nvSpPr>
        <p:spPr>
          <a:xfrm>
            <a:off x="822960" y="2651760"/>
            <a:ext cx="502920" cy="502920"/>
          </a:xfrm>
          <a:prstGeom prst="ellipse">
            <a:avLst/>
          </a:prstGeom>
          <a:solidFill>
            <a:srgbClr val="EEF4EF"/>
          </a:solidFill>
          <a:ln/>
        </p:spPr>
      </p:sp>
      <p:pic>
        <p:nvPicPr>
          <p:cNvPr id="10" name="Image 1" descr="preencoded.png">    </p:cNvPr>
          <p:cNvPicPr>
            <a:picLocks noChangeAspect="1"/>
          </p:cNvPicPr>
          <p:nvPr/>
        </p:nvPicPr>
        <p:blipFill>
          <a:blip r:embed="rId2"/>
          <a:stretch>
            <a:fillRect/>
          </a:stretch>
        </p:blipFill>
        <p:spPr>
          <a:xfrm>
            <a:off x="941832" y="2770632"/>
            <a:ext cx="265176" cy="265176"/>
          </a:xfrm>
          <a:prstGeom prst="rect">
            <a:avLst/>
          </a:prstGeom>
        </p:spPr>
      </p:pic>
      <p:sp>
        <p:nvSpPr>
          <p:cNvPr id="11" name="Text 6"/>
          <p:cNvSpPr txBox="1"/>
          <p:nvPr/>
        </p:nvSpPr>
        <p:spPr>
          <a:xfrm>
            <a:off x="795528" y="3337560"/>
            <a:ext cx="2176272" cy="640080"/>
          </a:xfrm>
          <a:prstGeom prst="rect">
            <a:avLst/>
          </a:prstGeom>
          <a:noFill/>
          <a:ln/>
        </p:spPr>
        <p:txBody>
          <a:bodyPr wrap="square" lIns="0" tIns="0" rIns="0" bIns="0" rtlCol="0" anchor="ctr"/>
          <a:lstStyle/>
          <a:p>
            <a:pPr indent="0" marL="0">
              <a:buNone/>
            </a:pPr>
            <a:r>
              <a:rPr lang="en-US" sz="2200" b="1" dirty="0">
                <a:solidFill>
                  <a:srgbClr val="16211C"/>
                </a:solidFill>
                <a:latin typeface="Times New Roman" pitchFamily="34" charset="0"/>
                <a:ea typeface="Times New Roman" pitchFamily="34" charset="-122"/>
                <a:cs typeface="Times New Roman" pitchFamily="34" charset="-120"/>
              </a:rPr>
              <a:t>1,68 năm</a:t>
            </a:r>
            <a:endParaRPr lang="en-US" sz="2200" dirty="0"/>
          </a:p>
        </p:txBody>
      </p:sp>
      <p:sp>
        <p:nvSpPr>
          <p:cNvPr id="12" name="Text 7"/>
          <p:cNvSpPr txBox="1"/>
          <p:nvPr/>
        </p:nvSpPr>
        <p:spPr>
          <a:xfrm>
            <a:off x="795528" y="3977640"/>
            <a:ext cx="2176272" cy="960120"/>
          </a:xfrm>
          <a:prstGeom prst="rect">
            <a:avLst/>
          </a:prstGeom>
          <a:noFill/>
          <a:ln/>
        </p:spPr>
        <p:txBody>
          <a:bodyPr wrap="square" lIns="0" tIns="0" rIns="0" bIns="0" rtlCol="0" anchor="ctr"/>
          <a:lstStyle/>
          <a:p>
            <a:pPr indent="0" marL="0">
              <a:lnSpc>
                <a:spcPts val="1500"/>
              </a:lnSpc>
              <a:buNone/>
            </a:pPr>
            <a:r>
              <a:rPr lang="en-US" sz="1200" dirty="0">
                <a:solidFill>
                  <a:srgbClr val="5B6B62"/>
                </a:solidFill>
                <a:latin typeface="Times New Roman" pitchFamily="34" charset="0"/>
                <a:ea typeface="Times New Roman" pitchFamily="34" charset="-122"/>
                <a:cs typeface="Times New Roman" pitchFamily="34" charset="-120"/>
              </a:rPr>
              <a:t>Thời gian hoàn vốn</a:t>
            </a:r>
            <a:endParaRPr lang="en-US" sz="1200" dirty="0"/>
          </a:p>
        </p:txBody>
      </p:sp>
      <p:sp>
        <p:nvSpPr>
          <p:cNvPr id="13" name="Shape 8"/>
          <p:cNvSpPr/>
          <p:nvPr/>
        </p:nvSpPr>
        <p:spPr>
          <a:xfrm>
            <a:off x="3355848" y="2377440"/>
            <a:ext cx="2542032" cy="2743200"/>
          </a:xfrm>
          <a:prstGeom prst="roundRect">
            <a:avLst>
              <a:gd name="adj" fmla="val 3597"/>
            </a:avLst>
          </a:prstGeom>
          <a:solidFill>
            <a:srgbClr val="FFFFFF"/>
          </a:solidFill>
          <a:ln w="12700">
            <a:solidFill>
              <a:srgbClr val="DEE8E1"/>
            </a:solidFill>
            <a:prstDash val="solid"/>
          </a:ln>
        </p:spPr>
      </p:sp>
      <p:sp>
        <p:nvSpPr>
          <p:cNvPr id="14" name="Shape 9"/>
          <p:cNvSpPr/>
          <p:nvPr/>
        </p:nvSpPr>
        <p:spPr>
          <a:xfrm>
            <a:off x="3584448" y="2651760"/>
            <a:ext cx="502920" cy="502920"/>
          </a:xfrm>
          <a:prstGeom prst="ellipse">
            <a:avLst/>
          </a:prstGeom>
          <a:solidFill>
            <a:srgbClr val="EEF4EF"/>
          </a:solidFill>
          <a:ln/>
        </p:spPr>
      </p:sp>
      <p:pic>
        <p:nvPicPr>
          <p:cNvPr id="15" name="Image 2" descr="preencoded.png">    </p:cNvPr>
          <p:cNvPicPr>
            <a:picLocks noChangeAspect="1"/>
          </p:cNvPicPr>
          <p:nvPr/>
        </p:nvPicPr>
        <p:blipFill>
          <a:blip r:embed="rId3"/>
          <a:stretch>
            <a:fillRect/>
          </a:stretch>
        </p:blipFill>
        <p:spPr>
          <a:xfrm>
            <a:off x="3703320" y="2770632"/>
            <a:ext cx="265176" cy="265176"/>
          </a:xfrm>
          <a:prstGeom prst="rect">
            <a:avLst/>
          </a:prstGeom>
        </p:spPr>
      </p:pic>
      <p:sp>
        <p:nvSpPr>
          <p:cNvPr id="16" name="Text 10"/>
          <p:cNvSpPr txBox="1"/>
          <p:nvPr/>
        </p:nvSpPr>
        <p:spPr>
          <a:xfrm>
            <a:off x="3557016" y="3337560"/>
            <a:ext cx="2176272" cy="640080"/>
          </a:xfrm>
          <a:prstGeom prst="rect">
            <a:avLst/>
          </a:prstGeom>
          <a:noFill/>
          <a:ln/>
        </p:spPr>
        <p:txBody>
          <a:bodyPr wrap="square" lIns="0" tIns="0" rIns="0" bIns="0" rtlCol="0" anchor="ctr"/>
          <a:lstStyle/>
          <a:p>
            <a:pPr indent="0" marL="0">
              <a:buNone/>
            </a:pPr>
            <a:r>
              <a:rPr lang="en-US" sz="2200" b="1" dirty="0">
                <a:solidFill>
                  <a:srgbClr val="16211C"/>
                </a:solidFill>
                <a:latin typeface="Times New Roman" pitchFamily="34" charset="0"/>
                <a:ea typeface="Times New Roman" pitchFamily="34" charset="-122"/>
                <a:cs typeface="Times New Roman" pitchFamily="34" charset="-120"/>
              </a:rPr>
              <a:t>28%</a:t>
            </a:r>
            <a:endParaRPr lang="en-US" sz="2200" dirty="0"/>
          </a:p>
        </p:txBody>
      </p:sp>
      <p:sp>
        <p:nvSpPr>
          <p:cNvPr id="17" name="Text 11"/>
          <p:cNvSpPr txBox="1"/>
          <p:nvPr/>
        </p:nvSpPr>
        <p:spPr>
          <a:xfrm>
            <a:off x="3557016" y="3977640"/>
            <a:ext cx="2176272" cy="960120"/>
          </a:xfrm>
          <a:prstGeom prst="rect">
            <a:avLst/>
          </a:prstGeom>
          <a:noFill/>
          <a:ln/>
        </p:spPr>
        <p:txBody>
          <a:bodyPr wrap="square" lIns="0" tIns="0" rIns="0" bIns="0" rtlCol="0" anchor="ctr"/>
          <a:lstStyle/>
          <a:p>
            <a:pPr indent="0" marL="0">
              <a:lnSpc>
                <a:spcPts val="1500"/>
              </a:lnSpc>
              <a:buNone/>
            </a:pPr>
            <a:r>
              <a:rPr lang="en-US" sz="1200" dirty="0">
                <a:solidFill>
                  <a:srgbClr val="5B6B62"/>
                </a:solidFill>
                <a:latin typeface="Times New Roman" pitchFamily="34" charset="0"/>
                <a:ea typeface="Times New Roman" pitchFamily="34" charset="-122"/>
                <a:cs typeface="Times New Roman" pitchFamily="34" charset="-120"/>
              </a:rPr>
              <a:t>IRR — tỷ suất hoàn vốn nội bộ</a:t>
            </a:r>
            <a:endParaRPr lang="en-US" sz="1200" dirty="0"/>
          </a:p>
        </p:txBody>
      </p:sp>
      <p:sp>
        <p:nvSpPr>
          <p:cNvPr id="18" name="Shape 12"/>
          <p:cNvSpPr/>
          <p:nvPr/>
        </p:nvSpPr>
        <p:spPr>
          <a:xfrm>
            <a:off x="6117336" y="2377440"/>
            <a:ext cx="2542032" cy="2743200"/>
          </a:xfrm>
          <a:prstGeom prst="roundRect">
            <a:avLst>
              <a:gd name="adj" fmla="val 3597"/>
            </a:avLst>
          </a:prstGeom>
          <a:solidFill>
            <a:srgbClr val="FFFFFF"/>
          </a:solidFill>
          <a:ln w="12700">
            <a:solidFill>
              <a:srgbClr val="DEE8E1"/>
            </a:solidFill>
            <a:prstDash val="solid"/>
          </a:ln>
        </p:spPr>
      </p:sp>
      <p:sp>
        <p:nvSpPr>
          <p:cNvPr id="19" name="Shape 13"/>
          <p:cNvSpPr/>
          <p:nvPr/>
        </p:nvSpPr>
        <p:spPr>
          <a:xfrm>
            <a:off x="6345936" y="2651760"/>
            <a:ext cx="502920" cy="502920"/>
          </a:xfrm>
          <a:prstGeom prst="ellipse">
            <a:avLst/>
          </a:prstGeom>
          <a:solidFill>
            <a:srgbClr val="EEF4EF"/>
          </a:solidFill>
          <a:ln/>
        </p:spPr>
      </p:sp>
      <p:pic>
        <p:nvPicPr>
          <p:cNvPr id="20" name="Image 3" descr="preencoded.png">    </p:cNvPr>
          <p:cNvPicPr>
            <a:picLocks noChangeAspect="1"/>
          </p:cNvPicPr>
          <p:nvPr/>
        </p:nvPicPr>
        <p:blipFill>
          <a:blip r:embed="rId4"/>
          <a:stretch>
            <a:fillRect/>
          </a:stretch>
        </p:blipFill>
        <p:spPr>
          <a:xfrm>
            <a:off x="6464808" y="2770632"/>
            <a:ext cx="265176" cy="265176"/>
          </a:xfrm>
          <a:prstGeom prst="rect">
            <a:avLst/>
          </a:prstGeom>
        </p:spPr>
      </p:pic>
      <p:sp>
        <p:nvSpPr>
          <p:cNvPr id="21" name="Text 14"/>
          <p:cNvSpPr txBox="1"/>
          <p:nvPr/>
        </p:nvSpPr>
        <p:spPr>
          <a:xfrm>
            <a:off x="6318504" y="3337560"/>
            <a:ext cx="2176272" cy="640080"/>
          </a:xfrm>
          <a:prstGeom prst="rect">
            <a:avLst/>
          </a:prstGeom>
          <a:noFill/>
          <a:ln/>
        </p:spPr>
        <p:txBody>
          <a:bodyPr wrap="square" lIns="0" tIns="0" rIns="0" bIns="0" rtlCol="0" anchor="ctr"/>
          <a:lstStyle/>
          <a:p>
            <a:pPr indent="0" marL="0">
              <a:buNone/>
            </a:pPr>
            <a:r>
              <a:rPr lang="en-US" sz="2200" b="1" dirty="0">
                <a:solidFill>
                  <a:srgbClr val="16211C"/>
                </a:solidFill>
                <a:latin typeface="Times New Roman" pitchFamily="34" charset="0"/>
                <a:ea typeface="Times New Roman" pitchFamily="34" charset="-122"/>
                <a:cs typeface="Times New Roman" pitchFamily="34" charset="-120"/>
              </a:rPr>
              <a:t>185,5 triệu ₫</a:t>
            </a:r>
            <a:endParaRPr lang="en-US" sz="2200" dirty="0"/>
          </a:p>
        </p:txBody>
      </p:sp>
      <p:sp>
        <p:nvSpPr>
          <p:cNvPr id="22" name="Text 15"/>
          <p:cNvSpPr txBox="1"/>
          <p:nvPr/>
        </p:nvSpPr>
        <p:spPr>
          <a:xfrm>
            <a:off x="6318504" y="3977640"/>
            <a:ext cx="2176272" cy="960120"/>
          </a:xfrm>
          <a:prstGeom prst="rect">
            <a:avLst/>
          </a:prstGeom>
          <a:noFill/>
          <a:ln/>
        </p:spPr>
        <p:txBody>
          <a:bodyPr wrap="square" lIns="0" tIns="0" rIns="0" bIns="0" rtlCol="0" anchor="ctr"/>
          <a:lstStyle/>
          <a:p>
            <a:pPr indent="0" marL="0">
              <a:lnSpc>
                <a:spcPts val="1500"/>
              </a:lnSpc>
              <a:buNone/>
            </a:pPr>
            <a:r>
              <a:rPr lang="en-US" sz="1200" dirty="0">
                <a:solidFill>
                  <a:srgbClr val="5B6B62"/>
                </a:solidFill>
                <a:latin typeface="Times New Roman" pitchFamily="34" charset="0"/>
                <a:ea typeface="Times New Roman" pitchFamily="34" charset="-122"/>
                <a:cs typeface="Times New Roman" pitchFamily="34" charset="-120"/>
              </a:rPr>
              <a:t>NPV — giá trị hiện tại ròng</a:t>
            </a:r>
            <a:endParaRPr lang="en-US" sz="1200" dirty="0"/>
          </a:p>
        </p:txBody>
      </p:sp>
      <p:sp>
        <p:nvSpPr>
          <p:cNvPr id="23" name="Shape 16"/>
          <p:cNvSpPr/>
          <p:nvPr/>
        </p:nvSpPr>
        <p:spPr>
          <a:xfrm>
            <a:off x="8878824" y="2377440"/>
            <a:ext cx="2542032" cy="2743200"/>
          </a:xfrm>
          <a:prstGeom prst="roundRect">
            <a:avLst>
              <a:gd name="adj" fmla="val 3597"/>
            </a:avLst>
          </a:prstGeom>
          <a:solidFill>
            <a:srgbClr val="FFFFFF"/>
          </a:solidFill>
          <a:ln w="12700">
            <a:solidFill>
              <a:srgbClr val="DEE8E1"/>
            </a:solidFill>
            <a:prstDash val="solid"/>
          </a:ln>
        </p:spPr>
      </p:sp>
      <p:sp>
        <p:nvSpPr>
          <p:cNvPr id="24" name="Shape 17"/>
          <p:cNvSpPr/>
          <p:nvPr/>
        </p:nvSpPr>
        <p:spPr>
          <a:xfrm>
            <a:off x="9107424" y="2651760"/>
            <a:ext cx="502920" cy="502920"/>
          </a:xfrm>
          <a:prstGeom prst="ellipse">
            <a:avLst/>
          </a:prstGeom>
          <a:solidFill>
            <a:srgbClr val="EEF4EF"/>
          </a:solidFill>
          <a:ln/>
        </p:spPr>
      </p:sp>
      <p:pic>
        <p:nvPicPr>
          <p:cNvPr id="25" name="Image 4" descr="preencoded.png">    </p:cNvPr>
          <p:cNvPicPr>
            <a:picLocks noChangeAspect="1"/>
          </p:cNvPicPr>
          <p:nvPr/>
        </p:nvPicPr>
        <p:blipFill>
          <a:blip r:embed="rId5"/>
          <a:stretch>
            <a:fillRect/>
          </a:stretch>
        </p:blipFill>
        <p:spPr>
          <a:xfrm>
            <a:off x="9226296" y="2770632"/>
            <a:ext cx="265176" cy="265176"/>
          </a:xfrm>
          <a:prstGeom prst="rect">
            <a:avLst/>
          </a:prstGeom>
        </p:spPr>
      </p:pic>
      <p:sp>
        <p:nvSpPr>
          <p:cNvPr id="26" name="Text 18"/>
          <p:cNvSpPr txBox="1"/>
          <p:nvPr/>
        </p:nvSpPr>
        <p:spPr>
          <a:xfrm>
            <a:off x="9079992" y="3337560"/>
            <a:ext cx="2176272" cy="640080"/>
          </a:xfrm>
          <a:prstGeom prst="rect">
            <a:avLst/>
          </a:prstGeom>
          <a:noFill/>
          <a:ln/>
        </p:spPr>
        <p:txBody>
          <a:bodyPr wrap="square" lIns="0" tIns="0" rIns="0" bIns="0" rtlCol="0" anchor="ctr"/>
          <a:lstStyle/>
          <a:p>
            <a:pPr indent="0" marL="0">
              <a:buNone/>
            </a:pPr>
            <a:r>
              <a:rPr lang="en-US" sz="2200" b="1" dirty="0">
                <a:solidFill>
                  <a:srgbClr val="16211C"/>
                </a:solidFill>
                <a:latin typeface="Times New Roman" pitchFamily="34" charset="0"/>
                <a:ea typeface="Times New Roman" pitchFamily="34" charset="-122"/>
                <a:cs typeface="Times New Roman" pitchFamily="34" charset="-120"/>
              </a:rPr>
              <a:t>3–5 DN</a:t>
            </a:r>
            <a:endParaRPr lang="en-US" sz="2200" dirty="0"/>
          </a:p>
        </p:txBody>
      </p:sp>
      <p:sp>
        <p:nvSpPr>
          <p:cNvPr id="27" name="Text 19"/>
          <p:cNvSpPr txBox="1"/>
          <p:nvPr/>
        </p:nvSpPr>
        <p:spPr>
          <a:xfrm>
            <a:off x="9079992" y="3977640"/>
            <a:ext cx="2176272" cy="960120"/>
          </a:xfrm>
          <a:prstGeom prst="rect">
            <a:avLst/>
          </a:prstGeom>
          <a:noFill/>
          <a:ln/>
        </p:spPr>
        <p:txBody>
          <a:bodyPr wrap="square" lIns="0" tIns="0" rIns="0" bIns="0" rtlCol="0" anchor="ctr"/>
          <a:lstStyle/>
          <a:p>
            <a:pPr indent="0" marL="0">
              <a:lnSpc>
                <a:spcPts val="1500"/>
              </a:lnSpc>
              <a:buNone/>
            </a:pPr>
            <a:r>
              <a:rPr lang="en-US" sz="1200" dirty="0">
                <a:solidFill>
                  <a:srgbClr val="5B6B62"/>
                </a:solidFill>
                <a:latin typeface="Times New Roman" pitchFamily="34" charset="0"/>
                <a:ea typeface="Times New Roman" pitchFamily="34" charset="-122"/>
                <a:cs typeface="Times New Roman" pitchFamily="34" charset="-120"/>
              </a:rPr>
              <a:t>Quy mô pilot (30–100 xe)</a:t>
            </a:r>
            <a:endParaRPr lang="en-US" sz="1200" dirty="0"/>
          </a:p>
        </p:txBody>
      </p:sp>
      <p:sp>
        <p:nvSpPr>
          <p:cNvPr id="28" name="Text 20"/>
          <p:cNvSpPr txBox="1"/>
          <p:nvPr/>
        </p:nvSpPr>
        <p:spPr>
          <a:xfrm>
            <a:off x="594360" y="5349240"/>
            <a:ext cx="10058400" cy="365760"/>
          </a:xfrm>
          <a:prstGeom prst="rect">
            <a:avLst/>
          </a:prstGeom>
          <a:noFill/>
          <a:ln/>
        </p:spPr>
        <p:txBody>
          <a:bodyPr wrap="square" lIns="0" tIns="0" rIns="0" bIns="0" rtlCol="0" anchor="ctr"/>
          <a:lstStyle/>
          <a:p>
            <a:pPr indent="0" marL="0">
              <a:buNone/>
            </a:pPr>
            <a:r>
              <a:rPr lang="en-US" sz="1350" i="1" dirty="0">
                <a:solidFill>
                  <a:srgbClr val="5B6B62"/>
                </a:solidFill>
                <a:latin typeface="Times New Roman" pitchFamily="34" charset="0"/>
                <a:ea typeface="Times New Roman" pitchFamily="34" charset="-122"/>
                <a:cs typeface="Times New Roman" pitchFamily="34" charset="-120"/>
              </a:rPr>
              <a:t>Lợi nhuận trước thuế chuyển dương từ năm thứ 2 vận hành.</a:t>
            </a:r>
            <a:endParaRPr lang="en-US" sz="13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BF9"/>
        </a:solidFill>
      </p:bgPr>
    </p:bg>
    <p:spTree>
      <p:nvGrpSpPr>
        <p:cNvPr id="1" name=""/>
        <p:cNvGrpSpPr/>
        <p:nvPr/>
      </p:nvGrpSpPr>
      <p:grpSpPr>
        <a:xfrm>
          <a:off x="0" y="0"/>
          <a:ext cx="0" cy="0"/>
          <a:chOff x="0" y="0"/>
          <a:chExt cx="0" cy="0"/>
        </a:xfrm>
      </p:grpSpPr>
      <p:sp>
        <p:nvSpPr>
          <p:cNvPr id="3" name="Text 0"/>
          <p:cNvSpPr txBox="1"/>
          <p:nvPr/>
        </p:nvSpPr>
        <p:spPr>
          <a:xfrm>
            <a:off x="594360" y="502920"/>
            <a:ext cx="4572000" cy="320040"/>
          </a:xfrm>
          <a:prstGeom prst="rect">
            <a:avLst/>
          </a:prstGeom>
          <a:noFill/>
          <a:ln/>
        </p:spPr>
        <p:txBody>
          <a:bodyPr wrap="square" lIns="0" tIns="0" rIns="0" bIns="0" rtlCol="0" anchor="ctr"/>
          <a:lstStyle/>
          <a:p>
            <a:pPr indent="0" marL="0">
              <a:buNone/>
            </a:pPr>
            <a:r>
              <a:rPr lang="en-US" sz="1200" b="1" spc="200" kern="0" dirty="0">
                <a:solidFill>
                  <a:srgbClr val="9C6B00"/>
                </a:solidFill>
                <a:latin typeface="Times New Roman" pitchFamily="34" charset="0"/>
                <a:ea typeface="Times New Roman" pitchFamily="34" charset="-122"/>
                <a:cs typeface="Times New Roman" pitchFamily="34" charset="-120"/>
              </a:rPr>
              <a:t>THÔNG ĐIỆP CỘNG ĐỒNG</a:t>
            </a:r>
            <a:endParaRPr lang="en-US" sz="1200" dirty="0"/>
          </a:p>
        </p:txBody>
      </p:sp>
      <p:sp>
        <p:nvSpPr>
          <p:cNvPr id="4" name="Text 1"/>
          <p:cNvSpPr txBox="1"/>
          <p:nvPr/>
        </p:nvSpPr>
        <p:spPr>
          <a:xfrm>
            <a:off x="594360" y="1051560"/>
            <a:ext cx="10607040" cy="2377440"/>
          </a:xfrm>
          <a:prstGeom prst="rect">
            <a:avLst/>
          </a:prstGeom>
          <a:noFill/>
          <a:ln/>
        </p:spPr>
        <p:txBody>
          <a:bodyPr wrap="square" lIns="0" tIns="0" rIns="0" bIns="0" rtlCol="0" anchor="ctr"/>
          <a:lstStyle/>
          <a:p>
            <a:pPr indent="0" marL="0">
              <a:lnSpc>
                <a:spcPts val="4000"/>
              </a:lnSpc>
              <a:buNone/>
            </a:pPr>
            <a:r>
              <a:rPr lang="en-US" sz="2600" b="1" i="1" dirty="0">
                <a:solidFill>
                  <a:srgbClr val="16211C"/>
                </a:solidFill>
                <a:latin typeface="Times New Roman" pitchFamily="34" charset="0"/>
                <a:ea typeface="Times New Roman" pitchFamily="34" charset="-122"/>
                <a:cs typeface="Times New Roman" pitchFamily="34" charset="-120"/>
              </a:rPr>
              <a:t>Một tuyến đường không chạy rỗng.</a:t>
            </a:r>
            <a:endParaRPr lang="en-US" sz="2600" dirty="0"/>
          </a:p>
          <a:p>
            <a:pPr indent="0" marL="0">
              <a:lnSpc>
                <a:spcPts val="4000"/>
              </a:lnSpc>
              <a:buNone/>
            </a:pPr>
            <a:r>
              <a:rPr lang="en-US" sz="2600" b="1" i="1" dirty="0">
                <a:solidFill>
                  <a:srgbClr val="16211C"/>
                </a:solidFill>
                <a:latin typeface="Times New Roman" pitchFamily="34" charset="0"/>
                <a:ea typeface="Times New Roman" pitchFamily="34" charset="-122"/>
                <a:cs typeface="Times New Roman" pitchFamily="34" charset="-120"/>
              </a:rPr>
              <a:t>Một đơn hàng được ghép tối ưu.</a:t>
            </a:r>
            <a:endParaRPr lang="en-US" sz="2600" dirty="0"/>
          </a:p>
          <a:p>
            <a:pPr indent="0" marL="0">
              <a:lnSpc>
                <a:spcPts val="4000"/>
              </a:lnSpc>
              <a:buNone/>
            </a:pPr>
            <a:r>
              <a:rPr lang="en-US" sz="2600" b="1" i="1" dirty="0">
                <a:solidFill>
                  <a:srgbClr val="16211C"/>
                </a:solidFill>
                <a:latin typeface="Times New Roman" pitchFamily="34" charset="0"/>
                <a:ea typeface="Times New Roman" pitchFamily="34" charset="-122"/>
                <a:cs typeface="Times New Roman" pitchFamily="34" charset="-120"/>
              </a:rPr>
              <a:t>Một hơi thở trong lành hơn cho thành phố.</a:t>
            </a:r>
            <a:endParaRPr lang="en-US" sz="2600" dirty="0"/>
          </a:p>
        </p:txBody>
      </p:sp>
      <p:sp>
        <p:nvSpPr>
          <p:cNvPr id="5" name="Shape 2"/>
          <p:cNvSpPr/>
          <p:nvPr/>
        </p:nvSpPr>
        <p:spPr>
          <a:xfrm>
            <a:off x="594360" y="3657600"/>
            <a:ext cx="3429000" cy="2468880"/>
          </a:xfrm>
          <a:prstGeom prst="roundRect">
            <a:avLst>
              <a:gd name="adj" fmla="val 3704"/>
            </a:avLst>
          </a:prstGeom>
          <a:solidFill>
            <a:srgbClr val="FFFFFF"/>
          </a:solidFill>
          <a:ln w="12700">
            <a:solidFill>
              <a:srgbClr val="DEE8E1"/>
            </a:solidFill>
            <a:prstDash val="solid"/>
          </a:ln>
        </p:spPr>
      </p:sp>
      <p:sp>
        <p:nvSpPr>
          <p:cNvPr id="6" name="Shape 3"/>
          <p:cNvSpPr/>
          <p:nvPr/>
        </p:nvSpPr>
        <p:spPr>
          <a:xfrm>
            <a:off x="850392" y="3913632"/>
            <a:ext cx="548640" cy="548640"/>
          </a:xfrm>
          <a:prstGeom prst="ellipse">
            <a:avLst/>
          </a:prstGeom>
          <a:solidFill>
            <a:srgbClr val="146B39"/>
          </a:solidFill>
          <a:ln/>
        </p:spPr>
      </p:sp>
      <p:pic>
        <p:nvPicPr>
          <p:cNvPr id="7" name="Image 0" descr="preencoded.png">    </p:cNvPr>
          <p:cNvPicPr>
            <a:picLocks noChangeAspect="1"/>
          </p:cNvPicPr>
          <p:nvPr/>
        </p:nvPicPr>
        <p:blipFill>
          <a:blip r:embed="rId1"/>
          <a:stretch>
            <a:fillRect/>
          </a:stretch>
        </p:blipFill>
        <p:spPr>
          <a:xfrm>
            <a:off x="987552" y="4050792"/>
            <a:ext cx="274320" cy="274320"/>
          </a:xfrm>
          <a:prstGeom prst="rect">
            <a:avLst/>
          </a:prstGeom>
        </p:spPr>
      </p:pic>
      <p:sp>
        <p:nvSpPr>
          <p:cNvPr id="8" name="Text 4"/>
          <p:cNvSpPr txBox="1"/>
          <p:nvPr/>
        </p:nvSpPr>
        <p:spPr>
          <a:xfrm>
            <a:off x="850392" y="4617720"/>
            <a:ext cx="2916936" cy="411480"/>
          </a:xfrm>
          <a:prstGeom prst="rect">
            <a:avLst/>
          </a:prstGeom>
          <a:noFill/>
          <a:ln/>
        </p:spPr>
        <p:txBody>
          <a:bodyPr wrap="square" lIns="0" tIns="0" rIns="0" bIns="0" rtlCol="0" anchor="ctr"/>
          <a:lstStyle/>
          <a:p>
            <a:pPr indent="0" marL="0">
              <a:buNone/>
            </a:pPr>
            <a:r>
              <a:rPr lang="en-US" sz="1550" b="1" dirty="0">
                <a:solidFill>
                  <a:srgbClr val="9C6B00"/>
                </a:solidFill>
                <a:latin typeface="Times New Roman" pitchFamily="34" charset="0"/>
                <a:ea typeface="Times New Roman" pitchFamily="34" charset="-122"/>
                <a:cs typeface="Times New Roman" pitchFamily="34" charset="-120"/>
              </a:rPr>
              <a:t>Môi trường</a:t>
            </a:r>
            <a:endParaRPr lang="en-US" sz="1550" dirty="0"/>
          </a:p>
        </p:txBody>
      </p:sp>
      <p:sp>
        <p:nvSpPr>
          <p:cNvPr id="9" name="Text 5"/>
          <p:cNvSpPr txBox="1"/>
          <p:nvPr/>
        </p:nvSpPr>
        <p:spPr>
          <a:xfrm>
            <a:off x="850392" y="5047488"/>
            <a:ext cx="2916936" cy="1005840"/>
          </a:xfrm>
          <a:prstGeom prst="rect">
            <a:avLst/>
          </a:prstGeom>
          <a:noFill/>
          <a:ln/>
        </p:spPr>
        <p:txBody>
          <a:bodyPr wrap="square" lIns="0" tIns="0" rIns="0" bIns="0" rtlCol="0" anchor="ctr"/>
          <a:lstStyle/>
          <a:p>
            <a:pPr indent="0" marL="0">
              <a:lnSpc>
                <a:spcPts val="1600"/>
              </a:lnSpc>
              <a:buNone/>
            </a:pPr>
            <a:r>
              <a:rPr lang="en-US" sz="1250" dirty="0">
                <a:solidFill>
                  <a:srgbClr val="5B6B62"/>
                </a:solidFill>
                <a:latin typeface="Times New Roman" pitchFamily="34" charset="0"/>
                <a:ea typeface="Times New Roman" pitchFamily="34" charset="-122"/>
                <a:cs typeface="Times New Roman" pitchFamily="34" charset="-120"/>
              </a:rPr>
              <a:t>Giảm 20–30% phát thải CO₂ mỗi đơn hàng, không cần đổi sang xe điện ngay.</a:t>
            </a:r>
            <a:endParaRPr lang="en-US" sz="1250" dirty="0"/>
          </a:p>
        </p:txBody>
      </p:sp>
      <p:sp>
        <p:nvSpPr>
          <p:cNvPr id="10" name="Shape 6"/>
          <p:cNvSpPr/>
          <p:nvPr/>
        </p:nvSpPr>
        <p:spPr>
          <a:xfrm>
            <a:off x="4315968" y="3657600"/>
            <a:ext cx="3429000" cy="2468880"/>
          </a:xfrm>
          <a:prstGeom prst="roundRect">
            <a:avLst>
              <a:gd name="adj" fmla="val 3704"/>
            </a:avLst>
          </a:prstGeom>
          <a:solidFill>
            <a:srgbClr val="FFFFFF"/>
          </a:solidFill>
          <a:ln w="12700">
            <a:solidFill>
              <a:srgbClr val="DEE8E1"/>
            </a:solidFill>
            <a:prstDash val="solid"/>
          </a:ln>
        </p:spPr>
      </p:sp>
      <p:sp>
        <p:nvSpPr>
          <p:cNvPr id="11" name="Shape 7"/>
          <p:cNvSpPr/>
          <p:nvPr/>
        </p:nvSpPr>
        <p:spPr>
          <a:xfrm>
            <a:off x="4572000" y="3913632"/>
            <a:ext cx="548640" cy="548640"/>
          </a:xfrm>
          <a:prstGeom prst="ellipse">
            <a:avLst/>
          </a:prstGeom>
          <a:solidFill>
            <a:srgbClr val="146B39"/>
          </a:solidFill>
          <a:ln/>
        </p:spPr>
      </p:sp>
      <p:pic>
        <p:nvPicPr>
          <p:cNvPr id="12" name="Image 1" descr="preencoded.png">    </p:cNvPr>
          <p:cNvPicPr>
            <a:picLocks noChangeAspect="1"/>
          </p:cNvPicPr>
          <p:nvPr/>
        </p:nvPicPr>
        <p:blipFill>
          <a:blip r:embed="rId2"/>
          <a:stretch>
            <a:fillRect/>
          </a:stretch>
        </p:blipFill>
        <p:spPr>
          <a:xfrm>
            <a:off x="4709160" y="4050792"/>
            <a:ext cx="274320" cy="274320"/>
          </a:xfrm>
          <a:prstGeom prst="rect">
            <a:avLst/>
          </a:prstGeom>
        </p:spPr>
      </p:pic>
      <p:sp>
        <p:nvSpPr>
          <p:cNvPr id="13" name="Text 8"/>
          <p:cNvSpPr txBox="1"/>
          <p:nvPr/>
        </p:nvSpPr>
        <p:spPr>
          <a:xfrm>
            <a:off x="4572000" y="4617720"/>
            <a:ext cx="2916936" cy="411480"/>
          </a:xfrm>
          <a:prstGeom prst="rect">
            <a:avLst/>
          </a:prstGeom>
          <a:noFill/>
          <a:ln/>
        </p:spPr>
        <p:txBody>
          <a:bodyPr wrap="square" lIns="0" tIns="0" rIns="0" bIns="0" rtlCol="0" anchor="ctr"/>
          <a:lstStyle/>
          <a:p>
            <a:pPr indent="0" marL="0">
              <a:buNone/>
            </a:pPr>
            <a:r>
              <a:rPr lang="en-US" sz="1550" b="1" dirty="0">
                <a:solidFill>
                  <a:srgbClr val="9C6B00"/>
                </a:solidFill>
                <a:latin typeface="Times New Roman" pitchFamily="34" charset="0"/>
                <a:ea typeface="Times New Roman" pitchFamily="34" charset="-122"/>
                <a:cs typeface="Times New Roman" pitchFamily="34" charset="-120"/>
              </a:rPr>
              <a:t>Người lao động</a:t>
            </a:r>
            <a:endParaRPr lang="en-US" sz="1550" dirty="0"/>
          </a:p>
        </p:txBody>
      </p:sp>
      <p:sp>
        <p:nvSpPr>
          <p:cNvPr id="14" name="Text 9"/>
          <p:cNvSpPr txBox="1"/>
          <p:nvPr/>
        </p:nvSpPr>
        <p:spPr>
          <a:xfrm>
            <a:off x="4572000" y="5047488"/>
            <a:ext cx="2916936" cy="1005840"/>
          </a:xfrm>
          <a:prstGeom prst="rect">
            <a:avLst/>
          </a:prstGeom>
          <a:noFill/>
          <a:ln/>
        </p:spPr>
        <p:txBody>
          <a:bodyPr wrap="square" lIns="0" tIns="0" rIns="0" bIns="0" rtlCol="0" anchor="ctr"/>
          <a:lstStyle/>
          <a:p>
            <a:pPr indent="0" marL="0">
              <a:lnSpc>
                <a:spcPts val="1600"/>
              </a:lnSpc>
              <a:buNone/>
            </a:pPr>
            <a:r>
              <a:rPr lang="en-US" sz="1250" dirty="0">
                <a:solidFill>
                  <a:srgbClr val="5B6B62"/>
                </a:solidFill>
                <a:latin typeface="Times New Roman" pitchFamily="34" charset="0"/>
                <a:ea typeface="Times New Roman" pitchFamily="34" charset="-122"/>
                <a:cs typeface="Times New Roman" pitchFamily="34" charset="-120"/>
              </a:rPr>
              <a:t>Giảm áp lực lịch trình cho tài xế, giảm ùn tắc đô thị.</a:t>
            </a:r>
            <a:endParaRPr lang="en-US" sz="1250" dirty="0"/>
          </a:p>
        </p:txBody>
      </p:sp>
      <p:sp>
        <p:nvSpPr>
          <p:cNvPr id="15" name="Shape 10"/>
          <p:cNvSpPr/>
          <p:nvPr/>
        </p:nvSpPr>
        <p:spPr>
          <a:xfrm>
            <a:off x="8037576" y="3657600"/>
            <a:ext cx="3429000" cy="2468880"/>
          </a:xfrm>
          <a:prstGeom prst="roundRect">
            <a:avLst>
              <a:gd name="adj" fmla="val 3704"/>
            </a:avLst>
          </a:prstGeom>
          <a:solidFill>
            <a:srgbClr val="FFFFFF"/>
          </a:solidFill>
          <a:ln w="12700">
            <a:solidFill>
              <a:srgbClr val="DEE8E1"/>
            </a:solidFill>
            <a:prstDash val="solid"/>
          </a:ln>
        </p:spPr>
      </p:sp>
      <p:sp>
        <p:nvSpPr>
          <p:cNvPr id="16" name="Shape 11"/>
          <p:cNvSpPr/>
          <p:nvPr/>
        </p:nvSpPr>
        <p:spPr>
          <a:xfrm>
            <a:off x="8293608" y="3913632"/>
            <a:ext cx="548640" cy="548640"/>
          </a:xfrm>
          <a:prstGeom prst="ellipse">
            <a:avLst/>
          </a:prstGeom>
          <a:solidFill>
            <a:srgbClr val="146B39"/>
          </a:solidFill>
          <a:ln/>
        </p:spPr>
      </p:sp>
      <p:pic>
        <p:nvPicPr>
          <p:cNvPr id="17" name="Image 2" descr="preencoded.png">    </p:cNvPr>
          <p:cNvPicPr>
            <a:picLocks noChangeAspect="1"/>
          </p:cNvPicPr>
          <p:nvPr/>
        </p:nvPicPr>
        <p:blipFill>
          <a:blip r:embed="rId3"/>
          <a:stretch>
            <a:fillRect/>
          </a:stretch>
        </p:blipFill>
        <p:spPr>
          <a:xfrm>
            <a:off x="8430768" y="4050792"/>
            <a:ext cx="274320" cy="274320"/>
          </a:xfrm>
          <a:prstGeom prst="rect">
            <a:avLst/>
          </a:prstGeom>
        </p:spPr>
      </p:pic>
      <p:sp>
        <p:nvSpPr>
          <p:cNvPr id="18" name="Text 12"/>
          <p:cNvSpPr txBox="1"/>
          <p:nvPr/>
        </p:nvSpPr>
        <p:spPr>
          <a:xfrm>
            <a:off x="8293608" y="4617720"/>
            <a:ext cx="2916936" cy="411480"/>
          </a:xfrm>
          <a:prstGeom prst="rect">
            <a:avLst/>
          </a:prstGeom>
          <a:noFill/>
          <a:ln/>
        </p:spPr>
        <p:txBody>
          <a:bodyPr wrap="square" lIns="0" tIns="0" rIns="0" bIns="0" rtlCol="0" anchor="ctr"/>
          <a:lstStyle/>
          <a:p>
            <a:pPr indent="0" marL="0">
              <a:buNone/>
            </a:pPr>
            <a:r>
              <a:rPr lang="en-US" sz="1550" b="1" dirty="0">
                <a:solidFill>
                  <a:srgbClr val="9C6B00"/>
                </a:solidFill>
                <a:latin typeface="Times New Roman" pitchFamily="34" charset="0"/>
                <a:ea typeface="Times New Roman" pitchFamily="34" charset="-122"/>
                <a:cs typeface="Times New Roman" pitchFamily="34" charset="-120"/>
              </a:rPr>
              <a:t>Doanh nghiệp &amp; xã hội</a:t>
            </a:r>
            <a:endParaRPr lang="en-US" sz="1550" dirty="0"/>
          </a:p>
        </p:txBody>
      </p:sp>
      <p:sp>
        <p:nvSpPr>
          <p:cNvPr id="19" name="Text 13"/>
          <p:cNvSpPr txBox="1"/>
          <p:nvPr/>
        </p:nvSpPr>
        <p:spPr>
          <a:xfrm>
            <a:off x="8293608" y="5047488"/>
            <a:ext cx="2916936" cy="1005840"/>
          </a:xfrm>
          <a:prstGeom prst="rect">
            <a:avLst/>
          </a:prstGeom>
          <a:noFill/>
          <a:ln/>
        </p:spPr>
        <p:txBody>
          <a:bodyPr wrap="square" lIns="0" tIns="0" rIns="0" bIns="0" rtlCol="0" anchor="ctr"/>
          <a:lstStyle/>
          <a:p>
            <a:pPr indent="0" marL="0">
              <a:lnSpc>
                <a:spcPts val="1600"/>
              </a:lnSpc>
              <a:buNone/>
            </a:pPr>
            <a:r>
              <a:rPr lang="en-US" sz="1250" dirty="0">
                <a:solidFill>
                  <a:srgbClr val="5B6B62"/>
                </a:solidFill>
                <a:latin typeface="Times New Roman" pitchFamily="34" charset="0"/>
                <a:ea typeface="Times New Roman" pitchFamily="34" charset="-122"/>
                <a:cs typeface="Times New Roman" pitchFamily="34" charset="-120"/>
              </a:rPr>
              <a:t>Giúp SME tiếp cận công nghệ, minh bạch dữ liệu phục vụ ESG.</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8FBF9"/>
        </a:solidFill>
      </p:bgPr>
    </p:bg>
    <p:spTree>
      <p:nvGrpSpPr>
        <p:cNvPr id="1" name=""/>
        <p:cNvGrpSpPr/>
        <p:nvPr/>
      </p:nvGrpSpPr>
      <p:grpSpPr>
        <a:xfrm>
          <a:off x="0" y="0"/>
          <a:ext cx="0" cy="0"/>
          <a:chOff x="0" y="0"/>
          <a:chExt cx="0" cy="0"/>
        </a:xfrm>
      </p:grpSpPr>
      <p:sp>
        <p:nvSpPr>
          <p:cNvPr id="3" name="Shape 0"/>
          <p:cNvSpPr/>
          <p:nvPr/>
        </p:nvSpPr>
        <p:spPr>
          <a:xfrm>
            <a:off x="5029200" y="1828800"/>
            <a:ext cx="590702" cy="590702"/>
          </a:xfrm>
          <a:prstGeom prst="ellipse">
            <a:avLst/>
          </a:prstGeom>
          <a:solidFill>
            <a:srgbClr val="146B39"/>
          </a:solidFill>
          <a:ln/>
        </p:spPr>
      </p:sp>
      <p:pic>
        <p:nvPicPr>
          <p:cNvPr id="4" name="Image 0" descr="preencoded.png">    </p:cNvPr>
          <p:cNvPicPr>
            <a:picLocks noChangeAspect="1"/>
          </p:cNvPicPr>
          <p:nvPr/>
        </p:nvPicPr>
        <p:blipFill>
          <a:blip r:embed="rId1"/>
          <a:stretch>
            <a:fillRect/>
          </a:stretch>
        </p:blipFill>
        <p:spPr>
          <a:xfrm>
            <a:off x="5147340" y="1946940"/>
            <a:ext cx="354421" cy="354421"/>
          </a:xfrm>
          <a:prstGeom prst="rect">
            <a:avLst/>
          </a:prstGeom>
        </p:spPr>
      </p:pic>
      <p:sp>
        <p:nvSpPr>
          <p:cNvPr id="5" name="Text 1"/>
          <p:cNvSpPr txBox="1"/>
          <p:nvPr/>
        </p:nvSpPr>
        <p:spPr>
          <a:xfrm>
            <a:off x="5729630" y="1776679"/>
            <a:ext cx="5212080" cy="590702"/>
          </a:xfrm>
          <a:prstGeom prst="rect">
            <a:avLst/>
          </a:prstGeom>
          <a:noFill/>
          <a:ln/>
        </p:spPr>
        <p:txBody>
          <a:bodyPr wrap="square" lIns="0" tIns="0" rIns="0" bIns="0" rtlCol="0" anchor="ctr"/>
          <a:lstStyle/>
          <a:p>
            <a:pPr indent="0" marL="0">
              <a:buNone/>
            </a:pPr>
            <a:r>
              <a:rPr lang="en-US" sz="2850" b="1" dirty="0">
                <a:solidFill>
                  <a:srgbClr val="16211C"/>
                </a:solidFill>
                <a:latin typeface="Times New Roman" pitchFamily="34" charset="0"/>
                <a:ea typeface="Times New Roman" pitchFamily="34" charset="-122"/>
                <a:cs typeface="Times New Roman" pitchFamily="34" charset="-120"/>
              </a:rPr>
              <a:t>GREEN</a:t>
            </a:r>
            <a:pPr indent="0" marL="0">
              <a:buNone/>
            </a:pPr>
            <a:r>
              <a:rPr lang="en-US" sz="2850" b="1" dirty="0">
                <a:solidFill>
                  <a:srgbClr val="1E7A46"/>
                </a:solidFill>
                <a:latin typeface="Times New Roman" pitchFamily="34" charset="0"/>
                <a:ea typeface="Times New Roman" pitchFamily="34" charset="-122"/>
                <a:cs typeface="Times New Roman" pitchFamily="34" charset="-120"/>
              </a:rPr>
              <a:t>LOGIX</a:t>
            </a:r>
            <a:endParaRPr lang="en-US" sz="2850" dirty="0"/>
          </a:p>
        </p:txBody>
      </p:sp>
      <p:sp>
        <p:nvSpPr>
          <p:cNvPr id="6" name="Text 2"/>
          <p:cNvSpPr txBox="1"/>
          <p:nvPr/>
        </p:nvSpPr>
        <p:spPr>
          <a:xfrm>
            <a:off x="1522476" y="2880360"/>
            <a:ext cx="9144000" cy="457200"/>
          </a:xfrm>
          <a:prstGeom prst="rect">
            <a:avLst/>
          </a:prstGeom>
          <a:noFill/>
          <a:ln/>
        </p:spPr>
        <p:txBody>
          <a:bodyPr wrap="square" lIns="0" tIns="0" rIns="0" bIns="0" rtlCol="0" anchor="ctr"/>
          <a:lstStyle/>
          <a:p>
            <a:pPr algn="ctr" indent="0" marL="0">
              <a:buNone/>
            </a:pPr>
            <a:r>
              <a:rPr lang="en-US" sz="1600" i="1" dirty="0">
                <a:solidFill>
                  <a:srgbClr val="5B6B62"/>
                </a:solidFill>
                <a:latin typeface="Times New Roman" pitchFamily="34" charset="0"/>
                <a:ea typeface="Times New Roman" pitchFamily="34" charset="-122"/>
                <a:cs typeface="Times New Roman" pitchFamily="34" charset="-120"/>
              </a:rPr>
              <a:t>Tối ưu vận chuyển · Tiết kiệm chi phí · Kiến tạo tương lai xanh</a:t>
            </a:r>
            <a:endParaRPr lang="en-US" sz="1600" dirty="0"/>
          </a:p>
        </p:txBody>
      </p:sp>
      <p:sp>
        <p:nvSpPr>
          <p:cNvPr id="7" name="Shape 3"/>
          <p:cNvSpPr/>
          <p:nvPr/>
        </p:nvSpPr>
        <p:spPr>
          <a:xfrm>
            <a:off x="4718304" y="3657600"/>
            <a:ext cx="2743200" cy="502920"/>
          </a:xfrm>
          <a:prstGeom prst="roundRect">
            <a:avLst>
              <a:gd name="adj" fmla="val 50909"/>
            </a:avLst>
          </a:prstGeom>
          <a:solidFill>
            <a:srgbClr val="EEF4EF"/>
          </a:solidFill>
          <a:ln w="12700">
            <a:solidFill>
              <a:srgbClr val="9C6B00"/>
            </a:solidFill>
            <a:prstDash val="solid"/>
          </a:ln>
        </p:spPr>
      </p:sp>
      <p:sp>
        <p:nvSpPr>
          <p:cNvPr id="8" name="Text 4"/>
          <p:cNvSpPr txBox="1"/>
          <p:nvPr/>
        </p:nvSpPr>
        <p:spPr>
          <a:xfrm>
            <a:off x="4718304" y="3657600"/>
            <a:ext cx="2743200" cy="502920"/>
          </a:xfrm>
          <a:prstGeom prst="rect">
            <a:avLst/>
          </a:prstGeom>
          <a:noFill/>
          <a:ln/>
        </p:spPr>
        <p:txBody>
          <a:bodyPr wrap="square" lIns="0" tIns="0" rIns="0" bIns="0" rtlCol="0" anchor="ctr"/>
          <a:lstStyle/>
          <a:p>
            <a:pPr algn="ctr" indent="0" marL="0">
              <a:buNone/>
            </a:pPr>
            <a:r>
              <a:rPr lang="en-US" sz="1400" b="1" dirty="0">
                <a:solidFill>
                  <a:srgbClr val="9C6B00"/>
                </a:solidFill>
                <a:latin typeface="Times New Roman" pitchFamily="34" charset="0"/>
                <a:ea typeface="Times New Roman" pitchFamily="34" charset="-122"/>
                <a:cs typeface="Times New Roman" pitchFamily="34" charset="-120"/>
              </a:rPr>
              <a:t>greenlogix.w9.nu</a:t>
            </a:r>
            <a:endParaRPr lang="en-US" sz="1400" dirty="0"/>
          </a:p>
        </p:txBody>
      </p:sp>
      <p:sp>
        <p:nvSpPr>
          <p:cNvPr id="9" name="Text 5"/>
          <p:cNvSpPr txBox="1"/>
          <p:nvPr/>
        </p:nvSpPr>
        <p:spPr>
          <a:xfrm>
            <a:off x="1522476" y="4572000"/>
            <a:ext cx="9144000" cy="457200"/>
          </a:xfrm>
          <a:prstGeom prst="rect">
            <a:avLst/>
          </a:prstGeom>
          <a:noFill/>
          <a:ln/>
        </p:spPr>
        <p:txBody>
          <a:bodyPr wrap="square" lIns="0" tIns="0" rIns="0" bIns="0" rtlCol="0" anchor="ctr"/>
          <a:lstStyle/>
          <a:p>
            <a:pPr algn="ctr" indent="0" marL="0">
              <a:buNone/>
            </a:pPr>
            <a:r>
              <a:rPr lang="en-US" sz="1400" dirty="0">
                <a:solidFill>
                  <a:srgbClr val="16211C"/>
                </a:solidFill>
                <a:latin typeface="Times New Roman" pitchFamily="34" charset="0"/>
                <a:ea typeface="Times New Roman" pitchFamily="34" charset="-122"/>
                <a:cs typeface="Times New Roman" pitchFamily="34" charset="-120"/>
              </a:rPr>
              <a:t>Cảm ơn bạn đã đồng hành cùng GreenLogix.</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2026-09-09T07:39:36Z</dcterms:created>
  <dcterms:modified xsi:type="dcterms:W3CDTF">2026-09-09T07:39:36Z</dcterms:modified>
</cp:coreProperties>
</file>