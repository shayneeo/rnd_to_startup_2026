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Montserrat Bold" charset="1" panose="00000800000000000000"/>
      <p:regular r:id="rId18"/>
    </p:embeddedFont>
    <p:embeddedFont>
      <p:font typeface="Inter Ultra-Bold" charset="1" panose="02000503000000020004"/>
      <p:regular r:id="rId19"/>
    </p:embeddedFont>
    <p:embeddedFont>
      <p:font typeface="Montserrat Medium" charset="1" panose="00000600000000000000"/>
      <p:regular r:id="rId20"/>
    </p:embeddedFont>
    <p:embeddedFont>
      <p:font typeface="Montserrat Italics" charset="1" panose="00000500000000000000"/>
      <p:regular r:id="rId21"/>
    </p:embeddedFont>
    <p:embeddedFont>
      <p:font typeface="Montserrat" charset="1" panose="00000500000000000000"/>
      <p:regular r:id="rId22"/>
    </p:embeddedFont>
    <p:embeddedFont>
      <p:font typeface="Montserrat Bold Italics" charset="1" panose="00000800000000000000"/>
      <p:regular r:id="rId23"/>
    </p:embeddedFont>
    <p:embeddedFont>
      <p:font typeface="Montserrat Light" charset="1" panose="00000400000000000000"/>
      <p:regular r:id="rId24"/>
    </p:embeddedFont>
    <p:embeddedFont>
      <p:font typeface="Montserrat Light Italics" charset="1" panose="00000400000000000000"/>
      <p:regular r:id="rId25"/>
    </p:embeddedFont>
    <p:embeddedFont>
      <p:font typeface="Montserrat Heavy Italics" charset="1" panose="00000A00000000000000"/>
      <p:regular r:id="rId26"/>
    </p:embeddedFont>
    <p:embeddedFont>
      <p:font typeface="Montserrat Semi-Bold Italics" charset="1" panose="00000700000000000000"/>
      <p:regular r:id="rId27"/>
    </p:embeddedFont>
    <p:embeddedFont>
      <p:font typeface="Montserrat Heavy" charset="1" panose="00000A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25.png" Type="http://schemas.openxmlformats.org/officeDocument/2006/relationships/image"/><Relationship Id="rId19" Target="../media/image26.svg" Type="http://schemas.openxmlformats.org/officeDocument/2006/relationships/image"/><Relationship Id="rId2" Target="../media/image9.png" Type="http://schemas.openxmlformats.org/officeDocument/2006/relationships/image"/><Relationship Id="rId20" Target="../media/image27.png" Type="http://schemas.openxmlformats.org/officeDocument/2006/relationships/image"/><Relationship Id="rId21" Target="../media/image28.svg" Type="http://schemas.openxmlformats.org/officeDocument/2006/relationships/image"/><Relationship Id="rId22" Target="../media/image29.png" Type="http://schemas.openxmlformats.org/officeDocument/2006/relationships/image"/><Relationship Id="rId23" Target="../media/image30.svg" Type="http://schemas.openxmlformats.org/officeDocument/2006/relationships/image"/><Relationship Id="rId24" Target="../media/image31.png" Type="http://schemas.openxmlformats.org/officeDocument/2006/relationships/image"/><Relationship Id="rId25" Target="../media/image32.svg" Type="http://schemas.openxmlformats.org/officeDocument/2006/relationships/image"/><Relationship Id="rId26" Target="../media/image33.png" Type="http://schemas.openxmlformats.org/officeDocument/2006/relationships/image"/><Relationship Id="rId27" Target="../media/image34.svg" Type="http://schemas.openxmlformats.org/officeDocument/2006/relationships/image"/><Relationship Id="rId28" Target="../media/image35.png" Type="http://schemas.openxmlformats.org/officeDocument/2006/relationships/image"/><Relationship Id="rId29" Target="../media/image36.svg" Type="http://schemas.openxmlformats.org/officeDocument/2006/relationships/image"/><Relationship Id="rId3" Target="../media/image10.png" Type="http://schemas.openxmlformats.org/officeDocument/2006/relationships/image"/><Relationship Id="rId30" Target="../media/image37.png" Type="http://schemas.openxmlformats.org/officeDocument/2006/relationships/image"/><Relationship Id="rId31" Target="../media/image38.svg" Type="http://schemas.openxmlformats.org/officeDocument/2006/relationships/image"/><Relationship Id="rId32" Target="../media/image39.png" Type="http://schemas.openxmlformats.org/officeDocument/2006/relationships/image"/><Relationship Id="rId33" Target="../media/image40.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4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11" Target="../media/image52.svg" Type="http://schemas.openxmlformats.org/officeDocument/2006/relationships/image"/><Relationship Id="rId12" Target="../media/image53.pn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 Id="rId9" Target="../media/image5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55.png" Type="http://schemas.openxmlformats.org/officeDocument/2006/relationships/image"/><Relationship Id="rId12" Target="../media/image56.pn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45.png" Type="http://schemas.openxmlformats.org/officeDocument/2006/relationships/image"/><Relationship Id="rId5" Target="../media/image54.pn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50.png" Type="http://schemas.openxmlformats.org/officeDocument/2006/relationships/image"/><Relationship Id="rId9" Target="../media/image5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11" Target="../media/image52.sv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45.png" Type="http://schemas.openxmlformats.org/officeDocument/2006/relationships/image"/><Relationship Id="rId5" Target="../media/image47.pn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 Id="rId9" Target="../media/image6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11" Target="../media/image66.svg" Type="http://schemas.openxmlformats.org/officeDocument/2006/relationships/image"/><Relationship Id="rId12" Target="../media/image67.png" Type="http://schemas.openxmlformats.org/officeDocument/2006/relationships/image"/><Relationship Id="rId13" Target="../media/image68.png" Type="http://schemas.openxmlformats.org/officeDocument/2006/relationships/image"/><Relationship Id="rId14" Target="../media/image69.png" Type="http://schemas.openxmlformats.org/officeDocument/2006/relationships/image"/><Relationship Id="rId15" Target="../media/image70.sv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45.png" Type="http://schemas.openxmlformats.org/officeDocument/2006/relationships/image"/><Relationship Id="rId5" Target="../media/image47.pn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 Id="rId8" Target="../media/image63.png" Type="http://schemas.openxmlformats.org/officeDocument/2006/relationships/image"/><Relationship Id="rId9" Target="../media/image6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45.png" Type="http://schemas.openxmlformats.org/officeDocument/2006/relationships/image"/><Relationship Id="rId5" Target="../media/image47.png" Type="http://schemas.openxmlformats.org/officeDocument/2006/relationships/image"/><Relationship Id="rId6" Target="../media/image7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45.png" Type="http://schemas.openxmlformats.org/officeDocument/2006/relationships/image"/><Relationship Id="rId5" Target="../media/image4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svg" Type="http://schemas.openxmlformats.org/officeDocument/2006/relationships/image"/><Relationship Id="rId11" Target="../media/image75.png" Type="http://schemas.openxmlformats.org/officeDocument/2006/relationships/image"/><Relationship Id="rId12" Target="../media/image76.png" Type="http://schemas.openxmlformats.org/officeDocument/2006/relationships/image"/><Relationship Id="rId13" Target="../media/image77.png" Type="http://schemas.openxmlformats.org/officeDocument/2006/relationships/image"/><Relationship Id="rId14" Target="../media/image78.png" Type="http://schemas.openxmlformats.org/officeDocument/2006/relationships/image"/><Relationship Id="rId15" Target="../media/image79.pn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45.png" Type="http://schemas.openxmlformats.org/officeDocument/2006/relationships/image"/><Relationship Id="rId5" Target="../media/image47.pn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72.png" Type="http://schemas.openxmlformats.org/officeDocument/2006/relationships/image"/><Relationship Id="rId9" Target="../media/image7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3.pn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2" Target="../media/image9.png" Type="http://schemas.openxmlformats.org/officeDocument/2006/relationships/image"/><Relationship Id="rId3" Target="../media/image10.png" Type="http://schemas.openxmlformats.org/officeDocument/2006/relationships/image"/><Relationship Id="rId4" Target="../media/image47.pn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80.png" Type="http://schemas.openxmlformats.org/officeDocument/2006/relationships/image"/><Relationship Id="rId8" Target="../media/image81.png" Type="http://schemas.openxmlformats.org/officeDocument/2006/relationships/image"/><Relationship Id="rId9" Target="../media/image8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4.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3CA6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9571800"/>
          </a:xfrm>
          <a:custGeom>
            <a:avLst/>
            <a:gdLst/>
            <a:ahLst/>
            <a:cxnLst/>
            <a:rect r="r" b="b" t="t" l="l"/>
            <a:pathLst>
              <a:path h="9571800" w="18288000">
                <a:moveTo>
                  <a:pt x="0" y="0"/>
                </a:moveTo>
                <a:lnTo>
                  <a:pt x="18288000" y="0"/>
                </a:lnTo>
                <a:lnTo>
                  <a:pt x="18288000" y="9571800"/>
                </a:lnTo>
                <a:lnTo>
                  <a:pt x="0" y="9571800"/>
                </a:lnTo>
                <a:lnTo>
                  <a:pt x="0" y="0"/>
                </a:lnTo>
                <a:close/>
              </a:path>
            </a:pathLst>
          </a:custGeom>
          <a:blipFill>
            <a:blip r:embed="rId2"/>
            <a:stretch>
              <a:fillRect l="0" t="-153" r="0" b="-153"/>
            </a:stretch>
          </a:blipFill>
        </p:spPr>
      </p:sp>
      <p:sp>
        <p:nvSpPr>
          <p:cNvPr name="Freeform 3" id="3"/>
          <p:cNvSpPr/>
          <p:nvPr/>
        </p:nvSpPr>
        <p:spPr>
          <a:xfrm flipH="false" flipV="false" rot="0">
            <a:off x="1233419" y="715200"/>
            <a:ext cx="243876" cy="347773"/>
          </a:xfrm>
          <a:custGeom>
            <a:avLst/>
            <a:gdLst/>
            <a:ahLst/>
            <a:cxnLst/>
            <a:rect r="r" b="b" t="t" l="l"/>
            <a:pathLst>
              <a:path h="347773" w="243876">
                <a:moveTo>
                  <a:pt x="0" y="0"/>
                </a:moveTo>
                <a:lnTo>
                  <a:pt x="243876" y="0"/>
                </a:lnTo>
                <a:lnTo>
                  <a:pt x="243876" y="347772"/>
                </a:lnTo>
                <a:lnTo>
                  <a:pt x="0" y="347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074199" y="449020"/>
            <a:ext cx="532359" cy="532359"/>
          </a:xfrm>
          <a:custGeom>
            <a:avLst/>
            <a:gdLst/>
            <a:ahLst/>
            <a:cxnLst/>
            <a:rect r="r" b="b" t="t" l="l"/>
            <a:pathLst>
              <a:path h="532359" w="532359">
                <a:moveTo>
                  <a:pt x="0" y="0"/>
                </a:moveTo>
                <a:lnTo>
                  <a:pt x="532358" y="0"/>
                </a:lnTo>
                <a:lnTo>
                  <a:pt x="532358" y="532359"/>
                </a:lnTo>
                <a:lnTo>
                  <a:pt x="0" y="532359"/>
                </a:lnTo>
                <a:lnTo>
                  <a:pt x="0" y="0"/>
                </a:lnTo>
                <a:close/>
              </a:path>
            </a:pathLst>
          </a:custGeom>
          <a:blipFill>
            <a:blip r:embed="rId5"/>
            <a:stretch>
              <a:fillRect l="0" t="0" r="0" b="0"/>
            </a:stretch>
          </a:blipFill>
        </p:spPr>
      </p:sp>
      <p:sp>
        <p:nvSpPr>
          <p:cNvPr name="Freeform 5" id="5"/>
          <p:cNvSpPr/>
          <p:nvPr/>
        </p:nvSpPr>
        <p:spPr>
          <a:xfrm flipH="false" flipV="false" rot="0">
            <a:off x="16726941" y="449020"/>
            <a:ext cx="532359" cy="532359"/>
          </a:xfrm>
          <a:custGeom>
            <a:avLst/>
            <a:gdLst/>
            <a:ahLst/>
            <a:cxnLst/>
            <a:rect r="r" b="b" t="t" l="l"/>
            <a:pathLst>
              <a:path h="532359" w="532359">
                <a:moveTo>
                  <a:pt x="0" y="0"/>
                </a:moveTo>
                <a:lnTo>
                  <a:pt x="532359" y="0"/>
                </a:lnTo>
                <a:lnTo>
                  <a:pt x="532359" y="532359"/>
                </a:lnTo>
                <a:lnTo>
                  <a:pt x="0" y="532359"/>
                </a:lnTo>
                <a:lnTo>
                  <a:pt x="0" y="0"/>
                </a:lnTo>
                <a:close/>
              </a:path>
            </a:pathLst>
          </a:custGeom>
          <a:blipFill>
            <a:blip r:embed="rId6"/>
            <a:stretch>
              <a:fillRect l="0" t="0" r="0" b="0"/>
            </a:stretch>
          </a:blipFill>
        </p:spPr>
      </p:sp>
      <p:sp>
        <p:nvSpPr>
          <p:cNvPr name="AutoShape 6" id="6"/>
          <p:cNvSpPr/>
          <p:nvPr/>
        </p:nvSpPr>
        <p:spPr>
          <a:xfrm>
            <a:off x="1028700" y="1072497"/>
            <a:ext cx="16230600" cy="0"/>
          </a:xfrm>
          <a:prstGeom prst="line">
            <a:avLst/>
          </a:prstGeom>
          <a:ln cap="flat" w="19050">
            <a:solidFill>
              <a:srgbClr val="1136BF">
                <a:alpha val="49804"/>
              </a:srgbClr>
            </a:solidFill>
            <a:prstDash val="solid"/>
            <a:headEnd type="none" len="sm" w="sm"/>
            <a:tailEnd type="none" len="sm" w="sm"/>
          </a:ln>
        </p:spPr>
      </p:sp>
      <p:sp>
        <p:nvSpPr>
          <p:cNvPr name="Freeform 7" id="7"/>
          <p:cNvSpPr/>
          <p:nvPr/>
        </p:nvSpPr>
        <p:spPr>
          <a:xfrm flipH="false" flipV="false" rot="0">
            <a:off x="5844145" y="4262276"/>
            <a:ext cx="4349366" cy="5751228"/>
          </a:xfrm>
          <a:custGeom>
            <a:avLst/>
            <a:gdLst/>
            <a:ahLst/>
            <a:cxnLst/>
            <a:rect r="r" b="b" t="t" l="l"/>
            <a:pathLst>
              <a:path h="5751228" w="4349366">
                <a:moveTo>
                  <a:pt x="0" y="0"/>
                </a:moveTo>
                <a:lnTo>
                  <a:pt x="4349367" y="0"/>
                </a:lnTo>
                <a:lnTo>
                  <a:pt x="4349367" y="5751229"/>
                </a:lnTo>
                <a:lnTo>
                  <a:pt x="0" y="5751229"/>
                </a:lnTo>
                <a:lnTo>
                  <a:pt x="0" y="0"/>
                </a:lnTo>
                <a:close/>
              </a:path>
            </a:pathLst>
          </a:custGeom>
          <a:blipFill>
            <a:blip r:embed="rId7"/>
            <a:stretch>
              <a:fillRect l="0" t="0" r="0" b="0"/>
            </a:stretch>
          </a:blipFill>
        </p:spPr>
      </p:sp>
      <p:sp>
        <p:nvSpPr>
          <p:cNvPr name="Freeform 8" id="8"/>
          <p:cNvSpPr/>
          <p:nvPr/>
        </p:nvSpPr>
        <p:spPr>
          <a:xfrm flipH="false" flipV="false" rot="891536">
            <a:off x="16749687" y="1652196"/>
            <a:ext cx="1755579" cy="1345213"/>
          </a:xfrm>
          <a:custGeom>
            <a:avLst/>
            <a:gdLst/>
            <a:ahLst/>
            <a:cxnLst/>
            <a:rect r="r" b="b" t="t" l="l"/>
            <a:pathLst>
              <a:path h="1345213" w="1755579">
                <a:moveTo>
                  <a:pt x="0" y="0"/>
                </a:moveTo>
                <a:lnTo>
                  <a:pt x="1755580" y="0"/>
                </a:lnTo>
                <a:lnTo>
                  <a:pt x="1755580" y="1345212"/>
                </a:lnTo>
                <a:lnTo>
                  <a:pt x="0" y="1345212"/>
                </a:lnTo>
                <a:lnTo>
                  <a:pt x="0" y="0"/>
                </a:lnTo>
                <a:close/>
              </a:path>
            </a:pathLst>
          </a:custGeom>
          <a:blipFill>
            <a:blip r:embed="rId8"/>
            <a:stretch>
              <a:fillRect l="0" t="0" r="0" b="0"/>
            </a:stretch>
          </a:blipFill>
        </p:spPr>
      </p:sp>
      <p:sp>
        <p:nvSpPr>
          <p:cNvPr name="Freeform 9" id="9"/>
          <p:cNvSpPr/>
          <p:nvPr/>
        </p:nvSpPr>
        <p:spPr>
          <a:xfrm flipH="false" flipV="false" rot="0">
            <a:off x="15140894" y="271643"/>
            <a:ext cx="933305" cy="933305"/>
          </a:xfrm>
          <a:custGeom>
            <a:avLst/>
            <a:gdLst/>
            <a:ahLst/>
            <a:cxnLst/>
            <a:rect r="r" b="b" t="t" l="l"/>
            <a:pathLst>
              <a:path h="933305" w="933305">
                <a:moveTo>
                  <a:pt x="0" y="0"/>
                </a:moveTo>
                <a:lnTo>
                  <a:pt x="933305" y="0"/>
                </a:lnTo>
                <a:lnTo>
                  <a:pt x="933305" y="933305"/>
                </a:lnTo>
                <a:lnTo>
                  <a:pt x="0" y="933305"/>
                </a:lnTo>
                <a:lnTo>
                  <a:pt x="0" y="0"/>
                </a:lnTo>
                <a:close/>
              </a:path>
            </a:pathLst>
          </a:custGeom>
          <a:blipFill>
            <a:blip r:embed="rId9"/>
            <a:stretch>
              <a:fillRect l="0" t="0" r="0" b="0"/>
            </a:stretch>
          </a:blipFill>
        </p:spPr>
      </p:sp>
      <p:grpSp>
        <p:nvGrpSpPr>
          <p:cNvPr name="Group 10" id="10"/>
          <p:cNvGrpSpPr/>
          <p:nvPr/>
        </p:nvGrpSpPr>
        <p:grpSpPr>
          <a:xfrm rot="0">
            <a:off x="12342252" y="2134340"/>
            <a:ext cx="3086100" cy="635999"/>
            <a:chOff x="0" y="0"/>
            <a:chExt cx="812800" cy="167506"/>
          </a:xfrm>
        </p:grpSpPr>
        <p:sp>
          <p:nvSpPr>
            <p:cNvPr name="Freeform 11" id="11"/>
            <p:cNvSpPr/>
            <p:nvPr/>
          </p:nvSpPr>
          <p:spPr>
            <a:xfrm flipH="false" flipV="false" rot="0">
              <a:off x="0" y="0"/>
              <a:ext cx="812800" cy="167506"/>
            </a:xfrm>
            <a:custGeom>
              <a:avLst/>
              <a:gdLst/>
              <a:ahLst/>
              <a:cxnLst/>
              <a:rect r="r" b="b" t="t" l="l"/>
              <a:pathLst>
                <a:path h="167506" w="812800">
                  <a:moveTo>
                    <a:pt x="83753" y="0"/>
                  </a:moveTo>
                  <a:lnTo>
                    <a:pt x="729047" y="0"/>
                  </a:lnTo>
                  <a:cubicBezTo>
                    <a:pt x="775303" y="0"/>
                    <a:pt x="812800" y="37497"/>
                    <a:pt x="812800" y="83753"/>
                  </a:cubicBezTo>
                  <a:lnTo>
                    <a:pt x="812800" y="83753"/>
                  </a:lnTo>
                  <a:cubicBezTo>
                    <a:pt x="812800" y="105966"/>
                    <a:pt x="803976" y="127269"/>
                    <a:pt x="788269" y="142975"/>
                  </a:cubicBezTo>
                  <a:cubicBezTo>
                    <a:pt x="772563" y="158682"/>
                    <a:pt x="751260" y="167506"/>
                    <a:pt x="729047" y="167506"/>
                  </a:cubicBezTo>
                  <a:lnTo>
                    <a:pt x="83753" y="167506"/>
                  </a:lnTo>
                  <a:cubicBezTo>
                    <a:pt x="37497" y="167506"/>
                    <a:pt x="0" y="130009"/>
                    <a:pt x="0" y="83753"/>
                  </a:cubicBezTo>
                  <a:lnTo>
                    <a:pt x="0" y="83753"/>
                  </a:lnTo>
                  <a:cubicBezTo>
                    <a:pt x="0" y="37497"/>
                    <a:pt x="37497" y="0"/>
                    <a:pt x="83753" y="0"/>
                  </a:cubicBezTo>
                  <a:close/>
                </a:path>
              </a:pathLst>
            </a:custGeom>
            <a:ln w="38100" cap="rnd">
              <a:gradFill>
                <a:gsLst>
                  <a:gs pos="0">
                    <a:srgbClr val="1136BF">
                      <a:alpha val="100000"/>
                    </a:srgbClr>
                  </a:gs>
                  <a:gs pos="100000">
                    <a:srgbClr val="FF5AE3">
                      <a:alpha val="0"/>
                    </a:srgbClr>
                  </a:gs>
                </a:gsLst>
                <a:lin ang="5400000"/>
              </a:gradFill>
              <a:prstDash val="solid"/>
              <a:round/>
            </a:ln>
          </p:spPr>
        </p:sp>
        <p:sp>
          <p:nvSpPr>
            <p:cNvPr name="TextBox 12" id="12"/>
            <p:cNvSpPr txBox="true"/>
            <p:nvPr/>
          </p:nvSpPr>
          <p:spPr>
            <a:xfrm>
              <a:off x="0" y="-104775"/>
              <a:ext cx="812800" cy="272281"/>
            </a:xfrm>
            <a:prstGeom prst="rect">
              <a:avLst/>
            </a:prstGeom>
          </p:spPr>
          <p:txBody>
            <a:bodyPr anchor="ctr" rtlCol="false" tIns="50800" lIns="50800" bIns="50800" rIns="50800"/>
            <a:lstStyle/>
            <a:p>
              <a:pPr algn="ctr">
                <a:lnSpc>
                  <a:spcPts val="3528"/>
                </a:lnSpc>
              </a:pPr>
            </a:p>
          </p:txBody>
        </p:sp>
      </p:grpSp>
      <p:sp>
        <p:nvSpPr>
          <p:cNvPr name="TextBox 13" id="13"/>
          <p:cNvSpPr txBox="true"/>
          <p:nvPr/>
        </p:nvSpPr>
        <p:spPr>
          <a:xfrm rot="0">
            <a:off x="12540400" y="2369812"/>
            <a:ext cx="2689805" cy="269831"/>
          </a:xfrm>
          <a:prstGeom prst="rect">
            <a:avLst/>
          </a:prstGeom>
        </p:spPr>
        <p:txBody>
          <a:bodyPr anchor="t" rtlCol="false" tIns="0" lIns="0" bIns="0" rIns="0">
            <a:spAutoFit/>
          </a:bodyPr>
          <a:lstStyle/>
          <a:p>
            <a:pPr algn="l" marL="0" indent="0" lvl="0">
              <a:lnSpc>
                <a:spcPts val="1999"/>
              </a:lnSpc>
              <a:spcBef>
                <a:spcPct val="0"/>
              </a:spcBef>
            </a:pPr>
            <a:r>
              <a:rPr lang="en-US" b="true" sz="2499">
                <a:solidFill>
                  <a:srgbClr val="000000"/>
                </a:solidFill>
                <a:latin typeface="Montserrat Bold"/>
                <a:ea typeface="Montserrat Bold"/>
                <a:cs typeface="Montserrat Bold"/>
                <a:sym typeface="Montserrat Bold"/>
              </a:rPr>
              <a:t> ĐỀ THI VÒNG 2</a:t>
            </a:r>
          </a:p>
        </p:txBody>
      </p:sp>
      <p:grpSp>
        <p:nvGrpSpPr>
          <p:cNvPr name="Group 14" id="14"/>
          <p:cNvGrpSpPr/>
          <p:nvPr/>
        </p:nvGrpSpPr>
        <p:grpSpPr>
          <a:xfrm rot="0">
            <a:off x="0" y="9571800"/>
            <a:ext cx="2681663" cy="715200"/>
            <a:chOff x="0" y="0"/>
            <a:chExt cx="706282" cy="188365"/>
          </a:xfrm>
        </p:grpSpPr>
        <p:sp>
          <p:nvSpPr>
            <p:cNvPr name="Freeform 15" id="15"/>
            <p:cNvSpPr/>
            <p:nvPr/>
          </p:nvSpPr>
          <p:spPr>
            <a:xfrm flipH="false" flipV="false" rot="0">
              <a:off x="0" y="0"/>
              <a:ext cx="706282" cy="188365"/>
            </a:xfrm>
            <a:custGeom>
              <a:avLst/>
              <a:gdLst/>
              <a:ahLst/>
              <a:cxnLst/>
              <a:rect r="r" b="b" t="t" l="l"/>
              <a:pathLst>
                <a:path h="188365" w="706282">
                  <a:moveTo>
                    <a:pt x="0" y="0"/>
                  </a:moveTo>
                  <a:lnTo>
                    <a:pt x="706282" y="0"/>
                  </a:lnTo>
                  <a:lnTo>
                    <a:pt x="706282" y="188365"/>
                  </a:lnTo>
                  <a:lnTo>
                    <a:pt x="0" y="188365"/>
                  </a:lnTo>
                  <a:close/>
                </a:path>
              </a:pathLst>
            </a:custGeom>
            <a:solidFill>
              <a:srgbClr val="1136BF"/>
            </a:solidFill>
          </p:spPr>
        </p:sp>
        <p:sp>
          <p:nvSpPr>
            <p:cNvPr name="TextBox 16" id="16"/>
            <p:cNvSpPr txBox="true"/>
            <p:nvPr/>
          </p:nvSpPr>
          <p:spPr>
            <a:xfrm>
              <a:off x="0" y="-104775"/>
              <a:ext cx="706282" cy="293140"/>
            </a:xfrm>
            <a:prstGeom prst="rect">
              <a:avLst/>
            </a:prstGeom>
          </p:spPr>
          <p:txBody>
            <a:bodyPr anchor="ctr" rtlCol="false" tIns="50800" lIns="50800" bIns="50800" rIns="50800"/>
            <a:lstStyle/>
            <a:p>
              <a:pPr algn="ctr">
                <a:lnSpc>
                  <a:spcPts val="3528"/>
                </a:lnSpc>
              </a:pPr>
            </a:p>
          </p:txBody>
        </p:sp>
      </p:grpSp>
      <p:sp>
        <p:nvSpPr>
          <p:cNvPr name="AutoShape 17" id="17"/>
          <p:cNvSpPr/>
          <p:nvPr/>
        </p:nvSpPr>
        <p:spPr>
          <a:xfrm flipV="true">
            <a:off x="12626219" y="7161703"/>
            <a:ext cx="179083" cy="0"/>
          </a:xfrm>
          <a:prstGeom prst="line">
            <a:avLst/>
          </a:prstGeom>
          <a:ln cap="flat" w="47625">
            <a:gradFill>
              <a:gsLst>
                <a:gs pos="0">
                  <a:srgbClr val="5F89FF">
                    <a:alpha val="100000"/>
                  </a:srgbClr>
                </a:gs>
                <a:gs pos="100000">
                  <a:srgbClr val="FFFFFF">
                    <a:alpha val="18500"/>
                  </a:srgbClr>
                </a:gs>
              </a:gsLst>
              <a:lin ang="2700000"/>
            </a:gradFill>
            <a:prstDash val="solid"/>
            <a:headEnd type="none" len="sm" w="sm"/>
            <a:tailEnd type="none" len="sm" w="sm"/>
          </a:ln>
        </p:spPr>
      </p:sp>
      <p:sp>
        <p:nvSpPr>
          <p:cNvPr name="AutoShape 18" id="18"/>
          <p:cNvSpPr/>
          <p:nvPr/>
        </p:nvSpPr>
        <p:spPr>
          <a:xfrm flipV="true">
            <a:off x="15194311" y="7137891"/>
            <a:ext cx="179083" cy="0"/>
          </a:xfrm>
          <a:prstGeom prst="line">
            <a:avLst/>
          </a:prstGeom>
          <a:ln cap="flat" w="47625">
            <a:gradFill>
              <a:gsLst>
                <a:gs pos="0">
                  <a:srgbClr val="5F89FF">
                    <a:alpha val="100000"/>
                  </a:srgbClr>
                </a:gs>
                <a:gs pos="100000">
                  <a:srgbClr val="FFFFFF">
                    <a:alpha val="18500"/>
                  </a:srgbClr>
                </a:gs>
              </a:gsLst>
              <a:lin ang="2700000"/>
            </a:gradFill>
            <a:prstDash val="solid"/>
            <a:headEnd type="none" len="sm" w="sm"/>
            <a:tailEnd type="none" len="sm" w="sm"/>
          </a:ln>
        </p:spPr>
      </p:sp>
      <p:sp>
        <p:nvSpPr>
          <p:cNvPr name="TextBox 19" id="19"/>
          <p:cNvSpPr txBox="true"/>
          <p:nvPr/>
        </p:nvSpPr>
        <p:spPr>
          <a:xfrm rot="0">
            <a:off x="1028700" y="663705"/>
            <a:ext cx="3305927" cy="225381"/>
          </a:xfrm>
          <a:prstGeom prst="rect">
            <a:avLst/>
          </a:prstGeom>
        </p:spPr>
        <p:txBody>
          <a:bodyPr anchor="t" rtlCol="false" tIns="0" lIns="0" bIns="0" rIns="0">
            <a:spAutoFit/>
          </a:bodyPr>
          <a:lstStyle/>
          <a:p>
            <a:pPr algn="l" marL="0" indent="0" lvl="0">
              <a:lnSpc>
                <a:spcPts val="1600"/>
              </a:lnSpc>
              <a:spcBef>
                <a:spcPct val="0"/>
              </a:spcBef>
            </a:pPr>
            <a:r>
              <a:rPr lang="en-US" b="true" sz="2000">
                <a:solidFill>
                  <a:srgbClr val="F3740B"/>
                </a:solidFill>
                <a:latin typeface="Montserrat Bold"/>
                <a:ea typeface="Montserrat Bold"/>
                <a:cs typeface="Montserrat Bold"/>
                <a:sym typeface="Montserrat Bold"/>
              </a:rPr>
              <a:t>Team: DataMine</a:t>
            </a:r>
          </a:p>
        </p:txBody>
      </p:sp>
      <p:sp>
        <p:nvSpPr>
          <p:cNvPr name="TextBox 20" id="20"/>
          <p:cNvSpPr txBox="true"/>
          <p:nvPr/>
        </p:nvSpPr>
        <p:spPr>
          <a:xfrm rot="0">
            <a:off x="9779714" y="3071791"/>
            <a:ext cx="8211175" cy="3318422"/>
          </a:xfrm>
          <a:prstGeom prst="rect">
            <a:avLst/>
          </a:prstGeom>
        </p:spPr>
        <p:txBody>
          <a:bodyPr anchor="t" rtlCol="false" tIns="0" lIns="0" bIns="0" rIns="0">
            <a:spAutoFit/>
          </a:bodyPr>
          <a:lstStyle/>
          <a:p>
            <a:pPr algn="ctr" marL="0" indent="0" lvl="0">
              <a:lnSpc>
                <a:spcPts val="6600"/>
              </a:lnSpc>
            </a:pPr>
            <a:r>
              <a:rPr lang="en-US" b="true" sz="4400" spc="13">
                <a:solidFill>
                  <a:srgbClr val="F3740B"/>
                </a:solidFill>
                <a:latin typeface="Inter Ultra-Bold"/>
                <a:ea typeface="Inter Ultra-Bold"/>
                <a:cs typeface="Inter Ultra-Bold"/>
                <a:sym typeface="Inter Ultra-Bold"/>
              </a:rPr>
              <a:t>‘’ĐÁNH GIÁ CHẤT LƯỢNG NGƯỜI DÙNG MỚI (NPU) TỪ CÁC CHIẾN DỊCH KHUYẾN MÃI CỦA ZALOPAY’ </a:t>
            </a:r>
          </a:p>
        </p:txBody>
      </p:sp>
      <p:sp>
        <p:nvSpPr>
          <p:cNvPr name="TextBox 21" id="21"/>
          <p:cNvSpPr txBox="true"/>
          <p:nvPr/>
        </p:nvSpPr>
        <p:spPr>
          <a:xfrm rot="0">
            <a:off x="12912686" y="7055341"/>
            <a:ext cx="2112378" cy="269875"/>
          </a:xfrm>
          <a:prstGeom prst="rect">
            <a:avLst/>
          </a:prstGeom>
        </p:spPr>
        <p:txBody>
          <a:bodyPr anchor="t" rtlCol="false" tIns="0" lIns="0" bIns="0" rIns="0">
            <a:spAutoFit/>
          </a:bodyPr>
          <a:lstStyle/>
          <a:p>
            <a:pPr algn="l" marL="0" indent="0" lvl="0">
              <a:lnSpc>
                <a:spcPts val="1999"/>
              </a:lnSpc>
              <a:spcBef>
                <a:spcPct val="0"/>
              </a:spcBef>
            </a:pPr>
            <a:r>
              <a:rPr lang="en-US" b="true" sz="2499">
                <a:solidFill>
                  <a:srgbClr val="000000"/>
                </a:solidFill>
                <a:latin typeface="Montserrat Bold"/>
                <a:ea typeface="Montserrat Bold"/>
                <a:cs typeface="Montserrat Bold"/>
                <a:sym typeface="Montserrat Bold"/>
              </a:rPr>
              <a:t>THÀNH VIÊN</a:t>
            </a:r>
          </a:p>
        </p:txBody>
      </p:sp>
      <p:grpSp>
        <p:nvGrpSpPr>
          <p:cNvPr name="Group 22" id="22"/>
          <p:cNvGrpSpPr/>
          <p:nvPr/>
        </p:nvGrpSpPr>
        <p:grpSpPr>
          <a:xfrm rot="0">
            <a:off x="10717975" y="7572865"/>
            <a:ext cx="3086100" cy="460311"/>
            <a:chOff x="0" y="0"/>
            <a:chExt cx="4114800" cy="613748"/>
          </a:xfrm>
        </p:grpSpPr>
        <p:grpSp>
          <p:nvGrpSpPr>
            <p:cNvPr name="Group 23" id="23"/>
            <p:cNvGrpSpPr/>
            <p:nvPr/>
          </p:nvGrpSpPr>
          <p:grpSpPr>
            <a:xfrm rot="0">
              <a:off x="0" y="0"/>
              <a:ext cx="4114800" cy="613748"/>
              <a:chOff x="0" y="0"/>
              <a:chExt cx="812800" cy="121234"/>
            </a:xfrm>
          </p:grpSpPr>
          <p:sp>
            <p:nvSpPr>
              <p:cNvPr name="Freeform 24" id="24"/>
              <p:cNvSpPr/>
              <p:nvPr/>
            </p:nvSpPr>
            <p:spPr>
              <a:xfrm flipH="false" flipV="false" rot="0">
                <a:off x="0" y="0"/>
                <a:ext cx="812800" cy="121234"/>
              </a:xfrm>
              <a:custGeom>
                <a:avLst/>
                <a:gdLst/>
                <a:ahLst/>
                <a:cxnLst/>
                <a:rect r="r" b="b" t="t" l="l"/>
                <a:pathLst>
                  <a:path h="121234" w="812800">
                    <a:moveTo>
                      <a:pt x="60617" y="0"/>
                    </a:moveTo>
                    <a:lnTo>
                      <a:pt x="752183" y="0"/>
                    </a:lnTo>
                    <a:cubicBezTo>
                      <a:pt x="768260" y="0"/>
                      <a:pt x="783678" y="6386"/>
                      <a:pt x="795046" y="17754"/>
                    </a:cubicBezTo>
                    <a:cubicBezTo>
                      <a:pt x="806414" y="29122"/>
                      <a:pt x="812800" y="44540"/>
                      <a:pt x="812800" y="60617"/>
                    </a:cubicBezTo>
                    <a:lnTo>
                      <a:pt x="812800" y="60617"/>
                    </a:lnTo>
                    <a:cubicBezTo>
                      <a:pt x="812800" y="76694"/>
                      <a:pt x="806414" y="92112"/>
                      <a:pt x="795046" y="103480"/>
                    </a:cubicBezTo>
                    <a:cubicBezTo>
                      <a:pt x="783678" y="114848"/>
                      <a:pt x="768260" y="121234"/>
                      <a:pt x="752183" y="121234"/>
                    </a:cubicBezTo>
                    <a:lnTo>
                      <a:pt x="60617" y="121234"/>
                    </a:lnTo>
                    <a:cubicBezTo>
                      <a:pt x="44540" y="121234"/>
                      <a:pt x="29122" y="114848"/>
                      <a:pt x="17754" y="103480"/>
                    </a:cubicBezTo>
                    <a:cubicBezTo>
                      <a:pt x="6386" y="92112"/>
                      <a:pt x="0" y="76694"/>
                      <a:pt x="0" y="60617"/>
                    </a:cubicBezTo>
                    <a:lnTo>
                      <a:pt x="0" y="60617"/>
                    </a:lnTo>
                    <a:cubicBezTo>
                      <a:pt x="0" y="44540"/>
                      <a:pt x="6386" y="29122"/>
                      <a:pt x="17754" y="17754"/>
                    </a:cubicBezTo>
                    <a:cubicBezTo>
                      <a:pt x="29122" y="6386"/>
                      <a:pt x="44540" y="0"/>
                      <a:pt x="60617" y="0"/>
                    </a:cubicBezTo>
                    <a:close/>
                  </a:path>
                </a:pathLst>
              </a:custGeom>
              <a:ln w="19050" cap="rnd">
                <a:gradFill>
                  <a:gsLst>
                    <a:gs pos="0">
                      <a:srgbClr val="5F89FF">
                        <a:alpha val="100000"/>
                      </a:srgbClr>
                    </a:gs>
                    <a:gs pos="100000">
                      <a:srgbClr val="FFFFFF">
                        <a:alpha val="18500"/>
                      </a:srgbClr>
                    </a:gs>
                  </a:gsLst>
                  <a:lin ang="5400000"/>
                </a:gradFill>
                <a:prstDash val="solid"/>
                <a:round/>
              </a:ln>
            </p:spPr>
          </p:sp>
          <p:sp>
            <p:nvSpPr>
              <p:cNvPr name="TextBox 25" id="25"/>
              <p:cNvSpPr txBox="true"/>
              <p:nvPr/>
            </p:nvSpPr>
            <p:spPr>
              <a:xfrm>
                <a:off x="0" y="28575"/>
                <a:ext cx="812800" cy="92659"/>
              </a:xfrm>
              <a:prstGeom prst="rect">
                <a:avLst/>
              </a:prstGeom>
            </p:spPr>
            <p:txBody>
              <a:bodyPr anchor="ctr" rtlCol="false" tIns="50800" lIns="50800" bIns="50800" rIns="50800"/>
              <a:lstStyle/>
              <a:p>
                <a:pPr algn="ctr">
                  <a:lnSpc>
                    <a:spcPts val="2000"/>
                  </a:lnSpc>
                </a:pPr>
              </a:p>
            </p:txBody>
          </p:sp>
        </p:grpSp>
        <p:sp>
          <p:nvSpPr>
            <p:cNvPr name="TextBox 26" id="26"/>
            <p:cNvSpPr txBox="true"/>
            <p:nvPr/>
          </p:nvSpPr>
          <p:spPr>
            <a:xfrm rot="0">
              <a:off x="504714" y="161883"/>
              <a:ext cx="3105372" cy="394758"/>
            </a:xfrm>
            <a:prstGeom prst="rect">
              <a:avLst/>
            </a:prstGeom>
          </p:spPr>
          <p:txBody>
            <a:bodyPr anchor="t" rtlCol="false" tIns="0" lIns="0" bIns="0" rIns="0">
              <a:spAutoFit/>
            </a:bodyPr>
            <a:lstStyle/>
            <a:p>
              <a:pPr algn="l" marL="0" indent="0" lvl="0">
                <a:lnSpc>
                  <a:spcPts val="1999"/>
                </a:lnSpc>
                <a:spcBef>
                  <a:spcPct val="0"/>
                </a:spcBef>
              </a:pPr>
              <a:r>
                <a:rPr lang="en-US" b="true" sz="2499">
                  <a:solidFill>
                    <a:srgbClr val="000000"/>
                  </a:solidFill>
                  <a:latin typeface="Montserrat Medium"/>
                  <a:ea typeface="Montserrat Medium"/>
                  <a:cs typeface="Montserrat Medium"/>
                  <a:sym typeface="Montserrat Medium"/>
                </a:rPr>
                <a:t>Phan Gia Viên</a:t>
              </a:r>
            </a:p>
          </p:txBody>
        </p:sp>
      </p:grpSp>
      <p:grpSp>
        <p:nvGrpSpPr>
          <p:cNvPr name="Group 27" id="27"/>
          <p:cNvGrpSpPr/>
          <p:nvPr/>
        </p:nvGrpSpPr>
        <p:grpSpPr>
          <a:xfrm rot="0">
            <a:off x="14170057" y="7572865"/>
            <a:ext cx="3627670" cy="460311"/>
            <a:chOff x="0" y="0"/>
            <a:chExt cx="4836894" cy="613748"/>
          </a:xfrm>
        </p:grpSpPr>
        <p:grpSp>
          <p:nvGrpSpPr>
            <p:cNvPr name="Group 28" id="28"/>
            <p:cNvGrpSpPr/>
            <p:nvPr/>
          </p:nvGrpSpPr>
          <p:grpSpPr>
            <a:xfrm rot="0">
              <a:off x="0" y="0"/>
              <a:ext cx="4836894" cy="613748"/>
              <a:chOff x="0" y="0"/>
              <a:chExt cx="955436" cy="121234"/>
            </a:xfrm>
          </p:grpSpPr>
          <p:sp>
            <p:nvSpPr>
              <p:cNvPr name="Freeform 29" id="29"/>
              <p:cNvSpPr/>
              <p:nvPr/>
            </p:nvSpPr>
            <p:spPr>
              <a:xfrm flipH="false" flipV="false" rot="0">
                <a:off x="0" y="0"/>
                <a:ext cx="955436" cy="121234"/>
              </a:xfrm>
              <a:custGeom>
                <a:avLst/>
                <a:gdLst/>
                <a:ahLst/>
                <a:cxnLst/>
                <a:rect r="r" b="b" t="t" l="l"/>
                <a:pathLst>
                  <a:path h="121234" w="955436">
                    <a:moveTo>
                      <a:pt x="60617" y="0"/>
                    </a:moveTo>
                    <a:lnTo>
                      <a:pt x="894819" y="0"/>
                    </a:lnTo>
                    <a:cubicBezTo>
                      <a:pt x="928297" y="0"/>
                      <a:pt x="955436" y="27139"/>
                      <a:pt x="955436" y="60617"/>
                    </a:cubicBezTo>
                    <a:lnTo>
                      <a:pt x="955436" y="60617"/>
                    </a:lnTo>
                    <a:cubicBezTo>
                      <a:pt x="955436" y="76694"/>
                      <a:pt x="949049" y="92112"/>
                      <a:pt x="937681" y="103480"/>
                    </a:cubicBezTo>
                    <a:cubicBezTo>
                      <a:pt x="926314" y="114848"/>
                      <a:pt x="910895" y="121234"/>
                      <a:pt x="894819" y="121234"/>
                    </a:cubicBezTo>
                    <a:lnTo>
                      <a:pt x="60617" y="121234"/>
                    </a:lnTo>
                    <a:cubicBezTo>
                      <a:pt x="44540" y="121234"/>
                      <a:pt x="29122" y="114848"/>
                      <a:pt x="17754" y="103480"/>
                    </a:cubicBezTo>
                    <a:cubicBezTo>
                      <a:pt x="6386" y="92112"/>
                      <a:pt x="0" y="76694"/>
                      <a:pt x="0" y="60617"/>
                    </a:cubicBezTo>
                    <a:lnTo>
                      <a:pt x="0" y="60617"/>
                    </a:lnTo>
                    <a:cubicBezTo>
                      <a:pt x="0" y="44540"/>
                      <a:pt x="6386" y="29122"/>
                      <a:pt x="17754" y="17754"/>
                    </a:cubicBezTo>
                    <a:cubicBezTo>
                      <a:pt x="29122" y="6386"/>
                      <a:pt x="44540" y="0"/>
                      <a:pt x="60617" y="0"/>
                    </a:cubicBezTo>
                    <a:close/>
                  </a:path>
                </a:pathLst>
              </a:custGeom>
              <a:ln w="19050" cap="rnd">
                <a:gradFill>
                  <a:gsLst>
                    <a:gs pos="0">
                      <a:srgbClr val="5F89FF">
                        <a:alpha val="100000"/>
                      </a:srgbClr>
                    </a:gs>
                    <a:gs pos="100000">
                      <a:srgbClr val="FFFFFF">
                        <a:alpha val="18500"/>
                      </a:srgbClr>
                    </a:gs>
                  </a:gsLst>
                  <a:lin ang="5400000"/>
                </a:gradFill>
                <a:prstDash val="solid"/>
                <a:round/>
              </a:ln>
            </p:spPr>
          </p:sp>
          <p:sp>
            <p:nvSpPr>
              <p:cNvPr name="TextBox 30" id="30"/>
              <p:cNvSpPr txBox="true"/>
              <p:nvPr/>
            </p:nvSpPr>
            <p:spPr>
              <a:xfrm>
                <a:off x="0" y="38100"/>
                <a:ext cx="955436" cy="83134"/>
              </a:xfrm>
              <a:prstGeom prst="rect">
                <a:avLst/>
              </a:prstGeom>
            </p:spPr>
            <p:txBody>
              <a:bodyPr anchor="ctr" rtlCol="false" tIns="50800" lIns="50800" bIns="50800" rIns="50800"/>
              <a:lstStyle/>
              <a:p>
                <a:pPr algn="ctr">
                  <a:lnSpc>
                    <a:spcPts val="2000"/>
                  </a:lnSpc>
                </a:pPr>
              </a:p>
            </p:txBody>
          </p:sp>
        </p:grpSp>
        <p:sp>
          <p:nvSpPr>
            <p:cNvPr name="TextBox 31" id="31"/>
            <p:cNvSpPr txBox="true"/>
            <p:nvPr/>
          </p:nvSpPr>
          <p:spPr>
            <a:xfrm rot="0">
              <a:off x="373424" y="161883"/>
              <a:ext cx="4090045" cy="394758"/>
            </a:xfrm>
            <a:prstGeom prst="rect">
              <a:avLst/>
            </a:prstGeom>
          </p:spPr>
          <p:txBody>
            <a:bodyPr anchor="t" rtlCol="false" tIns="0" lIns="0" bIns="0" rIns="0">
              <a:spAutoFit/>
            </a:bodyPr>
            <a:lstStyle/>
            <a:p>
              <a:pPr algn="l" marL="0" indent="0" lvl="0">
                <a:lnSpc>
                  <a:spcPts val="1999"/>
                </a:lnSpc>
                <a:spcBef>
                  <a:spcPct val="0"/>
                </a:spcBef>
              </a:pPr>
              <a:r>
                <a:rPr lang="en-US" b="true" sz="2499">
                  <a:solidFill>
                    <a:srgbClr val="000000"/>
                  </a:solidFill>
                  <a:latin typeface="Montserrat Medium"/>
                  <a:ea typeface="Montserrat Medium"/>
                  <a:cs typeface="Montserrat Medium"/>
                  <a:sym typeface="Montserrat Medium"/>
                </a:rPr>
                <a:t>Phạm Quốc Thanh</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339473"/>
            <a:chOff x="0" y="0"/>
            <a:chExt cx="4816593" cy="2723153"/>
          </a:xfrm>
        </p:grpSpPr>
        <p:sp>
          <p:nvSpPr>
            <p:cNvPr name="Freeform 4" id="4"/>
            <p:cNvSpPr/>
            <p:nvPr/>
          </p:nvSpPr>
          <p:spPr>
            <a:xfrm flipH="false" flipV="false" rot="0">
              <a:off x="0" y="0"/>
              <a:ext cx="4816592" cy="2723153"/>
            </a:xfrm>
            <a:custGeom>
              <a:avLst/>
              <a:gdLst/>
              <a:ahLst/>
              <a:cxnLst/>
              <a:rect r="r" b="b" t="t" l="l"/>
              <a:pathLst>
                <a:path h="2723153" w="4816592">
                  <a:moveTo>
                    <a:pt x="0" y="0"/>
                  </a:moveTo>
                  <a:lnTo>
                    <a:pt x="4816592" y="0"/>
                  </a:lnTo>
                  <a:lnTo>
                    <a:pt x="4816592" y="2723153"/>
                  </a:lnTo>
                  <a:lnTo>
                    <a:pt x="0" y="2723153"/>
                  </a:lnTo>
                  <a:close/>
                </a:path>
              </a:pathLst>
            </a:custGeom>
            <a:solidFill>
              <a:srgbClr val="0A0A0A"/>
            </a:solidFill>
          </p:spPr>
        </p:sp>
        <p:sp>
          <p:nvSpPr>
            <p:cNvPr name="TextBox 5" id="5"/>
            <p:cNvSpPr txBox="true"/>
            <p:nvPr/>
          </p:nvSpPr>
          <p:spPr>
            <a:xfrm>
              <a:off x="0" y="-104775"/>
              <a:ext cx="4816593" cy="282792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2367903" y="-2469839"/>
            <a:ext cx="10134542" cy="11905421"/>
          </a:xfrm>
          <a:custGeom>
            <a:avLst/>
            <a:gdLst/>
            <a:ahLst/>
            <a:cxnLst/>
            <a:rect r="r" b="b" t="t" l="l"/>
            <a:pathLst>
              <a:path h="11905421" w="10134542">
                <a:moveTo>
                  <a:pt x="0" y="11905421"/>
                </a:moveTo>
                <a:lnTo>
                  <a:pt x="10134542" y="11905421"/>
                </a:lnTo>
                <a:lnTo>
                  <a:pt x="10134542" y="0"/>
                </a:lnTo>
                <a:lnTo>
                  <a:pt x="0" y="0"/>
                </a:lnTo>
                <a:lnTo>
                  <a:pt x="0" y="11905421"/>
                </a:lnTo>
                <a:close/>
              </a:path>
            </a:pathLst>
          </a:custGeom>
          <a:blipFill>
            <a:blip r:embed="rId3">
              <a:alphaModFix amt="37000"/>
            </a:blip>
            <a:stretch>
              <a:fillRect l="-43157" t="0" r="-761" b="0"/>
            </a:stretch>
          </a:blipFill>
        </p:spPr>
      </p:sp>
      <p:grpSp>
        <p:nvGrpSpPr>
          <p:cNvPr name="Group 7" id="7"/>
          <p:cNvGrpSpPr/>
          <p:nvPr/>
        </p:nvGrpSpPr>
        <p:grpSpPr>
          <a:xfrm rot="0">
            <a:off x="5982324" y="1585138"/>
            <a:ext cx="11740790" cy="5334348"/>
            <a:chOff x="0" y="0"/>
            <a:chExt cx="3792126" cy="1722927"/>
          </a:xfrm>
        </p:grpSpPr>
        <p:sp>
          <p:nvSpPr>
            <p:cNvPr name="Freeform 8" id="8"/>
            <p:cNvSpPr/>
            <p:nvPr/>
          </p:nvSpPr>
          <p:spPr>
            <a:xfrm flipH="false" flipV="false" rot="0">
              <a:off x="0" y="0"/>
              <a:ext cx="3792126" cy="1722927"/>
            </a:xfrm>
            <a:custGeom>
              <a:avLst/>
              <a:gdLst/>
              <a:ahLst/>
              <a:cxnLst/>
              <a:rect r="r" b="b" t="t" l="l"/>
              <a:pathLst>
                <a:path h="1722927" w="3792126">
                  <a:moveTo>
                    <a:pt x="22420" y="0"/>
                  </a:moveTo>
                  <a:lnTo>
                    <a:pt x="3769706" y="0"/>
                  </a:lnTo>
                  <a:cubicBezTo>
                    <a:pt x="3782088" y="0"/>
                    <a:pt x="3792126" y="10038"/>
                    <a:pt x="3792126" y="22420"/>
                  </a:cubicBezTo>
                  <a:lnTo>
                    <a:pt x="3792126" y="1700507"/>
                  </a:lnTo>
                  <a:cubicBezTo>
                    <a:pt x="3792126" y="1712889"/>
                    <a:pt x="3782088" y="1722927"/>
                    <a:pt x="3769706" y="1722927"/>
                  </a:cubicBezTo>
                  <a:lnTo>
                    <a:pt x="22420" y="1722927"/>
                  </a:lnTo>
                  <a:cubicBezTo>
                    <a:pt x="16474" y="1722927"/>
                    <a:pt x="10771" y="1720565"/>
                    <a:pt x="6567" y="1716360"/>
                  </a:cubicBezTo>
                  <a:cubicBezTo>
                    <a:pt x="2362" y="1712156"/>
                    <a:pt x="0" y="1706453"/>
                    <a:pt x="0" y="1700507"/>
                  </a:cubicBezTo>
                  <a:lnTo>
                    <a:pt x="0" y="22420"/>
                  </a:lnTo>
                  <a:cubicBezTo>
                    <a:pt x="0" y="16474"/>
                    <a:pt x="2362" y="10771"/>
                    <a:pt x="6567" y="6567"/>
                  </a:cubicBezTo>
                  <a:cubicBezTo>
                    <a:pt x="10771" y="2362"/>
                    <a:pt x="16474" y="0"/>
                    <a:pt x="22420" y="0"/>
                  </a:cubicBezTo>
                  <a:close/>
                </a:path>
              </a:pathLst>
            </a:custGeom>
            <a:ln w="38100" cap="rnd">
              <a:gradFill>
                <a:gsLst>
                  <a:gs pos="0">
                    <a:srgbClr val="5F89FF">
                      <a:alpha val="68000"/>
                    </a:srgbClr>
                  </a:gs>
                  <a:gs pos="100000">
                    <a:srgbClr val="FFFFFF">
                      <a:alpha val="12580"/>
                    </a:srgbClr>
                  </a:gs>
                </a:gsLst>
                <a:lin ang="5400000"/>
              </a:gradFill>
              <a:prstDash val="solid"/>
              <a:round/>
            </a:ln>
          </p:spPr>
        </p:sp>
        <p:sp>
          <p:nvSpPr>
            <p:cNvPr name="TextBox 9" id="9"/>
            <p:cNvSpPr txBox="true"/>
            <p:nvPr/>
          </p:nvSpPr>
          <p:spPr>
            <a:xfrm>
              <a:off x="0" y="28575"/>
              <a:ext cx="3792126" cy="1694352"/>
            </a:xfrm>
            <a:prstGeom prst="rect">
              <a:avLst/>
            </a:prstGeom>
          </p:spPr>
          <p:txBody>
            <a:bodyPr anchor="ctr" rtlCol="false" tIns="50800" lIns="50800" bIns="50800" rIns="50800"/>
            <a:lstStyle/>
            <a:p>
              <a:pPr algn="ctr">
                <a:lnSpc>
                  <a:spcPts val="2000"/>
                </a:lnSpc>
              </a:pPr>
            </a:p>
          </p:txBody>
        </p:sp>
      </p:grpSp>
      <p:sp>
        <p:nvSpPr>
          <p:cNvPr name="TextBox 10" id="10"/>
          <p:cNvSpPr txBox="true"/>
          <p:nvPr/>
        </p:nvSpPr>
        <p:spPr>
          <a:xfrm rot="0">
            <a:off x="2991162" y="765988"/>
            <a:ext cx="17723114" cy="638175"/>
          </a:xfrm>
          <a:prstGeom prst="rect">
            <a:avLst/>
          </a:prstGeom>
        </p:spPr>
        <p:txBody>
          <a:bodyPr anchor="t" rtlCol="false" tIns="0" lIns="0" bIns="0" rIns="0">
            <a:spAutoFit/>
          </a:bodyPr>
          <a:lstStyle/>
          <a:p>
            <a:pPr algn="ctr" marL="0" indent="0" lvl="0">
              <a:lnSpc>
                <a:spcPts val="5250"/>
              </a:lnSpc>
            </a:pPr>
            <a:r>
              <a:rPr lang="en-US" b="true" sz="3500" spc="10">
                <a:solidFill>
                  <a:srgbClr val="2BBBED"/>
                </a:solidFill>
                <a:latin typeface="Montserrat Bold"/>
                <a:ea typeface="Montserrat Bold"/>
                <a:cs typeface="Montserrat Bold"/>
                <a:sym typeface="Montserrat Bold"/>
              </a:rPr>
              <a:t>TIỀN XỬ LÝ DỮ LIỆU</a:t>
            </a:r>
          </a:p>
        </p:txBody>
      </p:sp>
      <p:sp>
        <p:nvSpPr>
          <p:cNvPr name="Freeform 11" id="11"/>
          <p:cNvSpPr/>
          <p:nvPr/>
        </p:nvSpPr>
        <p:spPr>
          <a:xfrm flipH="false" flipV="false" rot="632977">
            <a:off x="16522292" y="8571489"/>
            <a:ext cx="1825763" cy="1614491"/>
          </a:xfrm>
          <a:custGeom>
            <a:avLst/>
            <a:gdLst/>
            <a:ahLst/>
            <a:cxnLst/>
            <a:rect r="r" b="b" t="t" l="l"/>
            <a:pathLst>
              <a:path h="1614491" w="1825763">
                <a:moveTo>
                  <a:pt x="0" y="0"/>
                </a:moveTo>
                <a:lnTo>
                  <a:pt x="1825763" y="0"/>
                </a:lnTo>
                <a:lnTo>
                  <a:pt x="1825763" y="1614492"/>
                </a:lnTo>
                <a:lnTo>
                  <a:pt x="0" y="1614492"/>
                </a:lnTo>
                <a:lnTo>
                  <a:pt x="0" y="0"/>
                </a:lnTo>
                <a:close/>
              </a:path>
            </a:pathLst>
          </a:custGeom>
          <a:blipFill>
            <a:blip r:embed="rId4"/>
            <a:stretch>
              <a:fillRect l="0" t="0" r="0" b="0"/>
            </a:stretch>
          </a:blipFill>
        </p:spPr>
      </p:sp>
      <p:sp>
        <p:nvSpPr>
          <p:cNvPr name="Freeform 12" id="12"/>
          <p:cNvSpPr/>
          <p:nvPr/>
        </p:nvSpPr>
        <p:spPr>
          <a:xfrm flipH="false" flipV="false" rot="0">
            <a:off x="16231324" y="434505"/>
            <a:ext cx="1718221" cy="1688310"/>
          </a:xfrm>
          <a:custGeom>
            <a:avLst/>
            <a:gdLst/>
            <a:ahLst/>
            <a:cxnLst/>
            <a:rect r="r" b="b" t="t" l="l"/>
            <a:pathLst>
              <a:path h="1688310" w="1718221">
                <a:moveTo>
                  <a:pt x="0" y="0"/>
                </a:moveTo>
                <a:lnTo>
                  <a:pt x="1718221" y="0"/>
                </a:lnTo>
                <a:lnTo>
                  <a:pt x="1718221" y="1688310"/>
                </a:lnTo>
                <a:lnTo>
                  <a:pt x="0" y="1688310"/>
                </a:lnTo>
                <a:lnTo>
                  <a:pt x="0" y="0"/>
                </a:lnTo>
                <a:close/>
              </a:path>
            </a:pathLst>
          </a:custGeom>
          <a:blipFill>
            <a:blip r:embed="rId5"/>
            <a:stretch>
              <a:fillRect l="0" t="0" r="0" b="0"/>
            </a:stretch>
          </a:blipFill>
        </p:spPr>
      </p:sp>
      <p:grpSp>
        <p:nvGrpSpPr>
          <p:cNvPr name="Group 13" id="13"/>
          <p:cNvGrpSpPr/>
          <p:nvPr/>
        </p:nvGrpSpPr>
        <p:grpSpPr>
          <a:xfrm rot="0">
            <a:off x="625282" y="1028700"/>
            <a:ext cx="5033192" cy="3945979"/>
            <a:chOff x="0" y="0"/>
            <a:chExt cx="6710923" cy="5261306"/>
          </a:xfrm>
        </p:grpSpPr>
        <p:grpSp>
          <p:nvGrpSpPr>
            <p:cNvPr name="Group 14" id="14"/>
            <p:cNvGrpSpPr/>
            <p:nvPr/>
          </p:nvGrpSpPr>
          <p:grpSpPr>
            <a:xfrm rot="0">
              <a:off x="0" y="0"/>
              <a:ext cx="6710923" cy="5261306"/>
              <a:chOff x="0" y="0"/>
              <a:chExt cx="1625657" cy="1274501"/>
            </a:xfrm>
          </p:grpSpPr>
          <p:sp>
            <p:nvSpPr>
              <p:cNvPr name="Freeform 15" id="15"/>
              <p:cNvSpPr/>
              <p:nvPr/>
            </p:nvSpPr>
            <p:spPr>
              <a:xfrm flipH="false" flipV="false" rot="0">
                <a:off x="0" y="0"/>
                <a:ext cx="1625657" cy="1274501"/>
              </a:xfrm>
              <a:custGeom>
                <a:avLst/>
                <a:gdLst/>
                <a:ahLst/>
                <a:cxnLst/>
                <a:rect r="r" b="b" t="t" l="l"/>
                <a:pathLst>
                  <a:path h="1274501" w="1625657">
                    <a:moveTo>
                      <a:pt x="52298" y="0"/>
                    </a:moveTo>
                    <a:lnTo>
                      <a:pt x="1573359" y="0"/>
                    </a:lnTo>
                    <a:cubicBezTo>
                      <a:pt x="1587229" y="0"/>
                      <a:pt x="1600532" y="5510"/>
                      <a:pt x="1610339" y="15318"/>
                    </a:cubicBezTo>
                    <a:cubicBezTo>
                      <a:pt x="1620147" y="25125"/>
                      <a:pt x="1625657" y="38428"/>
                      <a:pt x="1625657" y="52298"/>
                    </a:cubicBezTo>
                    <a:lnTo>
                      <a:pt x="1625657" y="1222203"/>
                    </a:lnTo>
                    <a:cubicBezTo>
                      <a:pt x="1625657" y="1236074"/>
                      <a:pt x="1620147" y="1249376"/>
                      <a:pt x="1610339" y="1259184"/>
                    </a:cubicBezTo>
                    <a:cubicBezTo>
                      <a:pt x="1600532" y="1268991"/>
                      <a:pt x="1587229" y="1274501"/>
                      <a:pt x="1573359" y="1274501"/>
                    </a:cubicBezTo>
                    <a:lnTo>
                      <a:pt x="52298" y="1274501"/>
                    </a:lnTo>
                    <a:cubicBezTo>
                      <a:pt x="38428" y="1274501"/>
                      <a:pt x="25125" y="1268991"/>
                      <a:pt x="15318" y="1259184"/>
                    </a:cubicBezTo>
                    <a:cubicBezTo>
                      <a:pt x="5510" y="1249376"/>
                      <a:pt x="0" y="1236074"/>
                      <a:pt x="0" y="1222203"/>
                    </a:cubicBezTo>
                    <a:lnTo>
                      <a:pt x="0" y="52298"/>
                    </a:lnTo>
                    <a:cubicBezTo>
                      <a:pt x="0" y="38428"/>
                      <a:pt x="5510" y="25125"/>
                      <a:pt x="15318" y="15318"/>
                    </a:cubicBezTo>
                    <a:cubicBezTo>
                      <a:pt x="25125" y="5510"/>
                      <a:pt x="38428" y="0"/>
                      <a:pt x="52298" y="0"/>
                    </a:cubicBezTo>
                    <a:close/>
                  </a:path>
                </a:pathLst>
              </a:custGeom>
              <a:ln w="38100" cap="rnd">
                <a:gradFill>
                  <a:gsLst>
                    <a:gs pos="0">
                      <a:srgbClr val="5F89FF">
                        <a:alpha val="68000"/>
                      </a:srgbClr>
                    </a:gs>
                    <a:gs pos="100000">
                      <a:srgbClr val="FFFFFF">
                        <a:alpha val="12580"/>
                      </a:srgbClr>
                    </a:gs>
                  </a:gsLst>
                  <a:lin ang="5400000"/>
                </a:gradFill>
                <a:prstDash val="solid"/>
                <a:round/>
              </a:ln>
            </p:spPr>
          </p:sp>
          <p:sp>
            <p:nvSpPr>
              <p:cNvPr name="TextBox 16" id="16"/>
              <p:cNvSpPr txBox="true"/>
              <p:nvPr/>
            </p:nvSpPr>
            <p:spPr>
              <a:xfrm>
                <a:off x="0" y="28575"/>
                <a:ext cx="1625657" cy="1245926"/>
              </a:xfrm>
              <a:prstGeom prst="rect">
                <a:avLst/>
              </a:prstGeom>
            </p:spPr>
            <p:txBody>
              <a:bodyPr anchor="ctr" rtlCol="false" tIns="50800" lIns="50800" bIns="50800" rIns="50800"/>
              <a:lstStyle/>
              <a:p>
                <a:pPr algn="ctr">
                  <a:lnSpc>
                    <a:spcPts val="2000"/>
                  </a:lnSpc>
                </a:pPr>
              </a:p>
            </p:txBody>
          </p:sp>
        </p:grpSp>
        <p:grpSp>
          <p:nvGrpSpPr>
            <p:cNvPr name="Group 17" id="17"/>
            <p:cNvGrpSpPr/>
            <p:nvPr/>
          </p:nvGrpSpPr>
          <p:grpSpPr>
            <a:xfrm rot="0">
              <a:off x="280535" y="939771"/>
              <a:ext cx="6149852" cy="1177377"/>
              <a:chOff x="0" y="0"/>
              <a:chExt cx="1489743" cy="285208"/>
            </a:xfrm>
          </p:grpSpPr>
          <p:sp>
            <p:nvSpPr>
              <p:cNvPr name="Freeform 18" id="18"/>
              <p:cNvSpPr/>
              <p:nvPr/>
            </p:nvSpPr>
            <p:spPr>
              <a:xfrm flipH="false" flipV="false" rot="0">
                <a:off x="0" y="0"/>
                <a:ext cx="1489743" cy="285208"/>
              </a:xfrm>
              <a:custGeom>
                <a:avLst/>
                <a:gdLst/>
                <a:ahLst/>
                <a:cxnLst/>
                <a:rect r="r" b="b" t="t" l="l"/>
                <a:pathLst>
                  <a:path h="285208" w="1489743">
                    <a:moveTo>
                      <a:pt x="25178" y="0"/>
                    </a:moveTo>
                    <a:lnTo>
                      <a:pt x="1464566" y="0"/>
                    </a:lnTo>
                    <a:cubicBezTo>
                      <a:pt x="1471243" y="0"/>
                      <a:pt x="1477647" y="2653"/>
                      <a:pt x="1482369" y="7374"/>
                    </a:cubicBezTo>
                    <a:cubicBezTo>
                      <a:pt x="1487090" y="12096"/>
                      <a:pt x="1489743" y="18500"/>
                      <a:pt x="1489743" y="25178"/>
                    </a:cubicBezTo>
                    <a:lnTo>
                      <a:pt x="1489743" y="260031"/>
                    </a:lnTo>
                    <a:cubicBezTo>
                      <a:pt x="1489743" y="273936"/>
                      <a:pt x="1478471" y="285208"/>
                      <a:pt x="1464566" y="285208"/>
                    </a:cubicBezTo>
                    <a:lnTo>
                      <a:pt x="25178" y="285208"/>
                    </a:lnTo>
                    <a:cubicBezTo>
                      <a:pt x="11272" y="285208"/>
                      <a:pt x="0" y="273936"/>
                      <a:pt x="0" y="260031"/>
                    </a:cubicBezTo>
                    <a:lnTo>
                      <a:pt x="0" y="25178"/>
                    </a:lnTo>
                    <a:cubicBezTo>
                      <a:pt x="0" y="11272"/>
                      <a:pt x="11272" y="0"/>
                      <a:pt x="25178" y="0"/>
                    </a:cubicBezTo>
                    <a:close/>
                  </a:path>
                </a:pathLst>
              </a:custGeom>
              <a:ln w="38100" cap="sq">
                <a:gradFill>
                  <a:gsLst>
                    <a:gs pos="0">
                      <a:srgbClr val="5F89FF">
                        <a:alpha val="68000"/>
                      </a:srgbClr>
                    </a:gs>
                    <a:gs pos="100000">
                      <a:srgbClr val="FFFFFF">
                        <a:alpha val="12580"/>
                      </a:srgbClr>
                    </a:gs>
                  </a:gsLst>
                  <a:lin ang="5400000"/>
                </a:gradFill>
                <a:prstDash val="solid"/>
                <a:miter/>
              </a:ln>
            </p:spPr>
          </p:sp>
          <p:sp>
            <p:nvSpPr>
              <p:cNvPr name="TextBox 19" id="19"/>
              <p:cNvSpPr txBox="true"/>
              <p:nvPr/>
            </p:nvSpPr>
            <p:spPr>
              <a:xfrm>
                <a:off x="0" y="28575"/>
                <a:ext cx="1489743" cy="256633"/>
              </a:xfrm>
              <a:prstGeom prst="rect">
                <a:avLst/>
              </a:prstGeom>
            </p:spPr>
            <p:txBody>
              <a:bodyPr anchor="ctr" rtlCol="false" tIns="50800" lIns="50800" bIns="50800" rIns="50800"/>
              <a:lstStyle/>
              <a:p>
                <a:pPr algn="ctr">
                  <a:lnSpc>
                    <a:spcPts val="2000"/>
                  </a:lnSpc>
                </a:pPr>
              </a:p>
            </p:txBody>
          </p:sp>
        </p:grpSp>
        <p:sp>
          <p:nvSpPr>
            <p:cNvPr name="TextBox 20" id="20"/>
            <p:cNvSpPr txBox="true"/>
            <p:nvPr/>
          </p:nvSpPr>
          <p:spPr>
            <a:xfrm rot="0">
              <a:off x="157268" y="252985"/>
              <a:ext cx="6396387" cy="381987"/>
            </a:xfrm>
            <a:prstGeom prst="rect">
              <a:avLst/>
            </a:prstGeom>
          </p:spPr>
          <p:txBody>
            <a:bodyPr anchor="t" rtlCol="false" tIns="0" lIns="0" bIns="0" rIns="0">
              <a:spAutoFit/>
            </a:bodyPr>
            <a:lstStyle/>
            <a:p>
              <a:pPr algn="ctr">
                <a:lnSpc>
                  <a:spcPts val="2582"/>
                </a:lnSpc>
              </a:pPr>
              <a:r>
                <a:rPr lang="en-US" b="true" sz="1721" spc="5">
                  <a:solidFill>
                    <a:srgbClr val="2BBBED"/>
                  </a:solidFill>
                  <a:latin typeface="Montserrat Bold"/>
                  <a:ea typeface="Montserrat Bold"/>
                  <a:cs typeface="Montserrat Bold"/>
                  <a:sym typeface="Montserrat Bold"/>
                </a:rPr>
                <a:t>1. PHƯƠNG PHÁP </a:t>
              </a:r>
              <a:r>
                <a:rPr lang="en-US" b="true" sz="1721" spc="5">
                  <a:solidFill>
                    <a:srgbClr val="2BBBED"/>
                  </a:solidFill>
                  <a:latin typeface="Montserrat Bold"/>
                  <a:ea typeface="Montserrat Bold"/>
                  <a:cs typeface="Montserrat Bold"/>
                  <a:sym typeface="Montserrat Bold"/>
                </a:rPr>
                <a:t>TIỀN XỬ LÝ DỮ LIỆU</a:t>
              </a:r>
            </a:p>
          </p:txBody>
        </p:sp>
        <p:sp>
          <p:nvSpPr>
            <p:cNvPr name="TextBox 21" id="21"/>
            <p:cNvSpPr txBox="true"/>
            <p:nvPr/>
          </p:nvSpPr>
          <p:spPr>
            <a:xfrm rot="0">
              <a:off x="1860522" y="1250330"/>
              <a:ext cx="4235035" cy="53721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Giữ lại các giao dịch bất thường, gắn cờ để phục vụ phân tích rủi ro &amp; gian lận.</a:t>
              </a:r>
            </a:p>
          </p:txBody>
        </p:sp>
        <p:grpSp>
          <p:nvGrpSpPr>
            <p:cNvPr name="Group 22" id="22"/>
            <p:cNvGrpSpPr/>
            <p:nvPr/>
          </p:nvGrpSpPr>
          <p:grpSpPr>
            <a:xfrm rot="0">
              <a:off x="280535" y="2256848"/>
              <a:ext cx="6149852" cy="1177377"/>
              <a:chOff x="0" y="0"/>
              <a:chExt cx="1489743" cy="285208"/>
            </a:xfrm>
          </p:grpSpPr>
          <p:sp>
            <p:nvSpPr>
              <p:cNvPr name="Freeform 23" id="23"/>
              <p:cNvSpPr/>
              <p:nvPr/>
            </p:nvSpPr>
            <p:spPr>
              <a:xfrm flipH="false" flipV="false" rot="0">
                <a:off x="0" y="0"/>
                <a:ext cx="1489743" cy="285208"/>
              </a:xfrm>
              <a:custGeom>
                <a:avLst/>
                <a:gdLst/>
                <a:ahLst/>
                <a:cxnLst/>
                <a:rect r="r" b="b" t="t" l="l"/>
                <a:pathLst>
                  <a:path h="285208" w="1489743">
                    <a:moveTo>
                      <a:pt x="25178" y="0"/>
                    </a:moveTo>
                    <a:lnTo>
                      <a:pt x="1464566" y="0"/>
                    </a:lnTo>
                    <a:cubicBezTo>
                      <a:pt x="1471243" y="0"/>
                      <a:pt x="1477647" y="2653"/>
                      <a:pt x="1482369" y="7374"/>
                    </a:cubicBezTo>
                    <a:cubicBezTo>
                      <a:pt x="1487090" y="12096"/>
                      <a:pt x="1489743" y="18500"/>
                      <a:pt x="1489743" y="25178"/>
                    </a:cubicBezTo>
                    <a:lnTo>
                      <a:pt x="1489743" y="260031"/>
                    </a:lnTo>
                    <a:cubicBezTo>
                      <a:pt x="1489743" y="273936"/>
                      <a:pt x="1478471" y="285208"/>
                      <a:pt x="1464566" y="285208"/>
                    </a:cubicBezTo>
                    <a:lnTo>
                      <a:pt x="25178" y="285208"/>
                    </a:lnTo>
                    <a:cubicBezTo>
                      <a:pt x="11272" y="285208"/>
                      <a:pt x="0" y="273936"/>
                      <a:pt x="0" y="260031"/>
                    </a:cubicBezTo>
                    <a:lnTo>
                      <a:pt x="0" y="25178"/>
                    </a:lnTo>
                    <a:cubicBezTo>
                      <a:pt x="0" y="11272"/>
                      <a:pt x="11272" y="0"/>
                      <a:pt x="25178" y="0"/>
                    </a:cubicBezTo>
                    <a:close/>
                  </a:path>
                </a:pathLst>
              </a:custGeom>
              <a:ln w="38100" cap="sq">
                <a:gradFill>
                  <a:gsLst>
                    <a:gs pos="0">
                      <a:srgbClr val="5F89FF">
                        <a:alpha val="68000"/>
                      </a:srgbClr>
                    </a:gs>
                    <a:gs pos="100000">
                      <a:srgbClr val="FFFFFF">
                        <a:alpha val="12580"/>
                      </a:srgbClr>
                    </a:gs>
                  </a:gsLst>
                  <a:lin ang="5400000"/>
                </a:gradFill>
                <a:prstDash val="solid"/>
                <a:miter/>
              </a:ln>
            </p:spPr>
          </p:sp>
          <p:sp>
            <p:nvSpPr>
              <p:cNvPr name="TextBox 24" id="24"/>
              <p:cNvSpPr txBox="true"/>
              <p:nvPr/>
            </p:nvSpPr>
            <p:spPr>
              <a:xfrm>
                <a:off x="0" y="28575"/>
                <a:ext cx="1489743" cy="256633"/>
              </a:xfrm>
              <a:prstGeom prst="rect">
                <a:avLst/>
              </a:prstGeom>
            </p:spPr>
            <p:txBody>
              <a:bodyPr anchor="ctr" rtlCol="false" tIns="50800" lIns="50800" bIns="50800" rIns="50800"/>
              <a:lstStyle/>
              <a:p>
                <a:pPr algn="ctr">
                  <a:lnSpc>
                    <a:spcPts val="2000"/>
                  </a:lnSpc>
                </a:pPr>
              </a:p>
            </p:txBody>
          </p:sp>
        </p:grpSp>
        <p:sp>
          <p:nvSpPr>
            <p:cNvPr name="TextBox 25" id="25"/>
            <p:cNvSpPr txBox="true"/>
            <p:nvPr/>
          </p:nvSpPr>
          <p:spPr>
            <a:xfrm rot="0">
              <a:off x="1860522" y="2567406"/>
              <a:ext cx="4235035" cy="53721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D</a:t>
              </a:r>
              <a:r>
                <a:rPr lang="en-US" sz="1200" i="true">
                  <a:solidFill>
                    <a:srgbClr val="FFFFFF"/>
                  </a:solidFill>
                  <a:latin typeface="Montserrat Italics"/>
                  <a:ea typeface="Montserrat Italics"/>
                  <a:cs typeface="Montserrat Italics"/>
                  <a:sym typeface="Montserrat Italics"/>
                </a:rPr>
                <a:t>ữ liệu thiếu danh mục được gắn nhãn “unknown”, không suy diễn sai lệch.</a:t>
              </a:r>
            </a:p>
          </p:txBody>
        </p:sp>
        <p:grpSp>
          <p:nvGrpSpPr>
            <p:cNvPr name="Group 26" id="26"/>
            <p:cNvGrpSpPr/>
            <p:nvPr/>
          </p:nvGrpSpPr>
          <p:grpSpPr>
            <a:xfrm rot="0">
              <a:off x="280535" y="3690229"/>
              <a:ext cx="6149852" cy="1177377"/>
              <a:chOff x="0" y="0"/>
              <a:chExt cx="1489743" cy="285208"/>
            </a:xfrm>
          </p:grpSpPr>
          <p:sp>
            <p:nvSpPr>
              <p:cNvPr name="Freeform 27" id="27"/>
              <p:cNvSpPr/>
              <p:nvPr/>
            </p:nvSpPr>
            <p:spPr>
              <a:xfrm flipH="false" flipV="false" rot="0">
                <a:off x="0" y="0"/>
                <a:ext cx="1489743" cy="285208"/>
              </a:xfrm>
              <a:custGeom>
                <a:avLst/>
                <a:gdLst/>
                <a:ahLst/>
                <a:cxnLst/>
                <a:rect r="r" b="b" t="t" l="l"/>
                <a:pathLst>
                  <a:path h="285208" w="1489743">
                    <a:moveTo>
                      <a:pt x="25178" y="0"/>
                    </a:moveTo>
                    <a:lnTo>
                      <a:pt x="1464566" y="0"/>
                    </a:lnTo>
                    <a:cubicBezTo>
                      <a:pt x="1471243" y="0"/>
                      <a:pt x="1477647" y="2653"/>
                      <a:pt x="1482369" y="7374"/>
                    </a:cubicBezTo>
                    <a:cubicBezTo>
                      <a:pt x="1487090" y="12096"/>
                      <a:pt x="1489743" y="18500"/>
                      <a:pt x="1489743" y="25178"/>
                    </a:cubicBezTo>
                    <a:lnTo>
                      <a:pt x="1489743" y="260031"/>
                    </a:lnTo>
                    <a:cubicBezTo>
                      <a:pt x="1489743" y="273936"/>
                      <a:pt x="1478471" y="285208"/>
                      <a:pt x="1464566" y="285208"/>
                    </a:cubicBezTo>
                    <a:lnTo>
                      <a:pt x="25178" y="285208"/>
                    </a:lnTo>
                    <a:cubicBezTo>
                      <a:pt x="11272" y="285208"/>
                      <a:pt x="0" y="273936"/>
                      <a:pt x="0" y="260031"/>
                    </a:cubicBezTo>
                    <a:lnTo>
                      <a:pt x="0" y="25178"/>
                    </a:lnTo>
                    <a:cubicBezTo>
                      <a:pt x="0" y="11272"/>
                      <a:pt x="11272" y="0"/>
                      <a:pt x="25178" y="0"/>
                    </a:cubicBezTo>
                    <a:close/>
                  </a:path>
                </a:pathLst>
              </a:custGeom>
              <a:ln w="38100" cap="sq">
                <a:gradFill>
                  <a:gsLst>
                    <a:gs pos="0">
                      <a:srgbClr val="5F89FF">
                        <a:alpha val="68000"/>
                      </a:srgbClr>
                    </a:gs>
                    <a:gs pos="100000">
                      <a:srgbClr val="FFFFFF">
                        <a:alpha val="12580"/>
                      </a:srgbClr>
                    </a:gs>
                  </a:gsLst>
                  <a:lin ang="5400000"/>
                </a:gradFill>
                <a:prstDash val="solid"/>
                <a:miter/>
              </a:ln>
            </p:spPr>
          </p:sp>
          <p:sp>
            <p:nvSpPr>
              <p:cNvPr name="TextBox 28" id="28"/>
              <p:cNvSpPr txBox="true"/>
              <p:nvPr/>
            </p:nvSpPr>
            <p:spPr>
              <a:xfrm>
                <a:off x="0" y="28575"/>
                <a:ext cx="1489743" cy="256633"/>
              </a:xfrm>
              <a:prstGeom prst="rect">
                <a:avLst/>
              </a:prstGeom>
            </p:spPr>
            <p:txBody>
              <a:bodyPr anchor="ctr" rtlCol="false" tIns="50800" lIns="50800" bIns="50800" rIns="50800"/>
              <a:lstStyle/>
              <a:p>
                <a:pPr algn="ctr">
                  <a:lnSpc>
                    <a:spcPts val="2000"/>
                  </a:lnSpc>
                </a:pPr>
              </a:p>
            </p:txBody>
          </p:sp>
        </p:grpSp>
        <p:sp>
          <p:nvSpPr>
            <p:cNvPr name="TextBox 29" id="29"/>
            <p:cNvSpPr txBox="true"/>
            <p:nvPr/>
          </p:nvSpPr>
          <p:spPr>
            <a:xfrm rot="0">
              <a:off x="1860522" y="4000787"/>
              <a:ext cx="4235035" cy="53721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Làm</a:t>
              </a:r>
              <a:r>
                <a:rPr lang="en-US" sz="1200" i="true">
                  <a:solidFill>
                    <a:srgbClr val="FFFFFF"/>
                  </a:solidFill>
                  <a:latin typeface="Montserrat Italics"/>
                  <a:ea typeface="Montserrat Italics"/>
                  <a:cs typeface="Montserrat Italics"/>
                  <a:sym typeface="Montserrat Italics"/>
                </a:rPr>
                <a:t> sạch triệt để ở đầu vào, xử lý giá trị thiếu phát sinh theo đúng ngữ cảnh.</a:t>
              </a:r>
            </a:p>
          </p:txBody>
        </p:sp>
        <p:sp>
          <p:nvSpPr>
            <p:cNvPr name="Freeform 30" id="30"/>
            <p:cNvSpPr/>
            <p:nvPr/>
          </p:nvSpPr>
          <p:spPr>
            <a:xfrm flipH="false" flipV="false" rot="0">
              <a:off x="747264" y="1184812"/>
              <a:ext cx="559197" cy="652125"/>
            </a:xfrm>
            <a:custGeom>
              <a:avLst/>
              <a:gdLst/>
              <a:ahLst/>
              <a:cxnLst/>
              <a:rect r="r" b="b" t="t" l="l"/>
              <a:pathLst>
                <a:path h="652125" w="559197">
                  <a:moveTo>
                    <a:pt x="0" y="0"/>
                  </a:moveTo>
                  <a:lnTo>
                    <a:pt x="559197" y="0"/>
                  </a:lnTo>
                  <a:lnTo>
                    <a:pt x="559197" y="652125"/>
                  </a:lnTo>
                  <a:lnTo>
                    <a:pt x="0" y="6521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675559" y="2551825"/>
              <a:ext cx="702607" cy="587555"/>
            </a:xfrm>
            <a:custGeom>
              <a:avLst/>
              <a:gdLst/>
              <a:ahLst/>
              <a:cxnLst/>
              <a:rect r="r" b="b" t="t" l="l"/>
              <a:pathLst>
                <a:path h="587555" w="702607">
                  <a:moveTo>
                    <a:pt x="0" y="0"/>
                  </a:moveTo>
                  <a:lnTo>
                    <a:pt x="702607" y="0"/>
                  </a:lnTo>
                  <a:lnTo>
                    <a:pt x="702607" y="587555"/>
                  </a:lnTo>
                  <a:lnTo>
                    <a:pt x="0" y="587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0">
              <a:off x="668504" y="3962064"/>
              <a:ext cx="709662" cy="604987"/>
            </a:xfrm>
            <a:custGeom>
              <a:avLst/>
              <a:gdLst/>
              <a:ahLst/>
              <a:cxnLst/>
              <a:rect r="r" b="b" t="t" l="l"/>
              <a:pathLst>
                <a:path h="604987" w="709662">
                  <a:moveTo>
                    <a:pt x="0" y="0"/>
                  </a:moveTo>
                  <a:lnTo>
                    <a:pt x="709662" y="0"/>
                  </a:lnTo>
                  <a:lnTo>
                    <a:pt x="709662" y="604987"/>
                  </a:lnTo>
                  <a:lnTo>
                    <a:pt x="0" y="6049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33" id="33"/>
          <p:cNvGrpSpPr/>
          <p:nvPr/>
        </p:nvGrpSpPr>
        <p:grpSpPr>
          <a:xfrm rot="0">
            <a:off x="625282" y="5133867"/>
            <a:ext cx="5033192" cy="4660738"/>
            <a:chOff x="0" y="0"/>
            <a:chExt cx="6710923" cy="6214317"/>
          </a:xfrm>
        </p:grpSpPr>
        <p:grpSp>
          <p:nvGrpSpPr>
            <p:cNvPr name="Group 34" id="34"/>
            <p:cNvGrpSpPr/>
            <p:nvPr/>
          </p:nvGrpSpPr>
          <p:grpSpPr>
            <a:xfrm rot="0">
              <a:off x="0" y="0"/>
              <a:ext cx="6710923" cy="6214317"/>
              <a:chOff x="0" y="0"/>
              <a:chExt cx="1625657" cy="1505359"/>
            </a:xfrm>
          </p:grpSpPr>
          <p:sp>
            <p:nvSpPr>
              <p:cNvPr name="Freeform 35" id="35"/>
              <p:cNvSpPr/>
              <p:nvPr/>
            </p:nvSpPr>
            <p:spPr>
              <a:xfrm flipH="false" flipV="false" rot="0">
                <a:off x="0" y="0"/>
                <a:ext cx="1625657" cy="1505359"/>
              </a:xfrm>
              <a:custGeom>
                <a:avLst/>
                <a:gdLst/>
                <a:ahLst/>
                <a:cxnLst/>
                <a:rect r="r" b="b" t="t" l="l"/>
                <a:pathLst>
                  <a:path h="1505359" w="1625657">
                    <a:moveTo>
                      <a:pt x="52298" y="0"/>
                    </a:moveTo>
                    <a:lnTo>
                      <a:pt x="1573359" y="0"/>
                    </a:lnTo>
                    <a:cubicBezTo>
                      <a:pt x="1587229" y="0"/>
                      <a:pt x="1600532" y="5510"/>
                      <a:pt x="1610339" y="15318"/>
                    </a:cubicBezTo>
                    <a:cubicBezTo>
                      <a:pt x="1620147" y="25125"/>
                      <a:pt x="1625657" y="38428"/>
                      <a:pt x="1625657" y="52298"/>
                    </a:cubicBezTo>
                    <a:lnTo>
                      <a:pt x="1625657" y="1453061"/>
                    </a:lnTo>
                    <a:cubicBezTo>
                      <a:pt x="1625657" y="1466931"/>
                      <a:pt x="1620147" y="1480234"/>
                      <a:pt x="1610339" y="1490041"/>
                    </a:cubicBezTo>
                    <a:cubicBezTo>
                      <a:pt x="1600532" y="1499849"/>
                      <a:pt x="1587229" y="1505359"/>
                      <a:pt x="1573359" y="1505359"/>
                    </a:cubicBezTo>
                    <a:lnTo>
                      <a:pt x="52298" y="1505359"/>
                    </a:lnTo>
                    <a:cubicBezTo>
                      <a:pt x="38428" y="1505359"/>
                      <a:pt x="25125" y="1499849"/>
                      <a:pt x="15318" y="1490041"/>
                    </a:cubicBezTo>
                    <a:cubicBezTo>
                      <a:pt x="5510" y="1480234"/>
                      <a:pt x="0" y="1466931"/>
                      <a:pt x="0" y="1453061"/>
                    </a:cubicBezTo>
                    <a:lnTo>
                      <a:pt x="0" y="52298"/>
                    </a:lnTo>
                    <a:cubicBezTo>
                      <a:pt x="0" y="38428"/>
                      <a:pt x="5510" y="25125"/>
                      <a:pt x="15318" y="15318"/>
                    </a:cubicBezTo>
                    <a:cubicBezTo>
                      <a:pt x="25125" y="5510"/>
                      <a:pt x="38428" y="0"/>
                      <a:pt x="52298" y="0"/>
                    </a:cubicBezTo>
                    <a:close/>
                  </a:path>
                </a:pathLst>
              </a:custGeom>
              <a:ln w="38100" cap="rnd">
                <a:gradFill>
                  <a:gsLst>
                    <a:gs pos="0">
                      <a:srgbClr val="5F89FF">
                        <a:alpha val="68000"/>
                      </a:srgbClr>
                    </a:gs>
                    <a:gs pos="100000">
                      <a:srgbClr val="FFFFFF">
                        <a:alpha val="12580"/>
                      </a:srgbClr>
                    </a:gs>
                  </a:gsLst>
                  <a:lin ang="5400000"/>
                </a:gradFill>
                <a:prstDash val="solid"/>
                <a:round/>
              </a:ln>
            </p:spPr>
          </p:sp>
          <p:sp>
            <p:nvSpPr>
              <p:cNvPr name="TextBox 36" id="36"/>
              <p:cNvSpPr txBox="true"/>
              <p:nvPr/>
            </p:nvSpPr>
            <p:spPr>
              <a:xfrm>
                <a:off x="0" y="28575"/>
                <a:ext cx="1625657" cy="1476784"/>
              </a:xfrm>
              <a:prstGeom prst="rect">
                <a:avLst/>
              </a:prstGeom>
            </p:spPr>
            <p:txBody>
              <a:bodyPr anchor="ctr" rtlCol="false" tIns="50800" lIns="50800" bIns="50800" rIns="50800"/>
              <a:lstStyle/>
              <a:p>
                <a:pPr algn="ctr">
                  <a:lnSpc>
                    <a:spcPts val="2000"/>
                  </a:lnSpc>
                </a:pPr>
              </a:p>
            </p:txBody>
          </p:sp>
        </p:grpSp>
        <p:sp>
          <p:nvSpPr>
            <p:cNvPr name="TextBox 37" id="37"/>
            <p:cNvSpPr txBox="true"/>
            <p:nvPr/>
          </p:nvSpPr>
          <p:spPr>
            <a:xfrm rot="0">
              <a:off x="386317" y="309577"/>
              <a:ext cx="5938289" cy="391948"/>
            </a:xfrm>
            <a:prstGeom prst="rect">
              <a:avLst/>
            </a:prstGeom>
          </p:spPr>
          <p:txBody>
            <a:bodyPr anchor="t" rtlCol="false" tIns="0" lIns="0" bIns="0" rIns="0">
              <a:spAutoFit/>
            </a:bodyPr>
            <a:lstStyle/>
            <a:p>
              <a:pPr algn="l">
                <a:lnSpc>
                  <a:spcPts val="2582"/>
                </a:lnSpc>
              </a:pPr>
              <a:r>
                <a:rPr lang="en-US" b="true" sz="1721" spc="5">
                  <a:solidFill>
                    <a:srgbClr val="2BBBED"/>
                  </a:solidFill>
                  <a:latin typeface="Montserrat Bold"/>
                  <a:ea typeface="Montserrat Bold"/>
                  <a:cs typeface="Montserrat Bold"/>
                  <a:sym typeface="Montserrat Bold"/>
                </a:rPr>
                <a:t>2.  PHƯƠNG PHÁP </a:t>
              </a:r>
              <a:r>
                <a:rPr lang="en-US" b="true" sz="1721" spc="5">
                  <a:solidFill>
                    <a:srgbClr val="2BBBED"/>
                  </a:solidFill>
                  <a:latin typeface="Montserrat Bold"/>
                  <a:ea typeface="Montserrat Bold"/>
                  <a:cs typeface="Montserrat Bold"/>
                  <a:sym typeface="Montserrat Bold"/>
                </a:rPr>
                <a:t>TIỀN XỬ LÝ DỮ LIỆU</a:t>
              </a:r>
            </a:p>
          </p:txBody>
        </p:sp>
        <p:grpSp>
          <p:nvGrpSpPr>
            <p:cNvPr name="Group 38" id="38"/>
            <p:cNvGrpSpPr/>
            <p:nvPr/>
          </p:nvGrpSpPr>
          <p:grpSpPr>
            <a:xfrm rot="0">
              <a:off x="280535" y="957952"/>
              <a:ext cx="6149852" cy="1604689"/>
              <a:chOff x="0" y="0"/>
              <a:chExt cx="1489743" cy="388721"/>
            </a:xfrm>
          </p:grpSpPr>
          <p:sp>
            <p:nvSpPr>
              <p:cNvPr name="Freeform 39" id="39"/>
              <p:cNvSpPr/>
              <p:nvPr/>
            </p:nvSpPr>
            <p:spPr>
              <a:xfrm flipH="false" flipV="false" rot="0">
                <a:off x="0" y="0"/>
                <a:ext cx="1489743" cy="388721"/>
              </a:xfrm>
              <a:custGeom>
                <a:avLst/>
                <a:gdLst/>
                <a:ahLst/>
                <a:cxnLst/>
                <a:rect r="r" b="b" t="t" l="l"/>
                <a:pathLst>
                  <a:path h="388721" w="1489743">
                    <a:moveTo>
                      <a:pt x="25178" y="0"/>
                    </a:moveTo>
                    <a:lnTo>
                      <a:pt x="1464566" y="0"/>
                    </a:lnTo>
                    <a:cubicBezTo>
                      <a:pt x="1471243" y="0"/>
                      <a:pt x="1477647" y="2653"/>
                      <a:pt x="1482369" y="7374"/>
                    </a:cubicBezTo>
                    <a:cubicBezTo>
                      <a:pt x="1487090" y="12096"/>
                      <a:pt x="1489743" y="18500"/>
                      <a:pt x="1489743" y="25178"/>
                    </a:cubicBezTo>
                    <a:lnTo>
                      <a:pt x="1489743" y="363543"/>
                    </a:lnTo>
                    <a:cubicBezTo>
                      <a:pt x="1489743" y="377448"/>
                      <a:pt x="1478471" y="388721"/>
                      <a:pt x="1464566" y="388721"/>
                    </a:cubicBezTo>
                    <a:lnTo>
                      <a:pt x="25178" y="388721"/>
                    </a:lnTo>
                    <a:cubicBezTo>
                      <a:pt x="11272" y="388721"/>
                      <a:pt x="0" y="377448"/>
                      <a:pt x="0" y="363543"/>
                    </a:cubicBezTo>
                    <a:lnTo>
                      <a:pt x="0" y="25178"/>
                    </a:lnTo>
                    <a:cubicBezTo>
                      <a:pt x="0" y="11272"/>
                      <a:pt x="11272" y="0"/>
                      <a:pt x="25178" y="0"/>
                    </a:cubicBezTo>
                    <a:close/>
                  </a:path>
                </a:pathLst>
              </a:custGeom>
              <a:ln w="38100" cap="sq">
                <a:gradFill>
                  <a:gsLst>
                    <a:gs pos="0">
                      <a:srgbClr val="5F89FF">
                        <a:alpha val="68000"/>
                      </a:srgbClr>
                    </a:gs>
                    <a:gs pos="100000">
                      <a:srgbClr val="FFFFFF">
                        <a:alpha val="12580"/>
                      </a:srgbClr>
                    </a:gs>
                  </a:gsLst>
                  <a:lin ang="5400000"/>
                </a:gradFill>
                <a:prstDash val="solid"/>
                <a:miter/>
              </a:ln>
            </p:spPr>
          </p:sp>
          <p:sp>
            <p:nvSpPr>
              <p:cNvPr name="TextBox 40" id="40"/>
              <p:cNvSpPr txBox="true"/>
              <p:nvPr/>
            </p:nvSpPr>
            <p:spPr>
              <a:xfrm>
                <a:off x="0" y="28575"/>
                <a:ext cx="1489743" cy="360146"/>
              </a:xfrm>
              <a:prstGeom prst="rect">
                <a:avLst/>
              </a:prstGeom>
            </p:spPr>
            <p:txBody>
              <a:bodyPr anchor="ctr" rtlCol="false" tIns="50800" lIns="50800" bIns="50800" rIns="50800"/>
              <a:lstStyle/>
              <a:p>
                <a:pPr algn="ctr">
                  <a:lnSpc>
                    <a:spcPts val="2000"/>
                  </a:lnSpc>
                </a:pPr>
              </a:p>
            </p:txBody>
          </p:sp>
        </p:grpSp>
        <p:grpSp>
          <p:nvGrpSpPr>
            <p:cNvPr name="Group 41" id="41"/>
            <p:cNvGrpSpPr/>
            <p:nvPr/>
          </p:nvGrpSpPr>
          <p:grpSpPr>
            <a:xfrm rot="0">
              <a:off x="280535" y="2727741"/>
              <a:ext cx="6149852" cy="1515412"/>
              <a:chOff x="0" y="0"/>
              <a:chExt cx="1489743" cy="367094"/>
            </a:xfrm>
          </p:grpSpPr>
          <p:sp>
            <p:nvSpPr>
              <p:cNvPr name="Freeform 42" id="42"/>
              <p:cNvSpPr/>
              <p:nvPr/>
            </p:nvSpPr>
            <p:spPr>
              <a:xfrm flipH="false" flipV="false" rot="0">
                <a:off x="0" y="0"/>
                <a:ext cx="1489743" cy="367094"/>
              </a:xfrm>
              <a:custGeom>
                <a:avLst/>
                <a:gdLst/>
                <a:ahLst/>
                <a:cxnLst/>
                <a:rect r="r" b="b" t="t" l="l"/>
                <a:pathLst>
                  <a:path h="367094" w="1489743">
                    <a:moveTo>
                      <a:pt x="25178" y="0"/>
                    </a:moveTo>
                    <a:lnTo>
                      <a:pt x="1464566" y="0"/>
                    </a:lnTo>
                    <a:cubicBezTo>
                      <a:pt x="1471243" y="0"/>
                      <a:pt x="1477647" y="2653"/>
                      <a:pt x="1482369" y="7374"/>
                    </a:cubicBezTo>
                    <a:cubicBezTo>
                      <a:pt x="1487090" y="12096"/>
                      <a:pt x="1489743" y="18500"/>
                      <a:pt x="1489743" y="25178"/>
                    </a:cubicBezTo>
                    <a:lnTo>
                      <a:pt x="1489743" y="341917"/>
                    </a:lnTo>
                    <a:cubicBezTo>
                      <a:pt x="1489743" y="355822"/>
                      <a:pt x="1478471" y="367094"/>
                      <a:pt x="1464566" y="367094"/>
                    </a:cubicBezTo>
                    <a:lnTo>
                      <a:pt x="25178" y="367094"/>
                    </a:lnTo>
                    <a:cubicBezTo>
                      <a:pt x="11272" y="367094"/>
                      <a:pt x="0" y="355822"/>
                      <a:pt x="0" y="341917"/>
                    </a:cubicBezTo>
                    <a:lnTo>
                      <a:pt x="0" y="25178"/>
                    </a:lnTo>
                    <a:cubicBezTo>
                      <a:pt x="0" y="11272"/>
                      <a:pt x="11272" y="0"/>
                      <a:pt x="25178" y="0"/>
                    </a:cubicBezTo>
                    <a:close/>
                  </a:path>
                </a:pathLst>
              </a:custGeom>
              <a:ln w="38100" cap="sq">
                <a:gradFill>
                  <a:gsLst>
                    <a:gs pos="0">
                      <a:srgbClr val="5F89FF">
                        <a:alpha val="68000"/>
                      </a:srgbClr>
                    </a:gs>
                    <a:gs pos="100000">
                      <a:srgbClr val="FFFFFF">
                        <a:alpha val="12580"/>
                      </a:srgbClr>
                    </a:gs>
                  </a:gsLst>
                  <a:lin ang="5400000"/>
                </a:gradFill>
                <a:prstDash val="solid"/>
                <a:miter/>
              </a:ln>
            </p:spPr>
          </p:sp>
          <p:sp>
            <p:nvSpPr>
              <p:cNvPr name="TextBox 43" id="43"/>
              <p:cNvSpPr txBox="true"/>
              <p:nvPr/>
            </p:nvSpPr>
            <p:spPr>
              <a:xfrm>
                <a:off x="0" y="28575"/>
                <a:ext cx="1489743" cy="338519"/>
              </a:xfrm>
              <a:prstGeom prst="rect">
                <a:avLst/>
              </a:prstGeom>
            </p:spPr>
            <p:txBody>
              <a:bodyPr anchor="ctr" rtlCol="false" tIns="50800" lIns="50800" bIns="50800" rIns="50800"/>
              <a:lstStyle/>
              <a:p>
                <a:pPr algn="ctr">
                  <a:lnSpc>
                    <a:spcPts val="2000"/>
                  </a:lnSpc>
                </a:pPr>
              </a:p>
            </p:txBody>
          </p:sp>
        </p:grpSp>
        <p:grpSp>
          <p:nvGrpSpPr>
            <p:cNvPr name="Group 44" id="44"/>
            <p:cNvGrpSpPr/>
            <p:nvPr/>
          </p:nvGrpSpPr>
          <p:grpSpPr>
            <a:xfrm rot="0">
              <a:off x="280535" y="4408299"/>
              <a:ext cx="6149852" cy="1435439"/>
              <a:chOff x="0" y="0"/>
              <a:chExt cx="1489743" cy="347721"/>
            </a:xfrm>
          </p:grpSpPr>
          <p:sp>
            <p:nvSpPr>
              <p:cNvPr name="Freeform 45" id="45"/>
              <p:cNvSpPr/>
              <p:nvPr/>
            </p:nvSpPr>
            <p:spPr>
              <a:xfrm flipH="false" flipV="false" rot="0">
                <a:off x="0" y="0"/>
                <a:ext cx="1489743" cy="347721"/>
              </a:xfrm>
              <a:custGeom>
                <a:avLst/>
                <a:gdLst/>
                <a:ahLst/>
                <a:cxnLst/>
                <a:rect r="r" b="b" t="t" l="l"/>
                <a:pathLst>
                  <a:path h="347721" w="1489743">
                    <a:moveTo>
                      <a:pt x="25178" y="0"/>
                    </a:moveTo>
                    <a:lnTo>
                      <a:pt x="1464566" y="0"/>
                    </a:lnTo>
                    <a:cubicBezTo>
                      <a:pt x="1471243" y="0"/>
                      <a:pt x="1477647" y="2653"/>
                      <a:pt x="1482369" y="7374"/>
                    </a:cubicBezTo>
                    <a:cubicBezTo>
                      <a:pt x="1487090" y="12096"/>
                      <a:pt x="1489743" y="18500"/>
                      <a:pt x="1489743" y="25178"/>
                    </a:cubicBezTo>
                    <a:lnTo>
                      <a:pt x="1489743" y="322544"/>
                    </a:lnTo>
                    <a:cubicBezTo>
                      <a:pt x="1489743" y="336449"/>
                      <a:pt x="1478471" y="347721"/>
                      <a:pt x="1464566" y="347721"/>
                    </a:cubicBezTo>
                    <a:lnTo>
                      <a:pt x="25178" y="347721"/>
                    </a:lnTo>
                    <a:cubicBezTo>
                      <a:pt x="11272" y="347721"/>
                      <a:pt x="0" y="336449"/>
                      <a:pt x="0" y="322544"/>
                    </a:cubicBezTo>
                    <a:lnTo>
                      <a:pt x="0" y="25178"/>
                    </a:lnTo>
                    <a:cubicBezTo>
                      <a:pt x="0" y="11272"/>
                      <a:pt x="11272" y="0"/>
                      <a:pt x="25178" y="0"/>
                    </a:cubicBezTo>
                    <a:close/>
                  </a:path>
                </a:pathLst>
              </a:custGeom>
              <a:ln w="38100" cap="sq">
                <a:gradFill>
                  <a:gsLst>
                    <a:gs pos="0">
                      <a:srgbClr val="5F89FF">
                        <a:alpha val="68000"/>
                      </a:srgbClr>
                    </a:gs>
                    <a:gs pos="100000">
                      <a:srgbClr val="FFFFFF">
                        <a:alpha val="12580"/>
                      </a:srgbClr>
                    </a:gs>
                  </a:gsLst>
                  <a:lin ang="5400000"/>
                </a:gradFill>
                <a:prstDash val="solid"/>
                <a:miter/>
              </a:ln>
            </p:spPr>
          </p:sp>
          <p:sp>
            <p:nvSpPr>
              <p:cNvPr name="TextBox 46" id="46"/>
              <p:cNvSpPr txBox="true"/>
              <p:nvPr/>
            </p:nvSpPr>
            <p:spPr>
              <a:xfrm>
                <a:off x="0" y="28575"/>
                <a:ext cx="1489743" cy="319146"/>
              </a:xfrm>
              <a:prstGeom prst="rect">
                <a:avLst/>
              </a:prstGeom>
            </p:spPr>
            <p:txBody>
              <a:bodyPr anchor="ctr" rtlCol="false" tIns="50800" lIns="50800" bIns="50800" rIns="50800"/>
              <a:lstStyle/>
              <a:p>
                <a:pPr algn="ctr">
                  <a:lnSpc>
                    <a:spcPts val="2000"/>
                  </a:lnSpc>
                </a:pPr>
              </a:p>
            </p:txBody>
          </p:sp>
        </p:grpSp>
        <p:sp>
          <p:nvSpPr>
            <p:cNvPr name="AutoShape 47" id="47"/>
            <p:cNvSpPr/>
            <p:nvPr/>
          </p:nvSpPr>
          <p:spPr>
            <a:xfrm>
              <a:off x="4591466" y="1456254"/>
              <a:ext cx="1733140" cy="0"/>
            </a:xfrm>
            <a:prstGeom prst="line">
              <a:avLst/>
            </a:prstGeom>
            <a:ln cap="flat" w="12700">
              <a:solidFill>
                <a:srgbClr val="FFFFFF"/>
              </a:solidFill>
              <a:prstDash val="solid"/>
              <a:headEnd type="none" len="sm" w="sm"/>
              <a:tailEnd type="none" len="sm" w="sm"/>
            </a:ln>
          </p:spPr>
        </p:sp>
        <p:sp>
          <p:nvSpPr>
            <p:cNvPr name="AutoShape 48" id="48"/>
            <p:cNvSpPr/>
            <p:nvPr/>
          </p:nvSpPr>
          <p:spPr>
            <a:xfrm>
              <a:off x="4525442" y="1219385"/>
              <a:ext cx="0" cy="1135979"/>
            </a:xfrm>
            <a:prstGeom prst="line">
              <a:avLst/>
            </a:prstGeom>
            <a:ln cap="flat" w="12700">
              <a:solidFill>
                <a:srgbClr val="FFFFFF"/>
              </a:solidFill>
              <a:prstDash val="solid"/>
              <a:headEnd type="none" len="sm" w="sm"/>
              <a:tailEnd type="none" len="sm" w="sm"/>
            </a:ln>
          </p:spPr>
        </p:sp>
        <p:sp>
          <p:nvSpPr>
            <p:cNvPr name="TextBox 49" id="49"/>
            <p:cNvSpPr txBox="true"/>
            <p:nvPr/>
          </p:nvSpPr>
          <p:spPr>
            <a:xfrm rot="0">
              <a:off x="1530370" y="1196372"/>
              <a:ext cx="3054746" cy="289560"/>
            </a:xfrm>
            <a:prstGeom prst="rect">
              <a:avLst/>
            </a:prstGeom>
          </p:spPr>
          <p:txBody>
            <a:bodyPr anchor="t" rtlCol="false" tIns="0" lIns="0" bIns="0" rIns="0">
              <a:spAutoFit/>
            </a:bodyPr>
            <a:lstStyle/>
            <a:p>
              <a:pPr algn="l">
                <a:lnSpc>
                  <a:spcPts val="1949"/>
                </a:lnSpc>
              </a:pPr>
              <a:r>
                <a:rPr lang="en-US" b="true" sz="1299" spc="3">
                  <a:solidFill>
                    <a:srgbClr val="D0F3FF"/>
                  </a:solidFill>
                  <a:latin typeface="Montserrat Bold"/>
                  <a:ea typeface="Montserrat Bold"/>
                  <a:cs typeface="Montserrat Bold"/>
                  <a:sym typeface="Montserrat Bold"/>
                </a:rPr>
                <a:t>THÔNG TIN NGƯỜI DÙNG</a:t>
              </a:r>
            </a:p>
          </p:txBody>
        </p:sp>
        <p:sp>
          <p:nvSpPr>
            <p:cNvPr name="TextBox 50" id="50"/>
            <p:cNvSpPr txBox="true"/>
            <p:nvPr/>
          </p:nvSpPr>
          <p:spPr>
            <a:xfrm rot="0">
              <a:off x="4777969" y="1070642"/>
              <a:ext cx="1317587" cy="289560"/>
            </a:xfrm>
            <a:prstGeom prst="rect">
              <a:avLst/>
            </a:prstGeom>
          </p:spPr>
          <p:txBody>
            <a:bodyPr anchor="t" rtlCol="false" tIns="0" lIns="0" bIns="0" rIns="0">
              <a:spAutoFit/>
            </a:bodyPr>
            <a:lstStyle/>
            <a:p>
              <a:pPr algn="l">
                <a:lnSpc>
                  <a:spcPts val="1949"/>
                </a:lnSpc>
              </a:pPr>
              <a:r>
                <a:rPr lang="en-US" sz="1299" i="true" spc="3">
                  <a:solidFill>
                    <a:srgbClr val="FFFFFF"/>
                  </a:solidFill>
                  <a:latin typeface="Montserrat Italics"/>
                  <a:ea typeface="Montserrat Italics"/>
                  <a:cs typeface="Montserrat Italics"/>
                  <a:sym typeface="Montserrat Italics"/>
                </a:rPr>
                <a:t>0 trùng lặp</a:t>
              </a:r>
            </a:p>
          </p:txBody>
        </p:sp>
        <p:sp>
          <p:nvSpPr>
            <p:cNvPr name="TextBox 51" id="51"/>
            <p:cNvSpPr txBox="true"/>
            <p:nvPr/>
          </p:nvSpPr>
          <p:spPr>
            <a:xfrm rot="0">
              <a:off x="4734490" y="1540760"/>
              <a:ext cx="1695897" cy="924560"/>
            </a:xfrm>
            <a:prstGeom prst="rect">
              <a:avLst/>
            </a:prstGeom>
          </p:spPr>
          <p:txBody>
            <a:bodyPr anchor="t" rtlCol="false" tIns="0" lIns="0" bIns="0" rIns="0">
              <a:spAutoFit/>
            </a:bodyPr>
            <a:lstStyle/>
            <a:p>
              <a:pPr algn="l">
                <a:lnSpc>
                  <a:spcPts val="1949"/>
                </a:lnSpc>
              </a:pPr>
              <a:r>
                <a:rPr lang="en-US" sz="1299" i="true" spc="3">
                  <a:solidFill>
                    <a:srgbClr val="FFFFFF"/>
                  </a:solidFill>
                  <a:latin typeface="Montserrat Italics"/>
                  <a:ea typeface="Montserrat Italics"/>
                  <a:cs typeface="Montserrat Italics"/>
                  <a:sym typeface="Montserrat Italics"/>
                </a:rPr>
                <a:t>100% hợp lệ ngày tạo tài khoản</a:t>
              </a:r>
            </a:p>
          </p:txBody>
        </p:sp>
        <p:sp>
          <p:nvSpPr>
            <p:cNvPr name="TextBox 52" id="52"/>
            <p:cNvSpPr txBox="true"/>
            <p:nvPr/>
          </p:nvSpPr>
          <p:spPr>
            <a:xfrm rot="0">
              <a:off x="1530370" y="1429716"/>
              <a:ext cx="1756017" cy="692968"/>
            </a:xfrm>
            <a:prstGeom prst="rect">
              <a:avLst/>
            </a:prstGeom>
          </p:spPr>
          <p:txBody>
            <a:bodyPr anchor="t" rtlCol="false" tIns="0" lIns="0" bIns="0" rIns="0">
              <a:spAutoFit/>
            </a:bodyPr>
            <a:lstStyle/>
            <a:p>
              <a:pPr algn="l">
                <a:lnSpc>
                  <a:spcPts val="4635"/>
                </a:lnSpc>
              </a:pPr>
              <a:r>
                <a:rPr lang="en-US" b="true" sz="3090" spc="9">
                  <a:solidFill>
                    <a:srgbClr val="D0F3FF"/>
                  </a:solidFill>
                  <a:latin typeface="Montserrat Bold"/>
                  <a:ea typeface="Montserrat Bold"/>
                  <a:cs typeface="Montserrat Bold"/>
                  <a:sym typeface="Montserrat Bold"/>
                </a:rPr>
                <a:t>33686</a:t>
              </a:r>
            </a:p>
          </p:txBody>
        </p:sp>
        <p:sp>
          <p:nvSpPr>
            <p:cNvPr name="TextBox 53" id="53"/>
            <p:cNvSpPr txBox="true"/>
            <p:nvPr/>
          </p:nvSpPr>
          <p:spPr>
            <a:xfrm rot="0">
              <a:off x="1530370" y="2065804"/>
              <a:ext cx="1527373" cy="289560"/>
            </a:xfrm>
            <a:prstGeom prst="rect">
              <a:avLst/>
            </a:prstGeom>
          </p:spPr>
          <p:txBody>
            <a:bodyPr anchor="t" rtlCol="false" tIns="0" lIns="0" bIns="0" rIns="0">
              <a:spAutoFit/>
            </a:bodyPr>
            <a:lstStyle/>
            <a:p>
              <a:pPr algn="l">
                <a:lnSpc>
                  <a:spcPts val="1949"/>
                </a:lnSpc>
              </a:pPr>
              <a:r>
                <a:rPr lang="en-US" sz="1299" spc="3">
                  <a:solidFill>
                    <a:srgbClr val="D0F3FF"/>
                  </a:solidFill>
                  <a:latin typeface="Montserrat"/>
                  <a:ea typeface="Montserrat"/>
                  <a:cs typeface="Montserrat"/>
                  <a:sym typeface="Montserrat"/>
                </a:rPr>
                <a:t>người dùng</a:t>
              </a:r>
            </a:p>
          </p:txBody>
        </p:sp>
        <p:sp>
          <p:nvSpPr>
            <p:cNvPr name="AutoShape 54" id="54"/>
            <p:cNvSpPr/>
            <p:nvPr/>
          </p:nvSpPr>
          <p:spPr>
            <a:xfrm flipH="true">
              <a:off x="4525442" y="2882721"/>
              <a:ext cx="0" cy="1120892"/>
            </a:xfrm>
            <a:prstGeom prst="line">
              <a:avLst/>
            </a:prstGeom>
            <a:ln cap="flat" w="12700">
              <a:solidFill>
                <a:srgbClr val="FFFFFF"/>
              </a:solidFill>
              <a:prstDash val="solid"/>
              <a:headEnd type="none" len="sm" w="sm"/>
              <a:tailEnd type="none" len="sm" w="sm"/>
            </a:ln>
          </p:spPr>
        </p:sp>
        <p:sp>
          <p:nvSpPr>
            <p:cNvPr name="AutoShape 55" id="55"/>
            <p:cNvSpPr/>
            <p:nvPr/>
          </p:nvSpPr>
          <p:spPr>
            <a:xfrm flipH="true">
              <a:off x="4525442" y="4581138"/>
              <a:ext cx="0" cy="1120892"/>
            </a:xfrm>
            <a:prstGeom prst="line">
              <a:avLst/>
            </a:prstGeom>
            <a:ln cap="flat" w="12700">
              <a:solidFill>
                <a:srgbClr val="FFFFFF"/>
              </a:solidFill>
              <a:prstDash val="solid"/>
              <a:headEnd type="none" len="sm" w="sm"/>
              <a:tailEnd type="none" len="sm" w="sm"/>
            </a:ln>
          </p:spPr>
        </p:sp>
        <p:sp>
          <p:nvSpPr>
            <p:cNvPr name="TextBox 56" id="56"/>
            <p:cNvSpPr txBox="true"/>
            <p:nvPr/>
          </p:nvSpPr>
          <p:spPr>
            <a:xfrm rot="0">
              <a:off x="1530370" y="2844621"/>
              <a:ext cx="3054746" cy="289560"/>
            </a:xfrm>
            <a:prstGeom prst="rect">
              <a:avLst/>
            </a:prstGeom>
          </p:spPr>
          <p:txBody>
            <a:bodyPr anchor="t" rtlCol="false" tIns="0" lIns="0" bIns="0" rIns="0">
              <a:spAutoFit/>
            </a:bodyPr>
            <a:lstStyle/>
            <a:p>
              <a:pPr algn="l">
                <a:lnSpc>
                  <a:spcPts val="1949"/>
                </a:lnSpc>
              </a:pPr>
              <a:r>
                <a:rPr lang="en-US" b="true" sz="1299" spc="3">
                  <a:solidFill>
                    <a:srgbClr val="D0F3FF"/>
                  </a:solidFill>
                  <a:latin typeface="Montserrat Bold"/>
                  <a:ea typeface="Montserrat Bold"/>
                  <a:cs typeface="Montserrat Bold"/>
                  <a:sym typeface="Montserrat Bold"/>
                </a:rPr>
                <a:t>THÔNG TIN GIAO DỊCH</a:t>
              </a:r>
            </a:p>
          </p:txBody>
        </p:sp>
        <p:sp>
          <p:nvSpPr>
            <p:cNvPr name="TextBox 57" id="57"/>
            <p:cNvSpPr txBox="true"/>
            <p:nvPr/>
          </p:nvSpPr>
          <p:spPr>
            <a:xfrm rot="0">
              <a:off x="1530370" y="3077965"/>
              <a:ext cx="1954434" cy="692968"/>
            </a:xfrm>
            <a:prstGeom prst="rect">
              <a:avLst/>
            </a:prstGeom>
          </p:spPr>
          <p:txBody>
            <a:bodyPr anchor="t" rtlCol="false" tIns="0" lIns="0" bIns="0" rIns="0">
              <a:spAutoFit/>
            </a:bodyPr>
            <a:lstStyle/>
            <a:p>
              <a:pPr algn="l">
                <a:lnSpc>
                  <a:spcPts val="4635"/>
                </a:lnSpc>
              </a:pPr>
              <a:r>
                <a:rPr lang="en-US" b="true" sz="3090" spc="9">
                  <a:solidFill>
                    <a:srgbClr val="D0F3FF"/>
                  </a:solidFill>
                  <a:latin typeface="Montserrat Bold"/>
                  <a:ea typeface="Montserrat Bold"/>
                  <a:cs typeface="Montserrat Bold"/>
                  <a:sym typeface="Montserrat Bold"/>
                </a:rPr>
                <a:t>301,107</a:t>
              </a:r>
            </a:p>
          </p:txBody>
        </p:sp>
        <p:sp>
          <p:nvSpPr>
            <p:cNvPr name="TextBox 58" id="58"/>
            <p:cNvSpPr txBox="true"/>
            <p:nvPr/>
          </p:nvSpPr>
          <p:spPr>
            <a:xfrm rot="0">
              <a:off x="1530370" y="3714053"/>
              <a:ext cx="1527373" cy="289560"/>
            </a:xfrm>
            <a:prstGeom prst="rect">
              <a:avLst/>
            </a:prstGeom>
          </p:spPr>
          <p:txBody>
            <a:bodyPr anchor="t" rtlCol="false" tIns="0" lIns="0" bIns="0" rIns="0">
              <a:spAutoFit/>
            </a:bodyPr>
            <a:lstStyle/>
            <a:p>
              <a:pPr algn="l">
                <a:lnSpc>
                  <a:spcPts val="1949"/>
                </a:lnSpc>
              </a:pPr>
              <a:r>
                <a:rPr lang="en-US" sz="1299" spc="3">
                  <a:solidFill>
                    <a:srgbClr val="D0F3FF"/>
                  </a:solidFill>
                  <a:latin typeface="Montserrat"/>
                  <a:ea typeface="Montserrat"/>
                  <a:cs typeface="Montserrat"/>
                  <a:sym typeface="Montserrat"/>
                </a:rPr>
                <a:t>giao dịch</a:t>
              </a:r>
            </a:p>
          </p:txBody>
        </p:sp>
        <p:sp>
          <p:nvSpPr>
            <p:cNvPr name="TextBox 59" id="59"/>
            <p:cNvSpPr txBox="true"/>
            <p:nvPr/>
          </p:nvSpPr>
          <p:spPr>
            <a:xfrm rot="0">
              <a:off x="4734490" y="2970352"/>
              <a:ext cx="1404545" cy="924560"/>
            </a:xfrm>
            <a:prstGeom prst="rect">
              <a:avLst/>
            </a:prstGeom>
          </p:spPr>
          <p:txBody>
            <a:bodyPr anchor="t" rtlCol="false" tIns="0" lIns="0" bIns="0" rIns="0">
              <a:spAutoFit/>
            </a:bodyPr>
            <a:lstStyle/>
            <a:p>
              <a:pPr algn="l">
                <a:lnSpc>
                  <a:spcPts val="1949"/>
                </a:lnSpc>
              </a:pPr>
              <a:r>
                <a:rPr lang="en-US" sz="1299" i="true" spc="3">
                  <a:solidFill>
                    <a:srgbClr val="FFFFFF"/>
                  </a:solidFill>
                  <a:latin typeface="Montserrat Italics"/>
                  <a:ea typeface="Montserrat Italics"/>
                  <a:cs typeface="Montserrat Italics"/>
                  <a:sym typeface="Montserrat Italics"/>
                </a:rPr>
                <a:t>100% định danh cốt lõi hợp lệ</a:t>
              </a:r>
            </a:p>
          </p:txBody>
        </p:sp>
        <p:sp>
          <p:nvSpPr>
            <p:cNvPr name="TextBox 60" id="60"/>
            <p:cNvSpPr txBox="true"/>
            <p:nvPr/>
          </p:nvSpPr>
          <p:spPr>
            <a:xfrm rot="0">
              <a:off x="4734490" y="4797122"/>
              <a:ext cx="1404545" cy="607060"/>
            </a:xfrm>
            <a:prstGeom prst="rect">
              <a:avLst/>
            </a:prstGeom>
          </p:spPr>
          <p:txBody>
            <a:bodyPr anchor="t" rtlCol="false" tIns="0" lIns="0" bIns="0" rIns="0">
              <a:spAutoFit/>
            </a:bodyPr>
            <a:lstStyle/>
            <a:p>
              <a:pPr algn="l">
                <a:lnSpc>
                  <a:spcPts val="1949"/>
                </a:lnSpc>
              </a:pPr>
              <a:r>
                <a:rPr lang="en-US" sz="1299" i="true" spc="3">
                  <a:solidFill>
                    <a:srgbClr val="FFFFFF"/>
                  </a:solidFill>
                  <a:latin typeface="Montserrat Italics"/>
                  <a:ea typeface="Montserrat Italics"/>
                  <a:cs typeface="Montserrat Italics"/>
                  <a:sym typeface="Montserrat Italics"/>
                </a:rPr>
                <a:t>100% đầy đủ danh mục</a:t>
              </a:r>
            </a:p>
          </p:txBody>
        </p:sp>
        <p:sp>
          <p:nvSpPr>
            <p:cNvPr name="TextBox 61" id="61"/>
            <p:cNvSpPr txBox="true"/>
            <p:nvPr/>
          </p:nvSpPr>
          <p:spPr>
            <a:xfrm rot="0">
              <a:off x="1530370" y="4514132"/>
              <a:ext cx="3425325" cy="289560"/>
            </a:xfrm>
            <a:prstGeom prst="rect">
              <a:avLst/>
            </a:prstGeom>
          </p:spPr>
          <p:txBody>
            <a:bodyPr anchor="t" rtlCol="false" tIns="0" lIns="0" bIns="0" rIns="0">
              <a:spAutoFit/>
            </a:bodyPr>
            <a:lstStyle/>
            <a:p>
              <a:pPr algn="l">
                <a:lnSpc>
                  <a:spcPts val="1949"/>
                </a:lnSpc>
              </a:pPr>
              <a:r>
                <a:rPr lang="en-US" b="true" sz="1299" spc="3">
                  <a:solidFill>
                    <a:srgbClr val="D0F3FF"/>
                  </a:solidFill>
                  <a:latin typeface="Montserrat Bold"/>
                  <a:ea typeface="Montserrat Bold"/>
                  <a:cs typeface="Montserrat Bold"/>
                  <a:sym typeface="Montserrat Bold"/>
                </a:rPr>
                <a:t>THÔNG TIN MERCHANT </a:t>
              </a:r>
            </a:p>
          </p:txBody>
        </p:sp>
        <p:sp>
          <p:nvSpPr>
            <p:cNvPr name="TextBox 62" id="62"/>
            <p:cNvSpPr txBox="true"/>
            <p:nvPr/>
          </p:nvSpPr>
          <p:spPr>
            <a:xfrm rot="0">
              <a:off x="1530370" y="4747475"/>
              <a:ext cx="1954434" cy="692968"/>
            </a:xfrm>
            <a:prstGeom prst="rect">
              <a:avLst/>
            </a:prstGeom>
          </p:spPr>
          <p:txBody>
            <a:bodyPr anchor="t" rtlCol="false" tIns="0" lIns="0" bIns="0" rIns="0">
              <a:spAutoFit/>
            </a:bodyPr>
            <a:lstStyle/>
            <a:p>
              <a:pPr algn="l">
                <a:lnSpc>
                  <a:spcPts val="4635"/>
                </a:lnSpc>
              </a:pPr>
              <a:r>
                <a:rPr lang="en-US" b="true" sz="3090" spc="9">
                  <a:solidFill>
                    <a:srgbClr val="D0F3FF"/>
                  </a:solidFill>
                  <a:latin typeface="Montserrat Bold"/>
                  <a:ea typeface="Montserrat Bold"/>
                  <a:cs typeface="Montserrat Bold"/>
                  <a:sym typeface="Montserrat Bold"/>
                </a:rPr>
                <a:t>748</a:t>
              </a:r>
            </a:p>
          </p:txBody>
        </p:sp>
        <p:sp>
          <p:nvSpPr>
            <p:cNvPr name="TextBox 63" id="63"/>
            <p:cNvSpPr txBox="true"/>
            <p:nvPr/>
          </p:nvSpPr>
          <p:spPr>
            <a:xfrm rot="0">
              <a:off x="1530370" y="5383564"/>
              <a:ext cx="1527373" cy="289560"/>
            </a:xfrm>
            <a:prstGeom prst="rect">
              <a:avLst/>
            </a:prstGeom>
          </p:spPr>
          <p:txBody>
            <a:bodyPr anchor="t" rtlCol="false" tIns="0" lIns="0" bIns="0" rIns="0">
              <a:spAutoFit/>
            </a:bodyPr>
            <a:lstStyle/>
            <a:p>
              <a:pPr algn="l">
                <a:lnSpc>
                  <a:spcPts val="1949"/>
                </a:lnSpc>
              </a:pPr>
              <a:r>
                <a:rPr lang="en-US" sz="1299" spc="3">
                  <a:solidFill>
                    <a:srgbClr val="D0F3FF"/>
                  </a:solidFill>
                  <a:latin typeface="Montserrat"/>
                  <a:ea typeface="Montserrat"/>
                  <a:cs typeface="Montserrat"/>
                  <a:sym typeface="Montserrat"/>
                </a:rPr>
                <a:t>giao dịch</a:t>
              </a:r>
            </a:p>
          </p:txBody>
        </p:sp>
        <p:sp>
          <p:nvSpPr>
            <p:cNvPr name="Freeform 64" id="64"/>
            <p:cNvSpPr/>
            <p:nvPr/>
          </p:nvSpPr>
          <p:spPr>
            <a:xfrm flipH="false" flipV="false" rot="0">
              <a:off x="564550" y="1441466"/>
              <a:ext cx="709622" cy="719515"/>
            </a:xfrm>
            <a:custGeom>
              <a:avLst/>
              <a:gdLst/>
              <a:ahLst/>
              <a:cxnLst/>
              <a:rect r="r" b="b" t="t" l="l"/>
              <a:pathLst>
                <a:path h="719515" w="709622">
                  <a:moveTo>
                    <a:pt x="0" y="0"/>
                  </a:moveTo>
                  <a:lnTo>
                    <a:pt x="709623" y="0"/>
                  </a:lnTo>
                  <a:lnTo>
                    <a:pt x="709623" y="719516"/>
                  </a:lnTo>
                  <a:lnTo>
                    <a:pt x="0" y="7195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5" id="65"/>
            <p:cNvSpPr/>
            <p:nvPr/>
          </p:nvSpPr>
          <p:spPr>
            <a:xfrm flipH="false" flipV="false" rot="0">
              <a:off x="524057" y="3107159"/>
              <a:ext cx="790610" cy="757997"/>
            </a:xfrm>
            <a:custGeom>
              <a:avLst/>
              <a:gdLst/>
              <a:ahLst/>
              <a:cxnLst/>
              <a:rect r="r" b="b" t="t" l="l"/>
              <a:pathLst>
                <a:path h="757997" w="790610">
                  <a:moveTo>
                    <a:pt x="0" y="0"/>
                  </a:moveTo>
                  <a:lnTo>
                    <a:pt x="790609" y="0"/>
                  </a:lnTo>
                  <a:lnTo>
                    <a:pt x="790609" y="757997"/>
                  </a:lnTo>
                  <a:lnTo>
                    <a:pt x="0" y="75799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66" id="66"/>
            <p:cNvSpPr/>
            <p:nvPr/>
          </p:nvSpPr>
          <p:spPr>
            <a:xfrm flipH="false" flipV="false" rot="0">
              <a:off x="524057" y="4856332"/>
              <a:ext cx="836496" cy="527753"/>
            </a:xfrm>
            <a:custGeom>
              <a:avLst/>
              <a:gdLst/>
              <a:ahLst/>
              <a:cxnLst/>
              <a:rect r="r" b="b" t="t" l="l"/>
              <a:pathLst>
                <a:path h="527753" w="836496">
                  <a:moveTo>
                    <a:pt x="0" y="0"/>
                  </a:moveTo>
                  <a:lnTo>
                    <a:pt x="836495" y="0"/>
                  </a:lnTo>
                  <a:lnTo>
                    <a:pt x="836495" y="527753"/>
                  </a:lnTo>
                  <a:lnTo>
                    <a:pt x="0" y="52775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grpSp>
        <p:nvGrpSpPr>
          <p:cNvPr name="Group 67" id="67"/>
          <p:cNvGrpSpPr/>
          <p:nvPr/>
        </p:nvGrpSpPr>
        <p:grpSpPr>
          <a:xfrm rot="0">
            <a:off x="5982324" y="2340883"/>
            <a:ext cx="11740790" cy="523695"/>
            <a:chOff x="0" y="0"/>
            <a:chExt cx="3792126" cy="169147"/>
          </a:xfrm>
        </p:grpSpPr>
        <p:sp>
          <p:nvSpPr>
            <p:cNvPr name="Freeform 68" id="68"/>
            <p:cNvSpPr/>
            <p:nvPr/>
          </p:nvSpPr>
          <p:spPr>
            <a:xfrm flipH="false" flipV="false" rot="0">
              <a:off x="0" y="0"/>
              <a:ext cx="3792126" cy="169147"/>
            </a:xfrm>
            <a:custGeom>
              <a:avLst/>
              <a:gdLst/>
              <a:ahLst/>
              <a:cxnLst/>
              <a:rect r="r" b="b" t="t" l="l"/>
              <a:pathLst>
                <a:path h="169147" w="3792126">
                  <a:moveTo>
                    <a:pt x="0" y="0"/>
                  </a:moveTo>
                  <a:lnTo>
                    <a:pt x="3792126" y="0"/>
                  </a:lnTo>
                  <a:lnTo>
                    <a:pt x="3792126" y="169147"/>
                  </a:lnTo>
                  <a:lnTo>
                    <a:pt x="0" y="169147"/>
                  </a:lnTo>
                  <a:close/>
                </a:path>
              </a:pathLst>
            </a:custGeom>
            <a:gradFill rotWithShape="true">
              <a:gsLst>
                <a:gs pos="0">
                  <a:srgbClr val="FFFFFF">
                    <a:alpha val="23750"/>
                  </a:srgbClr>
                </a:gs>
                <a:gs pos="100000">
                  <a:srgbClr val="FFFFFF">
                    <a:alpha val="15010"/>
                  </a:srgbClr>
                </a:gs>
              </a:gsLst>
              <a:lin ang="5400000"/>
            </a:gradFill>
            <a:ln cap="sq">
              <a:noFill/>
              <a:prstDash val="solid"/>
              <a:miter/>
            </a:ln>
          </p:spPr>
        </p:sp>
        <p:sp>
          <p:nvSpPr>
            <p:cNvPr name="TextBox 69" id="69"/>
            <p:cNvSpPr txBox="true"/>
            <p:nvPr/>
          </p:nvSpPr>
          <p:spPr>
            <a:xfrm>
              <a:off x="0" y="28575"/>
              <a:ext cx="3792126" cy="140572"/>
            </a:xfrm>
            <a:prstGeom prst="rect">
              <a:avLst/>
            </a:prstGeom>
          </p:spPr>
          <p:txBody>
            <a:bodyPr anchor="ctr" rtlCol="false" tIns="50800" lIns="50800" bIns="50800" rIns="50800"/>
            <a:lstStyle/>
            <a:p>
              <a:pPr algn="ctr">
                <a:lnSpc>
                  <a:spcPts val="2000"/>
                </a:lnSpc>
              </a:pPr>
            </a:p>
          </p:txBody>
        </p:sp>
      </p:grpSp>
      <p:sp>
        <p:nvSpPr>
          <p:cNvPr name="TextBox 70" id="70"/>
          <p:cNvSpPr txBox="true"/>
          <p:nvPr/>
        </p:nvSpPr>
        <p:spPr>
          <a:xfrm rot="0">
            <a:off x="7044294" y="3170561"/>
            <a:ext cx="1799028"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Th</a:t>
            </a:r>
            <a:r>
              <a:rPr lang="en-US" sz="1200" i="true">
                <a:solidFill>
                  <a:srgbClr val="FFFFFF"/>
                </a:solidFill>
                <a:latin typeface="Montserrat Italics"/>
                <a:ea typeface="Montserrat Italics"/>
                <a:cs typeface="Montserrat Italics"/>
                <a:sym typeface="Montserrat Italics"/>
              </a:rPr>
              <a:t>iếu loại hình ưu đãi</a:t>
            </a:r>
          </a:p>
        </p:txBody>
      </p:sp>
      <p:sp>
        <p:nvSpPr>
          <p:cNvPr name="AutoShape 71" id="71"/>
          <p:cNvSpPr/>
          <p:nvPr/>
        </p:nvSpPr>
        <p:spPr>
          <a:xfrm>
            <a:off x="7044294" y="3508827"/>
            <a:ext cx="10650442" cy="0"/>
          </a:xfrm>
          <a:prstGeom prst="line">
            <a:avLst/>
          </a:prstGeom>
          <a:ln cap="flat" w="9525">
            <a:solidFill>
              <a:srgbClr val="FFFFFF"/>
            </a:solidFill>
            <a:prstDash val="solid"/>
            <a:headEnd type="none" len="sm" w="sm"/>
            <a:tailEnd type="none" len="sm" w="sm"/>
          </a:ln>
        </p:spPr>
      </p:sp>
      <p:sp>
        <p:nvSpPr>
          <p:cNvPr name="AutoShape 72" id="72"/>
          <p:cNvSpPr/>
          <p:nvPr/>
        </p:nvSpPr>
        <p:spPr>
          <a:xfrm>
            <a:off x="7044294" y="4171162"/>
            <a:ext cx="10650442" cy="0"/>
          </a:xfrm>
          <a:prstGeom prst="line">
            <a:avLst/>
          </a:prstGeom>
          <a:ln cap="flat" w="9525">
            <a:solidFill>
              <a:srgbClr val="FFFFFF"/>
            </a:solidFill>
            <a:prstDash val="solid"/>
            <a:headEnd type="none" len="sm" w="sm"/>
            <a:tailEnd type="none" len="sm" w="sm"/>
          </a:ln>
        </p:spPr>
      </p:sp>
      <p:sp>
        <p:nvSpPr>
          <p:cNvPr name="AutoShape 73" id="73"/>
          <p:cNvSpPr/>
          <p:nvPr/>
        </p:nvSpPr>
        <p:spPr>
          <a:xfrm>
            <a:off x="7044294" y="4833496"/>
            <a:ext cx="10650442" cy="0"/>
          </a:xfrm>
          <a:prstGeom prst="line">
            <a:avLst/>
          </a:prstGeom>
          <a:ln cap="flat" w="9525">
            <a:solidFill>
              <a:srgbClr val="FFFFFF"/>
            </a:solidFill>
            <a:prstDash val="solid"/>
            <a:headEnd type="none" len="sm" w="sm"/>
            <a:tailEnd type="none" len="sm" w="sm"/>
          </a:ln>
        </p:spPr>
      </p:sp>
      <p:sp>
        <p:nvSpPr>
          <p:cNvPr name="AutoShape 74" id="74"/>
          <p:cNvSpPr/>
          <p:nvPr/>
        </p:nvSpPr>
        <p:spPr>
          <a:xfrm>
            <a:off x="7044294" y="5495831"/>
            <a:ext cx="10650442" cy="0"/>
          </a:xfrm>
          <a:prstGeom prst="line">
            <a:avLst/>
          </a:prstGeom>
          <a:ln cap="flat" w="9525">
            <a:solidFill>
              <a:srgbClr val="FFFFFF"/>
            </a:solidFill>
            <a:prstDash val="solid"/>
            <a:headEnd type="none" len="sm" w="sm"/>
            <a:tailEnd type="none" len="sm" w="sm"/>
          </a:ln>
        </p:spPr>
      </p:sp>
      <p:sp>
        <p:nvSpPr>
          <p:cNvPr name="AutoShape 75" id="75"/>
          <p:cNvSpPr/>
          <p:nvPr/>
        </p:nvSpPr>
        <p:spPr>
          <a:xfrm>
            <a:off x="7044294" y="6359514"/>
            <a:ext cx="10650442" cy="0"/>
          </a:xfrm>
          <a:prstGeom prst="line">
            <a:avLst/>
          </a:prstGeom>
          <a:ln cap="flat" w="9525">
            <a:solidFill>
              <a:srgbClr val="FFFFFF"/>
            </a:solidFill>
            <a:prstDash val="solid"/>
            <a:headEnd type="none" len="sm" w="sm"/>
            <a:tailEnd type="none" len="sm" w="sm"/>
          </a:ln>
        </p:spPr>
      </p:sp>
      <p:sp>
        <p:nvSpPr>
          <p:cNvPr name="Freeform 76" id="76"/>
          <p:cNvSpPr/>
          <p:nvPr/>
        </p:nvSpPr>
        <p:spPr>
          <a:xfrm flipH="false" flipV="false" rot="0">
            <a:off x="6333629" y="6390114"/>
            <a:ext cx="383601" cy="371744"/>
          </a:xfrm>
          <a:custGeom>
            <a:avLst/>
            <a:gdLst/>
            <a:ahLst/>
            <a:cxnLst/>
            <a:rect r="r" b="b" t="t" l="l"/>
            <a:pathLst>
              <a:path h="371744" w="383601">
                <a:moveTo>
                  <a:pt x="0" y="0"/>
                </a:moveTo>
                <a:lnTo>
                  <a:pt x="383601" y="0"/>
                </a:lnTo>
                <a:lnTo>
                  <a:pt x="383601" y="371743"/>
                </a:lnTo>
                <a:lnTo>
                  <a:pt x="0" y="37174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77" id="77"/>
          <p:cNvSpPr/>
          <p:nvPr/>
        </p:nvSpPr>
        <p:spPr>
          <a:xfrm flipH="false" flipV="false" rot="0">
            <a:off x="6236232" y="3001690"/>
            <a:ext cx="504452" cy="462262"/>
          </a:xfrm>
          <a:custGeom>
            <a:avLst/>
            <a:gdLst/>
            <a:ahLst/>
            <a:cxnLst/>
            <a:rect r="r" b="b" t="t" l="l"/>
            <a:pathLst>
              <a:path h="462262" w="504452">
                <a:moveTo>
                  <a:pt x="0" y="0"/>
                </a:moveTo>
                <a:lnTo>
                  <a:pt x="504452" y="0"/>
                </a:lnTo>
                <a:lnTo>
                  <a:pt x="504452" y="462261"/>
                </a:lnTo>
                <a:lnTo>
                  <a:pt x="0" y="46226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78" id="78"/>
          <p:cNvSpPr/>
          <p:nvPr/>
        </p:nvSpPr>
        <p:spPr>
          <a:xfrm flipH="false" flipV="false" rot="0">
            <a:off x="6184229" y="3650993"/>
            <a:ext cx="619093" cy="318833"/>
          </a:xfrm>
          <a:custGeom>
            <a:avLst/>
            <a:gdLst/>
            <a:ahLst/>
            <a:cxnLst/>
            <a:rect r="r" b="b" t="t" l="l"/>
            <a:pathLst>
              <a:path h="318833" w="619093">
                <a:moveTo>
                  <a:pt x="0" y="0"/>
                </a:moveTo>
                <a:lnTo>
                  <a:pt x="619092" y="0"/>
                </a:lnTo>
                <a:lnTo>
                  <a:pt x="619092" y="318833"/>
                </a:lnTo>
                <a:lnTo>
                  <a:pt x="0" y="318833"/>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79" id="79"/>
          <p:cNvSpPr/>
          <p:nvPr/>
        </p:nvSpPr>
        <p:spPr>
          <a:xfrm flipH="false" flipV="false" rot="0">
            <a:off x="6345105" y="4355657"/>
            <a:ext cx="297340" cy="295854"/>
          </a:xfrm>
          <a:custGeom>
            <a:avLst/>
            <a:gdLst/>
            <a:ahLst/>
            <a:cxnLst/>
            <a:rect r="r" b="b" t="t" l="l"/>
            <a:pathLst>
              <a:path h="295854" w="297340">
                <a:moveTo>
                  <a:pt x="0" y="0"/>
                </a:moveTo>
                <a:lnTo>
                  <a:pt x="297340" y="0"/>
                </a:lnTo>
                <a:lnTo>
                  <a:pt x="297340" y="295854"/>
                </a:lnTo>
                <a:lnTo>
                  <a:pt x="0" y="29585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80" id="80"/>
          <p:cNvSpPr/>
          <p:nvPr/>
        </p:nvSpPr>
        <p:spPr>
          <a:xfrm flipH="false" flipV="false" rot="0">
            <a:off x="6333629" y="4971609"/>
            <a:ext cx="320291" cy="406719"/>
          </a:xfrm>
          <a:custGeom>
            <a:avLst/>
            <a:gdLst/>
            <a:ahLst/>
            <a:cxnLst/>
            <a:rect r="r" b="b" t="t" l="l"/>
            <a:pathLst>
              <a:path h="406719" w="320291">
                <a:moveTo>
                  <a:pt x="0" y="0"/>
                </a:moveTo>
                <a:lnTo>
                  <a:pt x="320292" y="0"/>
                </a:lnTo>
                <a:lnTo>
                  <a:pt x="320292" y="406719"/>
                </a:lnTo>
                <a:lnTo>
                  <a:pt x="0" y="40671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81" id="81"/>
          <p:cNvSpPr/>
          <p:nvPr/>
        </p:nvSpPr>
        <p:spPr>
          <a:xfrm flipH="false" flipV="false" rot="0">
            <a:off x="6236232" y="5645028"/>
            <a:ext cx="515086" cy="478386"/>
          </a:xfrm>
          <a:custGeom>
            <a:avLst/>
            <a:gdLst/>
            <a:ahLst/>
            <a:cxnLst/>
            <a:rect r="r" b="b" t="t" l="l"/>
            <a:pathLst>
              <a:path h="478386" w="515086">
                <a:moveTo>
                  <a:pt x="0" y="0"/>
                </a:moveTo>
                <a:lnTo>
                  <a:pt x="515086" y="0"/>
                </a:lnTo>
                <a:lnTo>
                  <a:pt x="515086" y="478386"/>
                </a:lnTo>
                <a:lnTo>
                  <a:pt x="0" y="47838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82" id="82"/>
          <p:cNvSpPr txBox="true"/>
          <p:nvPr/>
        </p:nvSpPr>
        <p:spPr>
          <a:xfrm rot="0">
            <a:off x="13989055" y="3148710"/>
            <a:ext cx="1126635" cy="40767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Nghiêm trọng</a:t>
            </a:r>
          </a:p>
          <a:p>
            <a:pPr algn="just">
              <a:lnSpc>
                <a:spcPts val="1679"/>
              </a:lnSpc>
            </a:pPr>
          </a:p>
        </p:txBody>
      </p:sp>
      <p:sp>
        <p:nvSpPr>
          <p:cNvPr name="TextBox 83" id="83"/>
          <p:cNvSpPr txBox="true"/>
          <p:nvPr/>
        </p:nvSpPr>
        <p:spPr>
          <a:xfrm rot="0">
            <a:off x="9520045" y="1738694"/>
            <a:ext cx="4797290" cy="298396"/>
          </a:xfrm>
          <a:prstGeom prst="rect">
            <a:avLst/>
          </a:prstGeom>
        </p:spPr>
        <p:txBody>
          <a:bodyPr anchor="t" rtlCol="false" tIns="0" lIns="0" bIns="0" rIns="0">
            <a:spAutoFit/>
          </a:bodyPr>
          <a:lstStyle/>
          <a:p>
            <a:pPr algn="ctr">
              <a:lnSpc>
                <a:spcPts val="2582"/>
              </a:lnSpc>
            </a:pPr>
            <a:r>
              <a:rPr lang="en-US" b="true" sz="1721" spc="5">
                <a:solidFill>
                  <a:srgbClr val="2BBBED"/>
                </a:solidFill>
                <a:latin typeface="Montserrat Bold"/>
                <a:ea typeface="Montserrat Bold"/>
                <a:cs typeface="Montserrat Bold"/>
                <a:sym typeface="Montserrat Bold"/>
              </a:rPr>
              <a:t>3. CHẤT LƯỢNG DỮ LIỆU GIAO DỊCH</a:t>
            </a:r>
          </a:p>
        </p:txBody>
      </p:sp>
      <p:sp>
        <p:nvSpPr>
          <p:cNvPr name="TextBox 84" id="84"/>
          <p:cNvSpPr txBox="true"/>
          <p:nvPr/>
        </p:nvSpPr>
        <p:spPr>
          <a:xfrm rot="0">
            <a:off x="6261925" y="2429745"/>
            <a:ext cx="2760491" cy="298396"/>
          </a:xfrm>
          <a:prstGeom prst="rect">
            <a:avLst/>
          </a:prstGeom>
        </p:spPr>
        <p:txBody>
          <a:bodyPr anchor="t" rtlCol="false" tIns="0" lIns="0" bIns="0" rIns="0">
            <a:spAutoFit/>
          </a:bodyPr>
          <a:lstStyle/>
          <a:p>
            <a:pPr algn="ctr">
              <a:lnSpc>
                <a:spcPts val="2582"/>
              </a:lnSpc>
            </a:pPr>
            <a:r>
              <a:rPr lang="en-US" b="true" sz="1721" spc="5">
                <a:solidFill>
                  <a:srgbClr val="2BBBED"/>
                </a:solidFill>
                <a:latin typeface="Montserrat Bold"/>
                <a:ea typeface="Montserrat Bold"/>
                <a:cs typeface="Montserrat Bold"/>
                <a:sym typeface="Montserrat Bold"/>
              </a:rPr>
              <a:t>VẤN ĐỀ CHẤT LƯỢNG</a:t>
            </a:r>
          </a:p>
        </p:txBody>
      </p:sp>
      <p:sp>
        <p:nvSpPr>
          <p:cNvPr name="TextBox 85" id="85"/>
          <p:cNvSpPr txBox="true"/>
          <p:nvPr/>
        </p:nvSpPr>
        <p:spPr>
          <a:xfrm rot="0">
            <a:off x="9391075" y="2429745"/>
            <a:ext cx="2114958" cy="298396"/>
          </a:xfrm>
          <a:prstGeom prst="rect">
            <a:avLst/>
          </a:prstGeom>
        </p:spPr>
        <p:txBody>
          <a:bodyPr anchor="t" rtlCol="false" tIns="0" lIns="0" bIns="0" rIns="0">
            <a:spAutoFit/>
          </a:bodyPr>
          <a:lstStyle/>
          <a:p>
            <a:pPr algn="ctr">
              <a:lnSpc>
                <a:spcPts val="2582"/>
              </a:lnSpc>
            </a:pPr>
            <a:r>
              <a:rPr lang="en-US" b="true" sz="1721" spc="5">
                <a:solidFill>
                  <a:srgbClr val="2BBBED"/>
                </a:solidFill>
                <a:latin typeface="Montserrat Bold"/>
                <a:ea typeface="Montserrat Bold"/>
                <a:cs typeface="Montserrat Bold"/>
                <a:sym typeface="Montserrat Bold"/>
              </a:rPr>
              <a:t>SỐ GIAO DỊCH</a:t>
            </a:r>
          </a:p>
        </p:txBody>
      </p:sp>
      <p:sp>
        <p:nvSpPr>
          <p:cNvPr name="TextBox 86" id="86"/>
          <p:cNvSpPr txBox="true"/>
          <p:nvPr/>
        </p:nvSpPr>
        <p:spPr>
          <a:xfrm rot="0">
            <a:off x="12068712" y="2429745"/>
            <a:ext cx="891403" cy="298396"/>
          </a:xfrm>
          <a:prstGeom prst="rect">
            <a:avLst/>
          </a:prstGeom>
        </p:spPr>
        <p:txBody>
          <a:bodyPr anchor="t" rtlCol="false" tIns="0" lIns="0" bIns="0" rIns="0">
            <a:spAutoFit/>
          </a:bodyPr>
          <a:lstStyle/>
          <a:p>
            <a:pPr algn="ctr">
              <a:lnSpc>
                <a:spcPts val="2582"/>
              </a:lnSpc>
            </a:pPr>
            <a:r>
              <a:rPr lang="en-US" b="true" sz="1721" spc="5">
                <a:solidFill>
                  <a:srgbClr val="2BBBED"/>
                </a:solidFill>
                <a:latin typeface="Montserrat Bold"/>
                <a:ea typeface="Montserrat Bold"/>
                <a:cs typeface="Montserrat Bold"/>
                <a:sym typeface="Montserrat Bold"/>
              </a:rPr>
              <a:t>TỶ LỆ</a:t>
            </a:r>
          </a:p>
        </p:txBody>
      </p:sp>
      <p:sp>
        <p:nvSpPr>
          <p:cNvPr name="TextBox 87" id="87"/>
          <p:cNvSpPr txBox="true"/>
          <p:nvPr/>
        </p:nvSpPr>
        <p:spPr>
          <a:xfrm rot="0">
            <a:off x="13798315" y="2429745"/>
            <a:ext cx="1244041" cy="298396"/>
          </a:xfrm>
          <a:prstGeom prst="rect">
            <a:avLst/>
          </a:prstGeom>
        </p:spPr>
        <p:txBody>
          <a:bodyPr anchor="t" rtlCol="false" tIns="0" lIns="0" bIns="0" rIns="0">
            <a:spAutoFit/>
          </a:bodyPr>
          <a:lstStyle/>
          <a:p>
            <a:pPr algn="ctr">
              <a:lnSpc>
                <a:spcPts val="2582"/>
              </a:lnSpc>
            </a:pPr>
            <a:r>
              <a:rPr lang="en-US" b="true" sz="1721" spc="5">
                <a:solidFill>
                  <a:srgbClr val="2BBBED"/>
                </a:solidFill>
                <a:latin typeface="Montserrat Bold"/>
                <a:ea typeface="Montserrat Bold"/>
                <a:cs typeface="Montserrat Bold"/>
                <a:sym typeface="Montserrat Bold"/>
              </a:rPr>
              <a:t>MỨC ĐỘ</a:t>
            </a:r>
          </a:p>
        </p:txBody>
      </p:sp>
      <p:sp>
        <p:nvSpPr>
          <p:cNvPr name="TextBox 88" id="88"/>
          <p:cNvSpPr txBox="true"/>
          <p:nvPr/>
        </p:nvSpPr>
        <p:spPr>
          <a:xfrm rot="0">
            <a:off x="15509293" y="2429745"/>
            <a:ext cx="1898196" cy="298396"/>
          </a:xfrm>
          <a:prstGeom prst="rect">
            <a:avLst/>
          </a:prstGeom>
        </p:spPr>
        <p:txBody>
          <a:bodyPr anchor="t" rtlCol="false" tIns="0" lIns="0" bIns="0" rIns="0">
            <a:spAutoFit/>
          </a:bodyPr>
          <a:lstStyle/>
          <a:p>
            <a:pPr algn="ctr">
              <a:lnSpc>
                <a:spcPts val="2582"/>
              </a:lnSpc>
            </a:pPr>
            <a:r>
              <a:rPr lang="en-US" b="true" sz="1721" spc="5">
                <a:solidFill>
                  <a:srgbClr val="2BBBED"/>
                </a:solidFill>
                <a:latin typeface="Montserrat Bold"/>
                <a:ea typeface="Montserrat Bold"/>
                <a:cs typeface="Montserrat Bold"/>
                <a:sym typeface="Montserrat Bold"/>
              </a:rPr>
              <a:t>HƯỚNG XỬ LÝ</a:t>
            </a:r>
          </a:p>
        </p:txBody>
      </p:sp>
      <p:sp>
        <p:nvSpPr>
          <p:cNvPr name="TextBox 89" id="89"/>
          <p:cNvSpPr txBox="true"/>
          <p:nvPr/>
        </p:nvSpPr>
        <p:spPr>
          <a:xfrm rot="0">
            <a:off x="7044294" y="3749204"/>
            <a:ext cx="2220864" cy="19812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Th</a:t>
            </a:r>
            <a:r>
              <a:rPr lang="en-US" sz="1200" i="true">
                <a:solidFill>
                  <a:srgbClr val="FFFFFF"/>
                </a:solidFill>
                <a:latin typeface="Montserrat Italics"/>
                <a:ea typeface="Montserrat Italics"/>
                <a:cs typeface="Montserrat Italics"/>
                <a:sym typeface="Montserrat Italics"/>
              </a:rPr>
              <a:t>iếu mã thiết bị (Device ID)</a:t>
            </a:r>
          </a:p>
        </p:txBody>
      </p:sp>
      <p:sp>
        <p:nvSpPr>
          <p:cNvPr name="TextBox 90" id="90"/>
          <p:cNvSpPr txBox="true"/>
          <p:nvPr/>
        </p:nvSpPr>
        <p:spPr>
          <a:xfrm rot="0">
            <a:off x="7044294" y="4290224"/>
            <a:ext cx="2220864" cy="40767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Giao dịch không  thành công </a:t>
            </a:r>
            <a:r>
              <a:rPr lang="en-US" sz="1200" i="true">
                <a:solidFill>
                  <a:srgbClr val="FFFFFF"/>
                </a:solidFill>
                <a:latin typeface="Montserrat Italics"/>
                <a:ea typeface="Montserrat Italics"/>
                <a:cs typeface="Montserrat Italics"/>
                <a:sym typeface="Montserrat Italics"/>
              </a:rPr>
              <a:t>(nhấn đúp / lỗi mạng)</a:t>
            </a:r>
          </a:p>
        </p:txBody>
      </p:sp>
      <p:sp>
        <p:nvSpPr>
          <p:cNvPr name="TextBox 91" id="91"/>
          <p:cNvSpPr txBox="true"/>
          <p:nvPr/>
        </p:nvSpPr>
        <p:spPr>
          <a:xfrm rot="0">
            <a:off x="7044294" y="4952559"/>
            <a:ext cx="2220864" cy="40767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Mâu</a:t>
            </a:r>
            <a:r>
              <a:rPr lang="en-US" sz="1200" i="true">
                <a:solidFill>
                  <a:srgbClr val="FFFFFF"/>
                </a:solidFill>
                <a:latin typeface="Montserrat Italics"/>
                <a:ea typeface="Montserrat Italics"/>
                <a:cs typeface="Montserrat Italics"/>
                <a:sym typeface="Montserrat Italics"/>
              </a:rPr>
              <a:t> thuẫn tổng thành phần không bằng</a:t>
            </a:r>
          </a:p>
        </p:txBody>
      </p:sp>
      <p:sp>
        <p:nvSpPr>
          <p:cNvPr name="TextBox 92" id="92"/>
          <p:cNvSpPr txBox="true"/>
          <p:nvPr/>
        </p:nvSpPr>
        <p:spPr>
          <a:xfrm rot="0">
            <a:off x="10213516" y="5803591"/>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2,917</a:t>
            </a:r>
          </a:p>
        </p:txBody>
      </p:sp>
      <p:sp>
        <p:nvSpPr>
          <p:cNvPr name="TextBox 93" id="93"/>
          <p:cNvSpPr txBox="true"/>
          <p:nvPr/>
        </p:nvSpPr>
        <p:spPr>
          <a:xfrm rot="0">
            <a:off x="10213516" y="6488101"/>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767</a:t>
            </a:r>
          </a:p>
        </p:txBody>
      </p:sp>
      <p:sp>
        <p:nvSpPr>
          <p:cNvPr name="TextBox 94" id="94"/>
          <p:cNvSpPr txBox="true"/>
          <p:nvPr/>
        </p:nvSpPr>
        <p:spPr>
          <a:xfrm rot="0">
            <a:off x="12287347" y="5803591"/>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0,97%</a:t>
            </a:r>
          </a:p>
        </p:txBody>
      </p:sp>
      <p:sp>
        <p:nvSpPr>
          <p:cNvPr name="TextBox 95" id="95"/>
          <p:cNvSpPr txBox="true"/>
          <p:nvPr/>
        </p:nvSpPr>
        <p:spPr>
          <a:xfrm rot="0">
            <a:off x="12287347" y="6488101"/>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0,25%</a:t>
            </a:r>
          </a:p>
        </p:txBody>
      </p:sp>
      <p:sp>
        <p:nvSpPr>
          <p:cNvPr name="TextBox 96" id="96"/>
          <p:cNvSpPr txBox="true"/>
          <p:nvPr/>
        </p:nvSpPr>
        <p:spPr>
          <a:xfrm rot="0">
            <a:off x="14317335" y="5838895"/>
            <a:ext cx="470077" cy="19812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Thấp</a:t>
            </a:r>
          </a:p>
        </p:txBody>
      </p:sp>
      <p:sp>
        <p:nvSpPr>
          <p:cNvPr name="TextBox 97" id="97"/>
          <p:cNvSpPr txBox="true"/>
          <p:nvPr/>
        </p:nvSpPr>
        <p:spPr>
          <a:xfrm rot="0">
            <a:off x="14317335" y="6507151"/>
            <a:ext cx="470077" cy="198120"/>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a:ea typeface="Montserrat"/>
                <a:cs typeface="Montserrat"/>
                <a:sym typeface="Montserrat"/>
              </a:rPr>
              <a:t>Thấp</a:t>
            </a:r>
          </a:p>
        </p:txBody>
      </p:sp>
      <p:sp>
        <p:nvSpPr>
          <p:cNvPr name="TextBox 98" id="98"/>
          <p:cNvSpPr txBox="true"/>
          <p:nvPr/>
        </p:nvSpPr>
        <p:spPr>
          <a:xfrm rot="0">
            <a:off x="15716953" y="5643468"/>
            <a:ext cx="1913990" cy="407634"/>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Gắn cờ outlier theo ngành hàng</a:t>
            </a:r>
          </a:p>
        </p:txBody>
      </p:sp>
      <p:sp>
        <p:nvSpPr>
          <p:cNvPr name="TextBox 99" id="99"/>
          <p:cNvSpPr txBox="true"/>
          <p:nvPr/>
        </p:nvSpPr>
        <p:spPr>
          <a:xfrm rot="0">
            <a:off x="15716953" y="6519932"/>
            <a:ext cx="1718221"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Gắn nhãn "unknown"</a:t>
            </a:r>
          </a:p>
        </p:txBody>
      </p:sp>
      <p:sp>
        <p:nvSpPr>
          <p:cNvPr name="TextBox 100" id="100"/>
          <p:cNvSpPr txBox="true"/>
          <p:nvPr/>
        </p:nvSpPr>
        <p:spPr>
          <a:xfrm rot="0">
            <a:off x="7044294" y="5670856"/>
            <a:ext cx="2220864" cy="40767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Giao</a:t>
            </a:r>
            <a:r>
              <a:rPr lang="en-US" sz="1200" i="true">
                <a:solidFill>
                  <a:srgbClr val="FFFFFF"/>
                </a:solidFill>
                <a:latin typeface="Montserrat Italics"/>
                <a:ea typeface="Montserrat Italics"/>
                <a:cs typeface="Montserrat Italics"/>
                <a:sym typeface="Montserrat Italics"/>
              </a:rPr>
              <a:t> dịch giá trị ngoại lai (Outlier theo ngành hàng)</a:t>
            </a:r>
          </a:p>
        </p:txBody>
      </p:sp>
      <p:sp>
        <p:nvSpPr>
          <p:cNvPr name="TextBox 101" id="101"/>
          <p:cNvSpPr txBox="true"/>
          <p:nvPr/>
        </p:nvSpPr>
        <p:spPr>
          <a:xfrm rot="0">
            <a:off x="7044294" y="6430387"/>
            <a:ext cx="2220864" cy="19812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T</a:t>
            </a:r>
            <a:r>
              <a:rPr lang="en-US" sz="1200" i="true">
                <a:solidFill>
                  <a:srgbClr val="FFFFFF"/>
                </a:solidFill>
                <a:latin typeface="Montserrat Italics"/>
                <a:ea typeface="Montserrat Italics"/>
                <a:cs typeface="Montserrat Italics"/>
                <a:sym typeface="Montserrat Italics"/>
              </a:rPr>
              <a:t>hiếu thông tin DeviceID</a:t>
            </a:r>
          </a:p>
        </p:txBody>
      </p:sp>
      <p:sp>
        <p:nvSpPr>
          <p:cNvPr name="TextBox 102" id="102"/>
          <p:cNvSpPr txBox="true"/>
          <p:nvPr/>
        </p:nvSpPr>
        <p:spPr>
          <a:xfrm rot="0">
            <a:off x="10213516" y="3163968"/>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187,24</a:t>
            </a:r>
          </a:p>
        </p:txBody>
      </p:sp>
      <p:sp>
        <p:nvSpPr>
          <p:cNvPr name="TextBox 103" id="103"/>
          <p:cNvSpPr txBox="true"/>
          <p:nvPr/>
        </p:nvSpPr>
        <p:spPr>
          <a:xfrm rot="0">
            <a:off x="10213516" y="3734708"/>
            <a:ext cx="586074"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28,547</a:t>
            </a:r>
          </a:p>
        </p:txBody>
      </p:sp>
      <p:sp>
        <p:nvSpPr>
          <p:cNvPr name="TextBox 104" id="104"/>
          <p:cNvSpPr txBox="true"/>
          <p:nvPr/>
        </p:nvSpPr>
        <p:spPr>
          <a:xfrm rot="0">
            <a:off x="10213516" y="4340526"/>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13,046</a:t>
            </a:r>
          </a:p>
        </p:txBody>
      </p:sp>
      <p:sp>
        <p:nvSpPr>
          <p:cNvPr name="TextBox 105" id="105"/>
          <p:cNvSpPr txBox="true"/>
          <p:nvPr/>
        </p:nvSpPr>
        <p:spPr>
          <a:xfrm rot="0">
            <a:off x="10213516" y="5032501"/>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2,299</a:t>
            </a:r>
          </a:p>
        </p:txBody>
      </p:sp>
      <p:sp>
        <p:nvSpPr>
          <p:cNvPr name="TextBox 106" id="106"/>
          <p:cNvSpPr txBox="true"/>
          <p:nvPr/>
        </p:nvSpPr>
        <p:spPr>
          <a:xfrm rot="0">
            <a:off x="12287347" y="3163968"/>
            <a:ext cx="586074"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62,18%</a:t>
            </a:r>
          </a:p>
        </p:txBody>
      </p:sp>
      <p:sp>
        <p:nvSpPr>
          <p:cNvPr name="TextBox 107" id="107"/>
          <p:cNvSpPr txBox="true"/>
          <p:nvPr/>
        </p:nvSpPr>
        <p:spPr>
          <a:xfrm rot="0">
            <a:off x="12287347" y="3734708"/>
            <a:ext cx="586074"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9,48%</a:t>
            </a:r>
          </a:p>
        </p:txBody>
      </p:sp>
      <p:sp>
        <p:nvSpPr>
          <p:cNvPr name="TextBox 108" id="108"/>
          <p:cNvSpPr txBox="true"/>
          <p:nvPr/>
        </p:nvSpPr>
        <p:spPr>
          <a:xfrm rot="0">
            <a:off x="12287347" y="4340526"/>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4,33%</a:t>
            </a:r>
          </a:p>
        </p:txBody>
      </p:sp>
      <p:sp>
        <p:nvSpPr>
          <p:cNvPr name="TextBox 109" id="109"/>
          <p:cNvSpPr txBox="true"/>
          <p:nvPr/>
        </p:nvSpPr>
        <p:spPr>
          <a:xfrm rot="0">
            <a:off x="12287347" y="5032501"/>
            <a:ext cx="470077" cy="198102"/>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0,76%</a:t>
            </a:r>
          </a:p>
        </p:txBody>
      </p:sp>
      <p:sp>
        <p:nvSpPr>
          <p:cNvPr name="TextBox 110" id="110"/>
          <p:cNvSpPr txBox="true"/>
          <p:nvPr/>
        </p:nvSpPr>
        <p:spPr>
          <a:xfrm rot="0">
            <a:off x="14087339" y="3734690"/>
            <a:ext cx="930068" cy="19812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Trung bình</a:t>
            </a:r>
          </a:p>
        </p:txBody>
      </p:sp>
      <p:sp>
        <p:nvSpPr>
          <p:cNvPr name="TextBox 111" id="111"/>
          <p:cNvSpPr txBox="true"/>
          <p:nvPr/>
        </p:nvSpPr>
        <p:spPr>
          <a:xfrm rot="0">
            <a:off x="14087339" y="4361849"/>
            <a:ext cx="930068" cy="19812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Trung bình</a:t>
            </a:r>
          </a:p>
        </p:txBody>
      </p:sp>
      <p:sp>
        <p:nvSpPr>
          <p:cNvPr name="TextBox 112" id="112"/>
          <p:cNvSpPr txBox="true"/>
          <p:nvPr/>
        </p:nvSpPr>
        <p:spPr>
          <a:xfrm rot="0">
            <a:off x="14317335" y="5057334"/>
            <a:ext cx="470077" cy="19812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Thấp</a:t>
            </a:r>
          </a:p>
        </p:txBody>
      </p:sp>
      <p:sp>
        <p:nvSpPr>
          <p:cNvPr name="TextBox 113" id="113"/>
          <p:cNvSpPr txBox="true"/>
          <p:nvPr/>
        </p:nvSpPr>
        <p:spPr>
          <a:xfrm rot="0">
            <a:off x="15716953" y="3026503"/>
            <a:ext cx="1718221" cy="407634"/>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Đồng bộ là giao dịch tự nhiên (organic)</a:t>
            </a:r>
          </a:p>
        </p:txBody>
      </p:sp>
      <p:sp>
        <p:nvSpPr>
          <p:cNvPr name="TextBox 114" id="114"/>
          <p:cNvSpPr txBox="true"/>
          <p:nvPr/>
        </p:nvSpPr>
        <p:spPr>
          <a:xfrm rot="0">
            <a:off x="15716953" y="3629942"/>
            <a:ext cx="1799992" cy="407634"/>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Gắn nhãn "unknown", lưu cỡ rủi ro</a:t>
            </a:r>
          </a:p>
        </p:txBody>
      </p:sp>
      <p:sp>
        <p:nvSpPr>
          <p:cNvPr name="TextBox 115" id="115"/>
          <p:cNvSpPr txBox="true"/>
          <p:nvPr/>
        </p:nvSpPr>
        <p:spPr>
          <a:xfrm rot="0">
            <a:off x="15716953" y="4927735"/>
            <a:ext cx="1683994" cy="407634"/>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Gắn cờ bất thường tài chính</a:t>
            </a:r>
          </a:p>
        </p:txBody>
      </p:sp>
      <p:grpSp>
        <p:nvGrpSpPr>
          <p:cNvPr name="Group 116" id="116"/>
          <p:cNvGrpSpPr/>
          <p:nvPr/>
        </p:nvGrpSpPr>
        <p:grpSpPr>
          <a:xfrm rot="0">
            <a:off x="6065133" y="7157611"/>
            <a:ext cx="11575172" cy="2100689"/>
            <a:chOff x="0" y="0"/>
            <a:chExt cx="15433563" cy="2800919"/>
          </a:xfrm>
        </p:grpSpPr>
        <p:grpSp>
          <p:nvGrpSpPr>
            <p:cNvPr name="Group 117" id="117"/>
            <p:cNvGrpSpPr/>
            <p:nvPr/>
          </p:nvGrpSpPr>
          <p:grpSpPr>
            <a:xfrm rot="0">
              <a:off x="0" y="0"/>
              <a:ext cx="15433563" cy="2800919"/>
              <a:chOff x="0" y="0"/>
              <a:chExt cx="3738633" cy="678496"/>
            </a:xfrm>
          </p:grpSpPr>
          <p:sp>
            <p:nvSpPr>
              <p:cNvPr name="Freeform 118" id="118"/>
              <p:cNvSpPr/>
              <p:nvPr/>
            </p:nvSpPr>
            <p:spPr>
              <a:xfrm flipH="false" flipV="false" rot="0">
                <a:off x="0" y="0"/>
                <a:ext cx="3738633" cy="678496"/>
              </a:xfrm>
              <a:custGeom>
                <a:avLst/>
                <a:gdLst/>
                <a:ahLst/>
                <a:cxnLst/>
                <a:rect r="r" b="b" t="t" l="l"/>
                <a:pathLst>
                  <a:path h="678496" w="3738633">
                    <a:moveTo>
                      <a:pt x="22741" y="0"/>
                    </a:moveTo>
                    <a:lnTo>
                      <a:pt x="3715893" y="0"/>
                    </a:lnTo>
                    <a:cubicBezTo>
                      <a:pt x="3721924" y="0"/>
                      <a:pt x="3727708" y="2396"/>
                      <a:pt x="3731973" y="6661"/>
                    </a:cubicBezTo>
                    <a:cubicBezTo>
                      <a:pt x="3736237" y="10925"/>
                      <a:pt x="3738633" y="16709"/>
                      <a:pt x="3738633" y="22741"/>
                    </a:cubicBezTo>
                    <a:lnTo>
                      <a:pt x="3738633" y="655755"/>
                    </a:lnTo>
                    <a:cubicBezTo>
                      <a:pt x="3738633" y="668315"/>
                      <a:pt x="3728452" y="678496"/>
                      <a:pt x="3715893" y="678496"/>
                    </a:cubicBezTo>
                    <a:lnTo>
                      <a:pt x="22741" y="678496"/>
                    </a:lnTo>
                    <a:cubicBezTo>
                      <a:pt x="10181" y="678496"/>
                      <a:pt x="0" y="668315"/>
                      <a:pt x="0" y="655755"/>
                    </a:cubicBezTo>
                    <a:lnTo>
                      <a:pt x="0" y="22741"/>
                    </a:lnTo>
                    <a:cubicBezTo>
                      <a:pt x="0" y="10181"/>
                      <a:pt x="10181" y="0"/>
                      <a:pt x="22741" y="0"/>
                    </a:cubicBezTo>
                    <a:close/>
                  </a:path>
                </a:pathLst>
              </a:custGeom>
              <a:ln w="38100" cap="rnd">
                <a:gradFill>
                  <a:gsLst>
                    <a:gs pos="0">
                      <a:srgbClr val="5F89FF">
                        <a:alpha val="68000"/>
                      </a:srgbClr>
                    </a:gs>
                    <a:gs pos="100000">
                      <a:srgbClr val="FFFFFF">
                        <a:alpha val="12580"/>
                      </a:srgbClr>
                    </a:gs>
                  </a:gsLst>
                  <a:lin ang="5400000"/>
                </a:gradFill>
                <a:prstDash val="solid"/>
                <a:round/>
              </a:ln>
            </p:spPr>
          </p:sp>
          <p:sp>
            <p:nvSpPr>
              <p:cNvPr name="TextBox 119" id="119"/>
              <p:cNvSpPr txBox="true"/>
              <p:nvPr/>
            </p:nvSpPr>
            <p:spPr>
              <a:xfrm>
                <a:off x="0" y="28575"/>
                <a:ext cx="3738633" cy="649921"/>
              </a:xfrm>
              <a:prstGeom prst="rect">
                <a:avLst/>
              </a:prstGeom>
            </p:spPr>
            <p:txBody>
              <a:bodyPr anchor="ctr" rtlCol="false" tIns="50800" lIns="50800" bIns="50800" rIns="50800"/>
              <a:lstStyle/>
              <a:p>
                <a:pPr algn="ctr">
                  <a:lnSpc>
                    <a:spcPts val="2000"/>
                  </a:lnSpc>
                </a:pPr>
              </a:p>
            </p:txBody>
          </p:sp>
        </p:grpSp>
        <p:sp>
          <p:nvSpPr>
            <p:cNvPr name="TextBox 120" id="120"/>
            <p:cNvSpPr txBox="true"/>
            <p:nvPr/>
          </p:nvSpPr>
          <p:spPr>
            <a:xfrm rot="0">
              <a:off x="4589067" y="282575"/>
              <a:ext cx="6255428" cy="391900"/>
            </a:xfrm>
            <a:prstGeom prst="rect">
              <a:avLst/>
            </a:prstGeom>
          </p:spPr>
          <p:txBody>
            <a:bodyPr anchor="t" rtlCol="false" tIns="0" lIns="0" bIns="0" rIns="0">
              <a:spAutoFit/>
            </a:bodyPr>
            <a:lstStyle/>
            <a:p>
              <a:pPr algn="l">
                <a:lnSpc>
                  <a:spcPts val="2582"/>
                </a:lnSpc>
              </a:pPr>
              <a:r>
                <a:rPr lang="en-US" b="true" sz="1721" spc="5">
                  <a:solidFill>
                    <a:srgbClr val="2BBBED"/>
                  </a:solidFill>
                  <a:latin typeface="Montserrat Bold"/>
                  <a:ea typeface="Montserrat Bold"/>
                  <a:cs typeface="Montserrat Bold"/>
                  <a:sym typeface="Montserrat Bold"/>
                </a:rPr>
                <a:t>4. KẾT QUẢ VÀ TÁC ĐỘNG KINH DOANH</a:t>
              </a:r>
            </a:p>
          </p:txBody>
        </p:sp>
        <p:sp>
          <p:nvSpPr>
            <p:cNvPr name="TextBox 121" id="121"/>
            <p:cNvSpPr txBox="true"/>
            <p:nvPr/>
          </p:nvSpPr>
          <p:spPr>
            <a:xfrm rot="0">
              <a:off x="2771902" y="879354"/>
              <a:ext cx="4701661" cy="607060"/>
            </a:xfrm>
            <a:prstGeom prst="rect">
              <a:avLst/>
            </a:prstGeom>
          </p:spPr>
          <p:txBody>
            <a:bodyPr anchor="t" rtlCol="false" tIns="0" lIns="0" bIns="0" rIns="0">
              <a:spAutoFit/>
            </a:bodyPr>
            <a:lstStyle/>
            <a:p>
              <a:pPr algn="just">
                <a:lnSpc>
                  <a:spcPts val="1949"/>
                </a:lnSpc>
              </a:pPr>
              <a:r>
                <a:rPr lang="en-US" sz="1299" i="true">
                  <a:solidFill>
                    <a:srgbClr val="FCFFFF"/>
                  </a:solidFill>
                  <a:latin typeface="Montserrat Italics"/>
                  <a:ea typeface="Montserrat Italics"/>
                  <a:cs typeface="Montserrat Italics"/>
                  <a:sym typeface="Montserrat Italics"/>
                </a:rPr>
                <a:t>G</a:t>
              </a:r>
              <a:r>
                <a:rPr lang="en-US" sz="1299" i="true">
                  <a:solidFill>
                    <a:srgbClr val="FCFFFF"/>
                  </a:solidFill>
                  <a:latin typeface="Montserrat Italics"/>
                  <a:ea typeface="Montserrat Italics"/>
                  <a:cs typeface="Montserrat Italics"/>
                  <a:sym typeface="Montserrat Italics"/>
                </a:rPr>
                <a:t>iao dịch không ghi nhận ưu đãi </a:t>
              </a:r>
            </a:p>
            <a:p>
              <a:pPr algn="just">
                <a:lnSpc>
                  <a:spcPts val="1949"/>
                </a:lnSpc>
              </a:pPr>
              <a:r>
                <a:rPr lang="en-US" sz="1299" i="true">
                  <a:solidFill>
                    <a:srgbClr val="FCFFFF"/>
                  </a:solidFill>
                  <a:latin typeface="Montserrat Italics"/>
                  <a:ea typeface="Montserrat Italics"/>
                  <a:cs typeface="Montserrat Italics"/>
                  <a:sym typeface="Montserrat Italics"/>
                </a:rPr>
                <a:t>--&gt; chủ yếu là giao dịch tự nhiên (organic)</a:t>
              </a:r>
            </a:p>
          </p:txBody>
        </p:sp>
        <p:sp>
          <p:nvSpPr>
            <p:cNvPr name="TextBox 122" id="122"/>
            <p:cNvSpPr txBox="true"/>
            <p:nvPr/>
          </p:nvSpPr>
          <p:spPr>
            <a:xfrm rot="0">
              <a:off x="2771817" y="1816614"/>
              <a:ext cx="4701661" cy="607060"/>
            </a:xfrm>
            <a:prstGeom prst="rect">
              <a:avLst/>
            </a:prstGeom>
          </p:spPr>
          <p:txBody>
            <a:bodyPr anchor="t" rtlCol="false" tIns="0" lIns="0" bIns="0" rIns="0">
              <a:spAutoFit/>
            </a:bodyPr>
            <a:lstStyle/>
            <a:p>
              <a:pPr algn="just">
                <a:lnSpc>
                  <a:spcPts val="1949"/>
                </a:lnSpc>
              </a:pPr>
              <a:r>
                <a:rPr lang="en-US" sz="1299" i="true">
                  <a:solidFill>
                    <a:srgbClr val="FCFFFF"/>
                  </a:solidFill>
                  <a:latin typeface="Montserrat Italics"/>
                  <a:ea typeface="Montserrat Italics"/>
                  <a:cs typeface="Montserrat Italics"/>
                  <a:sym typeface="Montserrat Italics"/>
                </a:rPr>
                <a:t>G</a:t>
              </a:r>
              <a:r>
                <a:rPr lang="en-US" sz="1299" i="true">
                  <a:solidFill>
                    <a:srgbClr val="FCFFFF"/>
                  </a:solidFill>
                  <a:latin typeface="Montserrat Italics"/>
                  <a:ea typeface="Montserrat Italics"/>
                  <a:cs typeface="Montserrat Italics"/>
                  <a:sym typeface="Montserrat Italics"/>
                </a:rPr>
                <a:t>iao dịch thiếu Device ID giám sát rủi ro qua IP &amp; hành vi</a:t>
              </a:r>
            </a:p>
          </p:txBody>
        </p:sp>
        <p:sp>
          <p:nvSpPr>
            <p:cNvPr name="Freeform 123" id="123"/>
            <p:cNvSpPr/>
            <p:nvPr/>
          </p:nvSpPr>
          <p:spPr>
            <a:xfrm flipH="false" flipV="false" rot="0">
              <a:off x="483988" y="910083"/>
              <a:ext cx="502407" cy="502407"/>
            </a:xfrm>
            <a:custGeom>
              <a:avLst/>
              <a:gdLst/>
              <a:ahLst/>
              <a:cxnLst/>
              <a:rect r="r" b="b" t="t" l="l"/>
              <a:pathLst>
                <a:path h="502407" w="502407">
                  <a:moveTo>
                    <a:pt x="0" y="0"/>
                  </a:moveTo>
                  <a:lnTo>
                    <a:pt x="502407" y="0"/>
                  </a:lnTo>
                  <a:lnTo>
                    <a:pt x="502407" y="502407"/>
                  </a:lnTo>
                  <a:lnTo>
                    <a:pt x="0" y="502407"/>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24" id="124"/>
            <p:cNvSpPr/>
            <p:nvPr/>
          </p:nvSpPr>
          <p:spPr>
            <a:xfrm flipH="false" flipV="false" rot="0">
              <a:off x="8353112" y="1868786"/>
              <a:ext cx="513117" cy="429094"/>
            </a:xfrm>
            <a:custGeom>
              <a:avLst/>
              <a:gdLst/>
              <a:ahLst/>
              <a:cxnLst/>
              <a:rect r="r" b="b" t="t" l="l"/>
              <a:pathLst>
                <a:path h="429094" w="513117">
                  <a:moveTo>
                    <a:pt x="0" y="0"/>
                  </a:moveTo>
                  <a:lnTo>
                    <a:pt x="513117" y="0"/>
                  </a:lnTo>
                  <a:lnTo>
                    <a:pt x="513117" y="429094"/>
                  </a:lnTo>
                  <a:lnTo>
                    <a:pt x="0" y="4290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5" id="125"/>
            <p:cNvSpPr/>
            <p:nvPr/>
          </p:nvSpPr>
          <p:spPr>
            <a:xfrm flipH="false" flipV="false" rot="0">
              <a:off x="8271685" y="924462"/>
              <a:ext cx="594544" cy="479351"/>
            </a:xfrm>
            <a:custGeom>
              <a:avLst/>
              <a:gdLst/>
              <a:ahLst/>
              <a:cxnLst/>
              <a:rect r="r" b="b" t="t" l="l"/>
              <a:pathLst>
                <a:path h="479351" w="594544">
                  <a:moveTo>
                    <a:pt x="0" y="0"/>
                  </a:moveTo>
                  <a:lnTo>
                    <a:pt x="594544" y="0"/>
                  </a:lnTo>
                  <a:lnTo>
                    <a:pt x="594544" y="479351"/>
                  </a:lnTo>
                  <a:lnTo>
                    <a:pt x="0" y="479351"/>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TextBox 126" id="126"/>
            <p:cNvSpPr txBox="true"/>
            <p:nvPr/>
          </p:nvSpPr>
          <p:spPr>
            <a:xfrm rot="0">
              <a:off x="10536655" y="841558"/>
              <a:ext cx="4701661" cy="607060"/>
            </a:xfrm>
            <a:prstGeom prst="rect">
              <a:avLst/>
            </a:prstGeom>
          </p:spPr>
          <p:txBody>
            <a:bodyPr anchor="t" rtlCol="false" tIns="0" lIns="0" bIns="0" rIns="0">
              <a:spAutoFit/>
            </a:bodyPr>
            <a:lstStyle/>
            <a:p>
              <a:pPr algn="just">
                <a:lnSpc>
                  <a:spcPts val="1949"/>
                </a:lnSpc>
              </a:pPr>
              <a:r>
                <a:rPr lang="en-US" sz="1299" i="true">
                  <a:solidFill>
                    <a:srgbClr val="FCFFFF"/>
                  </a:solidFill>
                  <a:latin typeface="Montserrat Italics"/>
                  <a:ea typeface="Montserrat Italics"/>
                  <a:cs typeface="Montserrat Italics"/>
                  <a:sym typeface="Montserrat Italics"/>
                </a:rPr>
                <a:t>G</a:t>
              </a:r>
              <a:r>
                <a:rPr lang="en-US" sz="1299" i="true">
                  <a:solidFill>
                    <a:srgbClr val="FCFFFF"/>
                  </a:solidFill>
                  <a:latin typeface="Montserrat Italics"/>
                  <a:ea typeface="Montserrat Italics"/>
                  <a:cs typeface="Montserrat Italics"/>
                  <a:sym typeface="Montserrat Italics"/>
                </a:rPr>
                <a:t>iao dịch trùng lặp ngữ nghĩa phản ánh trải nghiệm thanh toán</a:t>
              </a:r>
            </a:p>
          </p:txBody>
        </p:sp>
        <p:sp>
          <p:nvSpPr>
            <p:cNvPr name="TextBox 127" id="127"/>
            <p:cNvSpPr txBox="true"/>
            <p:nvPr/>
          </p:nvSpPr>
          <p:spPr>
            <a:xfrm rot="0">
              <a:off x="9097694" y="755650"/>
              <a:ext cx="1290462" cy="692968"/>
            </a:xfrm>
            <a:prstGeom prst="rect">
              <a:avLst/>
            </a:prstGeom>
          </p:spPr>
          <p:txBody>
            <a:bodyPr anchor="t" rtlCol="false" tIns="0" lIns="0" bIns="0" rIns="0">
              <a:spAutoFit/>
            </a:bodyPr>
            <a:lstStyle/>
            <a:p>
              <a:pPr algn="l">
                <a:lnSpc>
                  <a:spcPts val="4635"/>
                </a:lnSpc>
              </a:pPr>
              <a:r>
                <a:rPr lang="en-US" b="true" sz="3090" spc="9">
                  <a:solidFill>
                    <a:srgbClr val="D0F3FF"/>
                  </a:solidFill>
                  <a:latin typeface="Montserrat Bold"/>
                  <a:ea typeface="Montserrat Bold"/>
                  <a:cs typeface="Montserrat Bold"/>
                  <a:sym typeface="Montserrat Bold"/>
                </a:rPr>
                <a:t>4.3%</a:t>
              </a:r>
            </a:p>
          </p:txBody>
        </p:sp>
        <p:sp>
          <p:nvSpPr>
            <p:cNvPr name="TextBox 128" id="128"/>
            <p:cNvSpPr txBox="true"/>
            <p:nvPr/>
          </p:nvSpPr>
          <p:spPr>
            <a:xfrm rot="0">
              <a:off x="10536655" y="1756776"/>
              <a:ext cx="4701661" cy="607060"/>
            </a:xfrm>
            <a:prstGeom prst="rect">
              <a:avLst/>
            </a:prstGeom>
          </p:spPr>
          <p:txBody>
            <a:bodyPr anchor="t" rtlCol="false" tIns="0" lIns="0" bIns="0" rIns="0">
              <a:spAutoFit/>
            </a:bodyPr>
            <a:lstStyle/>
            <a:p>
              <a:pPr algn="just">
                <a:lnSpc>
                  <a:spcPts val="1949"/>
                </a:lnSpc>
              </a:pPr>
              <a:r>
                <a:rPr lang="en-US" sz="1299" i="true">
                  <a:solidFill>
                    <a:srgbClr val="FCFFFF"/>
                  </a:solidFill>
                  <a:latin typeface="Montserrat Italics"/>
                  <a:ea typeface="Montserrat Italics"/>
                  <a:cs typeface="Montserrat Italics"/>
                  <a:sym typeface="Montserrat Italics"/>
                </a:rPr>
                <a:t>Khách hàng mới chỉ g</a:t>
              </a:r>
              <a:r>
                <a:rPr lang="en-US" sz="1299" i="true">
                  <a:solidFill>
                    <a:srgbClr val="FCFFFF"/>
                  </a:solidFill>
                  <a:latin typeface="Montserrat Italics"/>
                  <a:ea typeface="Montserrat Italics"/>
                  <a:cs typeface="Montserrat Italics"/>
                  <a:sym typeface="Montserrat Italics"/>
                </a:rPr>
                <a:t>iao dịch 1 lần tín hiệu rủi ro giữ chân thấp</a:t>
              </a:r>
            </a:p>
          </p:txBody>
        </p:sp>
        <p:sp>
          <p:nvSpPr>
            <p:cNvPr name="TextBox 129" id="129"/>
            <p:cNvSpPr txBox="true"/>
            <p:nvPr/>
          </p:nvSpPr>
          <p:spPr>
            <a:xfrm rot="0">
              <a:off x="9102784" y="1670868"/>
              <a:ext cx="1290462" cy="692968"/>
            </a:xfrm>
            <a:prstGeom prst="rect">
              <a:avLst/>
            </a:prstGeom>
          </p:spPr>
          <p:txBody>
            <a:bodyPr anchor="t" rtlCol="false" tIns="0" lIns="0" bIns="0" rIns="0">
              <a:spAutoFit/>
            </a:bodyPr>
            <a:lstStyle/>
            <a:p>
              <a:pPr algn="l">
                <a:lnSpc>
                  <a:spcPts val="4635"/>
                </a:lnSpc>
              </a:pPr>
              <a:r>
                <a:rPr lang="en-US" b="true" sz="3090" spc="9">
                  <a:solidFill>
                    <a:srgbClr val="D0F3FF"/>
                  </a:solidFill>
                  <a:latin typeface="Montserrat Bold"/>
                  <a:ea typeface="Montserrat Bold"/>
                  <a:cs typeface="Montserrat Bold"/>
                  <a:sym typeface="Montserrat Bold"/>
                </a:rPr>
                <a:t>23% </a:t>
              </a:r>
            </a:p>
          </p:txBody>
        </p:sp>
        <p:sp>
          <p:nvSpPr>
            <p:cNvPr name="TextBox 130" id="130"/>
            <p:cNvSpPr txBox="true"/>
            <p:nvPr/>
          </p:nvSpPr>
          <p:spPr>
            <a:xfrm rot="0">
              <a:off x="1338031" y="769725"/>
              <a:ext cx="1263068" cy="692968"/>
            </a:xfrm>
            <a:prstGeom prst="rect">
              <a:avLst/>
            </a:prstGeom>
          </p:spPr>
          <p:txBody>
            <a:bodyPr anchor="t" rtlCol="false" tIns="0" lIns="0" bIns="0" rIns="0">
              <a:spAutoFit/>
            </a:bodyPr>
            <a:lstStyle/>
            <a:p>
              <a:pPr algn="l">
                <a:lnSpc>
                  <a:spcPts val="4635"/>
                </a:lnSpc>
              </a:pPr>
              <a:r>
                <a:rPr lang="en-US" b="true" sz="3090" spc="9">
                  <a:solidFill>
                    <a:srgbClr val="D0F3FF"/>
                  </a:solidFill>
                  <a:latin typeface="Montserrat Bold"/>
                  <a:ea typeface="Montserrat Bold"/>
                  <a:cs typeface="Montserrat Bold"/>
                  <a:sym typeface="Montserrat Bold"/>
                </a:rPr>
                <a:t>62%</a:t>
              </a:r>
            </a:p>
          </p:txBody>
        </p:sp>
        <p:sp>
          <p:nvSpPr>
            <p:cNvPr name="TextBox 131" id="131"/>
            <p:cNvSpPr txBox="true"/>
            <p:nvPr/>
          </p:nvSpPr>
          <p:spPr>
            <a:xfrm rot="0">
              <a:off x="1305549" y="1689224"/>
              <a:ext cx="1263068" cy="692968"/>
            </a:xfrm>
            <a:prstGeom prst="rect">
              <a:avLst/>
            </a:prstGeom>
          </p:spPr>
          <p:txBody>
            <a:bodyPr anchor="t" rtlCol="false" tIns="0" lIns="0" bIns="0" rIns="0">
              <a:spAutoFit/>
            </a:bodyPr>
            <a:lstStyle/>
            <a:p>
              <a:pPr algn="l">
                <a:lnSpc>
                  <a:spcPts val="4635"/>
                </a:lnSpc>
              </a:pPr>
              <a:r>
                <a:rPr lang="en-US" b="true" sz="3090" spc="9">
                  <a:solidFill>
                    <a:srgbClr val="D0F3FF"/>
                  </a:solidFill>
                  <a:latin typeface="Montserrat Bold"/>
                  <a:ea typeface="Montserrat Bold"/>
                  <a:cs typeface="Montserrat Bold"/>
                  <a:sym typeface="Montserrat Bold"/>
                </a:rPr>
                <a:t>9.5%</a:t>
              </a:r>
            </a:p>
          </p:txBody>
        </p:sp>
        <p:sp>
          <p:nvSpPr>
            <p:cNvPr name="Freeform 132" id="132"/>
            <p:cNvSpPr/>
            <p:nvPr/>
          </p:nvSpPr>
          <p:spPr>
            <a:xfrm flipH="false" flipV="false" rot="0">
              <a:off x="538154" y="1844290"/>
              <a:ext cx="517358" cy="501367"/>
            </a:xfrm>
            <a:custGeom>
              <a:avLst/>
              <a:gdLst/>
              <a:ahLst/>
              <a:cxnLst/>
              <a:rect r="r" b="b" t="t" l="l"/>
              <a:pathLst>
                <a:path h="501367" w="517358">
                  <a:moveTo>
                    <a:pt x="0" y="0"/>
                  </a:moveTo>
                  <a:lnTo>
                    <a:pt x="517358" y="0"/>
                  </a:lnTo>
                  <a:lnTo>
                    <a:pt x="517358" y="501367"/>
                  </a:lnTo>
                  <a:lnTo>
                    <a:pt x="0" y="50136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sp>
        <p:nvSpPr>
          <p:cNvPr name="TextBox 133" id="133"/>
          <p:cNvSpPr txBox="true"/>
          <p:nvPr/>
        </p:nvSpPr>
        <p:spPr>
          <a:xfrm rot="0">
            <a:off x="15716953" y="4290260"/>
            <a:ext cx="1683994" cy="407634"/>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Italics"/>
                <a:ea typeface="Montserrat Italics"/>
                <a:cs typeface="Montserrat Italics"/>
                <a:sym typeface="Montserrat Italics"/>
              </a:rPr>
              <a:t>Gắn cờ trùng lặp, tách riêng phân tích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52473"/>
            <a:ext cx="18288000" cy="10339473"/>
            <a:chOff x="0" y="0"/>
            <a:chExt cx="4816593" cy="2723153"/>
          </a:xfrm>
        </p:grpSpPr>
        <p:sp>
          <p:nvSpPr>
            <p:cNvPr name="Freeform 4" id="4"/>
            <p:cNvSpPr/>
            <p:nvPr/>
          </p:nvSpPr>
          <p:spPr>
            <a:xfrm flipH="false" flipV="false" rot="0">
              <a:off x="0" y="0"/>
              <a:ext cx="4816592" cy="2723153"/>
            </a:xfrm>
            <a:custGeom>
              <a:avLst/>
              <a:gdLst/>
              <a:ahLst/>
              <a:cxnLst/>
              <a:rect r="r" b="b" t="t" l="l"/>
              <a:pathLst>
                <a:path h="2723153" w="4816592">
                  <a:moveTo>
                    <a:pt x="0" y="0"/>
                  </a:moveTo>
                  <a:lnTo>
                    <a:pt x="4816592" y="0"/>
                  </a:lnTo>
                  <a:lnTo>
                    <a:pt x="4816592" y="2723153"/>
                  </a:lnTo>
                  <a:lnTo>
                    <a:pt x="0" y="2723153"/>
                  </a:lnTo>
                  <a:close/>
                </a:path>
              </a:pathLst>
            </a:custGeom>
            <a:solidFill>
              <a:srgbClr val="0A0A0A">
                <a:alpha val="92941"/>
              </a:srgbClr>
            </a:solidFill>
          </p:spPr>
        </p:sp>
        <p:sp>
          <p:nvSpPr>
            <p:cNvPr name="TextBox 5" id="5"/>
            <p:cNvSpPr txBox="true"/>
            <p:nvPr/>
          </p:nvSpPr>
          <p:spPr>
            <a:xfrm>
              <a:off x="0" y="-104775"/>
              <a:ext cx="4816593" cy="282792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021643" y="-2104094"/>
            <a:ext cx="10288805" cy="11905421"/>
          </a:xfrm>
          <a:custGeom>
            <a:avLst/>
            <a:gdLst/>
            <a:ahLst/>
            <a:cxnLst/>
            <a:rect r="r" b="b" t="t" l="l"/>
            <a:pathLst>
              <a:path h="11905421" w="10288805">
                <a:moveTo>
                  <a:pt x="0" y="11905421"/>
                </a:moveTo>
                <a:lnTo>
                  <a:pt x="10288805" y="11905421"/>
                </a:lnTo>
                <a:lnTo>
                  <a:pt x="10288805" y="0"/>
                </a:lnTo>
                <a:lnTo>
                  <a:pt x="0" y="0"/>
                </a:lnTo>
                <a:lnTo>
                  <a:pt x="0" y="11905421"/>
                </a:lnTo>
                <a:close/>
              </a:path>
            </a:pathLst>
          </a:custGeom>
          <a:blipFill>
            <a:blip r:embed="rId3">
              <a:alphaModFix amt="37000"/>
            </a:blip>
            <a:stretch>
              <a:fillRect l="-41760" t="0" r="0" b="0"/>
            </a:stretch>
          </a:blipFill>
        </p:spPr>
      </p:sp>
      <p:sp>
        <p:nvSpPr>
          <p:cNvPr name="Freeform 7" id="7"/>
          <p:cNvSpPr/>
          <p:nvPr/>
        </p:nvSpPr>
        <p:spPr>
          <a:xfrm flipH="true" flipV="false" rot="0">
            <a:off x="-2469620" y="-6326140"/>
            <a:ext cx="11129273" cy="11905421"/>
          </a:xfrm>
          <a:custGeom>
            <a:avLst/>
            <a:gdLst/>
            <a:ahLst/>
            <a:cxnLst/>
            <a:rect r="r" b="b" t="t" l="l"/>
            <a:pathLst>
              <a:path h="11905421" w="11129273">
                <a:moveTo>
                  <a:pt x="11129273" y="0"/>
                </a:moveTo>
                <a:lnTo>
                  <a:pt x="0" y="0"/>
                </a:lnTo>
                <a:lnTo>
                  <a:pt x="0" y="11905421"/>
                </a:lnTo>
                <a:lnTo>
                  <a:pt x="11129273" y="11905421"/>
                </a:lnTo>
                <a:lnTo>
                  <a:pt x="11129273" y="0"/>
                </a:lnTo>
                <a:close/>
              </a:path>
            </a:pathLst>
          </a:custGeom>
          <a:blipFill>
            <a:blip r:embed="rId3">
              <a:alphaModFix amt="61000"/>
            </a:blip>
            <a:stretch>
              <a:fillRect l="-31055" t="0" r="0" b="0"/>
            </a:stretch>
          </a:blipFill>
        </p:spPr>
      </p:sp>
      <p:grpSp>
        <p:nvGrpSpPr>
          <p:cNvPr name="Group 8" id="8"/>
          <p:cNvGrpSpPr/>
          <p:nvPr/>
        </p:nvGrpSpPr>
        <p:grpSpPr>
          <a:xfrm rot="0">
            <a:off x="759740" y="1272948"/>
            <a:ext cx="8051728" cy="6545118"/>
            <a:chOff x="0" y="0"/>
            <a:chExt cx="2120620" cy="1723817"/>
          </a:xfrm>
        </p:grpSpPr>
        <p:sp>
          <p:nvSpPr>
            <p:cNvPr name="Freeform 9" id="9"/>
            <p:cNvSpPr/>
            <p:nvPr/>
          </p:nvSpPr>
          <p:spPr>
            <a:xfrm flipH="false" flipV="false" rot="0">
              <a:off x="0" y="0"/>
              <a:ext cx="2120620" cy="1723817"/>
            </a:xfrm>
            <a:custGeom>
              <a:avLst/>
              <a:gdLst/>
              <a:ahLst/>
              <a:cxnLst/>
              <a:rect r="r" b="b" t="t" l="l"/>
              <a:pathLst>
                <a:path h="1723817" w="2120620">
                  <a:moveTo>
                    <a:pt x="49038" y="0"/>
                  </a:moveTo>
                  <a:lnTo>
                    <a:pt x="2071582" y="0"/>
                  </a:lnTo>
                  <a:cubicBezTo>
                    <a:pt x="2084588" y="0"/>
                    <a:pt x="2097061" y="5166"/>
                    <a:pt x="2106257" y="14363"/>
                  </a:cubicBezTo>
                  <a:cubicBezTo>
                    <a:pt x="2115453" y="23559"/>
                    <a:pt x="2120620" y="36032"/>
                    <a:pt x="2120620" y="49038"/>
                  </a:cubicBezTo>
                  <a:lnTo>
                    <a:pt x="2120620" y="1674780"/>
                  </a:lnTo>
                  <a:cubicBezTo>
                    <a:pt x="2120620" y="1687785"/>
                    <a:pt x="2115453" y="1700258"/>
                    <a:pt x="2106257" y="1709454"/>
                  </a:cubicBezTo>
                  <a:cubicBezTo>
                    <a:pt x="2097061" y="1718651"/>
                    <a:pt x="2084588" y="1723817"/>
                    <a:pt x="2071582" y="1723817"/>
                  </a:cubicBezTo>
                  <a:lnTo>
                    <a:pt x="49038" y="1723817"/>
                  </a:lnTo>
                  <a:cubicBezTo>
                    <a:pt x="36032" y="1723817"/>
                    <a:pt x="23559" y="1718651"/>
                    <a:pt x="14363" y="1709454"/>
                  </a:cubicBezTo>
                  <a:cubicBezTo>
                    <a:pt x="5166" y="1700258"/>
                    <a:pt x="0" y="1687785"/>
                    <a:pt x="0" y="1674780"/>
                  </a:cubicBezTo>
                  <a:lnTo>
                    <a:pt x="0" y="49038"/>
                  </a:lnTo>
                  <a:cubicBezTo>
                    <a:pt x="0" y="36032"/>
                    <a:pt x="5166" y="23559"/>
                    <a:pt x="14363" y="14363"/>
                  </a:cubicBezTo>
                  <a:cubicBezTo>
                    <a:pt x="23559" y="5166"/>
                    <a:pt x="36032" y="0"/>
                    <a:pt x="49038" y="0"/>
                  </a:cubicBezTo>
                  <a:close/>
                </a:path>
              </a:pathLst>
            </a:custGeom>
            <a:gradFill rotWithShape="true">
              <a:gsLst>
                <a:gs pos="0">
                  <a:srgbClr val="9C2357">
                    <a:alpha val="3060"/>
                  </a:srgbClr>
                </a:gs>
                <a:gs pos="100000">
                  <a:srgbClr val="5F89FF">
                    <a:alpha val="68000"/>
                  </a:srgbClr>
                </a:gs>
              </a:gsLst>
              <a:lin ang="5400000"/>
            </a:gradFill>
            <a:ln w="38100" cap="rnd">
              <a:gradFill>
                <a:gsLst>
                  <a:gs pos="0">
                    <a:srgbClr val="5F89FF">
                      <a:alpha val="68000"/>
                    </a:srgbClr>
                  </a:gs>
                  <a:gs pos="100000">
                    <a:srgbClr val="FFFFFF">
                      <a:alpha val="12580"/>
                    </a:srgbClr>
                  </a:gs>
                </a:gsLst>
                <a:lin ang="5400000"/>
              </a:gradFill>
              <a:prstDash val="solid"/>
              <a:round/>
            </a:ln>
          </p:spPr>
        </p:sp>
        <p:sp>
          <p:nvSpPr>
            <p:cNvPr name="TextBox 10" id="10"/>
            <p:cNvSpPr txBox="true"/>
            <p:nvPr/>
          </p:nvSpPr>
          <p:spPr>
            <a:xfrm>
              <a:off x="0" y="28575"/>
              <a:ext cx="2120620" cy="1695242"/>
            </a:xfrm>
            <a:prstGeom prst="rect">
              <a:avLst/>
            </a:prstGeom>
          </p:spPr>
          <p:txBody>
            <a:bodyPr anchor="ctr" rtlCol="false" tIns="50800" lIns="50800" bIns="50800" rIns="50800"/>
            <a:lstStyle/>
            <a:p>
              <a:pPr algn="ctr">
                <a:lnSpc>
                  <a:spcPts val="2000"/>
                </a:lnSpc>
              </a:pPr>
            </a:p>
          </p:txBody>
        </p:sp>
      </p:grpSp>
      <p:grpSp>
        <p:nvGrpSpPr>
          <p:cNvPr name="Group 11" id="11"/>
          <p:cNvGrpSpPr/>
          <p:nvPr/>
        </p:nvGrpSpPr>
        <p:grpSpPr>
          <a:xfrm rot="0">
            <a:off x="9055430" y="1272948"/>
            <a:ext cx="8477936" cy="6545118"/>
            <a:chOff x="0" y="0"/>
            <a:chExt cx="2232872" cy="1723817"/>
          </a:xfrm>
        </p:grpSpPr>
        <p:sp>
          <p:nvSpPr>
            <p:cNvPr name="Freeform 12" id="12"/>
            <p:cNvSpPr/>
            <p:nvPr/>
          </p:nvSpPr>
          <p:spPr>
            <a:xfrm flipH="false" flipV="false" rot="0">
              <a:off x="0" y="0"/>
              <a:ext cx="2232872" cy="1723817"/>
            </a:xfrm>
            <a:custGeom>
              <a:avLst/>
              <a:gdLst/>
              <a:ahLst/>
              <a:cxnLst/>
              <a:rect r="r" b="b" t="t" l="l"/>
              <a:pathLst>
                <a:path h="1723817" w="2232872">
                  <a:moveTo>
                    <a:pt x="46572" y="0"/>
                  </a:moveTo>
                  <a:lnTo>
                    <a:pt x="2186300" y="0"/>
                  </a:lnTo>
                  <a:cubicBezTo>
                    <a:pt x="2212021" y="0"/>
                    <a:pt x="2232872" y="20851"/>
                    <a:pt x="2232872" y="46572"/>
                  </a:cubicBezTo>
                  <a:lnTo>
                    <a:pt x="2232872" y="1677245"/>
                  </a:lnTo>
                  <a:cubicBezTo>
                    <a:pt x="2232872" y="1702966"/>
                    <a:pt x="2212021" y="1723817"/>
                    <a:pt x="2186300" y="1723817"/>
                  </a:cubicBezTo>
                  <a:lnTo>
                    <a:pt x="46572" y="1723817"/>
                  </a:lnTo>
                  <a:cubicBezTo>
                    <a:pt x="20851" y="1723817"/>
                    <a:pt x="0" y="1702966"/>
                    <a:pt x="0" y="1677245"/>
                  </a:cubicBezTo>
                  <a:lnTo>
                    <a:pt x="0" y="46572"/>
                  </a:lnTo>
                  <a:cubicBezTo>
                    <a:pt x="0" y="20851"/>
                    <a:pt x="20851" y="0"/>
                    <a:pt x="46572" y="0"/>
                  </a:cubicBezTo>
                  <a:close/>
                </a:path>
              </a:pathLst>
            </a:custGeom>
            <a:gradFill rotWithShape="true">
              <a:gsLst>
                <a:gs pos="0">
                  <a:srgbClr val="9C2357">
                    <a:alpha val="3060"/>
                  </a:srgbClr>
                </a:gs>
                <a:gs pos="100000">
                  <a:srgbClr val="FF9376">
                    <a:alpha val="68000"/>
                  </a:srgbClr>
                </a:gs>
              </a:gsLst>
              <a:lin ang="5400000"/>
            </a:gradFill>
            <a:ln w="38100" cap="rnd">
              <a:gradFill>
                <a:gsLst>
                  <a:gs pos="0">
                    <a:srgbClr val="FF9376">
                      <a:alpha val="68000"/>
                    </a:srgbClr>
                  </a:gs>
                  <a:gs pos="100000">
                    <a:srgbClr val="9C2357">
                      <a:alpha val="3060"/>
                    </a:srgbClr>
                  </a:gs>
                </a:gsLst>
                <a:lin ang="2700000"/>
              </a:gradFill>
              <a:prstDash val="solid"/>
              <a:round/>
            </a:ln>
          </p:spPr>
        </p:sp>
        <p:sp>
          <p:nvSpPr>
            <p:cNvPr name="TextBox 13" id="13"/>
            <p:cNvSpPr txBox="true"/>
            <p:nvPr/>
          </p:nvSpPr>
          <p:spPr>
            <a:xfrm>
              <a:off x="0" y="28575"/>
              <a:ext cx="2232872" cy="1695242"/>
            </a:xfrm>
            <a:prstGeom prst="rect">
              <a:avLst/>
            </a:prstGeom>
          </p:spPr>
          <p:txBody>
            <a:bodyPr anchor="ctr" rtlCol="false" tIns="50800" lIns="50800" bIns="50800" rIns="50800"/>
            <a:lstStyle/>
            <a:p>
              <a:pPr algn="ctr">
                <a:lnSpc>
                  <a:spcPts val="2000"/>
                </a:lnSpc>
              </a:pPr>
            </a:p>
          </p:txBody>
        </p:sp>
      </p:grpSp>
      <p:sp>
        <p:nvSpPr>
          <p:cNvPr name="Freeform 14" id="14"/>
          <p:cNvSpPr/>
          <p:nvPr/>
        </p:nvSpPr>
        <p:spPr>
          <a:xfrm flipH="false" flipV="false" rot="0">
            <a:off x="1197645" y="1571023"/>
            <a:ext cx="7222587" cy="4757879"/>
          </a:xfrm>
          <a:custGeom>
            <a:avLst/>
            <a:gdLst/>
            <a:ahLst/>
            <a:cxnLst/>
            <a:rect r="r" b="b" t="t" l="l"/>
            <a:pathLst>
              <a:path h="4757879" w="7222587">
                <a:moveTo>
                  <a:pt x="0" y="0"/>
                </a:moveTo>
                <a:lnTo>
                  <a:pt x="7222586" y="0"/>
                </a:lnTo>
                <a:lnTo>
                  <a:pt x="7222586" y="4757879"/>
                </a:lnTo>
                <a:lnTo>
                  <a:pt x="0" y="4757879"/>
                </a:lnTo>
                <a:lnTo>
                  <a:pt x="0" y="0"/>
                </a:lnTo>
                <a:close/>
              </a:path>
            </a:pathLst>
          </a:custGeom>
          <a:blipFill>
            <a:blip r:embed="rId4"/>
            <a:stretch>
              <a:fillRect l="0" t="0" r="0" b="0"/>
            </a:stretch>
          </a:blipFill>
        </p:spPr>
      </p:sp>
      <p:grpSp>
        <p:nvGrpSpPr>
          <p:cNvPr name="Group 15" id="15"/>
          <p:cNvGrpSpPr/>
          <p:nvPr/>
        </p:nvGrpSpPr>
        <p:grpSpPr>
          <a:xfrm rot="0">
            <a:off x="6777412" y="1974869"/>
            <a:ext cx="100788" cy="10078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1C96B"/>
            </a:solidFill>
          </p:spPr>
        </p:sp>
        <p:sp>
          <p:nvSpPr>
            <p:cNvPr name="TextBox 17" id="17"/>
            <p:cNvSpPr txBox="true"/>
            <p:nvPr/>
          </p:nvSpPr>
          <p:spPr>
            <a:xfrm>
              <a:off x="0" y="-104775"/>
              <a:ext cx="812800" cy="917575"/>
            </a:xfrm>
            <a:prstGeom prst="rect">
              <a:avLst/>
            </a:prstGeom>
          </p:spPr>
          <p:txBody>
            <a:bodyPr anchor="ctr" rtlCol="false" tIns="50800" lIns="50800" bIns="50800" rIns="50800"/>
            <a:lstStyle/>
            <a:p>
              <a:pPr algn="ctr">
                <a:lnSpc>
                  <a:spcPts val="3528"/>
                </a:lnSpc>
              </a:pPr>
            </a:p>
          </p:txBody>
        </p:sp>
      </p:grpSp>
      <p:grpSp>
        <p:nvGrpSpPr>
          <p:cNvPr name="Group 18" id="18"/>
          <p:cNvGrpSpPr/>
          <p:nvPr/>
        </p:nvGrpSpPr>
        <p:grpSpPr>
          <a:xfrm rot="0">
            <a:off x="6777412" y="2235464"/>
            <a:ext cx="100788" cy="1007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E4BE6"/>
            </a:solidFill>
          </p:spPr>
        </p:sp>
        <p:sp>
          <p:nvSpPr>
            <p:cNvPr name="TextBox 20" id="20"/>
            <p:cNvSpPr txBox="true"/>
            <p:nvPr/>
          </p:nvSpPr>
          <p:spPr>
            <a:xfrm>
              <a:off x="0" y="-104775"/>
              <a:ext cx="812800" cy="917575"/>
            </a:xfrm>
            <a:prstGeom prst="rect">
              <a:avLst/>
            </a:prstGeom>
          </p:spPr>
          <p:txBody>
            <a:bodyPr anchor="ctr" rtlCol="false" tIns="50800" lIns="50800" bIns="50800" rIns="50800"/>
            <a:lstStyle/>
            <a:p>
              <a:pPr algn="ctr">
                <a:lnSpc>
                  <a:spcPts val="3528"/>
                </a:lnSpc>
              </a:pPr>
            </a:p>
          </p:txBody>
        </p:sp>
      </p:grpSp>
      <p:grpSp>
        <p:nvGrpSpPr>
          <p:cNvPr name="Group 21" id="21"/>
          <p:cNvGrpSpPr/>
          <p:nvPr/>
        </p:nvGrpSpPr>
        <p:grpSpPr>
          <a:xfrm rot="0">
            <a:off x="759740" y="8592621"/>
            <a:ext cx="16493456" cy="1351731"/>
            <a:chOff x="0" y="0"/>
            <a:chExt cx="4343956" cy="356012"/>
          </a:xfrm>
        </p:grpSpPr>
        <p:sp>
          <p:nvSpPr>
            <p:cNvPr name="Freeform 22" id="22"/>
            <p:cNvSpPr/>
            <p:nvPr/>
          </p:nvSpPr>
          <p:spPr>
            <a:xfrm flipH="false" flipV="false" rot="0">
              <a:off x="0" y="0"/>
              <a:ext cx="4343955" cy="356012"/>
            </a:xfrm>
            <a:custGeom>
              <a:avLst/>
              <a:gdLst/>
              <a:ahLst/>
              <a:cxnLst/>
              <a:rect r="r" b="b" t="t" l="l"/>
              <a:pathLst>
                <a:path h="356012" w="4343955">
                  <a:moveTo>
                    <a:pt x="16429" y="0"/>
                  </a:moveTo>
                  <a:lnTo>
                    <a:pt x="4327527" y="0"/>
                  </a:lnTo>
                  <a:cubicBezTo>
                    <a:pt x="4336600" y="0"/>
                    <a:pt x="4343955" y="7355"/>
                    <a:pt x="4343955" y="16429"/>
                  </a:cubicBezTo>
                  <a:lnTo>
                    <a:pt x="4343955" y="339583"/>
                  </a:lnTo>
                  <a:cubicBezTo>
                    <a:pt x="4343955" y="343940"/>
                    <a:pt x="4342224" y="348119"/>
                    <a:pt x="4339144" y="351200"/>
                  </a:cubicBezTo>
                  <a:cubicBezTo>
                    <a:pt x="4336062" y="354281"/>
                    <a:pt x="4331884" y="356012"/>
                    <a:pt x="4327527" y="356012"/>
                  </a:cubicBezTo>
                  <a:lnTo>
                    <a:pt x="16429" y="356012"/>
                  </a:lnTo>
                  <a:cubicBezTo>
                    <a:pt x="7355" y="356012"/>
                    <a:pt x="0" y="348656"/>
                    <a:pt x="0" y="339583"/>
                  </a:cubicBezTo>
                  <a:lnTo>
                    <a:pt x="0" y="16429"/>
                  </a:lnTo>
                  <a:cubicBezTo>
                    <a:pt x="0" y="7355"/>
                    <a:pt x="7355" y="0"/>
                    <a:pt x="16429" y="0"/>
                  </a:cubicBezTo>
                  <a:close/>
                </a:path>
              </a:pathLst>
            </a:custGeom>
            <a:gradFill rotWithShape="true">
              <a:gsLst>
                <a:gs pos="0">
                  <a:srgbClr val="FFFFFF">
                    <a:alpha val="22500"/>
                  </a:srgbClr>
                </a:gs>
                <a:gs pos="100000">
                  <a:srgbClr val="FFFFFF">
                    <a:alpha val="14220"/>
                  </a:srgbClr>
                </a:gs>
              </a:gsLst>
              <a:lin ang="5400000"/>
            </a:gradFill>
            <a:ln w="38100" cap="rnd">
              <a:gradFill>
                <a:gsLst>
                  <a:gs pos="0">
                    <a:srgbClr val="FFDE59">
                      <a:alpha val="36000"/>
                    </a:srgbClr>
                  </a:gs>
                  <a:gs pos="100000">
                    <a:srgbClr val="FFFFFF">
                      <a:alpha val="3780"/>
                    </a:srgbClr>
                  </a:gs>
                </a:gsLst>
                <a:lin ang="2700000"/>
              </a:gradFill>
              <a:prstDash val="solid"/>
              <a:round/>
            </a:ln>
          </p:spPr>
        </p:sp>
        <p:sp>
          <p:nvSpPr>
            <p:cNvPr name="TextBox 23" id="23"/>
            <p:cNvSpPr txBox="true"/>
            <p:nvPr/>
          </p:nvSpPr>
          <p:spPr>
            <a:xfrm>
              <a:off x="0" y="-104775"/>
              <a:ext cx="4343956" cy="460787"/>
            </a:xfrm>
            <a:prstGeom prst="rect">
              <a:avLst/>
            </a:prstGeom>
          </p:spPr>
          <p:txBody>
            <a:bodyPr anchor="ctr" rtlCol="false" tIns="50800" lIns="50800" bIns="50800" rIns="50800"/>
            <a:lstStyle/>
            <a:p>
              <a:pPr algn="ctr">
                <a:lnSpc>
                  <a:spcPts val="3528"/>
                </a:lnSpc>
              </a:pPr>
            </a:p>
          </p:txBody>
        </p:sp>
      </p:grpSp>
      <p:sp>
        <p:nvSpPr>
          <p:cNvPr name="Freeform 24" id="24"/>
          <p:cNvSpPr/>
          <p:nvPr/>
        </p:nvSpPr>
        <p:spPr>
          <a:xfrm flipH="false" flipV="false" rot="0">
            <a:off x="9312575" y="1703490"/>
            <a:ext cx="7940621" cy="4625412"/>
          </a:xfrm>
          <a:custGeom>
            <a:avLst/>
            <a:gdLst/>
            <a:ahLst/>
            <a:cxnLst/>
            <a:rect r="r" b="b" t="t" l="l"/>
            <a:pathLst>
              <a:path h="4625412" w="7940621">
                <a:moveTo>
                  <a:pt x="0" y="0"/>
                </a:moveTo>
                <a:lnTo>
                  <a:pt x="7940621" y="0"/>
                </a:lnTo>
                <a:lnTo>
                  <a:pt x="7940621" y="4625412"/>
                </a:lnTo>
                <a:lnTo>
                  <a:pt x="0" y="4625412"/>
                </a:lnTo>
                <a:lnTo>
                  <a:pt x="0" y="0"/>
                </a:lnTo>
                <a:close/>
              </a:path>
            </a:pathLst>
          </a:custGeom>
          <a:blipFill>
            <a:blip r:embed="rId5"/>
            <a:stretch>
              <a:fillRect l="0" t="0" r="0" b="0"/>
            </a:stretch>
          </a:blipFill>
        </p:spPr>
      </p:sp>
      <p:sp>
        <p:nvSpPr>
          <p:cNvPr name="Freeform 25" id="25"/>
          <p:cNvSpPr/>
          <p:nvPr/>
        </p:nvSpPr>
        <p:spPr>
          <a:xfrm flipH="false" flipV="false" rot="-528713">
            <a:off x="32336" y="8906171"/>
            <a:ext cx="1098280" cy="959721"/>
          </a:xfrm>
          <a:custGeom>
            <a:avLst/>
            <a:gdLst/>
            <a:ahLst/>
            <a:cxnLst/>
            <a:rect r="r" b="b" t="t" l="l"/>
            <a:pathLst>
              <a:path h="959721" w="1098280">
                <a:moveTo>
                  <a:pt x="0" y="0"/>
                </a:moveTo>
                <a:lnTo>
                  <a:pt x="1098280" y="0"/>
                </a:lnTo>
                <a:lnTo>
                  <a:pt x="1098280" y="959722"/>
                </a:lnTo>
                <a:lnTo>
                  <a:pt x="0" y="959722"/>
                </a:lnTo>
                <a:lnTo>
                  <a:pt x="0" y="0"/>
                </a:lnTo>
                <a:close/>
              </a:path>
            </a:pathLst>
          </a:custGeom>
          <a:blipFill>
            <a:blip r:embed="rId6"/>
            <a:stretch>
              <a:fillRect l="0" t="0" r="0" b="0"/>
            </a:stretch>
          </a:blipFill>
        </p:spPr>
      </p:sp>
      <p:sp>
        <p:nvSpPr>
          <p:cNvPr name="Freeform 26" id="26"/>
          <p:cNvSpPr/>
          <p:nvPr/>
        </p:nvSpPr>
        <p:spPr>
          <a:xfrm flipH="false" flipV="false" rot="985516">
            <a:off x="16414970" y="7583883"/>
            <a:ext cx="1676451" cy="1597731"/>
          </a:xfrm>
          <a:custGeom>
            <a:avLst/>
            <a:gdLst/>
            <a:ahLst/>
            <a:cxnLst/>
            <a:rect r="r" b="b" t="t" l="l"/>
            <a:pathLst>
              <a:path h="1597731" w="1676451">
                <a:moveTo>
                  <a:pt x="0" y="0"/>
                </a:moveTo>
                <a:lnTo>
                  <a:pt x="1676451" y="0"/>
                </a:lnTo>
                <a:lnTo>
                  <a:pt x="1676451" y="1597731"/>
                </a:lnTo>
                <a:lnTo>
                  <a:pt x="0" y="1597731"/>
                </a:lnTo>
                <a:lnTo>
                  <a:pt x="0" y="0"/>
                </a:lnTo>
                <a:close/>
              </a:path>
            </a:pathLst>
          </a:custGeom>
          <a:blipFill>
            <a:blip r:embed="rId7"/>
            <a:stretch>
              <a:fillRect l="0" t="0" r="0" b="0"/>
            </a:stretch>
          </a:blipFill>
        </p:spPr>
      </p:sp>
      <p:sp>
        <p:nvSpPr>
          <p:cNvPr name="TextBox 27" id="27"/>
          <p:cNvSpPr txBox="true"/>
          <p:nvPr/>
        </p:nvSpPr>
        <p:spPr>
          <a:xfrm rot="0">
            <a:off x="9336789" y="6448786"/>
            <a:ext cx="7600724" cy="1093012"/>
          </a:xfrm>
          <a:prstGeom prst="rect">
            <a:avLst/>
          </a:prstGeom>
        </p:spPr>
        <p:txBody>
          <a:bodyPr anchor="t" rtlCol="false" tIns="0" lIns="0" bIns="0" rIns="0">
            <a:spAutoFit/>
          </a:bodyPr>
          <a:lstStyle/>
          <a:p>
            <a:pPr algn="just">
              <a:lnSpc>
                <a:spcPts val="2239"/>
              </a:lnSpc>
            </a:pPr>
            <a:r>
              <a:rPr lang="en-US" sz="1599">
                <a:solidFill>
                  <a:srgbClr val="FFFFFF"/>
                </a:solidFill>
                <a:latin typeface="Montserrat"/>
                <a:ea typeface="Montserrat"/>
                <a:cs typeface="Montserrat"/>
                <a:sym typeface="Montserrat"/>
              </a:rPr>
              <a:t>Biểu đồ cho thấy hiệu quả thu hút của campaign không đồng nghĩa với việc phải gia tăng mức khuyến mãi khi mà các chiến dịch dẫn đầu như 8932 và 8386 vẫn đạt NPU vượt trội với ưu đãi thấp, trong khi nhiều campaign giảm giá cao lại kém hiệu quả.</a:t>
            </a:r>
          </a:p>
        </p:txBody>
      </p:sp>
      <p:sp>
        <p:nvSpPr>
          <p:cNvPr name="TextBox 28" id="28"/>
          <p:cNvSpPr txBox="true"/>
          <p:nvPr/>
        </p:nvSpPr>
        <p:spPr>
          <a:xfrm rot="0">
            <a:off x="1197645" y="6172517"/>
            <a:ext cx="7222587" cy="1645550"/>
          </a:xfrm>
          <a:prstGeom prst="rect">
            <a:avLst/>
          </a:prstGeom>
        </p:spPr>
        <p:txBody>
          <a:bodyPr anchor="t" rtlCol="false" tIns="0" lIns="0" bIns="0" rIns="0">
            <a:spAutoFit/>
          </a:bodyPr>
          <a:lstStyle/>
          <a:p>
            <a:pPr algn="just">
              <a:lnSpc>
                <a:spcPts val="2239"/>
              </a:lnSpc>
            </a:pPr>
          </a:p>
          <a:p>
            <a:pPr algn="just">
              <a:lnSpc>
                <a:spcPts val="2239"/>
              </a:lnSpc>
            </a:pPr>
            <a:r>
              <a:rPr lang="en-US" sz="1599" i="true">
                <a:solidFill>
                  <a:srgbClr val="FFFFFF"/>
                </a:solidFill>
                <a:latin typeface="Montserrat Italics"/>
                <a:ea typeface="Montserrat Italics"/>
                <a:cs typeface="Montserrat Italics"/>
                <a:sym typeface="Montserrat Italics"/>
              </a:rPr>
              <a:t>Campaign 8932 dẫn đầu vượt trội về số lượng NPU, đáng chú ý, các campaign hiệu quả nhất chủ yếu đến từ nhóm khách hàng sử dụng Voucher cho thấy đây là hình thức khuyến mãi có hiệu quả chuyển đổi nổi bật nhất.</a:t>
            </a:r>
          </a:p>
          <a:p>
            <a:pPr algn="just">
              <a:lnSpc>
                <a:spcPts val="2239"/>
              </a:lnSpc>
            </a:pPr>
          </a:p>
        </p:txBody>
      </p:sp>
      <p:sp>
        <p:nvSpPr>
          <p:cNvPr name="TextBox 29" id="29"/>
          <p:cNvSpPr txBox="true"/>
          <p:nvPr/>
        </p:nvSpPr>
        <p:spPr>
          <a:xfrm rot="0">
            <a:off x="6932623" y="1916668"/>
            <a:ext cx="809872" cy="198142"/>
          </a:xfrm>
          <a:prstGeom prst="rect">
            <a:avLst/>
          </a:prstGeom>
        </p:spPr>
        <p:txBody>
          <a:bodyPr anchor="t" rtlCol="false" tIns="0" lIns="0" bIns="0" rIns="0">
            <a:spAutoFit/>
          </a:bodyPr>
          <a:lstStyle/>
          <a:p>
            <a:pPr algn="just">
              <a:lnSpc>
                <a:spcPts val="1679"/>
              </a:lnSpc>
            </a:pPr>
            <a:r>
              <a:rPr lang="en-US" sz="1200" i="true">
                <a:solidFill>
                  <a:srgbClr val="000000"/>
                </a:solidFill>
                <a:latin typeface="Montserrat Italics"/>
                <a:ea typeface="Montserrat Italics"/>
                <a:cs typeface="Montserrat Italics"/>
                <a:sym typeface="Montserrat Italics"/>
              </a:rPr>
              <a:t>Voucher</a:t>
            </a:r>
          </a:p>
        </p:txBody>
      </p:sp>
      <p:sp>
        <p:nvSpPr>
          <p:cNvPr name="TextBox 30" id="30"/>
          <p:cNvSpPr txBox="true"/>
          <p:nvPr/>
        </p:nvSpPr>
        <p:spPr>
          <a:xfrm rot="0">
            <a:off x="6932623" y="2177262"/>
            <a:ext cx="1227224" cy="198142"/>
          </a:xfrm>
          <a:prstGeom prst="rect">
            <a:avLst/>
          </a:prstGeom>
        </p:spPr>
        <p:txBody>
          <a:bodyPr anchor="t" rtlCol="false" tIns="0" lIns="0" bIns="0" rIns="0">
            <a:spAutoFit/>
          </a:bodyPr>
          <a:lstStyle/>
          <a:p>
            <a:pPr algn="just">
              <a:lnSpc>
                <a:spcPts val="1679"/>
              </a:lnSpc>
            </a:pPr>
            <a:r>
              <a:rPr lang="en-US" sz="1200" i="true">
                <a:solidFill>
                  <a:srgbClr val="000000"/>
                </a:solidFill>
                <a:latin typeface="Montserrat Italics"/>
                <a:ea typeface="Montserrat Italics"/>
                <a:cs typeface="Montserrat Italics"/>
                <a:sym typeface="Montserrat Italics"/>
              </a:rPr>
              <a:t>Direct Discount</a:t>
            </a:r>
          </a:p>
        </p:txBody>
      </p:sp>
      <p:sp>
        <p:nvSpPr>
          <p:cNvPr name="TextBox 31" id="31"/>
          <p:cNvSpPr txBox="true"/>
          <p:nvPr/>
        </p:nvSpPr>
        <p:spPr>
          <a:xfrm rot="0">
            <a:off x="276339" y="490788"/>
            <a:ext cx="17723114" cy="638175"/>
          </a:xfrm>
          <a:prstGeom prst="rect">
            <a:avLst/>
          </a:prstGeom>
        </p:spPr>
        <p:txBody>
          <a:bodyPr anchor="t" rtlCol="false" tIns="0" lIns="0" bIns="0" rIns="0">
            <a:spAutoFit/>
          </a:bodyPr>
          <a:lstStyle/>
          <a:p>
            <a:pPr algn="ctr" marL="0" indent="0" lvl="0">
              <a:lnSpc>
                <a:spcPts val="5250"/>
              </a:lnSpc>
            </a:pPr>
            <a:r>
              <a:rPr lang="en-US" b="true" sz="3500" spc="10">
                <a:solidFill>
                  <a:srgbClr val="F3740B"/>
                </a:solidFill>
                <a:latin typeface="Inter Ultra-Bold"/>
                <a:ea typeface="Inter Ultra-Bold"/>
                <a:cs typeface="Inter Ultra-Bold"/>
                <a:sym typeface="Inter Ultra-Bold"/>
              </a:rPr>
              <a:t>NPU CÓ THẬT SỰ LÀ THƯỚC ĐO TỐT NHẤT CHO MỘT CAMPAIGN?</a:t>
            </a:r>
          </a:p>
        </p:txBody>
      </p:sp>
      <p:sp>
        <p:nvSpPr>
          <p:cNvPr name="TextBox 32" id="32"/>
          <p:cNvSpPr txBox="true"/>
          <p:nvPr/>
        </p:nvSpPr>
        <p:spPr>
          <a:xfrm rot="0">
            <a:off x="1080085" y="8864679"/>
            <a:ext cx="15462764" cy="777284"/>
          </a:xfrm>
          <a:prstGeom prst="rect">
            <a:avLst/>
          </a:prstGeom>
        </p:spPr>
        <p:txBody>
          <a:bodyPr anchor="t" rtlCol="false" tIns="0" lIns="0" bIns="0" rIns="0">
            <a:spAutoFit/>
          </a:bodyPr>
          <a:lstStyle/>
          <a:p>
            <a:pPr algn="ctr">
              <a:lnSpc>
                <a:spcPts val="3150"/>
              </a:lnSpc>
            </a:pPr>
            <a:r>
              <a:rPr lang="en-US" b="true" sz="2100" i="true">
                <a:solidFill>
                  <a:srgbClr val="FFDE59"/>
                </a:solidFill>
                <a:latin typeface="Montserrat Bold Italics"/>
                <a:ea typeface="Montserrat Bold Italics"/>
                <a:cs typeface="Montserrat Bold Italics"/>
                <a:sym typeface="Montserrat Bold Italics"/>
              </a:rPr>
              <a:t>Quy mô</a:t>
            </a:r>
            <a:r>
              <a:rPr lang="en-US" b="true" sz="2100" i="true">
                <a:solidFill>
                  <a:srgbClr val="FFDE59"/>
                </a:solidFill>
                <a:latin typeface="Montserrat Bold Italics"/>
                <a:ea typeface="Montserrat Bold Italics"/>
                <a:cs typeface="Montserrat Bold Italics"/>
                <a:sym typeface="Montserrat Bold Italics"/>
              </a:rPr>
              <a:t> NPU chưa phản ánh đầy đủ hiệu quả campaign; các chiến dịch hiệu quả nhất vẫn đạt NPU cao với mức ưu đãi vừa phải, cho thấy việc tối ưu phụ thuộc vào cách tiếp cận đúng hơn là tăng mức khuyến mãi.</a:t>
            </a:r>
          </a:p>
        </p:txBody>
      </p:sp>
      <p:sp>
        <p:nvSpPr>
          <p:cNvPr name="TextBox 33" id="33"/>
          <p:cNvSpPr txBox="true"/>
          <p:nvPr/>
        </p:nvSpPr>
        <p:spPr>
          <a:xfrm rot="0">
            <a:off x="759740" y="8046667"/>
            <a:ext cx="1916963" cy="429294"/>
          </a:xfrm>
          <a:prstGeom prst="rect">
            <a:avLst/>
          </a:prstGeom>
        </p:spPr>
        <p:txBody>
          <a:bodyPr anchor="t" rtlCol="false" tIns="0" lIns="0" bIns="0" rIns="0">
            <a:spAutoFit/>
          </a:bodyPr>
          <a:lstStyle/>
          <a:p>
            <a:pPr algn="ctr">
              <a:lnSpc>
                <a:spcPts val="3673"/>
              </a:lnSpc>
            </a:pPr>
            <a:r>
              <a:rPr lang="en-US" sz="2449" b="true">
                <a:solidFill>
                  <a:srgbClr val="FFDE59"/>
                </a:solidFill>
                <a:latin typeface="Montserrat Bold"/>
                <a:ea typeface="Montserrat Bold"/>
                <a:cs typeface="Montserrat Bold"/>
                <a:sym typeface="Montserrat Bold"/>
              </a:rPr>
              <a:t>KẾT LUẬN</a:t>
            </a:r>
          </a:p>
        </p:txBody>
      </p:sp>
      <p:sp>
        <p:nvSpPr>
          <p:cNvPr name="TextBox 34" id="34"/>
          <p:cNvSpPr txBox="true"/>
          <p:nvPr/>
        </p:nvSpPr>
        <p:spPr>
          <a:xfrm rot="0">
            <a:off x="1415066" y="6130760"/>
            <a:ext cx="3830089" cy="198120"/>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1:  Top 15 campaign có quy mô NPU cao nhất</a:t>
            </a:r>
          </a:p>
        </p:txBody>
      </p:sp>
      <p:sp>
        <p:nvSpPr>
          <p:cNvPr name="TextBox 35" id="35"/>
          <p:cNvSpPr txBox="true"/>
          <p:nvPr/>
        </p:nvSpPr>
        <p:spPr>
          <a:xfrm rot="0">
            <a:off x="9452796" y="6092496"/>
            <a:ext cx="4069769" cy="198120"/>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2: Tỉ lệ giá trị giảm giá và quy mô NPU thu hút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0A0A">
                <a:alpha val="92941"/>
              </a:srgbClr>
            </a:solidFill>
          </p:spPr>
        </p:sp>
        <p:sp>
          <p:nvSpPr>
            <p:cNvPr name="TextBox 5" id="5"/>
            <p:cNvSpPr txBox="true"/>
            <p:nvPr/>
          </p:nvSpPr>
          <p:spPr>
            <a:xfrm>
              <a:off x="0" y="-104775"/>
              <a:ext cx="4816593" cy="281410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160916" y="1323948"/>
            <a:ext cx="10288805" cy="11905421"/>
          </a:xfrm>
          <a:custGeom>
            <a:avLst/>
            <a:gdLst/>
            <a:ahLst/>
            <a:cxnLst/>
            <a:rect r="r" b="b" t="t" l="l"/>
            <a:pathLst>
              <a:path h="11905421" w="10288805">
                <a:moveTo>
                  <a:pt x="0" y="11905420"/>
                </a:moveTo>
                <a:lnTo>
                  <a:pt x="10288805" y="11905420"/>
                </a:lnTo>
                <a:lnTo>
                  <a:pt x="10288805" y="0"/>
                </a:lnTo>
                <a:lnTo>
                  <a:pt x="0" y="0"/>
                </a:lnTo>
                <a:lnTo>
                  <a:pt x="0" y="11905420"/>
                </a:lnTo>
                <a:close/>
              </a:path>
            </a:pathLst>
          </a:custGeom>
          <a:blipFill>
            <a:blip r:embed="rId3">
              <a:alphaModFix amt="23000"/>
            </a:blip>
            <a:stretch>
              <a:fillRect l="-41760" t="0" r="0" b="0"/>
            </a:stretch>
          </a:blipFill>
        </p:spPr>
      </p:sp>
      <p:sp>
        <p:nvSpPr>
          <p:cNvPr name="Freeform 7" id="7"/>
          <p:cNvSpPr/>
          <p:nvPr/>
        </p:nvSpPr>
        <p:spPr>
          <a:xfrm flipH="true" flipV="false" rot="0">
            <a:off x="-2198478" y="-6936210"/>
            <a:ext cx="11129273" cy="11905421"/>
          </a:xfrm>
          <a:custGeom>
            <a:avLst/>
            <a:gdLst/>
            <a:ahLst/>
            <a:cxnLst/>
            <a:rect r="r" b="b" t="t" l="l"/>
            <a:pathLst>
              <a:path h="11905421" w="11129273">
                <a:moveTo>
                  <a:pt x="11129273" y="0"/>
                </a:moveTo>
                <a:lnTo>
                  <a:pt x="0" y="0"/>
                </a:lnTo>
                <a:lnTo>
                  <a:pt x="0" y="11905420"/>
                </a:lnTo>
                <a:lnTo>
                  <a:pt x="11129273" y="11905420"/>
                </a:lnTo>
                <a:lnTo>
                  <a:pt x="11129273" y="0"/>
                </a:lnTo>
                <a:close/>
              </a:path>
            </a:pathLst>
          </a:custGeom>
          <a:blipFill>
            <a:blip r:embed="rId3">
              <a:alphaModFix amt="23000"/>
            </a:blip>
            <a:stretch>
              <a:fillRect l="-31055" t="0" r="0" b="0"/>
            </a:stretch>
          </a:blipFill>
        </p:spPr>
      </p:sp>
      <p:sp>
        <p:nvSpPr>
          <p:cNvPr name="Freeform 8" id="8"/>
          <p:cNvSpPr/>
          <p:nvPr/>
        </p:nvSpPr>
        <p:spPr>
          <a:xfrm flipH="false" flipV="false" rot="0">
            <a:off x="15880642" y="9053085"/>
            <a:ext cx="15240000" cy="8229600"/>
          </a:xfrm>
          <a:custGeom>
            <a:avLst/>
            <a:gdLst/>
            <a:ahLst/>
            <a:cxnLst/>
            <a:rect r="r" b="b" t="t" l="l"/>
            <a:pathLst>
              <a:path h="8229600" w="15240000">
                <a:moveTo>
                  <a:pt x="0" y="0"/>
                </a:moveTo>
                <a:lnTo>
                  <a:pt x="15240000" y="0"/>
                </a:lnTo>
                <a:lnTo>
                  <a:pt x="15240000" y="8229600"/>
                </a:lnTo>
                <a:lnTo>
                  <a:pt x="0" y="8229600"/>
                </a:lnTo>
                <a:lnTo>
                  <a:pt x="0" y="0"/>
                </a:lnTo>
                <a:close/>
              </a:path>
            </a:pathLst>
          </a:custGeom>
          <a:blipFill>
            <a:blip r:embed="rId4">
              <a:alphaModFix amt="90000"/>
            </a:blip>
            <a:stretch>
              <a:fillRect l="0" t="0" r="0" b="0"/>
            </a:stretch>
          </a:blipFill>
        </p:spPr>
      </p:sp>
      <p:grpSp>
        <p:nvGrpSpPr>
          <p:cNvPr name="Group 9" id="9"/>
          <p:cNvGrpSpPr/>
          <p:nvPr/>
        </p:nvGrpSpPr>
        <p:grpSpPr>
          <a:xfrm rot="0">
            <a:off x="300644" y="750913"/>
            <a:ext cx="5027863" cy="4467766"/>
            <a:chOff x="0" y="0"/>
            <a:chExt cx="1939922" cy="1723817"/>
          </a:xfrm>
        </p:grpSpPr>
        <p:sp>
          <p:nvSpPr>
            <p:cNvPr name="Freeform 10" id="10"/>
            <p:cNvSpPr/>
            <p:nvPr/>
          </p:nvSpPr>
          <p:spPr>
            <a:xfrm flipH="false" flipV="false" rot="0">
              <a:off x="0" y="0"/>
              <a:ext cx="1939922" cy="1723817"/>
            </a:xfrm>
            <a:custGeom>
              <a:avLst/>
              <a:gdLst/>
              <a:ahLst/>
              <a:cxnLst/>
              <a:rect r="r" b="b" t="t" l="l"/>
              <a:pathLst>
                <a:path h="1723817" w="1939922">
                  <a:moveTo>
                    <a:pt x="36955" y="0"/>
                  </a:moveTo>
                  <a:lnTo>
                    <a:pt x="1902966" y="0"/>
                  </a:lnTo>
                  <a:cubicBezTo>
                    <a:pt x="1923376" y="0"/>
                    <a:pt x="1939922" y="16545"/>
                    <a:pt x="1939922" y="36955"/>
                  </a:cubicBezTo>
                  <a:lnTo>
                    <a:pt x="1939922" y="1686862"/>
                  </a:lnTo>
                  <a:cubicBezTo>
                    <a:pt x="1939922" y="1696663"/>
                    <a:pt x="1936028" y="1706063"/>
                    <a:pt x="1929098" y="1712993"/>
                  </a:cubicBezTo>
                  <a:cubicBezTo>
                    <a:pt x="1922167" y="1719924"/>
                    <a:pt x="1912768" y="1723817"/>
                    <a:pt x="1902966" y="1723817"/>
                  </a:cubicBezTo>
                  <a:lnTo>
                    <a:pt x="36955" y="1723817"/>
                  </a:lnTo>
                  <a:cubicBezTo>
                    <a:pt x="16545" y="1723817"/>
                    <a:pt x="0" y="1707272"/>
                    <a:pt x="0" y="1686862"/>
                  </a:cubicBezTo>
                  <a:lnTo>
                    <a:pt x="0" y="36955"/>
                  </a:lnTo>
                  <a:cubicBezTo>
                    <a:pt x="0" y="16545"/>
                    <a:pt x="16545" y="0"/>
                    <a:pt x="36955" y="0"/>
                  </a:cubicBezTo>
                  <a:close/>
                </a:path>
              </a:pathLst>
            </a:custGeom>
            <a:gradFill rotWithShape="true">
              <a:gsLst>
                <a:gs pos="0">
                  <a:srgbClr val="9C2357">
                    <a:alpha val="3060"/>
                  </a:srgbClr>
                </a:gs>
                <a:gs pos="100000">
                  <a:srgbClr val="5F89FF">
                    <a:alpha val="68000"/>
                  </a:srgbClr>
                </a:gs>
              </a:gsLst>
              <a:lin ang="5400000"/>
            </a:gradFill>
            <a:ln w="38100" cap="rnd">
              <a:gradFill>
                <a:gsLst>
                  <a:gs pos="0">
                    <a:srgbClr val="5F89FF">
                      <a:alpha val="68000"/>
                    </a:srgbClr>
                  </a:gs>
                  <a:gs pos="100000">
                    <a:srgbClr val="FFFFFF">
                      <a:alpha val="12580"/>
                    </a:srgbClr>
                  </a:gs>
                </a:gsLst>
                <a:lin ang="5400000"/>
              </a:gradFill>
              <a:prstDash val="solid"/>
              <a:round/>
            </a:ln>
          </p:spPr>
        </p:sp>
        <p:sp>
          <p:nvSpPr>
            <p:cNvPr name="TextBox 11" id="11"/>
            <p:cNvSpPr txBox="true"/>
            <p:nvPr/>
          </p:nvSpPr>
          <p:spPr>
            <a:xfrm>
              <a:off x="0" y="28575"/>
              <a:ext cx="1939922" cy="1695242"/>
            </a:xfrm>
            <a:prstGeom prst="rect">
              <a:avLst/>
            </a:prstGeom>
          </p:spPr>
          <p:txBody>
            <a:bodyPr anchor="ctr" rtlCol="false" tIns="50800" lIns="50800" bIns="50800" rIns="50800"/>
            <a:lstStyle/>
            <a:p>
              <a:pPr algn="ctr">
                <a:lnSpc>
                  <a:spcPts val="2000"/>
                </a:lnSpc>
              </a:pPr>
            </a:p>
          </p:txBody>
        </p:sp>
      </p:grpSp>
      <p:grpSp>
        <p:nvGrpSpPr>
          <p:cNvPr name="Group 12" id="12"/>
          <p:cNvGrpSpPr/>
          <p:nvPr/>
        </p:nvGrpSpPr>
        <p:grpSpPr>
          <a:xfrm rot="0">
            <a:off x="251674" y="5361555"/>
            <a:ext cx="5125803" cy="4663339"/>
            <a:chOff x="0" y="0"/>
            <a:chExt cx="2046345" cy="1861718"/>
          </a:xfrm>
        </p:grpSpPr>
        <p:sp>
          <p:nvSpPr>
            <p:cNvPr name="Freeform 13" id="13"/>
            <p:cNvSpPr/>
            <p:nvPr/>
          </p:nvSpPr>
          <p:spPr>
            <a:xfrm flipH="false" flipV="false" rot="0">
              <a:off x="0" y="0"/>
              <a:ext cx="2046345" cy="1861718"/>
            </a:xfrm>
            <a:custGeom>
              <a:avLst/>
              <a:gdLst/>
              <a:ahLst/>
              <a:cxnLst/>
              <a:rect r="r" b="b" t="t" l="l"/>
              <a:pathLst>
                <a:path h="1861718" w="2046345">
                  <a:moveTo>
                    <a:pt x="36249" y="0"/>
                  </a:moveTo>
                  <a:lnTo>
                    <a:pt x="2010096" y="0"/>
                  </a:lnTo>
                  <a:cubicBezTo>
                    <a:pt x="2030116" y="0"/>
                    <a:pt x="2046345" y="16229"/>
                    <a:pt x="2046345" y="36249"/>
                  </a:cubicBezTo>
                  <a:lnTo>
                    <a:pt x="2046345" y="1825469"/>
                  </a:lnTo>
                  <a:cubicBezTo>
                    <a:pt x="2046345" y="1845489"/>
                    <a:pt x="2030116" y="1861718"/>
                    <a:pt x="2010096" y="1861718"/>
                  </a:cubicBezTo>
                  <a:lnTo>
                    <a:pt x="36249" y="1861718"/>
                  </a:lnTo>
                  <a:cubicBezTo>
                    <a:pt x="16229" y="1861718"/>
                    <a:pt x="0" y="1845489"/>
                    <a:pt x="0" y="1825469"/>
                  </a:cubicBezTo>
                  <a:lnTo>
                    <a:pt x="0" y="36249"/>
                  </a:lnTo>
                  <a:cubicBezTo>
                    <a:pt x="0" y="16229"/>
                    <a:pt x="16229" y="0"/>
                    <a:pt x="36249" y="0"/>
                  </a:cubicBezTo>
                  <a:close/>
                </a:path>
              </a:pathLst>
            </a:custGeom>
            <a:gradFill rotWithShape="true">
              <a:gsLst>
                <a:gs pos="0">
                  <a:srgbClr val="9C2357">
                    <a:alpha val="3060"/>
                  </a:srgbClr>
                </a:gs>
                <a:gs pos="100000">
                  <a:srgbClr val="5F89FF">
                    <a:alpha val="68000"/>
                  </a:srgbClr>
                </a:gs>
              </a:gsLst>
              <a:lin ang="5400000"/>
            </a:gradFill>
            <a:ln w="38100" cap="rnd">
              <a:gradFill>
                <a:gsLst>
                  <a:gs pos="0">
                    <a:srgbClr val="5F89FF">
                      <a:alpha val="68000"/>
                    </a:srgbClr>
                  </a:gs>
                  <a:gs pos="100000">
                    <a:srgbClr val="FFFFFF">
                      <a:alpha val="12580"/>
                    </a:srgbClr>
                  </a:gs>
                </a:gsLst>
                <a:lin ang="5400000"/>
              </a:gradFill>
              <a:prstDash val="solid"/>
              <a:round/>
            </a:ln>
          </p:spPr>
        </p:sp>
        <p:sp>
          <p:nvSpPr>
            <p:cNvPr name="TextBox 14" id="14"/>
            <p:cNvSpPr txBox="true"/>
            <p:nvPr/>
          </p:nvSpPr>
          <p:spPr>
            <a:xfrm>
              <a:off x="0" y="28575"/>
              <a:ext cx="2046345" cy="1833143"/>
            </a:xfrm>
            <a:prstGeom prst="rect">
              <a:avLst/>
            </a:prstGeom>
          </p:spPr>
          <p:txBody>
            <a:bodyPr anchor="ctr" rtlCol="false" tIns="50800" lIns="50800" bIns="50800" rIns="50800"/>
            <a:lstStyle/>
            <a:p>
              <a:pPr algn="ctr">
                <a:lnSpc>
                  <a:spcPts val="2000"/>
                </a:lnSpc>
              </a:pPr>
            </a:p>
          </p:txBody>
        </p:sp>
      </p:grpSp>
      <p:grpSp>
        <p:nvGrpSpPr>
          <p:cNvPr name="Group 15" id="15"/>
          <p:cNvGrpSpPr/>
          <p:nvPr/>
        </p:nvGrpSpPr>
        <p:grpSpPr>
          <a:xfrm rot="0">
            <a:off x="534043" y="919173"/>
            <a:ext cx="4573915" cy="3282988"/>
            <a:chOff x="0" y="0"/>
            <a:chExt cx="2163899" cy="1553167"/>
          </a:xfrm>
        </p:grpSpPr>
        <p:sp>
          <p:nvSpPr>
            <p:cNvPr name="Freeform 16" id="16"/>
            <p:cNvSpPr/>
            <p:nvPr/>
          </p:nvSpPr>
          <p:spPr>
            <a:xfrm flipH="false" flipV="false" rot="0">
              <a:off x="0" y="0"/>
              <a:ext cx="2163899" cy="1553167"/>
            </a:xfrm>
            <a:custGeom>
              <a:avLst/>
              <a:gdLst/>
              <a:ahLst/>
              <a:cxnLst/>
              <a:rect r="r" b="b" t="t" l="l"/>
              <a:pathLst>
                <a:path h="1553167" w="2163899">
                  <a:moveTo>
                    <a:pt x="45701" y="0"/>
                  </a:moveTo>
                  <a:lnTo>
                    <a:pt x="2118198" y="0"/>
                  </a:lnTo>
                  <a:cubicBezTo>
                    <a:pt x="2130319" y="0"/>
                    <a:pt x="2141943" y="4815"/>
                    <a:pt x="2150514" y="13385"/>
                  </a:cubicBezTo>
                  <a:cubicBezTo>
                    <a:pt x="2159084" y="21956"/>
                    <a:pt x="2163899" y="33580"/>
                    <a:pt x="2163899" y="45701"/>
                  </a:cubicBezTo>
                  <a:lnTo>
                    <a:pt x="2163899" y="1507466"/>
                  </a:lnTo>
                  <a:cubicBezTo>
                    <a:pt x="2163899" y="1532706"/>
                    <a:pt x="2143438" y="1553167"/>
                    <a:pt x="2118198" y="1553167"/>
                  </a:cubicBezTo>
                  <a:lnTo>
                    <a:pt x="45701" y="1553167"/>
                  </a:lnTo>
                  <a:cubicBezTo>
                    <a:pt x="33580" y="1553167"/>
                    <a:pt x="21956" y="1548352"/>
                    <a:pt x="13385" y="1539781"/>
                  </a:cubicBezTo>
                  <a:cubicBezTo>
                    <a:pt x="4815" y="1531211"/>
                    <a:pt x="0" y="1519587"/>
                    <a:pt x="0" y="1507466"/>
                  </a:cubicBezTo>
                  <a:lnTo>
                    <a:pt x="0" y="45701"/>
                  </a:lnTo>
                  <a:cubicBezTo>
                    <a:pt x="0" y="20461"/>
                    <a:pt x="20461" y="0"/>
                    <a:pt x="4570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17" id="17"/>
            <p:cNvSpPr txBox="true"/>
            <p:nvPr/>
          </p:nvSpPr>
          <p:spPr>
            <a:xfrm>
              <a:off x="0" y="28575"/>
              <a:ext cx="2163899" cy="1524592"/>
            </a:xfrm>
            <a:prstGeom prst="rect">
              <a:avLst/>
            </a:prstGeom>
          </p:spPr>
          <p:txBody>
            <a:bodyPr anchor="ctr" rtlCol="false" tIns="50800" lIns="50800" bIns="50800" rIns="50800"/>
            <a:lstStyle/>
            <a:p>
              <a:pPr algn="ctr">
                <a:lnSpc>
                  <a:spcPts val="2000"/>
                </a:lnSpc>
              </a:pPr>
            </a:p>
          </p:txBody>
        </p:sp>
      </p:grpSp>
      <p:pic>
        <p:nvPicPr>
          <p:cNvPr name="Picture 18" id="18"/>
          <p:cNvPicPr>
            <a:picLocks noChangeAspect="true"/>
          </p:cNvPicPr>
          <p:nvPr/>
        </p:nvPicPr>
        <p:blipFill>
          <a:blip r:embed="rId5"/>
          <a:stretch>
            <a:fillRect/>
          </a:stretch>
        </p:blipFill>
        <p:spPr>
          <a:xfrm rot="0">
            <a:off x="1088044" y="913290"/>
            <a:ext cx="3465913" cy="3013923"/>
          </a:xfrm>
          <a:prstGeom prst="rect">
            <a:avLst/>
          </a:prstGeom>
        </p:spPr>
      </p:pic>
      <p:grpSp>
        <p:nvGrpSpPr>
          <p:cNvPr name="Group 19" id="19"/>
          <p:cNvGrpSpPr/>
          <p:nvPr/>
        </p:nvGrpSpPr>
        <p:grpSpPr>
          <a:xfrm rot="0">
            <a:off x="515205" y="5527854"/>
            <a:ext cx="4598741" cy="3315751"/>
            <a:chOff x="0" y="0"/>
            <a:chExt cx="2251148" cy="1623106"/>
          </a:xfrm>
        </p:grpSpPr>
        <p:sp>
          <p:nvSpPr>
            <p:cNvPr name="Freeform 20" id="20"/>
            <p:cNvSpPr/>
            <p:nvPr/>
          </p:nvSpPr>
          <p:spPr>
            <a:xfrm flipH="false" flipV="false" rot="0">
              <a:off x="0" y="0"/>
              <a:ext cx="2251148" cy="1623106"/>
            </a:xfrm>
            <a:custGeom>
              <a:avLst/>
              <a:gdLst/>
              <a:ahLst/>
              <a:cxnLst/>
              <a:rect r="r" b="b" t="t" l="l"/>
              <a:pathLst>
                <a:path h="1623106" w="2251148">
                  <a:moveTo>
                    <a:pt x="43771" y="0"/>
                  </a:moveTo>
                  <a:lnTo>
                    <a:pt x="2207377" y="0"/>
                  </a:lnTo>
                  <a:cubicBezTo>
                    <a:pt x="2231551" y="0"/>
                    <a:pt x="2251148" y="19597"/>
                    <a:pt x="2251148" y="43771"/>
                  </a:cubicBezTo>
                  <a:lnTo>
                    <a:pt x="2251148" y="1579335"/>
                  </a:lnTo>
                  <a:cubicBezTo>
                    <a:pt x="2251148" y="1603509"/>
                    <a:pt x="2231551" y="1623106"/>
                    <a:pt x="2207377" y="1623106"/>
                  </a:cubicBezTo>
                  <a:lnTo>
                    <a:pt x="43771" y="1623106"/>
                  </a:lnTo>
                  <a:cubicBezTo>
                    <a:pt x="19597" y="1623106"/>
                    <a:pt x="0" y="1603509"/>
                    <a:pt x="0" y="1579335"/>
                  </a:cubicBezTo>
                  <a:lnTo>
                    <a:pt x="0" y="43771"/>
                  </a:lnTo>
                  <a:cubicBezTo>
                    <a:pt x="0" y="19597"/>
                    <a:pt x="19597" y="0"/>
                    <a:pt x="4377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21" id="21"/>
            <p:cNvSpPr txBox="true"/>
            <p:nvPr/>
          </p:nvSpPr>
          <p:spPr>
            <a:xfrm>
              <a:off x="0" y="28575"/>
              <a:ext cx="2251148" cy="1594531"/>
            </a:xfrm>
            <a:prstGeom prst="rect">
              <a:avLst/>
            </a:prstGeom>
          </p:spPr>
          <p:txBody>
            <a:bodyPr anchor="ctr" rtlCol="false" tIns="50800" lIns="50800" bIns="50800" rIns="50800"/>
            <a:lstStyle/>
            <a:p>
              <a:pPr algn="ctr">
                <a:lnSpc>
                  <a:spcPts val="2000"/>
                </a:lnSpc>
              </a:pPr>
            </a:p>
          </p:txBody>
        </p:sp>
      </p:grpSp>
      <p:sp>
        <p:nvSpPr>
          <p:cNvPr name="Freeform 22" id="22"/>
          <p:cNvSpPr/>
          <p:nvPr/>
        </p:nvSpPr>
        <p:spPr>
          <a:xfrm flipH="false" flipV="false" rot="0">
            <a:off x="2969593" y="-5446885"/>
            <a:ext cx="12734391" cy="8229600"/>
          </a:xfrm>
          <a:custGeom>
            <a:avLst/>
            <a:gdLst/>
            <a:ahLst/>
            <a:cxnLst/>
            <a:rect r="r" b="b" t="t" l="l"/>
            <a:pathLst>
              <a:path h="8229600" w="12734391">
                <a:moveTo>
                  <a:pt x="0" y="0"/>
                </a:moveTo>
                <a:lnTo>
                  <a:pt x="12734391" y="0"/>
                </a:lnTo>
                <a:lnTo>
                  <a:pt x="12734391" y="8229600"/>
                </a:lnTo>
                <a:lnTo>
                  <a:pt x="0" y="8229600"/>
                </a:lnTo>
                <a:lnTo>
                  <a:pt x="0" y="0"/>
                </a:lnTo>
                <a:close/>
              </a:path>
            </a:pathLst>
          </a:custGeom>
          <a:blipFill>
            <a:blip r:embed="rId6"/>
            <a:stretch>
              <a:fillRect l="0" t="0" r="0" b="0"/>
            </a:stretch>
          </a:blipFill>
        </p:spPr>
      </p:sp>
      <p:grpSp>
        <p:nvGrpSpPr>
          <p:cNvPr name="Group 23" id="23"/>
          <p:cNvGrpSpPr/>
          <p:nvPr/>
        </p:nvGrpSpPr>
        <p:grpSpPr>
          <a:xfrm rot="0">
            <a:off x="15064226" y="919173"/>
            <a:ext cx="3780321" cy="7750400"/>
            <a:chOff x="0" y="0"/>
            <a:chExt cx="995640" cy="2041258"/>
          </a:xfrm>
        </p:grpSpPr>
        <p:sp>
          <p:nvSpPr>
            <p:cNvPr name="Freeform 24" id="24"/>
            <p:cNvSpPr/>
            <p:nvPr/>
          </p:nvSpPr>
          <p:spPr>
            <a:xfrm flipH="false" flipV="false" rot="0">
              <a:off x="0" y="0"/>
              <a:ext cx="995640" cy="2041258"/>
            </a:xfrm>
            <a:custGeom>
              <a:avLst/>
              <a:gdLst/>
              <a:ahLst/>
              <a:cxnLst/>
              <a:rect r="r" b="b" t="t" l="l"/>
              <a:pathLst>
                <a:path h="2041258" w="995640">
                  <a:moveTo>
                    <a:pt x="71678" y="0"/>
                  </a:moveTo>
                  <a:lnTo>
                    <a:pt x="923962" y="0"/>
                  </a:lnTo>
                  <a:cubicBezTo>
                    <a:pt x="963549" y="0"/>
                    <a:pt x="995640" y="32091"/>
                    <a:pt x="995640" y="71678"/>
                  </a:cubicBezTo>
                  <a:lnTo>
                    <a:pt x="995640" y="1969579"/>
                  </a:lnTo>
                  <a:cubicBezTo>
                    <a:pt x="995640" y="2009166"/>
                    <a:pt x="963549" y="2041258"/>
                    <a:pt x="923962" y="2041258"/>
                  </a:cubicBezTo>
                  <a:lnTo>
                    <a:pt x="71678" y="2041258"/>
                  </a:lnTo>
                  <a:cubicBezTo>
                    <a:pt x="32091" y="2041258"/>
                    <a:pt x="0" y="2009166"/>
                    <a:pt x="0" y="1969579"/>
                  </a:cubicBezTo>
                  <a:lnTo>
                    <a:pt x="0" y="71678"/>
                  </a:lnTo>
                  <a:cubicBezTo>
                    <a:pt x="0" y="32091"/>
                    <a:pt x="32091" y="0"/>
                    <a:pt x="71678" y="0"/>
                  </a:cubicBezTo>
                  <a:close/>
                </a:path>
              </a:pathLst>
            </a:custGeom>
            <a:gradFill rotWithShape="true">
              <a:gsLst>
                <a:gs pos="0">
                  <a:srgbClr val="FFFFFF">
                    <a:alpha val="22500"/>
                  </a:srgbClr>
                </a:gs>
                <a:gs pos="100000">
                  <a:srgbClr val="FFFFFF">
                    <a:alpha val="14220"/>
                  </a:srgbClr>
                </a:gs>
              </a:gsLst>
              <a:lin ang="5400000"/>
            </a:gradFill>
            <a:ln w="38100" cap="rnd">
              <a:gradFill>
                <a:gsLst>
                  <a:gs pos="0">
                    <a:srgbClr val="FFDE59">
                      <a:alpha val="36000"/>
                    </a:srgbClr>
                  </a:gs>
                  <a:gs pos="100000">
                    <a:srgbClr val="FFFFFF">
                      <a:alpha val="3780"/>
                    </a:srgbClr>
                  </a:gs>
                </a:gsLst>
                <a:lin ang="2700000"/>
              </a:gradFill>
              <a:prstDash val="solid"/>
              <a:round/>
            </a:ln>
          </p:spPr>
        </p:sp>
        <p:sp>
          <p:nvSpPr>
            <p:cNvPr name="TextBox 25" id="25"/>
            <p:cNvSpPr txBox="true"/>
            <p:nvPr/>
          </p:nvSpPr>
          <p:spPr>
            <a:xfrm>
              <a:off x="0" y="-104775"/>
              <a:ext cx="995640" cy="2146033"/>
            </a:xfrm>
            <a:prstGeom prst="rect">
              <a:avLst/>
            </a:prstGeom>
          </p:spPr>
          <p:txBody>
            <a:bodyPr anchor="ctr" rtlCol="false" tIns="50800" lIns="50800" bIns="50800" rIns="50800"/>
            <a:lstStyle/>
            <a:p>
              <a:pPr algn="ctr">
                <a:lnSpc>
                  <a:spcPts val="3528"/>
                </a:lnSpc>
              </a:pPr>
            </a:p>
          </p:txBody>
        </p:sp>
      </p:grpSp>
      <p:grpSp>
        <p:nvGrpSpPr>
          <p:cNvPr name="Group 26" id="26"/>
          <p:cNvGrpSpPr/>
          <p:nvPr/>
        </p:nvGrpSpPr>
        <p:grpSpPr>
          <a:xfrm rot="0">
            <a:off x="5510865" y="788896"/>
            <a:ext cx="9346556" cy="3595080"/>
            <a:chOff x="0" y="0"/>
            <a:chExt cx="2872003" cy="1104693"/>
          </a:xfrm>
        </p:grpSpPr>
        <p:sp>
          <p:nvSpPr>
            <p:cNvPr name="Freeform 27" id="27"/>
            <p:cNvSpPr/>
            <p:nvPr/>
          </p:nvSpPr>
          <p:spPr>
            <a:xfrm flipH="false" flipV="false" rot="0">
              <a:off x="0" y="0"/>
              <a:ext cx="2872003" cy="1104694"/>
            </a:xfrm>
            <a:custGeom>
              <a:avLst/>
              <a:gdLst/>
              <a:ahLst/>
              <a:cxnLst/>
              <a:rect r="r" b="b" t="t" l="l"/>
              <a:pathLst>
                <a:path h="1104694" w="2872003">
                  <a:moveTo>
                    <a:pt x="27334" y="0"/>
                  </a:moveTo>
                  <a:lnTo>
                    <a:pt x="2844668" y="0"/>
                  </a:lnTo>
                  <a:cubicBezTo>
                    <a:pt x="2859765" y="0"/>
                    <a:pt x="2872003" y="12238"/>
                    <a:pt x="2872003" y="27334"/>
                  </a:cubicBezTo>
                  <a:lnTo>
                    <a:pt x="2872003" y="1077359"/>
                  </a:lnTo>
                  <a:cubicBezTo>
                    <a:pt x="2872003" y="1092455"/>
                    <a:pt x="2859765" y="1104694"/>
                    <a:pt x="2844668" y="1104694"/>
                  </a:cubicBezTo>
                  <a:lnTo>
                    <a:pt x="27334" y="1104694"/>
                  </a:lnTo>
                  <a:cubicBezTo>
                    <a:pt x="12238" y="1104694"/>
                    <a:pt x="0" y="1092455"/>
                    <a:pt x="0" y="1077359"/>
                  </a:cubicBezTo>
                  <a:lnTo>
                    <a:pt x="0" y="27334"/>
                  </a:lnTo>
                  <a:cubicBezTo>
                    <a:pt x="0" y="12238"/>
                    <a:pt x="12238" y="0"/>
                    <a:pt x="27334" y="0"/>
                  </a:cubicBezTo>
                  <a:close/>
                </a:path>
              </a:pathLst>
            </a:custGeom>
            <a:gradFill rotWithShape="true">
              <a:gsLst>
                <a:gs pos="0">
                  <a:srgbClr val="9C2357">
                    <a:alpha val="3060"/>
                  </a:srgbClr>
                </a:gs>
                <a:gs pos="100000">
                  <a:srgbClr val="5F89FF">
                    <a:alpha val="68000"/>
                  </a:srgbClr>
                </a:gs>
              </a:gsLst>
              <a:lin ang="5400000"/>
            </a:gradFill>
            <a:ln w="38100" cap="rnd">
              <a:gradFill>
                <a:gsLst>
                  <a:gs pos="0">
                    <a:srgbClr val="5F89FF">
                      <a:alpha val="68000"/>
                    </a:srgbClr>
                  </a:gs>
                  <a:gs pos="100000">
                    <a:srgbClr val="FFFFFF">
                      <a:alpha val="12580"/>
                    </a:srgbClr>
                  </a:gs>
                </a:gsLst>
                <a:lin ang="5400000"/>
              </a:gradFill>
              <a:prstDash val="solid"/>
              <a:round/>
            </a:ln>
          </p:spPr>
        </p:sp>
        <p:sp>
          <p:nvSpPr>
            <p:cNvPr name="TextBox 28" id="28"/>
            <p:cNvSpPr txBox="true"/>
            <p:nvPr/>
          </p:nvSpPr>
          <p:spPr>
            <a:xfrm>
              <a:off x="0" y="28575"/>
              <a:ext cx="2872003" cy="1076118"/>
            </a:xfrm>
            <a:prstGeom prst="rect">
              <a:avLst/>
            </a:prstGeom>
          </p:spPr>
          <p:txBody>
            <a:bodyPr anchor="ctr" rtlCol="false" tIns="50800" lIns="50800" bIns="50800" rIns="50800"/>
            <a:lstStyle/>
            <a:p>
              <a:pPr algn="ctr">
                <a:lnSpc>
                  <a:spcPts val="2000"/>
                </a:lnSpc>
              </a:pPr>
            </a:p>
          </p:txBody>
        </p:sp>
      </p:grpSp>
      <p:grpSp>
        <p:nvGrpSpPr>
          <p:cNvPr name="Group 29" id="29"/>
          <p:cNvGrpSpPr/>
          <p:nvPr/>
        </p:nvGrpSpPr>
        <p:grpSpPr>
          <a:xfrm rot="0">
            <a:off x="5536696" y="4469818"/>
            <a:ext cx="9346556" cy="5598136"/>
            <a:chOff x="0" y="0"/>
            <a:chExt cx="2917010" cy="1747148"/>
          </a:xfrm>
        </p:grpSpPr>
        <p:sp>
          <p:nvSpPr>
            <p:cNvPr name="Freeform 30" id="30"/>
            <p:cNvSpPr/>
            <p:nvPr/>
          </p:nvSpPr>
          <p:spPr>
            <a:xfrm flipH="false" flipV="false" rot="0">
              <a:off x="0" y="0"/>
              <a:ext cx="2917010" cy="1747148"/>
            </a:xfrm>
            <a:custGeom>
              <a:avLst/>
              <a:gdLst/>
              <a:ahLst/>
              <a:cxnLst/>
              <a:rect r="r" b="b" t="t" l="l"/>
              <a:pathLst>
                <a:path h="1747148" w="2917010">
                  <a:moveTo>
                    <a:pt x="27334" y="0"/>
                  </a:moveTo>
                  <a:lnTo>
                    <a:pt x="2889676" y="0"/>
                  </a:lnTo>
                  <a:cubicBezTo>
                    <a:pt x="2904772" y="0"/>
                    <a:pt x="2917010" y="12238"/>
                    <a:pt x="2917010" y="27334"/>
                  </a:cubicBezTo>
                  <a:lnTo>
                    <a:pt x="2917010" y="1719814"/>
                  </a:lnTo>
                  <a:cubicBezTo>
                    <a:pt x="2917010" y="1734910"/>
                    <a:pt x="2904772" y="1747148"/>
                    <a:pt x="2889676" y="1747148"/>
                  </a:cubicBezTo>
                  <a:lnTo>
                    <a:pt x="27334" y="1747148"/>
                  </a:lnTo>
                  <a:cubicBezTo>
                    <a:pt x="12238" y="1747148"/>
                    <a:pt x="0" y="1734910"/>
                    <a:pt x="0" y="1719814"/>
                  </a:cubicBezTo>
                  <a:lnTo>
                    <a:pt x="0" y="27334"/>
                  </a:lnTo>
                  <a:cubicBezTo>
                    <a:pt x="0" y="12238"/>
                    <a:pt x="12238" y="0"/>
                    <a:pt x="27334" y="0"/>
                  </a:cubicBezTo>
                  <a:close/>
                </a:path>
              </a:pathLst>
            </a:custGeom>
            <a:gradFill rotWithShape="true">
              <a:gsLst>
                <a:gs pos="0">
                  <a:srgbClr val="9C2357">
                    <a:alpha val="3060"/>
                  </a:srgbClr>
                </a:gs>
                <a:gs pos="100000">
                  <a:srgbClr val="5F89FF">
                    <a:alpha val="68000"/>
                  </a:srgbClr>
                </a:gs>
              </a:gsLst>
              <a:lin ang="5400000"/>
            </a:gradFill>
            <a:ln w="38100" cap="rnd">
              <a:gradFill>
                <a:gsLst>
                  <a:gs pos="0">
                    <a:srgbClr val="5F89FF">
                      <a:alpha val="68000"/>
                    </a:srgbClr>
                  </a:gs>
                  <a:gs pos="100000">
                    <a:srgbClr val="FFFFFF">
                      <a:alpha val="12580"/>
                    </a:srgbClr>
                  </a:gs>
                </a:gsLst>
                <a:lin ang="5400000"/>
              </a:gradFill>
              <a:prstDash val="solid"/>
              <a:round/>
            </a:ln>
          </p:spPr>
        </p:sp>
        <p:sp>
          <p:nvSpPr>
            <p:cNvPr name="TextBox 31" id="31"/>
            <p:cNvSpPr txBox="true"/>
            <p:nvPr/>
          </p:nvSpPr>
          <p:spPr>
            <a:xfrm>
              <a:off x="0" y="28575"/>
              <a:ext cx="2917010" cy="1718573"/>
            </a:xfrm>
            <a:prstGeom prst="rect">
              <a:avLst/>
            </a:prstGeom>
          </p:spPr>
          <p:txBody>
            <a:bodyPr anchor="ctr" rtlCol="false" tIns="50800" lIns="50800" bIns="50800" rIns="50800"/>
            <a:lstStyle/>
            <a:p>
              <a:pPr algn="ctr">
                <a:lnSpc>
                  <a:spcPts val="2000"/>
                </a:lnSpc>
              </a:pPr>
            </a:p>
          </p:txBody>
        </p:sp>
      </p:grpSp>
      <p:grpSp>
        <p:nvGrpSpPr>
          <p:cNvPr name="Group 32" id="32"/>
          <p:cNvGrpSpPr/>
          <p:nvPr/>
        </p:nvGrpSpPr>
        <p:grpSpPr>
          <a:xfrm rot="0">
            <a:off x="5734719" y="919173"/>
            <a:ext cx="5675275" cy="3343830"/>
            <a:chOff x="0" y="0"/>
            <a:chExt cx="2138298" cy="1259870"/>
          </a:xfrm>
        </p:grpSpPr>
        <p:sp>
          <p:nvSpPr>
            <p:cNvPr name="Freeform 33" id="33"/>
            <p:cNvSpPr/>
            <p:nvPr/>
          </p:nvSpPr>
          <p:spPr>
            <a:xfrm flipH="false" flipV="false" rot="0">
              <a:off x="0" y="0"/>
              <a:ext cx="2138298" cy="1259870"/>
            </a:xfrm>
            <a:custGeom>
              <a:avLst/>
              <a:gdLst/>
              <a:ahLst/>
              <a:cxnLst/>
              <a:rect r="r" b="b" t="t" l="l"/>
              <a:pathLst>
                <a:path h="1259870" w="2138298">
                  <a:moveTo>
                    <a:pt x="30011" y="0"/>
                  </a:moveTo>
                  <a:lnTo>
                    <a:pt x="2108287" y="0"/>
                  </a:lnTo>
                  <a:cubicBezTo>
                    <a:pt x="2124862" y="0"/>
                    <a:pt x="2138298" y="13437"/>
                    <a:pt x="2138298" y="30011"/>
                  </a:cubicBezTo>
                  <a:lnTo>
                    <a:pt x="2138298" y="1229858"/>
                  </a:lnTo>
                  <a:cubicBezTo>
                    <a:pt x="2138298" y="1246433"/>
                    <a:pt x="2124862" y="1259870"/>
                    <a:pt x="2108287" y="1259870"/>
                  </a:cubicBezTo>
                  <a:lnTo>
                    <a:pt x="30011" y="1259870"/>
                  </a:lnTo>
                  <a:cubicBezTo>
                    <a:pt x="22052" y="1259870"/>
                    <a:pt x="14418" y="1256708"/>
                    <a:pt x="8790" y="1251080"/>
                  </a:cubicBezTo>
                  <a:cubicBezTo>
                    <a:pt x="3162" y="1245451"/>
                    <a:pt x="0" y="1237818"/>
                    <a:pt x="0" y="1229858"/>
                  </a:cubicBezTo>
                  <a:lnTo>
                    <a:pt x="0" y="30011"/>
                  </a:lnTo>
                  <a:cubicBezTo>
                    <a:pt x="0" y="13437"/>
                    <a:pt x="13437" y="0"/>
                    <a:pt x="3001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34" id="34"/>
            <p:cNvSpPr txBox="true"/>
            <p:nvPr/>
          </p:nvSpPr>
          <p:spPr>
            <a:xfrm>
              <a:off x="0" y="28575"/>
              <a:ext cx="2138298" cy="1231295"/>
            </a:xfrm>
            <a:prstGeom prst="rect">
              <a:avLst/>
            </a:prstGeom>
          </p:spPr>
          <p:txBody>
            <a:bodyPr anchor="ctr" rtlCol="false" tIns="50800" lIns="50800" bIns="50800" rIns="50800"/>
            <a:lstStyle/>
            <a:p>
              <a:pPr algn="ctr">
                <a:lnSpc>
                  <a:spcPts val="2000"/>
                </a:lnSpc>
              </a:pPr>
            </a:p>
          </p:txBody>
        </p:sp>
      </p:grpSp>
      <p:sp>
        <p:nvSpPr>
          <p:cNvPr name="Freeform 35" id="35"/>
          <p:cNvSpPr/>
          <p:nvPr/>
        </p:nvSpPr>
        <p:spPr>
          <a:xfrm flipH="false" flipV="false" rot="0">
            <a:off x="5998993" y="1013589"/>
            <a:ext cx="5067554" cy="2996191"/>
          </a:xfrm>
          <a:custGeom>
            <a:avLst/>
            <a:gdLst/>
            <a:ahLst/>
            <a:cxnLst/>
            <a:rect r="r" b="b" t="t" l="l"/>
            <a:pathLst>
              <a:path h="2996191" w="5067554">
                <a:moveTo>
                  <a:pt x="0" y="0"/>
                </a:moveTo>
                <a:lnTo>
                  <a:pt x="5067554" y="0"/>
                </a:lnTo>
                <a:lnTo>
                  <a:pt x="5067554" y="2996191"/>
                </a:lnTo>
                <a:lnTo>
                  <a:pt x="0" y="2996191"/>
                </a:lnTo>
                <a:lnTo>
                  <a:pt x="0" y="0"/>
                </a:lnTo>
                <a:close/>
              </a:path>
            </a:pathLst>
          </a:custGeom>
          <a:blipFill>
            <a:blip r:embed="rId7"/>
            <a:stretch>
              <a:fillRect l="0" t="0" r="0" b="0"/>
            </a:stretch>
          </a:blipFill>
        </p:spPr>
      </p:sp>
      <p:grpSp>
        <p:nvGrpSpPr>
          <p:cNvPr name="Group 36" id="36"/>
          <p:cNvGrpSpPr/>
          <p:nvPr/>
        </p:nvGrpSpPr>
        <p:grpSpPr>
          <a:xfrm rot="0">
            <a:off x="6530575" y="1291662"/>
            <a:ext cx="2069206" cy="2665689"/>
            <a:chOff x="0" y="0"/>
            <a:chExt cx="635824" cy="819111"/>
          </a:xfrm>
        </p:grpSpPr>
        <p:sp>
          <p:nvSpPr>
            <p:cNvPr name="Freeform 37" id="37"/>
            <p:cNvSpPr/>
            <p:nvPr/>
          </p:nvSpPr>
          <p:spPr>
            <a:xfrm flipH="false" flipV="false" rot="0">
              <a:off x="0" y="0"/>
              <a:ext cx="635824" cy="819111"/>
            </a:xfrm>
            <a:custGeom>
              <a:avLst/>
              <a:gdLst/>
              <a:ahLst/>
              <a:cxnLst/>
              <a:rect r="r" b="b" t="t" l="l"/>
              <a:pathLst>
                <a:path h="819111" w="635824">
                  <a:moveTo>
                    <a:pt x="33673" y="0"/>
                  </a:moveTo>
                  <a:lnTo>
                    <a:pt x="602151" y="0"/>
                  </a:lnTo>
                  <a:cubicBezTo>
                    <a:pt x="620748" y="0"/>
                    <a:pt x="635824" y="15076"/>
                    <a:pt x="635824" y="33673"/>
                  </a:cubicBezTo>
                  <a:lnTo>
                    <a:pt x="635824" y="785438"/>
                  </a:lnTo>
                  <a:cubicBezTo>
                    <a:pt x="635824" y="804035"/>
                    <a:pt x="620748" y="819111"/>
                    <a:pt x="602151" y="819111"/>
                  </a:cubicBezTo>
                  <a:lnTo>
                    <a:pt x="33673" y="819111"/>
                  </a:lnTo>
                  <a:cubicBezTo>
                    <a:pt x="15076" y="819111"/>
                    <a:pt x="0" y="804035"/>
                    <a:pt x="0" y="785438"/>
                  </a:cubicBezTo>
                  <a:lnTo>
                    <a:pt x="0" y="33673"/>
                  </a:lnTo>
                  <a:cubicBezTo>
                    <a:pt x="0" y="15076"/>
                    <a:pt x="15076" y="0"/>
                    <a:pt x="33673" y="0"/>
                  </a:cubicBezTo>
                  <a:close/>
                </a:path>
              </a:pathLst>
            </a:custGeom>
            <a:ln w="28575" cap="sq">
              <a:solidFill>
                <a:srgbClr val="FF3131"/>
              </a:solidFill>
              <a:prstDash val="solid"/>
              <a:miter/>
            </a:ln>
          </p:spPr>
        </p:sp>
        <p:sp>
          <p:nvSpPr>
            <p:cNvPr name="TextBox 38" id="38"/>
            <p:cNvSpPr txBox="true"/>
            <p:nvPr/>
          </p:nvSpPr>
          <p:spPr>
            <a:xfrm>
              <a:off x="0" y="28575"/>
              <a:ext cx="635824" cy="790536"/>
            </a:xfrm>
            <a:prstGeom prst="rect">
              <a:avLst/>
            </a:prstGeom>
          </p:spPr>
          <p:txBody>
            <a:bodyPr anchor="ctr" rtlCol="false" tIns="50800" lIns="50800" bIns="50800" rIns="50800"/>
            <a:lstStyle/>
            <a:p>
              <a:pPr algn="ctr">
                <a:lnSpc>
                  <a:spcPts val="2000"/>
                </a:lnSpc>
              </a:pPr>
            </a:p>
          </p:txBody>
        </p:sp>
      </p:grpSp>
      <p:sp>
        <p:nvSpPr>
          <p:cNvPr name="Freeform 39" id="39"/>
          <p:cNvSpPr/>
          <p:nvPr/>
        </p:nvSpPr>
        <p:spPr>
          <a:xfrm flipH="false" flipV="false" rot="0">
            <a:off x="5768740" y="4679251"/>
            <a:ext cx="5427156" cy="2548078"/>
          </a:xfrm>
          <a:custGeom>
            <a:avLst/>
            <a:gdLst/>
            <a:ahLst/>
            <a:cxnLst/>
            <a:rect r="r" b="b" t="t" l="l"/>
            <a:pathLst>
              <a:path h="2548078" w="5427156">
                <a:moveTo>
                  <a:pt x="0" y="0"/>
                </a:moveTo>
                <a:lnTo>
                  <a:pt x="5427155" y="0"/>
                </a:lnTo>
                <a:lnTo>
                  <a:pt x="5427155" y="2548077"/>
                </a:lnTo>
                <a:lnTo>
                  <a:pt x="0" y="2548077"/>
                </a:lnTo>
                <a:lnTo>
                  <a:pt x="0" y="0"/>
                </a:lnTo>
                <a:close/>
              </a:path>
            </a:pathLst>
          </a:custGeom>
          <a:blipFill>
            <a:blip r:embed="rId8"/>
            <a:stretch>
              <a:fillRect l="0" t="0" r="0" b="-1702"/>
            </a:stretch>
          </a:blipFill>
        </p:spPr>
      </p:sp>
      <p:grpSp>
        <p:nvGrpSpPr>
          <p:cNvPr name="Group 40" id="40"/>
          <p:cNvGrpSpPr/>
          <p:nvPr/>
        </p:nvGrpSpPr>
        <p:grpSpPr>
          <a:xfrm rot="0">
            <a:off x="5734719" y="7561003"/>
            <a:ext cx="5730124" cy="2164078"/>
            <a:chOff x="0" y="0"/>
            <a:chExt cx="7640165" cy="2885437"/>
          </a:xfrm>
        </p:grpSpPr>
        <p:sp>
          <p:nvSpPr>
            <p:cNvPr name="Freeform 41" id="41"/>
            <p:cNvSpPr/>
            <p:nvPr/>
          </p:nvSpPr>
          <p:spPr>
            <a:xfrm flipH="false" flipV="false" rot="0">
              <a:off x="46908" y="0"/>
              <a:ext cx="7593257" cy="2885437"/>
            </a:xfrm>
            <a:custGeom>
              <a:avLst/>
              <a:gdLst/>
              <a:ahLst/>
              <a:cxnLst/>
              <a:rect r="r" b="b" t="t" l="l"/>
              <a:pathLst>
                <a:path h="2885437" w="7593257">
                  <a:moveTo>
                    <a:pt x="0" y="0"/>
                  </a:moveTo>
                  <a:lnTo>
                    <a:pt x="7593257" y="0"/>
                  </a:lnTo>
                  <a:lnTo>
                    <a:pt x="7593257" y="2885437"/>
                  </a:lnTo>
                  <a:lnTo>
                    <a:pt x="0" y="2885437"/>
                  </a:lnTo>
                  <a:lnTo>
                    <a:pt x="0" y="0"/>
                  </a:lnTo>
                  <a:close/>
                </a:path>
              </a:pathLst>
            </a:custGeom>
            <a:blipFill>
              <a:blip r:embed="rId9"/>
              <a:stretch>
                <a:fillRect l="0" t="0" r="0" b="0"/>
              </a:stretch>
            </a:blipFill>
          </p:spPr>
        </p:sp>
        <p:grpSp>
          <p:nvGrpSpPr>
            <p:cNvPr name="Group 42" id="42"/>
            <p:cNvGrpSpPr/>
            <p:nvPr/>
          </p:nvGrpSpPr>
          <p:grpSpPr>
            <a:xfrm rot="0">
              <a:off x="0" y="549347"/>
              <a:ext cx="7640165" cy="315354"/>
              <a:chOff x="0" y="0"/>
              <a:chExt cx="2372507" cy="97927"/>
            </a:xfrm>
          </p:grpSpPr>
          <p:sp>
            <p:nvSpPr>
              <p:cNvPr name="Freeform 43" id="43"/>
              <p:cNvSpPr/>
              <p:nvPr/>
            </p:nvSpPr>
            <p:spPr>
              <a:xfrm flipH="false" flipV="false" rot="0">
                <a:off x="0" y="0"/>
                <a:ext cx="2372507" cy="97927"/>
              </a:xfrm>
              <a:custGeom>
                <a:avLst/>
                <a:gdLst/>
                <a:ahLst/>
                <a:cxnLst/>
                <a:rect r="r" b="b" t="t" l="l"/>
                <a:pathLst>
                  <a:path h="97927" w="2372507">
                    <a:moveTo>
                      <a:pt x="12160" y="0"/>
                    </a:moveTo>
                    <a:lnTo>
                      <a:pt x="2360347" y="0"/>
                    </a:lnTo>
                    <a:cubicBezTo>
                      <a:pt x="2367063" y="0"/>
                      <a:pt x="2372507" y="5444"/>
                      <a:pt x="2372507" y="12160"/>
                    </a:cubicBezTo>
                    <a:lnTo>
                      <a:pt x="2372507" y="85767"/>
                    </a:lnTo>
                    <a:cubicBezTo>
                      <a:pt x="2372507" y="88992"/>
                      <a:pt x="2371226" y="92085"/>
                      <a:pt x="2368946" y="94366"/>
                    </a:cubicBezTo>
                    <a:cubicBezTo>
                      <a:pt x="2366665" y="96646"/>
                      <a:pt x="2363572" y="97927"/>
                      <a:pt x="2360347" y="97927"/>
                    </a:cubicBezTo>
                    <a:lnTo>
                      <a:pt x="12160" y="97927"/>
                    </a:lnTo>
                    <a:cubicBezTo>
                      <a:pt x="5444" y="97927"/>
                      <a:pt x="0" y="92483"/>
                      <a:pt x="0" y="85767"/>
                    </a:cubicBezTo>
                    <a:lnTo>
                      <a:pt x="0" y="12160"/>
                    </a:lnTo>
                    <a:cubicBezTo>
                      <a:pt x="0" y="8935"/>
                      <a:pt x="1281" y="5842"/>
                      <a:pt x="3562" y="3562"/>
                    </a:cubicBezTo>
                    <a:cubicBezTo>
                      <a:pt x="5842" y="1281"/>
                      <a:pt x="8935" y="0"/>
                      <a:pt x="12160" y="0"/>
                    </a:cubicBezTo>
                    <a:close/>
                  </a:path>
                </a:pathLst>
              </a:custGeom>
              <a:ln w="28575" cap="sq">
                <a:solidFill>
                  <a:srgbClr val="FF3131"/>
                </a:solidFill>
                <a:prstDash val="solid"/>
                <a:miter/>
              </a:ln>
            </p:spPr>
          </p:sp>
          <p:sp>
            <p:nvSpPr>
              <p:cNvPr name="TextBox 44" id="44"/>
              <p:cNvSpPr txBox="true"/>
              <p:nvPr/>
            </p:nvSpPr>
            <p:spPr>
              <a:xfrm>
                <a:off x="0" y="28575"/>
                <a:ext cx="2372507" cy="69352"/>
              </a:xfrm>
              <a:prstGeom prst="rect">
                <a:avLst/>
              </a:prstGeom>
            </p:spPr>
            <p:txBody>
              <a:bodyPr anchor="ctr" rtlCol="false" tIns="50800" lIns="50800" bIns="50800" rIns="50800"/>
              <a:lstStyle/>
              <a:p>
                <a:pPr algn="ctr">
                  <a:lnSpc>
                    <a:spcPts val="2000"/>
                  </a:lnSpc>
                </a:pPr>
              </a:p>
            </p:txBody>
          </p:sp>
        </p:grpSp>
      </p:grpSp>
      <p:grpSp>
        <p:nvGrpSpPr>
          <p:cNvPr name="Group 45" id="45"/>
          <p:cNvGrpSpPr/>
          <p:nvPr/>
        </p:nvGrpSpPr>
        <p:grpSpPr>
          <a:xfrm rot="0">
            <a:off x="5814127" y="4916627"/>
            <a:ext cx="5381768" cy="236515"/>
            <a:chOff x="0" y="0"/>
            <a:chExt cx="2228274" cy="97927"/>
          </a:xfrm>
        </p:grpSpPr>
        <p:sp>
          <p:nvSpPr>
            <p:cNvPr name="Freeform 46" id="46"/>
            <p:cNvSpPr/>
            <p:nvPr/>
          </p:nvSpPr>
          <p:spPr>
            <a:xfrm flipH="false" flipV="false" rot="0">
              <a:off x="0" y="0"/>
              <a:ext cx="2228274" cy="97927"/>
            </a:xfrm>
            <a:custGeom>
              <a:avLst/>
              <a:gdLst/>
              <a:ahLst/>
              <a:cxnLst/>
              <a:rect r="r" b="b" t="t" l="l"/>
              <a:pathLst>
                <a:path h="97927" w="2228274">
                  <a:moveTo>
                    <a:pt x="12947" y="0"/>
                  </a:moveTo>
                  <a:lnTo>
                    <a:pt x="2215327" y="0"/>
                  </a:lnTo>
                  <a:cubicBezTo>
                    <a:pt x="2222477" y="0"/>
                    <a:pt x="2228274" y="5797"/>
                    <a:pt x="2228274" y="12947"/>
                  </a:cubicBezTo>
                  <a:lnTo>
                    <a:pt x="2228274" y="84980"/>
                  </a:lnTo>
                  <a:cubicBezTo>
                    <a:pt x="2228274" y="88414"/>
                    <a:pt x="2226910" y="91707"/>
                    <a:pt x="2224482" y="94135"/>
                  </a:cubicBezTo>
                  <a:cubicBezTo>
                    <a:pt x="2222054" y="96563"/>
                    <a:pt x="2218760" y="97927"/>
                    <a:pt x="2215327" y="97927"/>
                  </a:cubicBezTo>
                  <a:lnTo>
                    <a:pt x="12947" y="97927"/>
                  </a:lnTo>
                  <a:cubicBezTo>
                    <a:pt x="5797" y="97927"/>
                    <a:pt x="0" y="92131"/>
                    <a:pt x="0" y="84980"/>
                  </a:cubicBezTo>
                  <a:lnTo>
                    <a:pt x="0" y="12947"/>
                  </a:lnTo>
                  <a:cubicBezTo>
                    <a:pt x="0" y="9513"/>
                    <a:pt x="1364" y="6220"/>
                    <a:pt x="3792" y="3792"/>
                  </a:cubicBezTo>
                  <a:cubicBezTo>
                    <a:pt x="6220" y="1364"/>
                    <a:pt x="9513" y="0"/>
                    <a:pt x="12947" y="0"/>
                  </a:cubicBezTo>
                  <a:close/>
                </a:path>
              </a:pathLst>
            </a:custGeom>
            <a:ln w="28575" cap="sq">
              <a:solidFill>
                <a:srgbClr val="FF3131"/>
              </a:solidFill>
              <a:prstDash val="solid"/>
              <a:miter/>
            </a:ln>
          </p:spPr>
        </p:sp>
        <p:sp>
          <p:nvSpPr>
            <p:cNvPr name="TextBox 47" id="47"/>
            <p:cNvSpPr txBox="true"/>
            <p:nvPr/>
          </p:nvSpPr>
          <p:spPr>
            <a:xfrm>
              <a:off x="0" y="28575"/>
              <a:ext cx="2228274" cy="69352"/>
            </a:xfrm>
            <a:prstGeom prst="rect">
              <a:avLst/>
            </a:prstGeom>
          </p:spPr>
          <p:txBody>
            <a:bodyPr anchor="ctr" rtlCol="false" tIns="50800" lIns="50800" bIns="50800" rIns="50800"/>
            <a:lstStyle/>
            <a:p>
              <a:pPr algn="ctr">
                <a:lnSpc>
                  <a:spcPts val="2000"/>
                </a:lnSpc>
              </a:pPr>
            </a:p>
          </p:txBody>
        </p:sp>
      </p:grpSp>
      <p:sp>
        <p:nvSpPr>
          <p:cNvPr name="Freeform 48" id="48"/>
          <p:cNvSpPr/>
          <p:nvPr/>
        </p:nvSpPr>
        <p:spPr>
          <a:xfrm flipH="false" flipV="false" rot="0">
            <a:off x="11890125" y="5383967"/>
            <a:ext cx="309435" cy="143887"/>
          </a:xfrm>
          <a:custGeom>
            <a:avLst/>
            <a:gdLst/>
            <a:ahLst/>
            <a:cxnLst/>
            <a:rect r="r" b="b" t="t" l="l"/>
            <a:pathLst>
              <a:path h="143887" w="309435">
                <a:moveTo>
                  <a:pt x="0" y="0"/>
                </a:moveTo>
                <a:lnTo>
                  <a:pt x="309435" y="0"/>
                </a:lnTo>
                <a:lnTo>
                  <a:pt x="309435" y="143887"/>
                </a:lnTo>
                <a:lnTo>
                  <a:pt x="0" y="1438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9" id="49"/>
          <p:cNvSpPr/>
          <p:nvPr/>
        </p:nvSpPr>
        <p:spPr>
          <a:xfrm flipH="true" flipV="false" rot="0">
            <a:off x="14006199" y="5361555"/>
            <a:ext cx="309435" cy="143887"/>
          </a:xfrm>
          <a:custGeom>
            <a:avLst/>
            <a:gdLst/>
            <a:ahLst/>
            <a:cxnLst/>
            <a:rect r="r" b="b" t="t" l="l"/>
            <a:pathLst>
              <a:path h="143887" w="309435">
                <a:moveTo>
                  <a:pt x="309435" y="0"/>
                </a:moveTo>
                <a:lnTo>
                  <a:pt x="0" y="0"/>
                </a:lnTo>
                <a:lnTo>
                  <a:pt x="0" y="143887"/>
                </a:lnTo>
                <a:lnTo>
                  <a:pt x="309435" y="143887"/>
                </a:lnTo>
                <a:lnTo>
                  <a:pt x="30943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0" id="50"/>
          <p:cNvSpPr/>
          <p:nvPr/>
        </p:nvSpPr>
        <p:spPr>
          <a:xfrm flipH="false" flipV="false" rot="0">
            <a:off x="11890125" y="1833829"/>
            <a:ext cx="309435" cy="143887"/>
          </a:xfrm>
          <a:custGeom>
            <a:avLst/>
            <a:gdLst/>
            <a:ahLst/>
            <a:cxnLst/>
            <a:rect r="r" b="b" t="t" l="l"/>
            <a:pathLst>
              <a:path h="143887" w="309435">
                <a:moveTo>
                  <a:pt x="0" y="0"/>
                </a:moveTo>
                <a:lnTo>
                  <a:pt x="309435" y="0"/>
                </a:lnTo>
                <a:lnTo>
                  <a:pt x="309435" y="143887"/>
                </a:lnTo>
                <a:lnTo>
                  <a:pt x="0" y="1438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1" id="51"/>
          <p:cNvSpPr/>
          <p:nvPr/>
        </p:nvSpPr>
        <p:spPr>
          <a:xfrm flipH="true" flipV="false" rot="0">
            <a:off x="14006199" y="1811417"/>
            <a:ext cx="309435" cy="143887"/>
          </a:xfrm>
          <a:custGeom>
            <a:avLst/>
            <a:gdLst/>
            <a:ahLst/>
            <a:cxnLst/>
            <a:rect r="r" b="b" t="t" l="l"/>
            <a:pathLst>
              <a:path h="143887" w="309435">
                <a:moveTo>
                  <a:pt x="309435" y="0"/>
                </a:moveTo>
                <a:lnTo>
                  <a:pt x="0" y="0"/>
                </a:lnTo>
                <a:lnTo>
                  <a:pt x="0" y="143887"/>
                </a:lnTo>
                <a:lnTo>
                  <a:pt x="309435" y="143887"/>
                </a:lnTo>
                <a:lnTo>
                  <a:pt x="30943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52" id="52"/>
          <p:cNvPicPr>
            <a:picLocks noChangeAspect="true"/>
          </p:cNvPicPr>
          <p:nvPr/>
        </p:nvPicPr>
        <p:blipFill>
          <a:blip r:embed="rId12"/>
          <a:stretch>
            <a:fillRect/>
          </a:stretch>
        </p:blipFill>
        <p:spPr>
          <a:xfrm rot="0">
            <a:off x="501865" y="5302750"/>
            <a:ext cx="4536678" cy="3580357"/>
          </a:xfrm>
          <a:prstGeom prst="rect">
            <a:avLst/>
          </a:prstGeom>
        </p:spPr>
      </p:pic>
      <p:sp>
        <p:nvSpPr>
          <p:cNvPr name="TextBox 53" id="53"/>
          <p:cNvSpPr txBox="true"/>
          <p:nvPr/>
        </p:nvSpPr>
        <p:spPr>
          <a:xfrm rot="0">
            <a:off x="564886" y="112737"/>
            <a:ext cx="17723114" cy="523840"/>
          </a:xfrm>
          <a:prstGeom prst="rect">
            <a:avLst/>
          </a:prstGeom>
        </p:spPr>
        <p:txBody>
          <a:bodyPr anchor="t" rtlCol="false" tIns="0" lIns="0" bIns="0" rIns="0">
            <a:spAutoFit/>
          </a:bodyPr>
          <a:lstStyle/>
          <a:p>
            <a:pPr algn="ctr" marL="0" indent="0" lvl="0">
              <a:lnSpc>
                <a:spcPts val="4499"/>
              </a:lnSpc>
            </a:pPr>
            <a:r>
              <a:rPr lang="en-US" b="true" sz="2999" spc="8">
                <a:solidFill>
                  <a:srgbClr val="F3740B"/>
                </a:solidFill>
                <a:latin typeface="Inter Ultra-Bold"/>
                <a:ea typeface="Inter Ultra-Bold"/>
                <a:cs typeface="Inter Ultra-Bold"/>
                <a:sym typeface="Inter Ultra-Bold"/>
              </a:rPr>
              <a:t>LIỆU CÓ SỰ ĐÁNH ĐỔI NÀO VỚI  CÁC CAMPAIGN HIGHNPU_LOW DISCOUNT?</a:t>
            </a:r>
          </a:p>
        </p:txBody>
      </p:sp>
      <p:sp>
        <p:nvSpPr>
          <p:cNvPr name="TextBox 54" id="54"/>
          <p:cNvSpPr txBox="true"/>
          <p:nvPr/>
        </p:nvSpPr>
        <p:spPr>
          <a:xfrm rot="0">
            <a:off x="15326799" y="1570204"/>
            <a:ext cx="2795149" cy="7134224"/>
          </a:xfrm>
          <a:prstGeom prst="rect">
            <a:avLst/>
          </a:prstGeom>
        </p:spPr>
        <p:txBody>
          <a:bodyPr anchor="t" rtlCol="false" tIns="0" lIns="0" bIns="0" rIns="0">
            <a:spAutoFit/>
          </a:bodyPr>
          <a:lstStyle/>
          <a:p>
            <a:pPr algn="just">
              <a:lnSpc>
                <a:spcPts val="2250"/>
              </a:lnSpc>
            </a:pPr>
            <a:r>
              <a:rPr lang="en-US" sz="1500">
                <a:solidFill>
                  <a:srgbClr val="FFDE59"/>
                </a:solidFill>
                <a:latin typeface="Montserrat"/>
                <a:ea typeface="Montserrat"/>
                <a:cs typeface="Montserrat"/>
                <a:sym typeface="Montserrat"/>
              </a:rPr>
              <a:t>Các campaign thuộc n</a:t>
            </a:r>
            <a:r>
              <a:rPr lang="en-US" sz="1500">
                <a:solidFill>
                  <a:srgbClr val="FFDE59"/>
                </a:solidFill>
                <a:latin typeface="Montserrat"/>
                <a:ea typeface="Montserrat"/>
                <a:cs typeface="Montserrat"/>
                <a:sym typeface="Montserrat"/>
              </a:rPr>
              <a:t>hóm low discount </a:t>
            </a:r>
            <a:r>
              <a:rPr lang="en-US" sz="1500">
                <a:solidFill>
                  <a:srgbClr val="FFDE59"/>
                </a:solidFill>
                <a:latin typeface="Montserrat"/>
                <a:ea typeface="Montserrat"/>
                <a:cs typeface="Montserrat"/>
                <a:sym typeface="Montserrat"/>
              </a:rPr>
              <a:t>dưới 10.000</a:t>
            </a:r>
            <a:r>
              <a:rPr lang="en-US" sz="1500">
                <a:solidFill>
                  <a:srgbClr val="FFDE59"/>
                </a:solidFill>
                <a:latin typeface="Montserrat"/>
                <a:ea typeface="Montserrat"/>
                <a:cs typeface="Montserrat"/>
                <a:sym typeface="Montserrat"/>
              </a:rPr>
              <a:t> đ</a:t>
            </a:r>
            <a:r>
              <a:rPr lang="en-US" sz="1500">
                <a:solidFill>
                  <a:srgbClr val="FFDE59"/>
                </a:solidFill>
                <a:latin typeface="Montserrat"/>
                <a:ea typeface="Montserrat"/>
                <a:cs typeface="Montserrat"/>
                <a:sym typeface="Montserrat"/>
              </a:rPr>
              <a:t>ồng </a:t>
            </a:r>
            <a:r>
              <a:rPr lang="en-US" sz="1500">
                <a:solidFill>
                  <a:srgbClr val="FFDE59"/>
                </a:solidFill>
                <a:latin typeface="Montserrat"/>
                <a:ea typeface="Montserrat"/>
                <a:cs typeface="Montserrat"/>
                <a:sym typeface="Montserrat"/>
              </a:rPr>
              <a:t>c</a:t>
            </a:r>
            <a:r>
              <a:rPr lang="en-US" sz="1500">
                <a:solidFill>
                  <a:srgbClr val="FFDE59"/>
                </a:solidFill>
                <a:latin typeface="Montserrat"/>
                <a:ea typeface="Montserrat"/>
                <a:cs typeface="Montserrat"/>
                <a:sym typeface="Montserrat"/>
              </a:rPr>
              <a:t>hủ</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yếu tập</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tru</a:t>
            </a:r>
            <a:r>
              <a:rPr lang="en-US" sz="1500">
                <a:solidFill>
                  <a:srgbClr val="FFDE59"/>
                </a:solidFill>
                <a:latin typeface="Montserrat"/>
                <a:ea typeface="Montserrat"/>
                <a:cs typeface="Montserrat"/>
                <a:sym typeface="Montserrat"/>
              </a:rPr>
              <a:t>ng </a:t>
            </a:r>
            <a:r>
              <a:rPr lang="en-US" sz="1500">
                <a:solidFill>
                  <a:srgbClr val="FFDE59"/>
                </a:solidFill>
                <a:latin typeface="Montserrat"/>
                <a:ea typeface="Montserrat"/>
                <a:cs typeface="Montserrat"/>
                <a:sym typeface="Montserrat"/>
              </a:rPr>
              <a:t>vào các n</a:t>
            </a:r>
            <a:r>
              <a:rPr lang="en-US" sz="1500">
                <a:solidFill>
                  <a:srgbClr val="FFDE59"/>
                </a:solidFill>
                <a:latin typeface="Montserrat"/>
                <a:ea typeface="Montserrat"/>
                <a:cs typeface="Montserrat"/>
                <a:sym typeface="Montserrat"/>
              </a:rPr>
              <a:t>hu </a:t>
            </a:r>
            <a:r>
              <a:rPr lang="en-US" sz="1500">
                <a:solidFill>
                  <a:srgbClr val="FFDE59"/>
                </a:solidFill>
                <a:latin typeface="Montserrat"/>
                <a:ea typeface="Montserrat"/>
                <a:cs typeface="Montserrat"/>
                <a:sym typeface="Montserrat"/>
              </a:rPr>
              <a:t>cầu p</a:t>
            </a:r>
            <a:r>
              <a:rPr lang="en-US" sz="1500">
                <a:solidFill>
                  <a:srgbClr val="FFDE59"/>
                </a:solidFill>
                <a:latin typeface="Montserrat"/>
                <a:ea typeface="Montserrat"/>
                <a:cs typeface="Montserrat"/>
                <a:sym typeface="Montserrat"/>
              </a:rPr>
              <a:t>h</a:t>
            </a:r>
            <a:r>
              <a:rPr lang="en-US" sz="1500">
                <a:solidFill>
                  <a:srgbClr val="FFDE59"/>
                </a:solidFill>
                <a:latin typeface="Montserrat"/>
                <a:ea typeface="Montserrat"/>
                <a:cs typeface="Montserrat"/>
                <a:sym typeface="Montserrat"/>
              </a:rPr>
              <a:t>ổ</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b</a:t>
            </a:r>
            <a:r>
              <a:rPr lang="en-US" sz="1500">
                <a:solidFill>
                  <a:srgbClr val="FFDE59"/>
                </a:solidFill>
                <a:latin typeface="Montserrat"/>
                <a:ea typeface="Montserrat"/>
                <a:cs typeface="Montserrat"/>
                <a:sym typeface="Montserrat"/>
              </a:rPr>
              <a:t>i</a:t>
            </a:r>
            <a:r>
              <a:rPr lang="en-US" sz="1500">
                <a:solidFill>
                  <a:srgbClr val="FFDE59"/>
                </a:solidFill>
                <a:latin typeface="Montserrat"/>
                <a:ea typeface="Montserrat"/>
                <a:cs typeface="Montserrat"/>
                <a:sym typeface="Montserrat"/>
              </a:rPr>
              <a:t>ến có tần suất sử</a:t>
            </a:r>
            <a:r>
              <a:rPr lang="en-US" sz="1500">
                <a:solidFill>
                  <a:srgbClr val="FFDE59"/>
                </a:solidFill>
                <a:latin typeface="Montserrat"/>
                <a:ea typeface="Montserrat"/>
                <a:cs typeface="Montserrat"/>
                <a:sym typeface="Montserrat"/>
              </a:rPr>
              <a:t> d</a:t>
            </a:r>
            <a:r>
              <a:rPr lang="en-US" sz="1500">
                <a:solidFill>
                  <a:srgbClr val="FFDE59"/>
                </a:solidFill>
                <a:latin typeface="Montserrat"/>
                <a:ea typeface="Montserrat"/>
                <a:cs typeface="Montserrat"/>
                <a:sym typeface="Montserrat"/>
              </a:rPr>
              <a:t>ụ</a:t>
            </a:r>
            <a:r>
              <a:rPr lang="en-US" sz="1500">
                <a:solidFill>
                  <a:srgbClr val="FFDE59"/>
                </a:solidFill>
                <a:latin typeface="Montserrat"/>
                <a:ea typeface="Montserrat"/>
                <a:cs typeface="Montserrat"/>
                <a:sym typeface="Montserrat"/>
              </a:rPr>
              <a:t>ng </a:t>
            </a:r>
            <a:r>
              <a:rPr lang="en-US" sz="1500">
                <a:solidFill>
                  <a:srgbClr val="FFDE59"/>
                </a:solidFill>
                <a:latin typeface="Montserrat"/>
                <a:ea typeface="Montserrat"/>
                <a:cs typeface="Montserrat"/>
                <a:sym typeface="Montserrat"/>
              </a:rPr>
              <a:t>cao nh</a:t>
            </a:r>
            <a:r>
              <a:rPr lang="en-US" sz="1500">
                <a:solidFill>
                  <a:srgbClr val="FFDE59"/>
                </a:solidFill>
                <a:latin typeface="Montserrat"/>
                <a:ea typeface="Montserrat"/>
                <a:cs typeface="Montserrat"/>
                <a:sym typeface="Montserrat"/>
              </a:rPr>
              <a:t>ư</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n</a:t>
            </a:r>
            <a:r>
              <a:rPr lang="en-US" sz="1500">
                <a:solidFill>
                  <a:srgbClr val="FFDE59"/>
                </a:solidFill>
                <a:latin typeface="Montserrat"/>
                <a:ea typeface="Montserrat"/>
                <a:cs typeface="Montserrat"/>
                <a:sym typeface="Montserrat"/>
              </a:rPr>
              <a:t>ạp</a:t>
            </a:r>
            <a:r>
              <a:rPr lang="en-US" sz="1500">
                <a:solidFill>
                  <a:srgbClr val="FFDE59"/>
                </a:solidFill>
                <a:latin typeface="Montserrat"/>
                <a:ea typeface="Montserrat"/>
                <a:cs typeface="Montserrat"/>
                <a:sym typeface="Montserrat"/>
              </a:rPr>
              <a:t> đi</a:t>
            </a:r>
            <a:r>
              <a:rPr lang="en-US" sz="1500">
                <a:solidFill>
                  <a:srgbClr val="FFDE59"/>
                </a:solidFill>
                <a:latin typeface="Montserrat"/>
                <a:ea typeface="Montserrat"/>
                <a:cs typeface="Montserrat"/>
                <a:sym typeface="Montserrat"/>
              </a:rPr>
              <a:t>ện</a:t>
            </a:r>
            <a:r>
              <a:rPr lang="en-US" sz="1500">
                <a:solidFill>
                  <a:srgbClr val="FFDE59"/>
                </a:solidFill>
                <a:latin typeface="Montserrat"/>
                <a:ea typeface="Montserrat"/>
                <a:cs typeface="Montserrat"/>
                <a:sym typeface="Montserrat"/>
              </a:rPr>
              <a:t> t</a:t>
            </a:r>
            <a:r>
              <a:rPr lang="en-US" sz="1500">
                <a:solidFill>
                  <a:srgbClr val="FFDE59"/>
                </a:solidFill>
                <a:latin typeface="Montserrat"/>
                <a:ea typeface="Montserrat"/>
                <a:cs typeface="Montserrat"/>
                <a:sym typeface="Montserrat"/>
              </a:rPr>
              <a:t>hoại hoặc tăng s</a:t>
            </a:r>
            <a:r>
              <a:rPr lang="en-US" sz="1500">
                <a:solidFill>
                  <a:srgbClr val="FFDE59"/>
                </a:solidFill>
                <a:latin typeface="Montserrat"/>
                <a:ea typeface="Montserrat"/>
                <a:cs typeface="Montserrat"/>
                <a:sym typeface="Montserrat"/>
              </a:rPr>
              <a:t>ố</a:t>
            </a:r>
            <a:r>
              <a:rPr lang="en-US" sz="1500">
                <a:solidFill>
                  <a:srgbClr val="FFDE59"/>
                </a:solidFill>
                <a:latin typeface="Montserrat"/>
                <a:ea typeface="Montserrat"/>
                <a:cs typeface="Montserrat"/>
                <a:sym typeface="Montserrat"/>
              </a:rPr>
              <a:t> dư </a:t>
            </a:r>
            <a:r>
              <a:rPr lang="en-US" sz="1500">
                <a:solidFill>
                  <a:srgbClr val="FFDE59"/>
                </a:solidFill>
                <a:latin typeface="Montserrat"/>
                <a:ea typeface="Montserrat"/>
                <a:cs typeface="Montserrat"/>
                <a:sym typeface="Montserrat"/>
              </a:rPr>
              <a:t>t</a:t>
            </a:r>
            <a:r>
              <a:rPr lang="en-US" sz="1500">
                <a:solidFill>
                  <a:srgbClr val="FFDE59"/>
                </a:solidFill>
                <a:latin typeface="Montserrat"/>
                <a:ea typeface="Montserrat"/>
                <a:cs typeface="Montserrat"/>
                <a:sym typeface="Montserrat"/>
              </a:rPr>
              <a:t>ài</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k</a:t>
            </a:r>
            <a:r>
              <a:rPr lang="en-US" sz="1500">
                <a:solidFill>
                  <a:srgbClr val="FFDE59"/>
                </a:solidFill>
                <a:latin typeface="Montserrat"/>
                <a:ea typeface="Montserrat"/>
                <a:cs typeface="Montserrat"/>
                <a:sym typeface="Montserrat"/>
              </a:rPr>
              <a:t>h</a:t>
            </a:r>
            <a:r>
              <a:rPr lang="en-US" sz="1500">
                <a:solidFill>
                  <a:srgbClr val="FFDE59"/>
                </a:solidFill>
                <a:latin typeface="Montserrat"/>
                <a:ea typeface="Montserrat"/>
                <a:cs typeface="Montserrat"/>
                <a:sym typeface="Montserrat"/>
              </a:rPr>
              <a:t>oả</a:t>
            </a:r>
            <a:r>
              <a:rPr lang="en-US" sz="1500">
                <a:solidFill>
                  <a:srgbClr val="FFDE59"/>
                </a:solidFill>
                <a:latin typeface="Montserrat"/>
                <a:ea typeface="Montserrat"/>
                <a:cs typeface="Montserrat"/>
                <a:sym typeface="Montserrat"/>
              </a:rPr>
              <a:t>n</a:t>
            </a:r>
            <a:r>
              <a:rPr lang="en-US" sz="1500">
                <a:solidFill>
                  <a:srgbClr val="FFDE59"/>
                </a:solidFill>
                <a:latin typeface="Montserrat"/>
                <a:ea typeface="Montserrat"/>
                <a:cs typeface="Montserrat"/>
                <a:sym typeface="Montserrat"/>
              </a:rPr>
              <a:t>. Đây là</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n</a:t>
            </a:r>
            <a:r>
              <a:rPr lang="en-US" sz="1500">
                <a:solidFill>
                  <a:srgbClr val="FFDE59"/>
                </a:solidFill>
                <a:latin typeface="Montserrat"/>
                <a:ea typeface="Montserrat"/>
                <a:cs typeface="Montserrat"/>
                <a:sym typeface="Montserrat"/>
              </a:rPr>
              <a:t>h</a:t>
            </a:r>
            <a:r>
              <a:rPr lang="en-US" sz="1500">
                <a:solidFill>
                  <a:srgbClr val="FFDE59"/>
                </a:solidFill>
                <a:latin typeface="Montserrat"/>
                <a:ea typeface="Montserrat"/>
                <a:cs typeface="Montserrat"/>
                <a:sym typeface="Montserrat"/>
              </a:rPr>
              <a:t>óm</a:t>
            </a:r>
            <a:r>
              <a:rPr lang="en-US" sz="1500">
                <a:solidFill>
                  <a:srgbClr val="FFDE59"/>
                </a:solidFill>
                <a:latin typeface="Montserrat"/>
                <a:ea typeface="Montserrat"/>
                <a:cs typeface="Montserrat"/>
                <a:sym typeface="Montserrat"/>
              </a:rPr>
              <a:t> c</a:t>
            </a:r>
            <a:r>
              <a:rPr lang="en-US" sz="1500">
                <a:solidFill>
                  <a:srgbClr val="FFDE59"/>
                </a:solidFill>
                <a:latin typeface="Montserrat"/>
                <a:ea typeface="Montserrat"/>
                <a:cs typeface="Montserrat"/>
                <a:sym typeface="Montserrat"/>
              </a:rPr>
              <a:t>ó k</a:t>
            </a:r>
            <a:r>
              <a:rPr lang="en-US" sz="1500">
                <a:solidFill>
                  <a:srgbClr val="FFDE59"/>
                </a:solidFill>
                <a:latin typeface="Montserrat"/>
                <a:ea typeface="Montserrat"/>
                <a:cs typeface="Montserrat"/>
                <a:sym typeface="Montserrat"/>
              </a:rPr>
              <a:t>h</a:t>
            </a:r>
            <a:r>
              <a:rPr lang="en-US" sz="1500">
                <a:solidFill>
                  <a:srgbClr val="FFDE59"/>
                </a:solidFill>
                <a:latin typeface="Montserrat"/>
                <a:ea typeface="Montserrat"/>
                <a:cs typeface="Montserrat"/>
                <a:sym typeface="Montserrat"/>
              </a:rPr>
              <a:t>ả năng d</a:t>
            </a:r>
            <a:r>
              <a:rPr lang="en-US" sz="1500">
                <a:solidFill>
                  <a:srgbClr val="FFDE59"/>
                </a:solidFill>
                <a:latin typeface="Montserrat"/>
                <a:ea typeface="Montserrat"/>
                <a:cs typeface="Montserrat"/>
                <a:sym typeface="Montserrat"/>
              </a:rPr>
              <a:t>uy</a:t>
            </a:r>
            <a:r>
              <a:rPr lang="en-US" sz="1500">
                <a:solidFill>
                  <a:srgbClr val="FFDE59"/>
                </a:solidFill>
                <a:latin typeface="Montserrat"/>
                <a:ea typeface="Montserrat"/>
                <a:cs typeface="Montserrat"/>
                <a:sym typeface="Montserrat"/>
              </a:rPr>
              <a:t> trì acquisitio</a:t>
            </a:r>
            <a:r>
              <a:rPr lang="en-US" sz="1500">
                <a:solidFill>
                  <a:srgbClr val="FFDE59"/>
                </a:solidFill>
                <a:latin typeface="Montserrat"/>
                <a:ea typeface="Montserrat"/>
                <a:cs typeface="Montserrat"/>
                <a:sym typeface="Montserrat"/>
              </a:rPr>
              <a:t>n </a:t>
            </a:r>
            <a:r>
              <a:rPr lang="en-US" sz="1500">
                <a:solidFill>
                  <a:srgbClr val="FFDE59"/>
                </a:solidFill>
                <a:latin typeface="Montserrat"/>
                <a:ea typeface="Montserrat"/>
                <a:cs typeface="Montserrat"/>
                <a:sym typeface="Montserrat"/>
              </a:rPr>
              <a:t>ổn địn</a:t>
            </a:r>
            <a:r>
              <a:rPr lang="en-US" sz="1500">
                <a:solidFill>
                  <a:srgbClr val="FFDE59"/>
                </a:solidFill>
                <a:latin typeface="Montserrat"/>
                <a:ea typeface="Montserrat"/>
                <a:cs typeface="Montserrat"/>
                <a:sym typeface="Montserrat"/>
              </a:rPr>
              <a:t>h </a:t>
            </a:r>
            <a:r>
              <a:rPr lang="en-US" sz="1500">
                <a:solidFill>
                  <a:srgbClr val="FFDE59"/>
                </a:solidFill>
                <a:latin typeface="Montserrat"/>
                <a:ea typeface="Montserrat"/>
                <a:cs typeface="Montserrat"/>
                <a:sym typeface="Montserrat"/>
              </a:rPr>
              <a:t>nhấ</a:t>
            </a:r>
            <a:r>
              <a:rPr lang="en-US" sz="1500">
                <a:solidFill>
                  <a:srgbClr val="FFDE59"/>
                </a:solidFill>
                <a:latin typeface="Montserrat"/>
                <a:ea typeface="Montserrat"/>
                <a:cs typeface="Montserrat"/>
                <a:sym typeface="Montserrat"/>
              </a:rPr>
              <a:t>t</a:t>
            </a:r>
            <a:r>
              <a:rPr lang="en-US" sz="1500">
                <a:solidFill>
                  <a:srgbClr val="FFDE59"/>
                </a:solidFill>
                <a:latin typeface="Montserrat"/>
                <a:ea typeface="Montserrat"/>
                <a:cs typeface="Montserrat"/>
                <a:sym typeface="Montserrat"/>
              </a:rPr>
              <a:t> k</a:t>
            </a:r>
            <a:r>
              <a:rPr lang="en-US" sz="1500">
                <a:solidFill>
                  <a:srgbClr val="FFDE59"/>
                </a:solidFill>
                <a:latin typeface="Montserrat"/>
                <a:ea typeface="Montserrat"/>
                <a:cs typeface="Montserrat"/>
                <a:sym typeface="Montserrat"/>
              </a:rPr>
              <a:t>h</a:t>
            </a:r>
            <a:r>
              <a:rPr lang="en-US" sz="1500">
                <a:solidFill>
                  <a:srgbClr val="FFDE59"/>
                </a:solidFill>
                <a:latin typeface="Montserrat"/>
                <a:ea typeface="Montserrat"/>
                <a:cs typeface="Montserrat"/>
                <a:sym typeface="Montserrat"/>
              </a:rPr>
              <a:t>i </a:t>
            </a:r>
            <a:r>
              <a:rPr lang="en-US" sz="1500">
                <a:solidFill>
                  <a:srgbClr val="FFDE59"/>
                </a:solidFill>
                <a:latin typeface="Montserrat"/>
                <a:ea typeface="Montserrat"/>
                <a:cs typeface="Montserrat"/>
                <a:sym typeface="Montserrat"/>
              </a:rPr>
              <a:t>nh</a:t>
            </a:r>
            <a:r>
              <a:rPr lang="en-US" sz="1500">
                <a:solidFill>
                  <a:srgbClr val="FFDE59"/>
                </a:solidFill>
                <a:latin typeface="Montserrat"/>
                <a:ea typeface="Montserrat"/>
                <a:cs typeface="Montserrat"/>
                <a:sym typeface="Montserrat"/>
              </a:rPr>
              <a:t>iều</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ca</a:t>
            </a:r>
            <a:r>
              <a:rPr lang="en-US" sz="1500">
                <a:solidFill>
                  <a:srgbClr val="FFDE59"/>
                </a:solidFill>
                <a:latin typeface="Montserrat"/>
                <a:ea typeface="Montserrat"/>
                <a:cs typeface="Montserrat"/>
                <a:sym typeface="Montserrat"/>
              </a:rPr>
              <a:t>m</a:t>
            </a:r>
            <a:r>
              <a:rPr lang="en-US" sz="1500">
                <a:solidFill>
                  <a:srgbClr val="FFDE59"/>
                </a:solidFill>
                <a:latin typeface="Montserrat"/>
                <a:ea typeface="Montserrat"/>
                <a:cs typeface="Montserrat"/>
                <a:sym typeface="Montserrat"/>
              </a:rPr>
              <a:t>pai</a:t>
            </a:r>
            <a:r>
              <a:rPr lang="en-US" sz="1500">
                <a:solidFill>
                  <a:srgbClr val="FFDE59"/>
                </a:solidFill>
                <a:latin typeface="Montserrat"/>
                <a:ea typeface="Montserrat"/>
                <a:cs typeface="Montserrat"/>
                <a:sym typeface="Montserrat"/>
              </a:rPr>
              <a:t>gn </a:t>
            </a:r>
            <a:r>
              <a:rPr lang="en-US" sz="1500">
                <a:solidFill>
                  <a:srgbClr val="FFDE59"/>
                </a:solidFill>
                <a:latin typeface="Montserrat"/>
                <a:ea typeface="Montserrat"/>
                <a:cs typeface="Montserrat"/>
                <a:sym typeface="Montserrat"/>
              </a:rPr>
              <a:t>n</a:t>
            </a:r>
            <a:r>
              <a:rPr lang="en-US" sz="1500">
                <a:solidFill>
                  <a:srgbClr val="FFDE59"/>
                </a:solidFill>
                <a:latin typeface="Montserrat"/>
                <a:ea typeface="Montserrat"/>
                <a:cs typeface="Montserrat"/>
                <a:sym typeface="Montserrat"/>
              </a:rPr>
              <a:t>hờ</a:t>
            </a:r>
            <a:r>
              <a:rPr lang="en-US" sz="1500">
                <a:solidFill>
                  <a:srgbClr val="FFDE59"/>
                </a:solidFill>
                <a:latin typeface="Montserrat"/>
                <a:ea typeface="Montserrat"/>
                <a:cs typeface="Montserrat"/>
                <a:sym typeface="Montserrat"/>
              </a:rPr>
              <a:t> tần suất tr</a:t>
            </a:r>
            <a:r>
              <a:rPr lang="en-US" sz="1500">
                <a:solidFill>
                  <a:srgbClr val="FFDE59"/>
                </a:solidFill>
                <a:latin typeface="Montserrat"/>
                <a:ea typeface="Montserrat"/>
                <a:cs typeface="Montserrat"/>
                <a:sym typeface="Montserrat"/>
              </a:rPr>
              <a:t>i</a:t>
            </a:r>
            <a:r>
              <a:rPr lang="en-US" sz="1500">
                <a:solidFill>
                  <a:srgbClr val="FFDE59"/>
                </a:solidFill>
                <a:latin typeface="Montserrat"/>
                <a:ea typeface="Montserrat"/>
                <a:cs typeface="Montserrat"/>
                <a:sym typeface="Montserrat"/>
              </a:rPr>
              <a:t>ển</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k</a:t>
            </a:r>
            <a:r>
              <a:rPr lang="en-US" sz="1500">
                <a:solidFill>
                  <a:srgbClr val="FFDE59"/>
                </a:solidFill>
                <a:latin typeface="Montserrat"/>
                <a:ea typeface="Montserrat"/>
                <a:cs typeface="Montserrat"/>
                <a:sym typeface="Montserrat"/>
              </a:rPr>
              <a:t>h</a:t>
            </a:r>
            <a:r>
              <a:rPr lang="en-US" sz="1500">
                <a:solidFill>
                  <a:srgbClr val="FFDE59"/>
                </a:solidFill>
                <a:latin typeface="Montserrat"/>
                <a:ea typeface="Montserrat"/>
                <a:cs typeface="Montserrat"/>
                <a:sym typeface="Montserrat"/>
              </a:rPr>
              <a:t>ai cao và rào c</a:t>
            </a:r>
            <a:r>
              <a:rPr lang="en-US" sz="1500">
                <a:solidFill>
                  <a:srgbClr val="FFDE59"/>
                </a:solidFill>
                <a:latin typeface="Montserrat"/>
                <a:ea typeface="Montserrat"/>
                <a:cs typeface="Montserrat"/>
                <a:sym typeface="Montserrat"/>
              </a:rPr>
              <a:t>ản </a:t>
            </a:r>
            <a:r>
              <a:rPr lang="en-US" sz="1500">
                <a:solidFill>
                  <a:srgbClr val="FFDE59"/>
                </a:solidFill>
                <a:latin typeface="Montserrat"/>
                <a:ea typeface="Montserrat"/>
                <a:cs typeface="Montserrat"/>
                <a:sym typeface="Montserrat"/>
              </a:rPr>
              <a:t>tham gia thấp.</a:t>
            </a:r>
          </a:p>
          <a:p>
            <a:pPr algn="just">
              <a:lnSpc>
                <a:spcPts val="2250"/>
              </a:lnSpc>
            </a:pPr>
            <a:r>
              <a:rPr lang="en-US" sz="1500">
                <a:solidFill>
                  <a:srgbClr val="FFDE59"/>
                </a:solidFill>
                <a:latin typeface="Montserrat"/>
                <a:ea typeface="Montserrat"/>
                <a:cs typeface="Montserrat"/>
                <a:sym typeface="Montserrat"/>
              </a:rPr>
              <a:t>Tuy </a:t>
            </a:r>
            <a:r>
              <a:rPr lang="en-US" sz="1500">
                <a:solidFill>
                  <a:srgbClr val="FFDE59"/>
                </a:solidFill>
                <a:latin typeface="Montserrat"/>
                <a:ea typeface="Montserrat"/>
                <a:cs typeface="Montserrat"/>
                <a:sym typeface="Montserrat"/>
              </a:rPr>
              <a:t>nh</a:t>
            </a:r>
            <a:r>
              <a:rPr lang="en-US" sz="1500">
                <a:solidFill>
                  <a:srgbClr val="FFDE59"/>
                </a:solidFill>
                <a:latin typeface="Montserrat"/>
                <a:ea typeface="Montserrat"/>
                <a:cs typeface="Montserrat"/>
                <a:sym typeface="Montserrat"/>
              </a:rPr>
              <a:t>iên, khi đi</a:t>
            </a:r>
            <a:r>
              <a:rPr lang="en-US" sz="1500">
                <a:solidFill>
                  <a:srgbClr val="FFDE59"/>
                </a:solidFill>
                <a:latin typeface="Montserrat"/>
                <a:ea typeface="Montserrat"/>
                <a:cs typeface="Montserrat"/>
                <a:sym typeface="Montserrat"/>
              </a:rPr>
              <a:t> s</a:t>
            </a:r>
            <a:r>
              <a:rPr lang="en-US" sz="1500">
                <a:solidFill>
                  <a:srgbClr val="FFDE59"/>
                </a:solidFill>
                <a:latin typeface="Montserrat"/>
                <a:ea typeface="Montserrat"/>
                <a:cs typeface="Montserrat"/>
                <a:sym typeface="Montserrat"/>
              </a:rPr>
              <a:t>âu</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vào hà</a:t>
            </a:r>
            <a:r>
              <a:rPr lang="en-US" sz="1500">
                <a:solidFill>
                  <a:srgbClr val="FFDE59"/>
                </a:solidFill>
                <a:latin typeface="Montserrat"/>
                <a:ea typeface="Montserrat"/>
                <a:cs typeface="Montserrat"/>
                <a:sym typeface="Montserrat"/>
              </a:rPr>
              <a:t>nh </a:t>
            </a:r>
            <a:r>
              <a:rPr lang="en-US" sz="1500">
                <a:solidFill>
                  <a:srgbClr val="FFDE59"/>
                </a:solidFill>
                <a:latin typeface="Montserrat"/>
                <a:ea typeface="Montserrat"/>
                <a:cs typeface="Montserrat"/>
                <a:sym typeface="Montserrat"/>
              </a:rPr>
              <a:t>v</a:t>
            </a:r>
            <a:r>
              <a:rPr lang="en-US" sz="1500">
                <a:solidFill>
                  <a:srgbClr val="FFDE59"/>
                </a:solidFill>
                <a:latin typeface="Montserrat"/>
                <a:ea typeface="Montserrat"/>
                <a:cs typeface="Montserrat"/>
                <a:sym typeface="Montserrat"/>
              </a:rPr>
              <a:t>i </a:t>
            </a:r>
            <a:r>
              <a:rPr lang="en-US" sz="1500">
                <a:solidFill>
                  <a:srgbClr val="FFDE59"/>
                </a:solidFill>
                <a:latin typeface="Montserrat"/>
                <a:ea typeface="Montserrat"/>
                <a:cs typeface="Montserrat"/>
                <a:sym typeface="Montserrat"/>
              </a:rPr>
              <a:t>sau</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a</a:t>
            </a:r>
            <a:r>
              <a:rPr lang="en-US" sz="1500">
                <a:solidFill>
                  <a:srgbClr val="FFDE59"/>
                </a:solidFill>
                <a:latin typeface="Montserrat"/>
                <a:ea typeface="Montserrat"/>
                <a:cs typeface="Montserrat"/>
                <a:sym typeface="Montserrat"/>
              </a:rPr>
              <a:t>c</a:t>
            </a:r>
            <a:r>
              <a:rPr lang="en-US" sz="1500">
                <a:solidFill>
                  <a:srgbClr val="FFDE59"/>
                </a:solidFill>
                <a:latin typeface="Montserrat"/>
                <a:ea typeface="Montserrat"/>
                <a:cs typeface="Montserrat"/>
                <a:sym typeface="Montserrat"/>
              </a:rPr>
              <a:t>quisition, phầ</a:t>
            </a:r>
            <a:r>
              <a:rPr lang="en-US" sz="1500">
                <a:solidFill>
                  <a:srgbClr val="FFDE59"/>
                </a:solidFill>
                <a:latin typeface="Montserrat"/>
                <a:ea typeface="Montserrat"/>
                <a:cs typeface="Montserrat"/>
                <a:sym typeface="Montserrat"/>
              </a:rPr>
              <a:t>n </a:t>
            </a:r>
            <a:r>
              <a:rPr lang="en-US" sz="1500">
                <a:solidFill>
                  <a:srgbClr val="FFDE59"/>
                </a:solidFill>
                <a:latin typeface="Montserrat"/>
                <a:ea typeface="Montserrat"/>
                <a:cs typeface="Montserrat"/>
                <a:sym typeface="Montserrat"/>
              </a:rPr>
              <a:t>lớn</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người</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dùng</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quay</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lại</a:t>
            </a:r>
            <a:r>
              <a:rPr lang="en-US" sz="1500">
                <a:solidFill>
                  <a:srgbClr val="FFDE59"/>
                </a:solidFill>
                <a:latin typeface="Montserrat"/>
                <a:ea typeface="Montserrat"/>
                <a:cs typeface="Montserrat"/>
                <a:sym typeface="Montserrat"/>
              </a:rPr>
              <a:t> kh</a:t>
            </a:r>
            <a:r>
              <a:rPr lang="en-US" sz="1500">
                <a:solidFill>
                  <a:srgbClr val="FFDE59"/>
                </a:solidFill>
                <a:latin typeface="Montserrat"/>
                <a:ea typeface="Montserrat"/>
                <a:cs typeface="Montserrat"/>
                <a:sym typeface="Montserrat"/>
              </a:rPr>
              <a:t>ông đến</a:t>
            </a:r>
            <a:r>
              <a:rPr lang="en-US" sz="1500">
                <a:solidFill>
                  <a:srgbClr val="FFDE59"/>
                </a:solidFill>
                <a:latin typeface="Montserrat"/>
                <a:ea typeface="Montserrat"/>
                <a:cs typeface="Montserrat"/>
                <a:sym typeface="Montserrat"/>
              </a:rPr>
              <a:t> t</a:t>
            </a:r>
            <a:r>
              <a:rPr lang="en-US" sz="1500">
                <a:solidFill>
                  <a:srgbClr val="FFDE59"/>
                </a:solidFill>
                <a:latin typeface="Montserrat"/>
                <a:ea typeface="Montserrat"/>
                <a:cs typeface="Montserrat"/>
                <a:sym typeface="Montserrat"/>
              </a:rPr>
              <a:t>ừ nhu cầu sử dụ</a:t>
            </a:r>
            <a:r>
              <a:rPr lang="en-US" sz="1500">
                <a:solidFill>
                  <a:srgbClr val="FFDE59"/>
                </a:solidFill>
                <a:latin typeface="Montserrat"/>
                <a:ea typeface="Montserrat"/>
                <a:cs typeface="Montserrat"/>
                <a:sym typeface="Montserrat"/>
              </a:rPr>
              <a:t>ng t</a:t>
            </a:r>
            <a:r>
              <a:rPr lang="en-US" sz="1500">
                <a:solidFill>
                  <a:srgbClr val="FFDE59"/>
                </a:solidFill>
                <a:latin typeface="Montserrat"/>
                <a:ea typeface="Montserrat"/>
                <a:cs typeface="Montserrat"/>
                <a:sym typeface="Montserrat"/>
              </a:rPr>
              <a:t>ự </a:t>
            </a:r>
            <a:r>
              <a:rPr lang="en-US" sz="1500">
                <a:solidFill>
                  <a:srgbClr val="FFDE59"/>
                </a:solidFill>
                <a:latin typeface="Montserrat"/>
                <a:ea typeface="Montserrat"/>
                <a:cs typeface="Montserrat"/>
                <a:sym typeface="Montserrat"/>
              </a:rPr>
              <a:t>n</a:t>
            </a:r>
            <a:r>
              <a:rPr lang="en-US" sz="1500">
                <a:solidFill>
                  <a:srgbClr val="FFDE59"/>
                </a:solidFill>
                <a:latin typeface="Montserrat"/>
                <a:ea typeface="Montserrat"/>
                <a:cs typeface="Montserrat"/>
                <a:sym typeface="Montserrat"/>
              </a:rPr>
              <a:t>hiên mà</a:t>
            </a:r>
            <a:r>
              <a:rPr lang="en-US" sz="1500">
                <a:solidFill>
                  <a:srgbClr val="FFDE59"/>
                </a:solidFill>
                <a:latin typeface="Montserrat"/>
                <a:ea typeface="Montserrat"/>
                <a:cs typeface="Montserrat"/>
                <a:sym typeface="Montserrat"/>
              </a:rPr>
              <a:t> chủ yếu </a:t>
            </a:r>
            <a:r>
              <a:rPr lang="en-US" sz="1500">
                <a:solidFill>
                  <a:srgbClr val="FFDE59"/>
                </a:solidFill>
                <a:latin typeface="Montserrat"/>
                <a:ea typeface="Montserrat"/>
                <a:cs typeface="Montserrat"/>
                <a:sym typeface="Montserrat"/>
              </a:rPr>
              <a:t>do ti</a:t>
            </a:r>
            <a:r>
              <a:rPr lang="en-US" sz="1500">
                <a:solidFill>
                  <a:srgbClr val="FFDE59"/>
                </a:solidFill>
                <a:latin typeface="Montserrat"/>
                <a:ea typeface="Montserrat"/>
                <a:cs typeface="Montserrat"/>
                <a:sym typeface="Montserrat"/>
              </a:rPr>
              <a:t>ế</a:t>
            </a:r>
            <a:r>
              <a:rPr lang="en-US" sz="1500">
                <a:solidFill>
                  <a:srgbClr val="FFDE59"/>
                </a:solidFill>
                <a:latin typeface="Montserrat"/>
                <a:ea typeface="Montserrat"/>
                <a:cs typeface="Montserrat"/>
                <a:sym typeface="Montserrat"/>
              </a:rPr>
              <a:t>p tục nhậ</a:t>
            </a:r>
            <a:r>
              <a:rPr lang="en-US" sz="1500">
                <a:solidFill>
                  <a:srgbClr val="FFDE59"/>
                </a:solidFill>
                <a:latin typeface="Montserrat"/>
                <a:ea typeface="Montserrat"/>
                <a:cs typeface="Montserrat"/>
                <a:sym typeface="Montserrat"/>
              </a:rPr>
              <a:t>n </a:t>
            </a:r>
            <a:r>
              <a:rPr lang="en-US" sz="1500">
                <a:solidFill>
                  <a:srgbClr val="FFDE59"/>
                </a:solidFill>
                <a:latin typeface="Montserrat"/>
                <a:ea typeface="Montserrat"/>
                <a:cs typeface="Montserrat"/>
                <a:sym typeface="Montserrat"/>
              </a:rPr>
              <a:t>được voucher hoặc direc</a:t>
            </a:r>
            <a:r>
              <a:rPr lang="en-US" sz="1500">
                <a:solidFill>
                  <a:srgbClr val="FFDE59"/>
                </a:solidFill>
                <a:latin typeface="Montserrat"/>
                <a:ea typeface="Montserrat"/>
                <a:cs typeface="Montserrat"/>
                <a:sym typeface="Montserrat"/>
              </a:rPr>
              <a:t>t</a:t>
            </a:r>
            <a:r>
              <a:rPr lang="en-US" sz="1500">
                <a:solidFill>
                  <a:srgbClr val="FFDE59"/>
                </a:solidFill>
                <a:latin typeface="Montserrat"/>
                <a:ea typeface="Montserrat"/>
                <a:cs typeface="Montserrat"/>
                <a:sym typeface="Montserrat"/>
              </a:rPr>
              <a:t> discount ở các lần</a:t>
            </a:r>
            <a:r>
              <a:rPr lang="en-US" sz="1500">
                <a:solidFill>
                  <a:srgbClr val="FFDE59"/>
                </a:solidFill>
                <a:latin typeface="Montserrat"/>
                <a:ea typeface="Montserrat"/>
                <a:cs typeface="Montserrat"/>
                <a:sym typeface="Montserrat"/>
              </a:rPr>
              <a:t> giao dịch </a:t>
            </a:r>
            <a:r>
              <a:rPr lang="en-US" sz="1500">
                <a:solidFill>
                  <a:srgbClr val="FFDE59"/>
                </a:solidFill>
                <a:latin typeface="Montserrat"/>
                <a:ea typeface="Montserrat"/>
                <a:cs typeface="Montserrat"/>
                <a:sym typeface="Montserrat"/>
              </a:rPr>
              <a:t>s</a:t>
            </a:r>
            <a:r>
              <a:rPr lang="en-US" sz="1500">
                <a:solidFill>
                  <a:srgbClr val="FFDE59"/>
                </a:solidFill>
                <a:latin typeface="Montserrat"/>
                <a:ea typeface="Montserrat"/>
                <a:cs typeface="Montserrat"/>
                <a:sym typeface="Montserrat"/>
              </a:rPr>
              <a:t>a</a:t>
            </a:r>
            <a:r>
              <a:rPr lang="en-US" sz="1500">
                <a:solidFill>
                  <a:srgbClr val="FFDE59"/>
                </a:solidFill>
                <a:latin typeface="Montserrat"/>
                <a:ea typeface="Montserrat"/>
                <a:cs typeface="Montserrat"/>
                <a:sym typeface="Montserrat"/>
              </a:rPr>
              <a:t>u cho thấy mức độ discount có thể là yếu tố ảnh hưởng đến khả năng thu hút người dùng chất lượng.</a:t>
            </a:r>
          </a:p>
          <a:p>
            <a:pPr algn="just">
              <a:lnSpc>
                <a:spcPts val="2250"/>
              </a:lnSpc>
            </a:pPr>
          </a:p>
        </p:txBody>
      </p:sp>
      <p:sp>
        <p:nvSpPr>
          <p:cNvPr name="TextBox 55" id="55"/>
          <p:cNvSpPr txBox="true"/>
          <p:nvPr/>
        </p:nvSpPr>
        <p:spPr>
          <a:xfrm rot="0">
            <a:off x="15765891" y="1075963"/>
            <a:ext cx="1916963" cy="429294"/>
          </a:xfrm>
          <a:prstGeom prst="rect">
            <a:avLst/>
          </a:prstGeom>
        </p:spPr>
        <p:txBody>
          <a:bodyPr anchor="t" rtlCol="false" tIns="0" lIns="0" bIns="0" rIns="0">
            <a:spAutoFit/>
          </a:bodyPr>
          <a:lstStyle/>
          <a:p>
            <a:pPr algn="ctr">
              <a:lnSpc>
                <a:spcPts val="3673"/>
              </a:lnSpc>
            </a:pPr>
            <a:r>
              <a:rPr lang="en-US" b="true" sz="2449">
                <a:solidFill>
                  <a:srgbClr val="FFDE59"/>
                </a:solidFill>
                <a:latin typeface="Montserrat Bold"/>
                <a:ea typeface="Montserrat Bold"/>
                <a:cs typeface="Montserrat Bold"/>
                <a:sym typeface="Montserrat Bold"/>
              </a:rPr>
              <a:t>KẾT LUẬN</a:t>
            </a:r>
          </a:p>
        </p:txBody>
      </p:sp>
      <p:sp>
        <p:nvSpPr>
          <p:cNvPr name="TextBox 56" id="56"/>
          <p:cNvSpPr txBox="true"/>
          <p:nvPr/>
        </p:nvSpPr>
        <p:spPr>
          <a:xfrm rot="0">
            <a:off x="477117" y="8887451"/>
            <a:ext cx="4636829" cy="1036430"/>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Tỷ lệ người dùng tự nhiên (organic converted) không sử dụng khuyến mãi cho lần quay lại thứ 2 chỉ đạt ¼ số lượng khách hàng; đồng thời khoảng 28,9% chỉ giao dịch một lần rồi rời bỏ hoàn toàn, phản ánh mức độ giữ chân người dùng còn thấp.</a:t>
            </a:r>
          </a:p>
        </p:txBody>
      </p:sp>
      <p:sp>
        <p:nvSpPr>
          <p:cNvPr name="TextBox 57" id="57"/>
          <p:cNvSpPr txBox="true"/>
          <p:nvPr/>
        </p:nvSpPr>
        <p:spPr>
          <a:xfrm rot="0">
            <a:off x="724903" y="4326943"/>
            <a:ext cx="4179345" cy="617286"/>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Người dùng quay lại nhờ voucher hoặc giảm giá chiến đến xấp xỉ 65%, cho thấy hành vi chủ yếu mang tính “săn khuyến mãi” hơn là gắn bó tự nhiên với nền tảng</a:t>
            </a:r>
          </a:p>
        </p:txBody>
      </p:sp>
      <p:sp>
        <p:nvSpPr>
          <p:cNvPr name="TextBox 58" id="58"/>
          <p:cNvSpPr txBox="true"/>
          <p:nvPr/>
        </p:nvSpPr>
        <p:spPr>
          <a:xfrm rot="0">
            <a:off x="11704722" y="5701930"/>
            <a:ext cx="2802234" cy="3955415"/>
          </a:xfrm>
          <a:prstGeom prst="rect">
            <a:avLst/>
          </a:prstGeom>
        </p:spPr>
        <p:txBody>
          <a:bodyPr anchor="t" rtlCol="false" tIns="0" lIns="0" bIns="0" rIns="0">
            <a:spAutoFit/>
          </a:bodyPr>
          <a:lstStyle/>
          <a:p>
            <a:pPr algn="just">
              <a:lnSpc>
                <a:spcPts val="1959"/>
              </a:lnSpc>
            </a:pPr>
            <a:r>
              <a:rPr lang="en-US" sz="1399">
                <a:solidFill>
                  <a:srgbClr val="FFFFFF"/>
                </a:solidFill>
                <a:latin typeface="Montserrat Light"/>
                <a:ea typeface="Montserrat Light"/>
                <a:cs typeface="Montserrat Light"/>
                <a:sym typeface="Montserrat Light"/>
              </a:rPr>
              <a:t>Access_Service (Dẫn đầu quy mô, điểm chạm cửa ngõ có tỷ lệ giữ chân thấp hơn): Chiếm tới 43,8% NPU, danh mục này bị thống trị bởi các giao dịch giá trị nhỏ nhưng tần suất cao (nạp tiền điện thoại, mua thẻ data). Danh mục được trợ giá rất sâu (giảm giá trung vị tới 50,0% trên giá trị mệnh giá 20.000 VND) và thu hút nhiều người dùng ngắn hạn, dẫn đến tỷ lệ quay lại dưới mức trung bình (52,5%) và tỷ lệ người dùng hữu cơ thấp nhất trong các danh mục chính (44,7%).</a:t>
            </a:r>
          </a:p>
        </p:txBody>
      </p:sp>
      <p:sp>
        <p:nvSpPr>
          <p:cNvPr name="TextBox 59" id="59"/>
          <p:cNvSpPr txBox="true"/>
          <p:nvPr/>
        </p:nvSpPr>
        <p:spPr>
          <a:xfrm rot="0">
            <a:off x="12206914" y="5221009"/>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ĐÁNH GIÁ</a:t>
            </a:r>
          </a:p>
        </p:txBody>
      </p:sp>
      <p:sp>
        <p:nvSpPr>
          <p:cNvPr name="TextBox 60" id="60"/>
          <p:cNvSpPr txBox="true"/>
          <p:nvPr/>
        </p:nvSpPr>
        <p:spPr>
          <a:xfrm rot="0">
            <a:off x="11704722" y="2092127"/>
            <a:ext cx="2971847" cy="1479132"/>
          </a:xfrm>
          <a:prstGeom prst="rect">
            <a:avLst/>
          </a:prstGeom>
        </p:spPr>
        <p:txBody>
          <a:bodyPr anchor="t" rtlCol="false" tIns="0" lIns="0" bIns="0" rIns="0">
            <a:spAutoFit/>
          </a:bodyPr>
          <a:lstStyle/>
          <a:p>
            <a:pPr algn="just">
              <a:lnSpc>
                <a:spcPts val="1959"/>
              </a:lnSpc>
            </a:pPr>
            <a:r>
              <a:rPr lang="en-US" sz="1399">
                <a:solidFill>
                  <a:srgbClr val="FFFFFF"/>
                </a:solidFill>
                <a:latin typeface="Montserrat Light"/>
                <a:ea typeface="Montserrat Light"/>
                <a:cs typeface="Montserrat Light"/>
                <a:sym typeface="Montserrat Light"/>
              </a:rPr>
              <a:t>Nhìn sâu hơn vào từng nhóm, các chiến dịch thuộc nhóm Access Service (Balance_Increase, , Prepaid_Product) tập trung chủ yếu ở mức giảm giá thấp dưới 10,000 VND</a:t>
            </a:r>
          </a:p>
        </p:txBody>
      </p:sp>
      <p:sp>
        <p:nvSpPr>
          <p:cNvPr name="TextBox 61" id="61"/>
          <p:cNvSpPr txBox="true"/>
          <p:nvPr/>
        </p:nvSpPr>
        <p:spPr>
          <a:xfrm rot="0">
            <a:off x="12206914" y="1670871"/>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QUAN SÁT</a:t>
            </a:r>
          </a:p>
        </p:txBody>
      </p:sp>
      <p:sp>
        <p:nvSpPr>
          <p:cNvPr name="TextBox 62" id="62"/>
          <p:cNvSpPr txBox="true"/>
          <p:nvPr/>
        </p:nvSpPr>
        <p:spPr>
          <a:xfrm rot="0">
            <a:off x="905956" y="3743991"/>
            <a:ext cx="3830089" cy="407670"/>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3: Tỉ lệ (%) các loại voucher của các campaign HIGHNPU_low DISCOUNT</a:t>
            </a:r>
          </a:p>
        </p:txBody>
      </p:sp>
      <p:sp>
        <p:nvSpPr>
          <p:cNvPr name="TextBox 63" id="63"/>
          <p:cNvSpPr txBox="true"/>
          <p:nvPr/>
        </p:nvSpPr>
        <p:spPr>
          <a:xfrm rot="0">
            <a:off x="830396" y="8394045"/>
            <a:ext cx="3830089" cy="407670"/>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4: Tỉ lệ (%) các loại NPU của các campaign HIGHNPU_low DISCOUNT</a:t>
            </a:r>
          </a:p>
        </p:txBody>
      </p:sp>
      <p:sp>
        <p:nvSpPr>
          <p:cNvPr name="TextBox 64" id="64"/>
          <p:cNvSpPr txBox="true"/>
          <p:nvPr/>
        </p:nvSpPr>
        <p:spPr>
          <a:xfrm rot="0">
            <a:off x="5796164" y="7268005"/>
            <a:ext cx="3830089" cy="198120"/>
          </a:xfrm>
          <a:prstGeom prst="rect">
            <a:avLst/>
          </a:prstGeom>
        </p:spPr>
        <p:txBody>
          <a:bodyPr anchor="t" rtlCol="false" tIns="0" lIns="0" bIns="0" rIns="0">
            <a:spAutoFit/>
          </a:bodyPr>
          <a:lstStyle/>
          <a:p>
            <a:pPr algn="just">
              <a:lnSpc>
                <a:spcPts val="1679"/>
              </a:lnSpc>
            </a:pPr>
            <a:r>
              <a:rPr lang="en-US" sz="1200">
                <a:solidFill>
                  <a:srgbClr val="FCFFFF"/>
                </a:solidFill>
                <a:latin typeface="Montserrat Light"/>
                <a:ea typeface="Montserrat Light"/>
                <a:cs typeface="Montserrat Light"/>
                <a:sym typeface="Montserrat Light"/>
              </a:rPr>
              <a:t>Hình 6: Số lượng NPU theo loại danh mục sử dụng</a:t>
            </a:r>
          </a:p>
        </p:txBody>
      </p:sp>
      <p:sp>
        <p:nvSpPr>
          <p:cNvPr name="TextBox 65" id="65"/>
          <p:cNvSpPr txBox="true"/>
          <p:nvPr/>
        </p:nvSpPr>
        <p:spPr>
          <a:xfrm rot="0">
            <a:off x="5940976" y="3938301"/>
            <a:ext cx="5254919" cy="198102"/>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5: Mối liên hệ Nhóm HighNPU_LowDiscount vào các merchant.</a:t>
            </a:r>
          </a:p>
        </p:txBody>
      </p:sp>
      <p:sp>
        <p:nvSpPr>
          <p:cNvPr name="TextBox 66" id="66"/>
          <p:cNvSpPr txBox="true"/>
          <p:nvPr/>
        </p:nvSpPr>
        <p:spPr>
          <a:xfrm rot="0">
            <a:off x="5768740" y="9801281"/>
            <a:ext cx="5770308" cy="198120"/>
          </a:xfrm>
          <a:prstGeom prst="rect">
            <a:avLst/>
          </a:prstGeom>
        </p:spPr>
        <p:txBody>
          <a:bodyPr anchor="t" rtlCol="false" tIns="0" lIns="0" bIns="0" rIns="0">
            <a:spAutoFit/>
          </a:bodyPr>
          <a:lstStyle/>
          <a:p>
            <a:pPr algn="just">
              <a:lnSpc>
                <a:spcPts val="1679"/>
              </a:lnSpc>
            </a:pPr>
            <a:r>
              <a:rPr lang="en-US" sz="1200">
                <a:solidFill>
                  <a:srgbClr val="FFFAE4"/>
                </a:solidFill>
                <a:latin typeface="Montserrat Light"/>
                <a:ea typeface="Montserrat Light"/>
                <a:cs typeface="Montserrat Light"/>
                <a:sym typeface="Montserrat Light"/>
              </a:rPr>
              <a:t>Bả</a:t>
            </a:r>
            <a:r>
              <a:rPr lang="en-US" sz="1200">
                <a:solidFill>
                  <a:srgbClr val="FFFAE4"/>
                </a:solidFill>
                <a:latin typeface="Montserrat Light"/>
                <a:ea typeface="Montserrat Light"/>
                <a:cs typeface="Montserrat Light"/>
                <a:sym typeface="Montserrat Light"/>
              </a:rPr>
              <a:t>ng 2: Bảng so sánh các loại danh mục bằng các chỉ số</a:t>
            </a:r>
          </a:p>
        </p:txBody>
      </p:sp>
      <p:sp>
        <p:nvSpPr>
          <p:cNvPr name="TextBox 67" id="67"/>
          <p:cNvSpPr txBox="true"/>
          <p:nvPr/>
        </p:nvSpPr>
        <p:spPr>
          <a:xfrm rot="0">
            <a:off x="15165151" y="8782665"/>
            <a:ext cx="2802234" cy="124587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Light Italics"/>
                <a:ea typeface="Montserrat Light Italics"/>
                <a:cs typeface="Montserrat Light Italics"/>
                <a:sym typeface="Montserrat Light Italics"/>
              </a:rPr>
              <a:t>*Chú thích:</a:t>
            </a:r>
          </a:p>
          <a:p>
            <a:pPr algn="just">
              <a:lnSpc>
                <a:spcPts val="1679"/>
              </a:lnSpc>
            </a:pPr>
            <a:r>
              <a:rPr lang="en-US" sz="1200" i="true">
                <a:solidFill>
                  <a:srgbClr val="FFFFFF"/>
                </a:solidFill>
                <a:latin typeface="Montserrat Light Italics"/>
                <a:ea typeface="Montserrat Light Italics"/>
                <a:cs typeface="Montserrat Light Italics"/>
                <a:sym typeface="Montserrat Light Italics"/>
              </a:rPr>
              <a:t>Hình 3 , Hình 4 sử dụng trong từ 4 campaign (8932, 8386, 7421, 8589) nhằm mục khái quát đặc điểm chung của nhóm có quy mô NPU cao nhưng Discount thấp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0A0A">
                <a:alpha val="92941"/>
              </a:srgbClr>
            </a:solidFill>
          </p:spPr>
        </p:sp>
        <p:sp>
          <p:nvSpPr>
            <p:cNvPr name="TextBox 5" id="5"/>
            <p:cNvSpPr txBox="true"/>
            <p:nvPr/>
          </p:nvSpPr>
          <p:spPr>
            <a:xfrm>
              <a:off x="0" y="-104775"/>
              <a:ext cx="4816593" cy="281410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160916" y="1323948"/>
            <a:ext cx="10288805" cy="11905421"/>
          </a:xfrm>
          <a:custGeom>
            <a:avLst/>
            <a:gdLst/>
            <a:ahLst/>
            <a:cxnLst/>
            <a:rect r="r" b="b" t="t" l="l"/>
            <a:pathLst>
              <a:path h="11905421" w="10288805">
                <a:moveTo>
                  <a:pt x="0" y="11905420"/>
                </a:moveTo>
                <a:lnTo>
                  <a:pt x="10288805" y="11905420"/>
                </a:lnTo>
                <a:lnTo>
                  <a:pt x="10288805" y="0"/>
                </a:lnTo>
                <a:lnTo>
                  <a:pt x="0" y="0"/>
                </a:lnTo>
                <a:lnTo>
                  <a:pt x="0" y="11905420"/>
                </a:lnTo>
                <a:close/>
              </a:path>
            </a:pathLst>
          </a:custGeom>
          <a:blipFill>
            <a:blip r:embed="rId3">
              <a:alphaModFix amt="23000"/>
            </a:blip>
            <a:stretch>
              <a:fillRect l="-41760" t="0" r="0" b="0"/>
            </a:stretch>
          </a:blipFill>
        </p:spPr>
      </p:sp>
      <p:sp>
        <p:nvSpPr>
          <p:cNvPr name="Freeform 7" id="7"/>
          <p:cNvSpPr/>
          <p:nvPr/>
        </p:nvSpPr>
        <p:spPr>
          <a:xfrm flipH="true" flipV="false" rot="0">
            <a:off x="-2198478" y="-6936210"/>
            <a:ext cx="11129273" cy="11905421"/>
          </a:xfrm>
          <a:custGeom>
            <a:avLst/>
            <a:gdLst/>
            <a:ahLst/>
            <a:cxnLst/>
            <a:rect r="r" b="b" t="t" l="l"/>
            <a:pathLst>
              <a:path h="11905421" w="11129273">
                <a:moveTo>
                  <a:pt x="11129273" y="0"/>
                </a:moveTo>
                <a:lnTo>
                  <a:pt x="0" y="0"/>
                </a:lnTo>
                <a:lnTo>
                  <a:pt x="0" y="11905420"/>
                </a:lnTo>
                <a:lnTo>
                  <a:pt x="11129273" y="11905420"/>
                </a:lnTo>
                <a:lnTo>
                  <a:pt x="11129273" y="0"/>
                </a:lnTo>
                <a:close/>
              </a:path>
            </a:pathLst>
          </a:custGeom>
          <a:blipFill>
            <a:blip r:embed="rId3">
              <a:alphaModFix amt="23000"/>
            </a:blip>
            <a:stretch>
              <a:fillRect l="-31055" t="0" r="0" b="0"/>
            </a:stretch>
          </a:blipFill>
        </p:spPr>
      </p:sp>
      <p:sp>
        <p:nvSpPr>
          <p:cNvPr name="Freeform 8" id="8"/>
          <p:cNvSpPr/>
          <p:nvPr/>
        </p:nvSpPr>
        <p:spPr>
          <a:xfrm flipH="false" flipV="false" rot="0">
            <a:off x="15880642" y="9053085"/>
            <a:ext cx="15240000" cy="8229600"/>
          </a:xfrm>
          <a:custGeom>
            <a:avLst/>
            <a:gdLst/>
            <a:ahLst/>
            <a:cxnLst/>
            <a:rect r="r" b="b" t="t" l="l"/>
            <a:pathLst>
              <a:path h="8229600" w="15240000">
                <a:moveTo>
                  <a:pt x="0" y="0"/>
                </a:moveTo>
                <a:lnTo>
                  <a:pt x="15240000" y="0"/>
                </a:lnTo>
                <a:lnTo>
                  <a:pt x="15240000" y="8229600"/>
                </a:lnTo>
                <a:lnTo>
                  <a:pt x="0" y="8229600"/>
                </a:lnTo>
                <a:lnTo>
                  <a:pt x="0" y="0"/>
                </a:lnTo>
                <a:close/>
              </a:path>
            </a:pathLst>
          </a:custGeom>
          <a:blipFill>
            <a:blip r:embed="rId4">
              <a:alphaModFix amt="90000"/>
            </a:blip>
            <a:stretch>
              <a:fillRect l="0" t="0" r="0" b="0"/>
            </a:stretch>
          </a:blipFill>
        </p:spPr>
      </p:sp>
      <p:grpSp>
        <p:nvGrpSpPr>
          <p:cNvPr name="Group 9" id="9"/>
          <p:cNvGrpSpPr/>
          <p:nvPr/>
        </p:nvGrpSpPr>
        <p:grpSpPr>
          <a:xfrm rot="0">
            <a:off x="300644" y="750913"/>
            <a:ext cx="5027863" cy="4610641"/>
            <a:chOff x="0" y="0"/>
            <a:chExt cx="1939922" cy="1778943"/>
          </a:xfrm>
        </p:grpSpPr>
        <p:sp>
          <p:nvSpPr>
            <p:cNvPr name="Freeform 10" id="10"/>
            <p:cNvSpPr/>
            <p:nvPr/>
          </p:nvSpPr>
          <p:spPr>
            <a:xfrm flipH="false" flipV="false" rot="0">
              <a:off x="0" y="0"/>
              <a:ext cx="1939922" cy="1778943"/>
            </a:xfrm>
            <a:custGeom>
              <a:avLst/>
              <a:gdLst/>
              <a:ahLst/>
              <a:cxnLst/>
              <a:rect r="r" b="b" t="t" l="l"/>
              <a:pathLst>
                <a:path h="1778943" w="1939922">
                  <a:moveTo>
                    <a:pt x="36955" y="0"/>
                  </a:moveTo>
                  <a:lnTo>
                    <a:pt x="1902966" y="0"/>
                  </a:lnTo>
                  <a:cubicBezTo>
                    <a:pt x="1923376" y="0"/>
                    <a:pt x="1939922" y="16545"/>
                    <a:pt x="1939922" y="36955"/>
                  </a:cubicBezTo>
                  <a:lnTo>
                    <a:pt x="1939922" y="1741988"/>
                  </a:lnTo>
                  <a:cubicBezTo>
                    <a:pt x="1939922" y="1751789"/>
                    <a:pt x="1936028" y="1761189"/>
                    <a:pt x="1929098" y="1768119"/>
                  </a:cubicBezTo>
                  <a:cubicBezTo>
                    <a:pt x="1922167" y="1775050"/>
                    <a:pt x="1912768" y="1778943"/>
                    <a:pt x="1902966" y="1778943"/>
                  </a:cubicBezTo>
                  <a:lnTo>
                    <a:pt x="36955" y="1778943"/>
                  </a:lnTo>
                  <a:cubicBezTo>
                    <a:pt x="16545" y="1778943"/>
                    <a:pt x="0" y="1762398"/>
                    <a:pt x="0" y="1741988"/>
                  </a:cubicBezTo>
                  <a:lnTo>
                    <a:pt x="0" y="36955"/>
                  </a:lnTo>
                  <a:cubicBezTo>
                    <a:pt x="0" y="16545"/>
                    <a:pt x="16545" y="0"/>
                    <a:pt x="36955" y="0"/>
                  </a:cubicBezTo>
                  <a:close/>
                </a:path>
              </a:pathLst>
            </a:custGeom>
            <a:gradFill rotWithShape="true">
              <a:gsLst>
                <a:gs pos="0">
                  <a:srgbClr val="9C2357">
                    <a:alpha val="3060"/>
                  </a:srgbClr>
                </a:gs>
                <a:gs pos="100000">
                  <a:srgbClr val="FF9376">
                    <a:alpha val="68000"/>
                  </a:srgbClr>
                </a:gs>
              </a:gsLst>
              <a:lin ang="5400000"/>
            </a:gradFill>
            <a:ln w="38100" cap="rnd">
              <a:gradFill>
                <a:gsLst>
                  <a:gs pos="0">
                    <a:srgbClr val="FF9376">
                      <a:alpha val="68000"/>
                    </a:srgbClr>
                  </a:gs>
                  <a:gs pos="100000">
                    <a:srgbClr val="9C2357">
                      <a:alpha val="3060"/>
                    </a:srgbClr>
                  </a:gs>
                </a:gsLst>
                <a:lin ang="2700000"/>
              </a:gradFill>
              <a:prstDash val="solid"/>
              <a:round/>
            </a:ln>
          </p:spPr>
        </p:sp>
        <p:sp>
          <p:nvSpPr>
            <p:cNvPr name="TextBox 11" id="11"/>
            <p:cNvSpPr txBox="true"/>
            <p:nvPr/>
          </p:nvSpPr>
          <p:spPr>
            <a:xfrm>
              <a:off x="0" y="28575"/>
              <a:ext cx="1939922" cy="1750368"/>
            </a:xfrm>
            <a:prstGeom prst="rect">
              <a:avLst/>
            </a:prstGeom>
          </p:spPr>
          <p:txBody>
            <a:bodyPr anchor="ctr" rtlCol="false" tIns="50800" lIns="50800" bIns="50800" rIns="50800"/>
            <a:lstStyle/>
            <a:p>
              <a:pPr algn="ctr">
                <a:lnSpc>
                  <a:spcPts val="2000"/>
                </a:lnSpc>
              </a:pPr>
            </a:p>
          </p:txBody>
        </p:sp>
      </p:grpSp>
      <p:grpSp>
        <p:nvGrpSpPr>
          <p:cNvPr name="Group 12" id="12"/>
          <p:cNvGrpSpPr/>
          <p:nvPr/>
        </p:nvGrpSpPr>
        <p:grpSpPr>
          <a:xfrm rot="0">
            <a:off x="251674" y="5505442"/>
            <a:ext cx="5125803" cy="4696983"/>
            <a:chOff x="0" y="0"/>
            <a:chExt cx="2046345" cy="1875150"/>
          </a:xfrm>
        </p:grpSpPr>
        <p:sp>
          <p:nvSpPr>
            <p:cNvPr name="Freeform 13" id="13"/>
            <p:cNvSpPr/>
            <p:nvPr/>
          </p:nvSpPr>
          <p:spPr>
            <a:xfrm flipH="false" flipV="false" rot="0">
              <a:off x="0" y="0"/>
              <a:ext cx="2046345" cy="1875149"/>
            </a:xfrm>
            <a:custGeom>
              <a:avLst/>
              <a:gdLst/>
              <a:ahLst/>
              <a:cxnLst/>
              <a:rect r="r" b="b" t="t" l="l"/>
              <a:pathLst>
                <a:path h="1875149" w="2046345">
                  <a:moveTo>
                    <a:pt x="36249" y="0"/>
                  </a:moveTo>
                  <a:lnTo>
                    <a:pt x="2010096" y="0"/>
                  </a:lnTo>
                  <a:cubicBezTo>
                    <a:pt x="2030116" y="0"/>
                    <a:pt x="2046345" y="16229"/>
                    <a:pt x="2046345" y="36249"/>
                  </a:cubicBezTo>
                  <a:lnTo>
                    <a:pt x="2046345" y="1838900"/>
                  </a:lnTo>
                  <a:cubicBezTo>
                    <a:pt x="2046345" y="1858920"/>
                    <a:pt x="2030116" y="1875149"/>
                    <a:pt x="2010096" y="1875149"/>
                  </a:cubicBezTo>
                  <a:lnTo>
                    <a:pt x="36249" y="1875149"/>
                  </a:lnTo>
                  <a:cubicBezTo>
                    <a:pt x="16229" y="1875149"/>
                    <a:pt x="0" y="1858920"/>
                    <a:pt x="0" y="1838900"/>
                  </a:cubicBezTo>
                  <a:lnTo>
                    <a:pt x="0" y="36249"/>
                  </a:lnTo>
                  <a:cubicBezTo>
                    <a:pt x="0" y="16229"/>
                    <a:pt x="16229" y="0"/>
                    <a:pt x="36249" y="0"/>
                  </a:cubicBezTo>
                  <a:close/>
                </a:path>
              </a:pathLst>
            </a:custGeom>
            <a:gradFill rotWithShape="true">
              <a:gsLst>
                <a:gs pos="0">
                  <a:srgbClr val="9C2357">
                    <a:alpha val="3060"/>
                  </a:srgbClr>
                </a:gs>
                <a:gs pos="100000">
                  <a:srgbClr val="FF9376">
                    <a:alpha val="68000"/>
                  </a:srgbClr>
                </a:gs>
              </a:gsLst>
              <a:lin ang="5400000"/>
            </a:gradFill>
            <a:ln w="38100" cap="rnd">
              <a:gradFill>
                <a:gsLst>
                  <a:gs pos="0">
                    <a:srgbClr val="FF9376">
                      <a:alpha val="68000"/>
                    </a:srgbClr>
                  </a:gs>
                  <a:gs pos="100000">
                    <a:srgbClr val="9C2357">
                      <a:alpha val="3060"/>
                    </a:srgbClr>
                  </a:gs>
                </a:gsLst>
                <a:lin ang="2700000"/>
              </a:gradFill>
              <a:prstDash val="solid"/>
              <a:round/>
            </a:ln>
          </p:spPr>
        </p:sp>
        <p:sp>
          <p:nvSpPr>
            <p:cNvPr name="TextBox 14" id="14"/>
            <p:cNvSpPr txBox="true"/>
            <p:nvPr/>
          </p:nvSpPr>
          <p:spPr>
            <a:xfrm>
              <a:off x="0" y="28575"/>
              <a:ext cx="2046345" cy="1846575"/>
            </a:xfrm>
            <a:prstGeom prst="rect">
              <a:avLst/>
            </a:prstGeom>
          </p:spPr>
          <p:txBody>
            <a:bodyPr anchor="ctr" rtlCol="false" tIns="50800" lIns="50800" bIns="50800" rIns="50800"/>
            <a:lstStyle/>
            <a:p>
              <a:pPr algn="ctr">
                <a:lnSpc>
                  <a:spcPts val="2000"/>
                </a:lnSpc>
              </a:pPr>
            </a:p>
          </p:txBody>
        </p:sp>
      </p:grpSp>
      <p:grpSp>
        <p:nvGrpSpPr>
          <p:cNvPr name="Group 15" id="15"/>
          <p:cNvGrpSpPr/>
          <p:nvPr/>
        </p:nvGrpSpPr>
        <p:grpSpPr>
          <a:xfrm rot="0">
            <a:off x="534043" y="919173"/>
            <a:ext cx="4573915" cy="3282988"/>
            <a:chOff x="0" y="0"/>
            <a:chExt cx="2163899" cy="1553167"/>
          </a:xfrm>
        </p:grpSpPr>
        <p:sp>
          <p:nvSpPr>
            <p:cNvPr name="Freeform 16" id="16"/>
            <p:cNvSpPr/>
            <p:nvPr/>
          </p:nvSpPr>
          <p:spPr>
            <a:xfrm flipH="false" flipV="false" rot="0">
              <a:off x="0" y="0"/>
              <a:ext cx="2163899" cy="1553167"/>
            </a:xfrm>
            <a:custGeom>
              <a:avLst/>
              <a:gdLst/>
              <a:ahLst/>
              <a:cxnLst/>
              <a:rect r="r" b="b" t="t" l="l"/>
              <a:pathLst>
                <a:path h="1553167" w="2163899">
                  <a:moveTo>
                    <a:pt x="45701" y="0"/>
                  </a:moveTo>
                  <a:lnTo>
                    <a:pt x="2118198" y="0"/>
                  </a:lnTo>
                  <a:cubicBezTo>
                    <a:pt x="2130319" y="0"/>
                    <a:pt x="2141943" y="4815"/>
                    <a:pt x="2150514" y="13385"/>
                  </a:cubicBezTo>
                  <a:cubicBezTo>
                    <a:pt x="2159084" y="21956"/>
                    <a:pt x="2163899" y="33580"/>
                    <a:pt x="2163899" y="45701"/>
                  </a:cubicBezTo>
                  <a:lnTo>
                    <a:pt x="2163899" y="1507466"/>
                  </a:lnTo>
                  <a:cubicBezTo>
                    <a:pt x="2163899" y="1532706"/>
                    <a:pt x="2143438" y="1553167"/>
                    <a:pt x="2118198" y="1553167"/>
                  </a:cubicBezTo>
                  <a:lnTo>
                    <a:pt x="45701" y="1553167"/>
                  </a:lnTo>
                  <a:cubicBezTo>
                    <a:pt x="33580" y="1553167"/>
                    <a:pt x="21956" y="1548352"/>
                    <a:pt x="13385" y="1539781"/>
                  </a:cubicBezTo>
                  <a:cubicBezTo>
                    <a:pt x="4815" y="1531211"/>
                    <a:pt x="0" y="1519587"/>
                    <a:pt x="0" y="1507466"/>
                  </a:cubicBezTo>
                  <a:lnTo>
                    <a:pt x="0" y="45701"/>
                  </a:lnTo>
                  <a:cubicBezTo>
                    <a:pt x="0" y="20461"/>
                    <a:pt x="20461" y="0"/>
                    <a:pt x="4570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17" id="17"/>
            <p:cNvSpPr txBox="true"/>
            <p:nvPr/>
          </p:nvSpPr>
          <p:spPr>
            <a:xfrm>
              <a:off x="0" y="28575"/>
              <a:ext cx="2163899" cy="1524592"/>
            </a:xfrm>
            <a:prstGeom prst="rect">
              <a:avLst/>
            </a:prstGeom>
          </p:spPr>
          <p:txBody>
            <a:bodyPr anchor="ctr" rtlCol="false" tIns="50800" lIns="50800" bIns="50800" rIns="50800"/>
            <a:lstStyle/>
            <a:p>
              <a:pPr algn="ctr">
                <a:lnSpc>
                  <a:spcPts val="2000"/>
                </a:lnSpc>
              </a:pPr>
            </a:p>
          </p:txBody>
        </p:sp>
      </p:grpSp>
      <p:grpSp>
        <p:nvGrpSpPr>
          <p:cNvPr name="Group 18" id="18"/>
          <p:cNvGrpSpPr/>
          <p:nvPr/>
        </p:nvGrpSpPr>
        <p:grpSpPr>
          <a:xfrm rot="0">
            <a:off x="495595" y="5690220"/>
            <a:ext cx="4598741" cy="3172876"/>
            <a:chOff x="0" y="0"/>
            <a:chExt cx="2251148" cy="1553167"/>
          </a:xfrm>
        </p:grpSpPr>
        <p:sp>
          <p:nvSpPr>
            <p:cNvPr name="Freeform 19" id="19"/>
            <p:cNvSpPr/>
            <p:nvPr/>
          </p:nvSpPr>
          <p:spPr>
            <a:xfrm flipH="false" flipV="false" rot="0">
              <a:off x="0" y="0"/>
              <a:ext cx="2251148" cy="1553167"/>
            </a:xfrm>
            <a:custGeom>
              <a:avLst/>
              <a:gdLst/>
              <a:ahLst/>
              <a:cxnLst/>
              <a:rect r="r" b="b" t="t" l="l"/>
              <a:pathLst>
                <a:path h="1553167" w="2251148">
                  <a:moveTo>
                    <a:pt x="43771" y="0"/>
                  </a:moveTo>
                  <a:lnTo>
                    <a:pt x="2207377" y="0"/>
                  </a:lnTo>
                  <a:cubicBezTo>
                    <a:pt x="2231551" y="0"/>
                    <a:pt x="2251148" y="19597"/>
                    <a:pt x="2251148" y="43771"/>
                  </a:cubicBezTo>
                  <a:lnTo>
                    <a:pt x="2251148" y="1509396"/>
                  </a:lnTo>
                  <a:cubicBezTo>
                    <a:pt x="2251148" y="1533570"/>
                    <a:pt x="2231551" y="1553167"/>
                    <a:pt x="2207377" y="1553167"/>
                  </a:cubicBezTo>
                  <a:lnTo>
                    <a:pt x="43771" y="1553167"/>
                  </a:lnTo>
                  <a:cubicBezTo>
                    <a:pt x="19597" y="1553167"/>
                    <a:pt x="0" y="1533570"/>
                    <a:pt x="0" y="1509396"/>
                  </a:cubicBezTo>
                  <a:lnTo>
                    <a:pt x="0" y="43771"/>
                  </a:lnTo>
                  <a:cubicBezTo>
                    <a:pt x="0" y="19597"/>
                    <a:pt x="19597" y="0"/>
                    <a:pt x="4377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20" id="20"/>
            <p:cNvSpPr txBox="true"/>
            <p:nvPr/>
          </p:nvSpPr>
          <p:spPr>
            <a:xfrm>
              <a:off x="0" y="28575"/>
              <a:ext cx="2251148" cy="1524592"/>
            </a:xfrm>
            <a:prstGeom prst="rect">
              <a:avLst/>
            </a:prstGeom>
          </p:spPr>
          <p:txBody>
            <a:bodyPr anchor="ctr" rtlCol="false" tIns="50800" lIns="50800" bIns="50800" rIns="50800"/>
            <a:lstStyle/>
            <a:p>
              <a:pPr algn="ctr">
                <a:lnSpc>
                  <a:spcPts val="2000"/>
                </a:lnSpc>
              </a:pPr>
            </a:p>
          </p:txBody>
        </p:sp>
      </p:grpSp>
      <p:pic>
        <p:nvPicPr>
          <p:cNvPr name="Picture 21" id="21"/>
          <p:cNvPicPr>
            <a:picLocks noChangeAspect="true"/>
          </p:cNvPicPr>
          <p:nvPr/>
        </p:nvPicPr>
        <p:blipFill>
          <a:blip r:embed="rId5"/>
          <a:stretch>
            <a:fillRect/>
          </a:stretch>
        </p:blipFill>
        <p:spPr>
          <a:xfrm rot="0">
            <a:off x="810613" y="5547538"/>
            <a:ext cx="3981556" cy="3291942"/>
          </a:xfrm>
          <a:prstGeom prst="rect">
            <a:avLst/>
          </a:prstGeom>
        </p:spPr>
      </p:pic>
      <p:sp>
        <p:nvSpPr>
          <p:cNvPr name="Freeform 22" id="22"/>
          <p:cNvSpPr/>
          <p:nvPr/>
        </p:nvSpPr>
        <p:spPr>
          <a:xfrm flipH="false" flipV="false" rot="0">
            <a:off x="2969593" y="-5446885"/>
            <a:ext cx="12734391" cy="8229600"/>
          </a:xfrm>
          <a:custGeom>
            <a:avLst/>
            <a:gdLst/>
            <a:ahLst/>
            <a:cxnLst/>
            <a:rect r="r" b="b" t="t" l="l"/>
            <a:pathLst>
              <a:path h="8229600" w="12734391">
                <a:moveTo>
                  <a:pt x="0" y="0"/>
                </a:moveTo>
                <a:lnTo>
                  <a:pt x="12734391" y="0"/>
                </a:lnTo>
                <a:lnTo>
                  <a:pt x="12734391" y="8229600"/>
                </a:lnTo>
                <a:lnTo>
                  <a:pt x="0" y="8229600"/>
                </a:lnTo>
                <a:lnTo>
                  <a:pt x="0" y="0"/>
                </a:lnTo>
                <a:close/>
              </a:path>
            </a:pathLst>
          </a:custGeom>
          <a:blipFill>
            <a:blip r:embed="rId6"/>
            <a:stretch>
              <a:fillRect l="0" t="0" r="0" b="0"/>
            </a:stretch>
          </a:blipFill>
        </p:spPr>
      </p:sp>
      <p:grpSp>
        <p:nvGrpSpPr>
          <p:cNvPr name="Group 23" id="23"/>
          <p:cNvGrpSpPr/>
          <p:nvPr/>
        </p:nvGrpSpPr>
        <p:grpSpPr>
          <a:xfrm rot="0">
            <a:off x="15064226" y="919173"/>
            <a:ext cx="3780321" cy="7750400"/>
            <a:chOff x="0" y="0"/>
            <a:chExt cx="995640" cy="2041258"/>
          </a:xfrm>
        </p:grpSpPr>
        <p:sp>
          <p:nvSpPr>
            <p:cNvPr name="Freeform 24" id="24"/>
            <p:cNvSpPr/>
            <p:nvPr/>
          </p:nvSpPr>
          <p:spPr>
            <a:xfrm flipH="false" flipV="false" rot="0">
              <a:off x="0" y="0"/>
              <a:ext cx="995640" cy="2041258"/>
            </a:xfrm>
            <a:custGeom>
              <a:avLst/>
              <a:gdLst/>
              <a:ahLst/>
              <a:cxnLst/>
              <a:rect r="r" b="b" t="t" l="l"/>
              <a:pathLst>
                <a:path h="2041258" w="995640">
                  <a:moveTo>
                    <a:pt x="71678" y="0"/>
                  </a:moveTo>
                  <a:lnTo>
                    <a:pt x="923962" y="0"/>
                  </a:lnTo>
                  <a:cubicBezTo>
                    <a:pt x="963549" y="0"/>
                    <a:pt x="995640" y="32091"/>
                    <a:pt x="995640" y="71678"/>
                  </a:cubicBezTo>
                  <a:lnTo>
                    <a:pt x="995640" y="1969579"/>
                  </a:lnTo>
                  <a:cubicBezTo>
                    <a:pt x="995640" y="2009166"/>
                    <a:pt x="963549" y="2041258"/>
                    <a:pt x="923962" y="2041258"/>
                  </a:cubicBezTo>
                  <a:lnTo>
                    <a:pt x="71678" y="2041258"/>
                  </a:lnTo>
                  <a:cubicBezTo>
                    <a:pt x="32091" y="2041258"/>
                    <a:pt x="0" y="2009166"/>
                    <a:pt x="0" y="1969579"/>
                  </a:cubicBezTo>
                  <a:lnTo>
                    <a:pt x="0" y="71678"/>
                  </a:lnTo>
                  <a:cubicBezTo>
                    <a:pt x="0" y="32091"/>
                    <a:pt x="32091" y="0"/>
                    <a:pt x="71678" y="0"/>
                  </a:cubicBezTo>
                  <a:close/>
                </a:path>
              </a:pathLst>
            </a:custGeom>
            <a:gradFill rotWithShape="true">
              <a:gsLst>
                <a:gs pos="0">
                  <a:srgbClr val="FFFFFF">
                    <a:alpha val="22500"/>
                  </a:srgbClr>
                </a:gs>
                <a:gs pos="100000">
                  <a:srgbClr val="FFFFFF">
                    <a:alpha val="14220"/>
                  </a:srgbClr>
                </a:gs>
              </a:gsLst>
              <a:lin ang="5400000"/>
            </a:gradFill>
            <a:ln w="38100" cap="rnd">
              <a:gradFill>
                <a:gsLst>
                  <a:gs pos="0">
                    <a:srgbClr val="FFDE59">
                      <a:alpha val="36000"/>
                    </a:srgbClr>
                  </a:gs>
                  <a:gs pos="100000">
                    <a:srgbClr val="FFFFFF">
                      <a:alpha val="3780"/>
                    </a:srgbClr>
                  </a:gs>
                </a:gsLst>
                <a:lin ang="2700000"/>
              </a:gradFill>
              <a:prstDash val="solid"/>
              <a:round/>
            </a:ln>
          </p:spPr>
        </p:sp>
        <p:sp>
          <p:nvSpPr>
            <p:cNvPr name="TextBox 25" id="25"/>
            <p:cNvSpPr txBox="true"/>
            <p:nvPr/>
          </p:nvSpPr>
          <p:spPr>
            <a:xfrm>
              <a:off x="0" y="-104775"/>
              <a:ext cx="995640" cy="2146033"/>
            </a:xfrm>
            <a:prstGeom prst="rect">
              <a:avLst/>
            </a:prstGeom>
          </p:spPr>
          <p:txBody>
            <a:bodyPr anchor="ctr" rtlCol="false" tIns="50800" lIns="50800" bIns="50800" rIns="50800"/>
            <a:lstStyle/>
            <a:p>
              <a:pPr algn="ctr">
                <a:lnSpc>
                  <a:spcPts val="3528"/>
                </a:lnSpc>
              </a:pPr>
            </a:p>
          </p:txBody>
        </p:sp>
      </p:grpSp>
      <p:grpSp>
        <p:nvGrpSpPr>
          <p:cNvPr name="Group 26" id="26"/>
          <p:cNvGrpSpPr/>
          <p:nvPr/>
        </p:nvGrpSpPr>
        <p:grpSpPr>
          <a:xfrm rot="0">
            <a:off x="5510865" y="788896"/>
            <a:ext cx="9346556" cy="3595080"/>
            <a:chOff x="0" y="0"/>
            <a:chExt cx="2872003" cy="1104693"/>
          </a:xfrm>
        </p:grpSpPr>
        <p:sp>
          <p:nvSpPr>
            <p:cNvPr name="Freeform 27" id="27"/>
            <p:cNvSpPr/>
            <p:nvPr/>
          </p:nvSpPr>
          <p:spPr>
            <a:xfrm flipH="false" flipV="false" rot="0">
              <a:off x="0" y="0"/>
              <a:ext cx="2872003" cy="1104694"/>
            </a:xfrm>
            <a:custGeom>
              <a:avLst/>
              <a:gdLst/>
              <a:ahLst/>
              <a:cxnLst/>
              <a:rect r="r" b="b" t="t" l="l"/>
              <a:pathLst>
                <a:path h="1104694" w="2872003">
                  <a:moveTo>
                    <a:pt x="27334" y="0"/>
                  </a:moveTo>
                  <a:lnTo>
                    <a:pt x="2844668" y="0"/>
                  </a:lnTo>
                  <a:cubicBezTo>
                    <a:pt x="2859765" y="0"/>
                    <a:pt x="2872003" y="12238"/>
                    <a:pt x="2872003" y="27334"/>
                  </a:cubicBezTo>
                  <a:lnTo>
                    <a:pt x="2872003" y="1077359"/>
                  </a:lnTo>
                  <a:cubicBezTo>
                    <a:pt x="2872003" y="1092455"/>
                    <a:pt x="2859765" y="1104694"/>
                    <a:pt x="2844668" y="1104694"/>
                  </a:cubicBezTo>
                  <a:lnTo>
                    <a:pt x="27334" y="1104694"/>
                  </a:lnTo>
                  <a:cubicBezTo>
                    <a:pt x="12238" y="1104694"/>
                    <a:pt x="0" y="1092455"/>
                    <a:pt x="0" y="1077359"/>
                  </a:cubicBezTo>
                  <a:lnTo>
                    <a:pt x="0" y="27334"/>
                  </a:lnTo>
                  <a:cubicBezTo>
                    <a:pt x="0" y="12238"/>
                    <a:pt x="12238" y="0"/>
                    <a:pt x="27334" y="0"/>
                  </a:cubicBezTo>
                  <a:close/>
                </a:path>
              </a:pathLst>
            </a:custGeom>
            <a:gradFill rotWithShape="true">
              <a:gsLst>
                <a:gs pos="0">
                  <a:srgbClr val="9C2357">
                    <a:alpha val="3060"/>
                  </a:srgbClr>
                </a:gs>
                <a:gs pos="100000">
                  <a:srgbClr val="FF9376">
                    <a:alpha val="68000"/>
                  </a:srgbClr>
                </a:gs>
              </a:gsLst>
              <a:lin ang="5400000"/>
            </a:gradFill>
            <a:ln w="38100" cap="rnd">
              <a:gradFill>
                <a:gsLst>
                  <a:gs pos="0">
                    <a:srgbClr val="FF9376">
                      <a:alpha val="68000"/>
                    </a:srgbClr>
                  </a:gs>
                  <a:gs pos="100000">
                    <a:srgbClr val="9C2357">
                      <a:alpha val="3060"/>
                    </a:srgbClr>
                  </a:gs>
                </a:gsLst>
                <a:lin ang="2700000"/>
              </a:gradFill>
              <a:prstDash val="solid"/>
              <a:round/>
            </a:ln>
          </p:spPr>
        </p:sp>
        <p:sp>
          <p:nvSpPr>
            <p:cNvPr name="TextBox 28" id="28"/>
            <p:cNvSpPr txBox="true"/>
            <p:nvPr/>
          </p:nvSpPr>
          <p:spPr>
            <a:xfrm>
              <a:off x="0" y="28575"/>
              <a:ext cx="2872003" cy="1076118"/>
            </a:xfrm>
            <a:prstGeom prst="rect">
              <a:avLst/>
            </a:prstGeom>
          </p:spPr>
          <p:txBody>
            <a:bodyPr anchor="ctr" rtlCol="false" tIns="50800" lIns="50800" bIns="50800" rIns="50800"/>
            <a:lstStyle/>
            <a:p>
              <a:pPr algn="ctr">
                <a:lnSpc>
                  <a:spcPts val="2000"/>
                </a:lnSpc>
              </a:pPr>
            </a:p>
          </p:txBody>
        </p:sp>
      </p:grpSp>
      <p:grpSp>
        <p:nvGrpSpPr>
          <p:cNvPr name="Group 29" id="29"/>
          <p:cNvGrpSpPr/>
          <p:nvPr/>
        </p:nvGrpSpPr>
        <p:grpSpPr>
          <a:xfrm rot="0">
            <a:off x="5536696" y="4469818"/>
            <a:ext cx="9346556" cy="5732607"/>
            <a:chOff x="0" y="0"/>
            <a:chExt cx="2917010" cy="1789116"/>
          </a:xfrm>
        </p:grpSpPr>
        <p:sp>
          <p:nvSpPr>
            <p:cNvPr name="Freeform 30" id="30"/>
            <p:cNvSpPr/>
            <p:nvPr/>
          </p:nvSpPr>
          <p:spPr>
            <a:xfrm flipH="false" flipV="false" rot="0">
              <a:off x="0" y="0"/>
              <a:ext cx="2917010" cy="1789116"/>
            </a:xfrm>
            <a:custGeom>
              <a:avLst/>
              <a:gdLst/>
              <a:ahLst/>
              <a:cxnLst/>
              <a:rect r="r" b="b" t="t" l="l"/>
              <a:pathLst>
                <a:path h="1789116" w="2917010">
                  <a:moveTo>
                    <a:pt x="27334" y="0"/>
                  </a:moveTo>
                  <a:lnTo>
                    <a:pt x="2889676" y="0"/>
                  </a:lnTo>
                  <a:cubicBezTo>
                    <a:pt x="2904772" y="0"/>
                    <a:pt x="2917010" y="12238"/>
                    <a:pt x="2917010" y="27334"/>
                  </a:cubicBezTo>
                  <a:lnTo>
                    <a:pt x="2917010" y="1761781"/>
                  </a:lnTo>
                  <a:cubicBezTo>
                    <a:pt x="2917010" y="1776878"/>
                    <a:pt x="2904772" y="1789116"/>
                    <a:pt x="2889676" y="1789116"/>
                  </a:cubicBezTo>
                  <a:lnTo>
                    <a:pt x="27334" y="1789116"/>
                  </a:lnTo>
                  <a:cubicBezTo>
                    <a:pt x="12238" y="1789116"/>
                    <a:pt x="0" y="1776878"/>
                    <a:pt x="0" y="1761781"/>
                  </a:cubicBezTo>
                  <a:lnTo>
                    <a:pt x="0" y="27334"/>
                  </a:lnTo>
                  <a:cubicBezTo>
                    <a:pt x="0" y="12238"/>
                    <a:pt x="12238" y="0"/>
                    <a:pt x="27334" y="0"/>
                  </a:cubicBezTo>
                  <a:close/>
                </a:path>
              </a:pathLst>
            </a:custGeom>
            <a:gradFill rotWithShape="true">
              <a:gsLst>
                <a:gs pos="0">
                  <a:srgbClr val="9C2357">
                    <a:alpha val="3060"/>
                  </a:srgbClr>
                </a:gs>
                <a:gs pos="100000">
                  <a:srgbClr val="FF9376">
                    <a:alpha val="68000"/>
                  </a:srgbClr>
                </a:gs>
              </a:gsLst>
              <a:lin ang="5400000"/>
            </a:gradFill>
            <a:ln w="38100" cap="rnd">
              <a:gradFill>
                <a:gsLst>
                  <a:gs pos="0">
                    <a:srgbClr val="FF9376">
                      <a:alpha val="68000"/>
                    </a:srgbClr>
                  </a:gs>
                  <a:gs pos="100000">
                    <a:srgbClr val="9C2357">
                      <a:alpha val="3060"/>
                    </a:srgbClr>
                  </a:gs>
                </a:gsLst>
                <a:lin ang="2700000"/>
              </a:gradFill>
              <a:prstDash val="solid"/>
              <a:round/>
            </a:ln>
          </p:spPr>
        </p:sp>
        <p:sp>
          <p:nvSpPr>
            <p:cNvPr name="TextBox 31" id="31"/>
            <p:cNvSpPr txBox="true"/>
            <p:nvPr/>
          </p:nvSpPr>
          <p:spPr>
            <a:xfrm>
              <a:off x="0" y="28575"/>
              <a:ext cx="2917010" cy="1760541"/>
            </a:xfrm>
            <a:prstGeom prst="rect">
              <a:avLst/>
            </a:prstGeom>
          </p:spPr>
          <p:txBody>
            <a:bodyPr anchor="ctr" rtlCol="false" tIns="50800" lIns="50800" bIns="50800" rIns="50800"/>
            <a:lstStyle/>
            <a:p>
              <a:pPr algn="ctr">
                <a:lnSpc>
                  <a:spcPts val="2000"/>
                </a:lnSpc>
              </a:pPr>
            </a:p>
          </p:txBody>
        </p:sp>
      </p:grpSp>
      <p:grpSp>
        <p:nvGrpSpPr>
          <p:cNvPr name="Group 32" id="32"/>
          <p:cNvGrpSpPr/>
          <p:nvPr/>
        </p:nvGrpSpPr>
        <p:grpSpPr>
          <a:xfrm rot="0">
            <a:off x="5734719" y="919173"/>
            <a:ext cx="5675275" cy="3426821"/>
            <a:chOff x="0" y="0"/>
            <a:chExt cx="2138298" cy="1291138"/>
          </a:xfrm>
        </p:grpSpPr>
        <p:sp>
          <p:nvSpPr>
            <p:cNvPr name="Freeform 33" id="33"/>
            <p:cNvSpPr/>
            <p:nvPr/>
          </p:nvSpPr>
          <p:spPr>
            <a:xfrm flipH="false" flipV="false" rot="0">
              <a:off x="0" y="0"/>
              <a:ext cx="2138298" cy="1291138"/>
            </a:xfrm>
            <a:custGeom>
              <a:avLst/>
              <a:gdLst/>
              <a:ahLst/>
              <a:cxnLst/>
              <a:rect r="r" b="b" t="t" l="l"/>
              <a:pathLst>
                <a:path h="1291138" w="2138298">
                  <a:moveTo>
                    <a:pt x="30011" y="0"/>
                  </a:moveTo>
                  <a:lnTo>
                    <a:pt x="2108287" y="0"/>
                  </a:lnTo>
                  <a:cubicBezTo>
                    <a:pt x="2124862" y="0"/>
                    <a:pt x="2138298" y="13437"/>
                    <a:pt x="2138298" y="30011"/>
                  </a:cubicBezTo>
                  <a:lnTo>
                    <a:pt x="2138298" y="1261127"/>
                  </a:lnTo>
                  <a:cubicBezTo>
                    <a:pt x="2138298" y="1269086"/>
                    <a:pt x="2135136" y="1276720"/>
                    <a:pt x="2129508" y="1282348"/>
                  </a:cubicBezTo>
                  <a:cubicBezTo>
                    <a:pt x="2123880" y="1287976"/>
                    <a:pt x="2116246" y="1291138"/>
                    <a:pt x="2108287" y="1291138"/>
                  </a:cubicBezTo>
                  <a:lnTo>
                    <a:pt x="30011" y="1291138"/>
                  </a:lnTo>
                  <a:cubicBezTo>
                    <a:pt x="13437" y="1291138"/>
                    <a:pt x="0" y="1277702"/>
                    <a:pt x="0" y="1261127"/>
                  </a:cubicBezTo>
                  <a:lnTo>
                    <a:pt x="0" y="30011"/>
                  </a:lnTo>
                  <a:cubicBezTo>
                    <a:pt x="0" y="13437"/>
                    <a:pt x="13437" y="0"/>
                    <a:pt x="3001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34" id="34"/>
            <p:cNvSpPr txBox="true"/>
            <p:nvPr/>
          </p:nvSpPr>
          <p:spPr>
            <a:xfrm>
              <a:off x="0" y="28575"/>
              <a:ext cx="2138298" cy="1262563"/>
            </a:xfrm>
            <a:prstGeom prst="rect">
              <a:avLst/>
            </a:prstGeom>
          </p:spPr>
          <p:txBody>
            <a:bodyPr anchor="ctr" rtlCol="false" tIns="50800" lIns="50800" bIns="50800" rIns="50800"/>
            <a:lstStyle/>
            <a:p>
              <a:pPr algn="ctr">
                <a:lnSpc>
                  <a:spcPts val="2000"/>
                </a:lnSpc>
              </a:pPr>
            </a:p>
          </p:txBody>
        </p:sp>
      </p:grpSp>
      <p:sp>
        <p:nvSpPr>
          <p:cNvPr name="Freeform 35" id="35"/>
          <p:cNvSpPr/>
          <p:nvPr/>
        </p:nvSpPr>
        <p:spPr>
          <a:xfrm flipH="false" flipV="false" rot="0">
            <a:off x="5982367" y="1083695"/>
            <a:ext cx="5068495" cy="2996191"/>
          </a:xfrm>
          <a:custGeom>
            <a:avLst/>
            <a:gdLst/>
            <a:ahLst/>
            <a:cxnLst/>
            <a:rect r="r" b="b" t="t" l="l"/>
            <a:pathLst>
              <a:path h="2996191" w="5068495">
                <a:moveTo>
                  <a:pt x="0" y="0"/>
                </a:moveTo>
                <a:lnTo>
                  <a:pt x="5068495" y="0"/>
                </a:lnTo>
                <a:lnTo>
                  <a:pt x="5068495" y="2996191"/>
                </a:lnTo>
                <a:lnTo>
                  <a:pt x="0" y="2996191"/>
                </a:lnTo>
                <a:lnTo>
                  <a:pt x="0" y="0"/>
                </a:lnTo>
                <a:close/>
              </a:path>
            </a:pathLst>
          </a:custGeom>
          <a:blipFill>
            <a:blip r:embed="rId7"/>
            <a:stretch>
              <a:fillRect l="0" t="0" r="0" b="0"/>
            </a:stretch>
          </a:blipFill>
        </p:spPr>
      </p:sp>
      <p:grpSp>
        <p:nvGrpSpPr>
          <p:cNvPr name="Group 36" id="36"/>
          <p:cNvGrpSpPr/>
          <p:nvPr/>
        </p:nvGrpSpPr>
        <p:grpSpPr>
          <a:xfrm rot="0">
            <a:off x="9067684" y="1323948"/>
            <a:ext cx="1817339" cy="2755939"/>
            <a:chOff x="0" y="0"/>
            <a:chExt cx="558431" cy="846843"/>
          </a:xfrm>
        </p:grpSpPr>
        <p:sp>
          <p:nvSpPr>
            <p:cNvPr name="Freeform 37" id="37"/>
            <p:cNvSpPr/>
            <p:nvPr/>
          </p:nvSpPr>
          <p:spPr>
            <a:xfrm flipH="false" flipV="false" rot="0">
              <a:off x="0" y="0"/>
              <a:ext cx="558430" cy="846843"/>
            </a:xfrm>
            <a:custGeom>
              <a:avLst/>
              <a:gdLst/>
              <a:ahLst/>
              <a:cxnLst/>
              <a:rect r="r" b="b" t="t" l="l"/>
              <a:pathLst>
                <a:path h="846843" w="558430">
                  <a:moveTo>
                    <a:pt x="38340" y="0"/>
                  </a:moveTo>
                  <a:lnTo>
                    <a:pt x="520090" y="0"/>
                  </a:lnTo>
                  <a:cubicBezTo>
                    <a:pt x="541265" y="0"/>
                    <a:pt x="558430" y="17166"/>
                    <a:pt x="558430" y="38340"/>
                  </a:cubicBezTo>
                  <a:lnTo>
                    <a:pt x="558430" y="808502"/>
                  </a:lnTo>
                  <a:cubicBezTo>
                    <a:pt x="558430" y="829677"/>
                    <a:pt x="541265" y="846843"/>
                    <a:pt x="520090" y="846843"/>
                  </a:cubicBezTo>
                  <a:lnTo>
                    <a:pt x="38340" y="846843"/>
                  </a:lnTo>
                  <a:cubicBezTo>
                    <a:pt x="28172" y="846843"/>
                    <a:pt x="18420" y="842803"/>
                    <a:pt x="11230" y="835613"/>
                  </a:cubicBezTo>
                  <a:cubicBezTo>
                    <a:pt x="4039" y="828423"/>
                    <a:pt x="0" y="818671"/>
                    <a:pt x="0" y="808502"/>
                  </a:cubicBezTo>
                  <a:lnTo>
                    <a:pt x="0" y="38340"/>
                  </a:lnTo>
                  <a:cubicBezTo>
                    <a:pt x="0" y="17166"/>
                    <a:pt x="17166" y="0"/>
                    <a:pt x="38340" y="0"/>
                  </a:cubicBezTo>
                  <a:close/>
                </a:path>
              </a:pathLst>
            </a:custGeom>
            <a:ln w="28575" cap="sq">
              <a:solidFill>
                <a:srgbClr val="FF3131"/>
              </a:solidFill>
              <a:prstDash val="solid"/>
              <a:miter/>
            </a:ln>
          </p:spPr>
        </p:sp>
        <p:sp>
          <p:nvSpPr>
            <p:cNvPr name="TextBox 38" id="38"/>
            <p:cNvSpPr txBox="true"/>
            <p:nvPr/>
          </p:nvSpPr>
          <p:spPr>
            <a:xfrm>
              <a:off x="0" y="28575"/>
              <a:ext cx="558431" cy="818268"/>
            </a:xfrm>
            <a:prstGeom prst="rect">
              <a:avLst/>
            </a:prstGeom>
          </p:spPr>
          <p:txBody>
            <a:bodyPr anchor="ctr" rtlCol="false" tIns="50800" lIns="50800" bIns="50800" rIns="50800"/>
            <a:lstStyle/>
            <a:p>
              <a:pPr algn="ctr">
                <a:lnSpc>
                  <a:spcPts val="2000"/>
                </a:lnSpc>
              </a:pPr>
            </a:p>
          </p:txBody>
        </p:sp>
      </p:grpSp>
      <p:sp>
        <p:nvSpPr>
          <p:cNvPr name="Freeform 39" id="39"/>
          <p:cNvSpPr/>
          <p:nvPr/>
        </p:nvSpPr>
        <p:spPr>
          <a:xfrm flipH="false" flipV="false" rot="0">
            <a:off x="5724885" y="7813224"/>
            <a:ext cx="5471010" cy="2078984"/>
          </a:xfrm>
          <a:custGeom>
            <a:avLst/>
            <a:gdLst/>
            <a:ahLst/>
            <a:cxnLst/>
            <a:rect r="r" b="b" t="t" l="l"/>
            <a:pathLst>
              <a:path h="2078984" w="5471010">
                <a:moveTo>
                  <a:pt x="0" y="0"/>
                </a:moveTo>
                <a:lnTo>
                  <a:pt x="5471010" y="0"/>
                </a:lnTo>
                <a:lnTo>
                  <a:pt x="5471010" y="2078984"/>
                </a:lnTo>
                <a:lnTo>
                  <a:pt x="0" y="2078984"/>
                </a:lnTo>
                <a:lnTo>
                  <a:pt x="0" y="0"/>
                </a:lnTo>
                <a:close/>
              </a:path>
            </a:pathLst>
          </a:custGeom>
          <a:blipFill>
            <a:blip r:embed="rId8"/>
            <a:stretch>
              <a:fillRect l="0" t="0" r="0" b="0"/>
            </a:stretch>
          </a:blipFill>
        </p:spPr>
      </p:sp>
      <p:grpSp>
        <p:nvGrpSpPr>
          <p:cNvPr name="Group 40" id="40"/>
          <p:cNvGrpSpPr/>
          <p:nvPr/>
        </p:nvGrpSpPr>
        <p:grpSpPr>
          <a:xfrm rot="0">
            <a:off x="5707295" y="8361444"/>
            <a:ext cx="5488600" cy="195404"/>
            <a:chOff x="0" y="0"/>
            <a:chExt cx="2272507" cy="80905"/>
          </a:xfrm>
        </p:grpSpPr>
        <p:sp>
          <p:nvSpPr>
            <p:cNvPr name="Freeform 41" id="41"/>
            <p:cNvSpPr/>
            <p:nvPr/>
          </p:nvSpPr>
          <p:spPr>
            <a:xfrm flipH="false" flipV="false" rot="0">
              <a:off x="0" y="0"/>
              <a:ext cx="2272506" cy="80905"/>
            </a:xfrm>
            <a:custGeom>
              <a:avLst/>
              <a:gdLst/>
              <a:ahLst/>
              <a:cxnLst/>
              <a:rect r="r" b="b" t="t" l="l"/>
              <a:pathLst>
                <a:path h="80905" w="2272506">
                  <a:moveTo>
                    <a:pt x="12695" y="0"/>
                  </a:moveTo>
                  <a:lnTo>
                    <a:pt x="2259811" y="0"/>
                  </a:lnTo>
                  <a:cubicBezTo>
                    <a:pt x="2263179" y="0"/>
                    <a:pt x="2266407" y="1337"/>
                    <a:pt x="2268788" y="3718"/>
                  </a:cubicBezTo>
                  <a:cubicBezTo>
                    <a:pt x="2271169" y="6099"/>
                    <a:pt x="2272506" y="9328"/>
                    <a:pt x="2272506" y="12695"/>
                  </a:cubicBezTo>
                  <a:lnTo>
                    <a:pt x="2272506" y="68210"/>
                  </a:lnTo>
                  <a:cubicBezTo>
                    <a:pt x="2272506" y="71577"/>
                    <a:pt x="2271169" y="74806"/>
                    <a:pt x="2268788" y="77187"/>
                  </a:cubicBezTo>
                  <a:cubicBezTo>
                    <a:pt x="2266407" y="79568"/>
                    <a:pt x="2263179" y="80905"/>
                    <a:pt x="2259811" y="80905"/>
                  </a:cubicBezTo>
                  <a:lnTo>
                    <a:pt x="12695" y="80905"/>
                  </a:lnTo>
                  <a:cubicBezTo>
                    <a:pt x="9328" y="80905"/>
                    <a:pt x="6099" y="79568"/>
                    <a:pt x="3718" y="77187"/>
                  </a:cubicBezTo>
                  <a:cubicBezTo>
                    <a:pt x="1337" y="74806"/>
                    <a:pt x="0" y="71577"/>
                    <a:pt x="0" y="68210"/>
                  </a:cubicBezTo>
                  <a:lnTo>
                    <a:pt x="0" y="12695"/>
                  </a:lnTo>
                  <a:cubicBezTo>
                    <a:pt x="0" y="9328"/>
                    <a:pt x="1337" y="6099"/>
                    <a:pt x="3718" y="3718"/>
                  </a:cubicBezTo>
                  <a:cubicBezTo>
                    <a:pt x="6099" y="1337"/>
                    <a:pt x="9328" y="0"/>
                    <a:pt x="12695" y="0"/>
                  </a:cubicBezTo>
                  <a:close/>
                </a:path>
              </a:pathLst>
            </a:custGeom>
            <a:ln w="28575" cap="sq">
              <a:solidFill>
                <a:srgbClr val="FF3131"/>
              </a:solidFill>
              <a:prstDash val="solid"/>
              <a:miter/>
            </a:ln>
          </p:spPr>
        </p:sp>
        <p:sp>
          <p:nvSpPr>
            <p:cNvPr name="TextBox 42" id="42"/>
            <p:cNvSpPr txBox="true"/>
            <p:nvPr/>
          </p:nvSpPr>
          <p:spPr>
            <a:xfrm>
              <a:off x="0" y="28575"/>
              <a:ext cx="2272507" cy="52330"/>
            </a:xfrm>
            <a:prstGeom prst="rect">
              <a:avLst/>
            </a:prstGeom>
          </p:spPr>
          <p:txBody>
            <a:bodyPr anchor="ctr" rtlCol="false" tIns="50800" lIns="50800" bIns="50800" rIns="50800"/>
            <a:lstStyle/>
            <a:p>
              <a:pPr algn="ctr">
                <a:lnSpc>
                  <a:spcPts val="2000"/>
                </a:lnSpc>
              </a:pPr>
            </a:p>
          </p:txBody>
        </p:sp>
      </p:grpSp>
      <p:sp>
        <p:nvSpPr>
          <p:cNvPr name="Freeform 43" id="43"/>
          <p:cNvSpPr/>
          <p:nvPr/>
        </p:nvSpPr>
        <p:spPr>
          <a:xfrm flipH="false" flipV="false" rot="0">
            <a:off x="11890843" y="4964731"/>
            <a:ext cx="309435" cy="143887"/>
          </a:xfrm>
          <a:custGeom>
            <a:avLst/>
            <a:gdLst/>
            <a:ahLst/>
            <a:cxnLst/>
            <a:rect r="r" b="b" t="t" l="l"/>
            <a:pathLst>
              <a:path h="143887" w="309435">
                <a:moveTo>
                  <a:pt x="0" y="0"/>
                </a:moveTo>
                <a:lnTo>
                  <a:pt x="309435" y="0"/>
                </a:lnTo>
                <a:lnTo>
                  <a:pt x="309435" y="143887"/>
                </a:lnTo>
                <a:lnTo>
                  <a:pt x="0" y="14388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4" id="44"/>
          <p:cNvSpPr/>
          <p:nvPr/>
        </p:nvSpPr>
        <p:spPr>
          <a:xfrm flipH="true" flipV="false" rot="0">
            <a:off x="14006917" y="4942318"/>
            <a:ext cx="309435" cy="143887"/>
          </a:xfrm>
          <a:custGeom>
            <a:avLst/>
            <a:gdLst/>
            <a:ahLst/>
            <a:cxnLst/>
            <a:rect r="r" b="b" t="t" l="l"/>
            <a:pathLst>
              <a:path h="143887" w="309435">
                <a:moveTo>
                  <a:pt x="309435" y="0"/>
                </a:moveTo>
                <a:lnTo>
                  <a:pt x="0" y="0"/>
                </a:lnTo>
                <a:lnTo>
                  <a:pt x="0" y="143888"/>
                </a:lnTo>
                <a:lnTo>
                  <a:pt x="309435" y="143888"/>
                </a:lnTo>
                <a:lnTo>
                  <a:pt x="30943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5" id="45"/>
          <p:cNvSpPr/>
          <p:nvPr/>
        </p:nvSpPr>
        <p:spPr>
          <a:xfrm flipH="false" flipV="false" rot="0">
            <a:off x="11890125" y="1833829"/>
            <a:ext cx="309435" cy="143887"/>
          </a:xfrm>
          <a:custGeom>
            <a:avLst/>
            <a:gdLst/>
            <a:ahLst/>
            <a:cxnLst/>
            <a:rect r="r" b="b" t="t" l="l"/>
            <a:pathLst>
              <a:path h="143887" w="309435">
                <a:moveTo>
                  <a:pt x="0" y="0"/>
                </a:moveTo>
                <a:lnTo>
                  <a:pt x="309435" y="0"/>
                </a:lnTo>
                <a:lnTo>
                  <a:pt x="309435" y="143887"/>
                </a:lnTo>
                <a:lnTo>
                  <a:pt x="0" y="14388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6" id="46"/>
          <p:cNvSpPr/>
          <p:nvPr/>
        </p:nvSpPr>
        <p:spPr>
          <a:xfrm flipH="true" flipV="false" rot="0">
            <a:off x="14006199" y="1811417"/>
            <a:ext cx="309435" cy="143887"/>
          </a:xfrm>
          <a:custGeom>
            <a:avLst/>
            <a:gdLst/>
            <a:ahLst/>
            <a:cxnLst/>
            <a:rect r="r" b="b" t="t" l="l"/>
            <a:pathLst>
              <a:path h="143887" w="309435">
                <a:moveTo>
                  <a:pt x="309435" y="0"/>
                </a:moveTo>
                <a:lnTo>
                  <a:pt x="0" y="0"/>
                </a:lnTo>
                <a:lnTo>
                  <a:pt x="0" y="143887"/>
                </a:lnTo>
                <a:lnTo>
                  <a:pt x="309435" y="143887"/>
                </a:lnTo>
                <a:lnTo>
                  <a:pt x="30943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pic>
        <p:nvPicPr>
          <p:cNvPr name="Picture 47" id="47"/>
          <p:cNvPicPr>
            <a:picLocks noChangeAspect="true"/>
          </p:cNvPicPr>
          <p:nvPr/>
        </p:nvPicPr>
        <p:blipFill>
          <a:blip r:embed="rId11"/>
          <a:stretch>
            <a:fillRect/>
          </a:stretch>
        </p:blipFill>
        <p:spPr>
          <a:xfrm rot="0">
            <a:off x="875207" y="793302"/>
            <a:ext cx="3612745" cy="3336249"/>
          </a:xfrm>
          <a:prstGeom prst="rect">
            <a:avLst/>
          </a:prstGeom>
        </p:spPr>
      </p:pic>
      <p:sp>
        <p:nvSpPr>
          <p:cNvPr name="Freeform 48" id="48"/>
          <p:cNvSpPr/>
          <p:nvPr/>
        </p:nvSpPr>
        <p:spPr>
          <a:xfrm flipH="false" flipV="false" rot="0">
            <a:off x="5768740" y="4644823"/>
            <a:ext cx="4699701" cy="2631835"/>
          </a:xfrm>
          <a:custGeom>
            <a:avLst/>
            <a:gdLst/>
            <a:ahLst/>
            <a:cxnLst/>
            <a:rect r="r" b="b" t="t" l="l"/>
            <a:pathLst>
              <a:path h="2631835" w="4699701">
                <a:moveTo>
                  <a:pt x="0" y="0"/>
                </a:moveTo>
                <a:lnTo>
                  <a:pt x="4699700" y="0"/>
                </a:lnTo>
                <a:lnTo>
                  <a:pt x="4699700" y="2631835"/>
                </a:lnTo>
                <a:lnTo>
                  <a:pt x="0" y="2631835"/>
                </a:lnTo>
                <a:lnTo>
                  <a:pt x="0" y="0"/>
                </a:lnTo>
                <a:close/>
              </a:path>
            </a:pathLst>
          </a:custGeom>
          <a:blipFill>
            <a:blip r:embed="rId12"/>
            <a:stretch>
              <a:fillRect l="0" t="-15848" r="0" b="0"/>
            </a:stretch>
          </a:blipFill>
        </p:spPr>
      </p:sp>
      <p:sp>
        <p:nvSpPr>
          <p:cNvPr name="TextBox 49" id="49"/>
          <p:cNvSpPr txBox="true"/>
          <p:nvPr/>
        </p:nvSpPr>
        <p:spPr>
          <a:xfrm rot="0">
            <a:off x="564886" y="169887"/>
            <a:ext cx="17723114" cy="523840"/>
          </a:xfrm>
          <a:prstGeom prst="rect">
            <a:avLst/>
          </a:prstGeom>
        </p:spPr>
        <p:txBody>
          <a:bodyPr anchor="t" rtlCol="false" tIns="0" lIns="0" bIns="0" rIns="0">
            <a:spAutoFit/>
          </a:bodyPr>
          <a:lstStyle/>
          <a:p>
            <a:pPr algn="ctr" marL="0" indent="0" lvl="0">
              <a:lnSpc>
                <a:spcPts val="4499"/>
              </a:lnSpc>
            </a:pPr>
            <a:r>
              <a:rPr lang="en-US" b="true" sz="2999" spc="8">
                <a:solidFill>
                  <a:srgbClr val="F3740B"/>
                </a:solidFill>
                <a:latin typeface="Inter Ultra-Bold"/>
                <a:ea typeface="Inter Ultra-Bold"/>
                <a:cs typeface="Inter Ultra-Bold"/>
                <a:sym typeface="Inter Ultra-Bold"/>
              </a:rPr>
              <a:t>XU HƯỚNG NÀY CÓ CÒN ĐÚNG KHI XÉT ĐẾN NHÓM HIGH NPU – HIGH DISCOUNT?</a:t>
            </a:r>
          </a:p>
        </p:txBody>
      </p:sp>
      <p:sp>
        <p:nvSpPr>
          <p:cNvPr name="TextBox 50" id="50"/>
          <p:cNvSpPr txBox="true"/>
          <p:nvPr/>
        </p:nvSpPr>
        <p:spPr>
          <a:xfrm rot="0">
            <a:off x="15359501" y="2374943"/>
            <a:ext cx="2795149" cy="5419724"/>
          </a:xfrm>
          <a:prstGeom prst="rect">
            <a:avLst/>
          </a:prstGeom>
        </p:spPr>
        <p:txBody>
          <a:bodyPr anchor="t" rtlCol="false" tIns="0" lIns="0" bIns="0" rIns="0">
            <a:spAutoFit/>
          </a:bodyPr>
          <a:lstStyle/>
          <a:p>
            <a:pPr algn="just">
              <a:lnSpc>
                <a:spcPts val="2250"/>
              </a:lnSpc>
            </a:pPr>
            <a:r>
              <a:rPr lang="en-US" sz="1500">
                <a:solidFill>
                  <a:srgbClr val="FFDE59"/>
                </a:solidFill>
                <a:latin typeface="Montserrat"/>
                <a:ea typeface="Montserrat"/>
                <a:cs typeface="Montserrat"/>
                <a:sym typeface="Montserrat"/>
              </a:rPr>
              <a:t>nhóm high discount lại tạo ra một bức tranh hoàn toàn khác. Các campaign thuộc n</a:t>
            </a:r>
            <a:r>
              <a:rPr lang="en-US" sz="1500">
                <a:solidFill>
                  <a:srgbClr val="FFDE59"/>
                </a:solidFill>
                <a:latin typeface="Montserrat"/>
                <a:ea typeface="Montserrat"/>
                <a:cs typeface="Montserrat"/>
                <a:sym typeface="Montserrat"/>
              </a:rPr>
              <a:t>hóm này th</a:t>
            </a:r>
            <a:r>
              <a:rPr lang="en-US" sz="1500">
                <a:solidFill>
                  <a:srgbClr val="FFDE59"/>
                </a:solidFill>
                <a:latin typeface="Montserrat"/>
                <a:ea typeface="Montserrat"/>
                <a:cs typeface="Montserrat"/>
                <a:sym typeface="Montserrat"/>
              </a:rPr>
              <a:t>ường gắn với nhữ</a:t>
            </a:r>
            <a:r>
              <a:rPr lang="en-US" sz="1500">
                <a:solidFill>
                  <a:srgbClr val="FFDE59"/>
                </a:solidFill>
                <a:latin typeface="Montserrat"/>
                <a:ea typeface="Montserrat"/>
                <a:cs typeface="Montserrat"/>
                <a:sym typeface="Montserrat"/>
              </a:rPr>
              <a:t>ng </a:t>
            </a:r>
            <a:r>
              <a:rPr lang="en-US" sz="1500">
                <a:solidFill>
                  <a:srgbClr val="FFDE59"/>
                </a:solidFill>
                <a:latin typeface="Montserrat"/>
                <a:ea typeface="Montserrat"/>
                <a:cs typeface="Montserrat"/>
                <a:sym typeface="Montserrat"/>
              </a:rPr>
              <a:t>n</a:t>
            </a:r>
            <a:r>
              <a:rPr lang="en-US" sz="1500">
                <a:solidFill>
                  <a:srgbClr val="FFDE59"/>
                </a:solidFill>
                <a:latin typeface="Montserrat"/>
                <a:ea typeface="Montserrat"/>
                <a:cs typeface="Montserrat"/>
                <a:sym typeface="Montserrat"/>
              </a:rPr>
              <a:t>hu </a:t>
            </a:r>
            <a:r>
              <a:rPr lang="en-US" sz="1500">
                <a:solidFill>
                  <a:srgbClr val="FFDE59"/>
                </a:solidFill>
                <a:latin typeface="Montserrat"/>
                <a:ea typeface="Montserrat"/>
                <a:cs typeface="Montserrat"/>
                <a:sym typeface="Montserrat"/>
              </a:rPr>
              <a:t>cầu t</a:t>
            </a:r>
            <a:r>
              <a:rPr lang="en-US" sz="1500">
                <a:solidFill>
                  <a:srgbClr val="FFDE59"/>
                </a:solidFill>
                <a:latin typeface="Montserrat"/>
                <a:ea typeface="Montserrat"/>
                <a:cs typeface="Montserrat"/>
                <a:sym typeface="Montserrat"/>
              </a:rPr>
              <a:t>hanh toá</a:t>
            </a:r>
            <a:r>
              <a:rPr lang="en-US" sz="1500">
                <a:solidFill>
                  <a:srgbClr val="FFDE59"/>
                </a:solidFill>
                <a:latin typeface="Montserrat"/>
                <a:ea typeface="Montserrat"/>
                <a:cs typeface="Montserrat"/>
                <a:sym typeface="Montserrat"/>
              </a:rPr>
              <a:t>n có giá trị hóa</a:t>
            </a:r>
            <a:r>
              <a:rPr lang="en-US" sz="1500">
                <a:solidFill>
                  <a:srgbClr val="FFDE59"/>
                </a:solidFill>
                <a:latin typeface="Montserrat"/>
                <a:ea typeface="Montserrat"/>
                <a:cs typeface="Montserrat"/>
                <a:sym typeface="Montserrat"/>
              </a:rPr>
              <a:t> đơn lớn</a:t>
            </a:r>
            <a:r>
              <a:rPr lang="en-US" sz="1500">
                <a:solidFill>
                  <a:srgbClr val="FFDE59"/>
                </a:solidFill>
                <a:latin typeface="Montserrat"/>
                <a:ea typeface="Montserrat"/>
                <a:cs typeface="Montserrat"/>
                <a:sym typeface="Montserrat"/>
              </a:rPr>
              <a:t> nh</a:t>
            </a:r>
            <a:r>
              <a:rPr lang="en-US" sz="1500">
                <a:solidFill>
                  <a:srgbClr val="FFDE59"/>
                </a:solidFill>
                <a:latin typeface="Montserrat"/>
                <a:ea typeface="Montserrat"/>
                <a:cs typeface="Montserrat"/>
                <a:sym typeface="Montserrat"/>
              </a:rPr>
              <a:t>ư</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đi</a:t>
            </a:r>
            <a:r>
              <a:rPr lang="en-US" sz="1500">
                <a:solidFill>
                  <a:srgbClr val="FFDE59"/>
                </a:solidFill>
                <a:latin typeface="Montserrat"/>
                <a:ea typeface="Montserrat"/>
                <a:cs typeface="Montserrat"/>
                <a:sym typeface="Montserrat"/>
              </a:rPr>
              <a:t>ện</a:t>
            </a:r>
            <a:r>
              <a:rPr lang="en-US" sz="1500">
                <a:solidFill>
                  <a:srgbClr val="FFDE59"/>
                </a:solidFill>
                <a:latin typeface="Montserrat"/>
                <a:ea typeface="Montserrat"/>
                <a:cs typeface="Montserrat"/>
                <a:sym typeface="Montserrat"/>
              </a:rPr>
              <a:t> nướ</a:t>
            </a:r>
            <a:r>
              <a:rPr lang="en-US" sz="1500">
                <a:solidFill>
                  <a:srgbClr val="FFDE59"/>
                </a:solidFill>
                <a:latin typeface="Montserrat"/>
                <a:ea typeface="Montserrat"/>
                <a:cs typeface="Montserrat"/>
                <a:sym typeface="Montserrat"/>
              </a:rPr>
              <a:t>c, interne</a:t>
            </a:r>
            <a:r>
              <a:rPr lang="en-US" sz="1500">
                <a:solidFill>
                  <a:srgbClr val="FFDE59"/>
                </a:solidFill>
                <a:latin typeface="Montserrat"/>
                <a:ea typeface="Montserrat"/>
                <a:cs typeface="Montserrat"/>
                <a:sym typeface="Montserrat"/>
              </a:rPr>
              <a:t>t h</a:t>
            </a:r>
            <a:r>
              <a:rPr lang="en-US" sz="1500">
                <a:solidFill>
                  <a:srgbClr val="FFDE59"/>
                </a:solidFill>
                <a:latin typeface="Montserrat"/>
                <a:ea typeface="Montserrat"/>
                <a:cs typeface="Montserrat"/>
                <a:sym typeface="Montserrat"/>
              </a:rPr>
              <a:t>oặc học p</a:t>
            </a:r>
            <a:r>
              <a:rPr lang="en-US" sz="1500">
                <a:solidFill>
                  <a:srgbClr val="FFDE59"/>
                </a:solidFill>
                <a:latin typeface="Montserrat"/>
                <a:ea typeface="Montserrat"/>
                <a:cs typeface="Montserrat"/>
                <a:sym typeface="Montserrat"/>
              </a:rPr>
              <a:t>hí. Đ</a:t>
            </a:r>
            <a:r>
              <a:rPr lang="en-US" sz="1500">
                <a:solidFill>
                  <a:srgbClr val="FFDE59"/>
                </a:solidFill>
                <a:latin typeface="Montserrat"/>
                <a:ea typeface="Montserrat"/>
                <a:cs typeface="Montserrat"/>
                <a:sym typeface="Montserrat"/>
              </a:rPr>
              <a:t>iều</a:t>
            </a:r>
            <a:r>
              <a:rPr lang="en-US" sz="1500">
                <a:solidFill>
                  <a:srgbClr val="FFDE59"/>
                </a:solidFill>
                <a:latin typeface="Montserrat"/>
                <a:ea typeface="Montserrat"/>
                <a:cs typeface="Montserrat"/>
                <a:sym typeface="Montserrat"/>
              </a:rPr>
              <a:t> t</a:t>
            </a:r>
            <a:r>
              <a:rPr lang="en-US" sz="1500">
                <a:solidFill>
                  <a:srgbClr val="FFDE59"/>
                </a:solidFill>
                <a:latin typeface="Montserrat"/>
                <a:ea typeface="Montserrat"/>
                <a:cs typeface="Montserrat"/>
                <a:sym typeface="Montserrat"/>
              </a:rPr>
              <a:t>hú</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vị</a:t>
            </a:r>
            <a:r>
              <a:rPr lang="en-US" sz="1500">
                <a:solidFill>
                  <a:srgbClr val="FFDE59"/>
                </a:solidFill>
                <a:latin typeface="Montserrat"/>
                <a:ea typeface="Montserrat"/>
                <a:cs typeface="Montserrat"/>
                <a:sym typeface="Montserrat"/>
              </a:rPr>
              <a:t> là chấ</a:t>
            </a:r>
            <a:r>
              <a:rPr lang="en-US" sz="1500">
                <a:solidFill>
                  <a:srgbClr val="FFDE59"/>
                </a:solidFill>
                <a:latin typeface="Montserrat"/>
                <a:ea typeface="Montserrat"/>
                <a:cs typeface="Montserrat"/>
                <a:sym typeface="Montserrat"/>
              </a:rPr>
              <a:t>t</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lượng</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người</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dùng</a:t>
            </a:r>
            <a:r>
              <a:rPr lang="en-US" sz="1500">
                <a:solidFill>
                  <a:srgbClr val="FFDE59"/>
                </a:solidFill>
                <a:latin typeface="Montserrat"/>
                <a:ea typeface="Montserrat"/>
                <a:cs typeface="Montserrat"/>
                <a:sym typeface="Montserrat"/>
              </a:rPr>
              <a:t> củ</a:t>
            </a:r>
            <a:r>
              <a:rPr lang="en-US" sz="1500">
                <a:solidFill>
                  <a:srgbClr val="FFDE59"/>
                </a:solidFill>
                <a:latin typeface="Montserrat"/>
                <a:ea typeface="Montserrat"/>
                <a:cs typeface="Montserrat"/>
                <a:sym typeface="Montserrat"/>
              </a:rPr>
              <a:t>a nhóm này</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lại</a:t>
            </a:r>
            <a:r>
              <a:rPr lang="en-US" sz="1500">
                <a:solidFill>
                  <a:srgbClr val="FFDE59"/>
                </a:solidFill>
                <a:latin typeface="Montserrat"/>
                <a:ea typeface="Montserrat"/>
                <a:cs typeface="Montserrat"/>
                <a:sym typeface="Montserrat"/>
              </a:rPr>
              <a:t> tích cực hơ</a:t>
            </a:r>
            <a:r>
              <a:rPr lang="en-US" sz="1500">
                <a:solidFill>
                  <a:srgbClr val="FFDE59"/>
                </a:solidFill>
                <a:latin typeface="Montserrat"/>
                <a:ea typeface="Montserrat"/>
                <a:cs typeface="Montserrat"/>
                <a:sym typeface="Montserrat"/>
              </a:rPr>
              <a:t>n đáng</a:t>
            </a:r>
            <a:r>
              <a:rPr lang="en-US" sz="1500">
                <a:solidFill>
                  <a:srgbClr val="FFDE59"/>
                </a:solidFill>
                <a:latin typeface="Montserrat"/>
                <a:ea typeface="Montserrat"/>
                <a:cs typeface="Montserrat"/>
                <a:sym typeface="Montserrat"/>
              </a:rPr>
              <a:t> kể so với kỳ</a:t>
            </a:r>
            <a:r>
              <a:rPr lang="en-US" sz="1500">
                <a:solidFill>
                  <a:srgbClr val="FFDE59"/>
                </a:solidFill>
                <a:latin typeface="Montserrat"/>
                <a:ea typeface="Montserrat"/>
                <a:cs typeface="Montserrat"/>
                <a:sym typeface="Montserrat"/>
              </a:rPr>
              <a:t> vọng ban đầu. Gần 1.50% số người dù</a:t>
            </a:r>
            <a:r>
              <a:rPr lang="en-US" sz="1500">
                <a:solidFill>
                  <a:srgbClr val="FFDE59"/>
                </a:solidFill>
                <a:latin typeface="Montserrat"/>
                <a:ea typeface="Montserrat"/>
                <a:cs typeface="Montserrat"/>
                <a:sym typeface="Montserrat"/>
              </a:rPr>
              <a:t>ng quay lại th</a:t>
            </a:r>
            <a:r>
              <a:rPr lang="en-US" sz="1500">
                <a:solidFill>
                  <a:srgbClr val="FFDE59"/>
                </a:solidFill>
                <a:latin typeface="Montserrat"/>
                <a:ea typeface="Montserrat"/>
                <a:cs typeface="Montserrat"/>
                <a:sym typeface="Montserrat"/>
              </a:rPr>
              <a:t>ực hiện giao</a:t>
            </a:r>
            <a:r>
              <a:rPr lang="en-US" sz="1500">
                <a:solidFill>
                  <a:srgbClr val="FFDE59"/>
                </a:solidFill>
                <a:latin typeface="Montserrat"/>
                <a:ea typeface="Montserrat"/>
                <a:cs typeface="Montserrat"/>
                <a:sym typeface="Montserrat"/>
              </a:rPr>
              <a:t> dịch</a:t>
            </a:r>
            <a:r>
              <a:rPr lang="en-US" sz="1500">
                <a:solidFill>
                  <a:srgbClr val="FFDE59"/>
                </a:solidFill>
                <a:latin typeface="Montserrat"/>
                <a:ea typeface="Montserrat"/>
                <a:cs typeface="Montserrat"/>
                <a:sym typeface="Montserrat"/>
              </a:rPr>
              <a:t> ti</a:t>
            </a:r>
            <a:r>
              <a:rPr lang="en-US" sz="1500">
                <a:solidFill>
                  <a:srgbClr val="FFDE59"/>
                </a:solidFill>
                <a:latin typeface="Montserrat"/>
                <a:ea typeface="Montserrat"/>
                <a:cs typeface="Montserrat"/>
                <a:sym typeface="Montserrat"/>
              </a:rPr>
              <a:t>ế</a:t>
            </a:r>
            <a:r>
              <a:rPr lang="en-US" sz="1500">
                <a:solidFill>
                  <a:srgbClr val="FFDE59"/>
                </a:solidFill>
                <a:latin typeface="Montserrat"/>
                <a:ea typeface="Montserrat"/>
                <a:cs typeface="Montserrat"/>
                <a:sym typeface="Montserrat"/>
              </a:rPr>
              <a:t>p theo không phụ thuộc quá nhiều vào voucher. Tuy nhiên nhóm này có sự thu hút ban đầu thấp hơn hẳn so với nhóm giá trị discount thấp.</a:t>
            </a:r>
          </a:p>
          <a:p>
            <a:pPr algn="just">
              <a:lnSpc>
                <a:spcPts val="2250"/>
              </a:lnSpc>
            </a:pPr>
          </a:p>
        </p:txBody>
      </p:sp>
      <p:sp>
        <p:nvSpPr>
          <p:cNvPr name="TextBox 51" id="51"/>
          <p:cNvSpPr txBox="true"/>
          <p:nvPr/>
        </p:nvSpPr>
        <p:spPr>
          <a:xfrm rot="0">
            <a:off x="15798594" y="1635376"/>
            <a:ext cx="1916963" cy="429294"/>
          </a:xfrm>
          <a:prstGeom prst="rect">
            <a:avLst/>
          </a:prstGeom>
        </p:spPr>
        <p:txBody>
          <a:bodyPr anchor="t" rtlCol="false" tIns="0" lIns="0" bIns="0" rIns="0">
            <a:spAutoFit/>
          </a:bodyPr>
          <a:lstStyle/>
          <a:p>
            <a:pPr algn="ctr">
              <a:lnSpc>
                <a:spcPts val="3673"/>
              </a:lnSpc>
            </a:pPr>
            <a:r>
              <a:rPr lang="en-US" b="true" sz="2449">
                <a:solidFill>
                  <a:srgbClr val="FFDE59"/>
                </a:solidFill>
                <a:latin typeface="Montserrat Bold"/>
                <a:ea typeface="Montserrat Bold"/>
                <a:cs typeface="Montserrat Bold"/>
                <a:sym typeface="Montserrat Bold"/>
              </a:rPr>
              <a:t>KẾT LUẬN</a:t>
            </a:r>
          </a:p>
        </p:txBody>
      </p:sp>
      <p:sp>
        <p:nvSpPr>
          <p:cNvPr name="TextBox 52" id="52"/>
          <p:cNvSpPr txBox="true"/>
          <p:nvPr/>
        </p:nvSpPr>
        <p:spPr>
          <a:xfrm rot="0">
            <a:off x="534043" y="9101221"/>
            <a:ext cx="4636829" cy="617220"/>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Tỷ lệ người dùng tự nhiên (organic converted) tương đương 45.8% gần gấp đôi so với nhóm HIGH NPU – LOW DISCOUNT, chứng minh rằng khả năng tạo acquisition khá bền vững.</a:t>
            </a:r>
          </a:p>
        </p:txBody>
      </p:sp>
      <p:sp>
        <p:nvSpPr>
          <p:cNvPr name="TextBox 53" id="53"/>
          <p:cNvSpPr txBox="true"/>
          <p:nvPr/>
        </p:nvSpPr>
        <p:spPr>
          <a:xfrm rot="0">
            <a:off x="724903" y="4326943"/>
            <a:ext cx="4179345" cy="826858"/>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Đối với nhóm HIGH NPU – HIGH DISCOUNT gần 58.5% người dùng quay lại không nhờ voucher hoặc giảm giá, cho thấy chất cho thấy tiềm năng thu hút người dùng chất lượng.</a:t>
            </a:r>
          </a:p>
        </p:txBody>
      </p:sp>
      <p:sp>
        <p:nvSpPr>
          <p:cNvPr name="TextBox 54" id="54"/>
          <p:cNvSpPr txBox="true"/>
          <p:nvPr/>
        </p:nvSpPr>
        <p:spPr>
          <a:xfrm rot="0">
            <a:off x="11704722" y="5282693"/>
            <a:ext cx="2987638" cy="4699050"/>
          </a:xfrm>
          <a:prstGeom prst="rect">
            <a:avLst/>
          </a:prstGeom>
        </p:spPr>
        <p:txBody>
          <a:bodyPr anchor="t" rtlCol="false" tIns="0" lIns="0" bIns="0" rIns="0">
            <a:spAutoFit/>
          </a:bodyPr>
          <a:lstStyle/>
          <a:p>
            <a:pPr algn="just">
              <a:lnSpc>
                <a:spcPts val="1959"/>
              </a:lnSpc>
            </a:pPr>
            <a:r>
              <a:rPr lang="en-US" sz="1399">
                <a:solidFill>
                  <a:srgbClr val="FFFFFF"/>
                </a:solidFill>
                <a:latin typeface="Montserrat Light"/>
                <a:ea typeface="Montserrat Light"/>
                <a:cs typeface="Montserrat Light"/>
                <a:sym typeface="Montserrat Light"/>
              </a:rPr>
              <a:t>Obligation_Payment (điểm chạm cửa ngõ có tỷ lệ giữ chân cao hơn): Chiếm 34,8% NPU, đây là cửa ngõ đại diện cho nhu cầu thanh toán thực tế (hóa đơn điện, nước, internet). Nhóm người dùng này thể hiện cam kết tài chính cao (giá trị giao dịch trung vị: 418.193 VND; thực trả trung vị: 368.193 VND) và cần ít trợ giá (giảm giá trung vị chỉ 10,8%). Họ chuyển đổi thành những khách hàng chất lượng bền vững, đạt tỷ lệ quay lại 66,3% và tỷ lệ người dùng hữu cơ 58,3%. Tuy nhiên vẫn so với các campaign có giá trị discount thấp khả năng thu hút của người hầu hết ở các tháng đầu thấp hơn hẳn.</a:t>
            </a:r>
          </a:p>
        </p:txBody>
      </p:sp>
      <p:sp>
        <p:nvSpPr>
          <p:cNvPr name="TextBox 55" id="55"/>
          <p:cNvSpPr txBox="true"/>
          <p:nvPr/>
        </p:nvSpPr>
        <p:spPr>
          <a:xfrm rot="0">
            <a:off x="12207632" y="4801773"/>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ĐÁNH GIÁ</a:t>
            </a:r>
          </a:p>
        </p:txBody>
      </p:sp>
      <p:sp>
        <p:nvSpPr>
          <p:cNvPr name="TextBox 56" id="56"/>
          <p:cNvSpPr txBox="true"/>
          <p:nvPr/>
        </p:nvSpPr>
        <p:spPr>
          <a:xfrm rot="0">
            <a:off x="11704722" y="2245450"/>
            <a:ext cx="2987638" cy="1138375"/>
          </a:xfrm>
          <a:prstGeom prst="rect">
            <a:avLst/>
          </a:prstGeom>
        </p:spPr>
        <p:txBody>
          <a:bodyPr anchor="t" rtlCol="false" tIns="0" lIns="0" bIns="0" rIns="0">
            <a:spAutoFit/>
          </a:bodyPr>
          <a:lstStyle/>
          <a:p>
            <a:pPr algn="just">
              <a:lnSpc>
                <a:spcPts val="1819"/>
              </a:lnSpc>
            </a:pPr>
            <a:r>
              <a:rPr lang="en-US" sz="1299">
                <a:solidFill>
                  <a:srgbClr val="FFFFFF"/>
                </a:solidFill>
                <a:latin typeface="Montserrat Light"/>
                <a:ea typeface="Montserrat Light"/>
                <a:cs typeface="Montserrat Light"/>
                <a:sym typeface="Montserrat Light"/>
              </a:rPr>
              <a:t>Các chiến dịch thuộc nhóm Obligation_Payment (Utility_Service, Recurring_Service Education_Fee ) tập trung chủ yếu ở mức giảm giá cao từ 50,000 VND trở lên.</a:t>
            </a:r>
          </a:p>
        </p:txBody>
      </p:sp>
      <p:sp>
        <p:nvSpPr>
          <p:cNvPr name="TextBox 57" id="57"/>
          <p:cNvSpPr txBox="true"/>
          <p:nvPr/>
        </p:nvSpPr>
        <p:spPr>
          <a:xfrm rot="0">
            <a:off x="12206914" y="1670871"/>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QUAN SÁT</a:t>
            </a:r>
          </a:p>
        </p:txBody>
      </p:sp>
      <p:sp>
        <p:nvSpPr>
          <p:cNvPr name="TextBox 58" id="58"/>
          <p:cNvSpPr txBox="true"/>
          <p:nvPr/>
        </p:nvSpPr>
        <p:spPr>
          <a:xfrm rot="0">
            <a:off x="766535" y="3738298"/>
            <a:ext cx="3830089" cy="407634"/>
          </a:xfrm>
          <a:prstGeom prst="rect">
            <a:avLst/>
          </a:prstGeom>
        </p:spPr>
        <p:txBody>
          <a:bodyPr anchor="t" rtlCol="false" tIns="0" lIns="0" bIns="0" rIns="0">
            <a:spAutoFit/>
          </a:bodyPr>
          <a:lstStyle/>
          <a:p>
            <a:pPr algn="l">
              <a:lnSpc>
                <a:spcPts val="1679"/>
              </a:lnSpc>
            </a:pPr>
            <a:r>
              <a:rPr lang="en-US" sz="1200">
                <a:solidFill>
                  <a:srgbClr val="000000"/>
                </a:solidFill>
                <a:latin typeface="Montserrat Light"/>
                <a:ea typeface="Montserrat Light"/>
                <a:cs typeface="Montserrat Light"/>
                <a:sym typeface="Montserrat Light"/>
              </a:rPr>
              <a:t>Hình 8: : Tỉ lệ (%) các loại Voucher của các campaign HIGH NPU – HIGH DISCOUNT</a:t>
            </a:r>
          </a:p>
        </p:txBody>
      </p:sp>
      <p:sp>
        <p:nvSpPr>
          <p:cNvPr name="TextBox 59" id="59"/>
          <p:cNvSpPr txBox="true"/>
          <p:nvPr/>
        </p:nvSpPr>
        <p:spPr>
          <a:xfrm rot="0">
            <a:off x="724903" y="8440096"/>
            <a:ext cx="3830089" cy="407634"/>
          </a:xfrm>
          <a:prstGeom prst="rect">
            <a:avLst/>
          </a:prstGeom>
        </p:spPr>
        <p:txBody>
          <a:bodyPr anchor="t" rtlCol="false" tIns="0" lIns="0" bIns="0" rIns="0">
            <a:spAutoFit/>
          </a:bodyPr>
          <a:lstStyle/>
          <a:p>
            <a:pPr algn="l">
              <a:lnSpc>
                <a:spcPts val="1679"/>
              </a:lnSpc>
            </a:pPr>
            <a:r>
              <a:rPr lang="en-US" sz="1200">
                <a:solidFill>
                  <a:srgbClr val="000000"/>
                </a:solidFill>
                <a:latin typeface="Montserrat Light"/>
                <a:ea typeface="Montserrat Light"/>
                <a:cs typeface="Montserrat Light"/>
                <a:sym typeface="Montserrat Light"/>
              </a:rPr>
              <a:t>Hình 9: Tỉ lệ (%) các loại NPU của các campaign HIGH NPU – HIGH DISCOUNT</a:t>
            </a:r>
          </a:p>
        </p:txBody>
      </p:sp>
      <p:sp>
        <p:nvSpPr>
          <p:cNvPr name="TextBox 60" id="60"/>
          <p:cNvSpPr txBox="true"/>
          <p:nvPr/>
        </p:nvSpPr>
        <p:spPr>
          <a:xfrm rot="0">
            <a:off x="5734719" y="7317072"/>
            <a:ext cx="3926140" cy="407670"/>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Hình 11: Biểu đồ so sánh quy mô NPU high discount và low discount theo tháng</a:t>
            </a:r>
          </a:p>
        </p:txBody>
      </p:sp>
      <p:sp>
        <p:nvSpPr>
          <p:cNvPr name="TextBox 61" id="61"/>
          <p:cNvSpPr txBox="true"/>
          <p:nvPr/>
        </p:nvSpPr>
        <p:spPr>
          <a:xfrm rot="0">
            <a:off x="5982367" y="4072054"/>
            <a:ext cx="5350139" cy="198102"/>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10. Mối liên hệ Nhóm HighNPU_HighDiscount vào các merchant.</a:t>
            </a:r>
          </a:p>
        </p:txBody>
      </p:sp>
      <p:sp>
        <p:nvSpPr>
          <p:cNvPr name="TextBox 62" id="62"/>
          <p:cNvSpPr txBox="true"/>
          <p:nvPr/>
        </p:nvSpPr>
        <p:spPr>
          <a:xfrm rot="0">
            <a:off x="5768740" y="9907020"/>
            <a:ext cx="4745357" cy="198120"/>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Bảng 2: Bảng so sánh các loại danh mục bằng các chỉ số</a:t>
            </a:r>
          </a:p>
        </p:txBody>
      </p:sp>
      <p:sp>
        <p:nvSpPr>
          <p:cNvPr name="TextBox 63" id="63"/>
          <p:cNvSpPr txBox="true"/>
          <p:nvPr/>
        </p:nvSpPr>
        <p:spPr>
          <a:xfrm rot="0">
            <a:off x="15064226" y="8875880"/>
            <a:ext cx="2802234" cy="103632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Light Italics"/>
                <a:ea typeface="Montserrat Light Italics"/>
                <a:cs typeface="Montserrat Light Italics"/>
                <a:sym typeface="Montserrat Light Italics"/>
              </a:rPr>
              <a:t>*Chú thích:</a:t>
            </a:r>
          </a:p>
          <a:p>
            <a:pPr algn="just">
              <a:lnSpc>
                <a:spcPts val="1679"/>
              </a:lnSpc>
            </a:pPr>
            <a:r>
              <a:rPr lang="en-US" sz="1200" i="true">
                <a:solidFill>
                  <a:srgbClr val="FFFFFF"/>
                </a:solidFill>
                <a:latin typeface="Montserrat Light Italics"/>
                <a:ea typeface="Montserrat Light Italics"/>
                <a:cs typeface="Montserrat Light Italics"/>
                <a:sym typeface="Montserrat Light Italics"/>
              </a:rPr>
              <a:t>Hình 8 , Hình 9 sử dụng trong từ 3 campaign (10249, 8248, 8589) nhằm đánh giá tổng quan về nhóm quy mô NPU cao và Discount cao.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0A0A">
                <a:alpha val="92941"/>
              </a:srgbClr>
            </a:solidFill>
          </p:spPr>
        </p:sp>
        <p:sp>
          <p:nvSpPr>
            <p:cNvPr name="TextBox 5" id="5"/>
            <p:cNvSpPr txBox="true"/>
            <p:nvPr/>
          </p:nvSpPr>
          <p:spPr>
            <a:xfrm>
              <a:off x="0" y="-104775"/>
              <a:ext cx="4816593" cy="281410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160916" y="1323948"/>
            <a:ext cx="10288805" cy="11905421"/>
          </a:xfrm>
          <a:custGeom>
            <a:avLst/>
            <a:gdLst/>
            <a:ahLst/>
            <a:cxnLst/>
            <a:rect r="r" b="b" t="t" l="l"/>
            <a:pathLst>
              <a:path h="11905421" w="10288805">
                <a:moveTo>
                  <a:pt x="0" y="11905420"/>
                </a:moveTo>
                <a:lnTo>
                  <a:pt x="10288805" y="11905420"/>
                </a:lnTo>
                <a:lnTo>
                  <a:pt x="10288805" y="0"/>
                </a:lnTo>
                <a:lnTo>
                  <a:pt x="0" y="0"/>
                </a:lnTo>
                <a:lnTo>
                  <a:pt x="0" y="11905420"/>
                </a:lnTo>
                <a:close/>
              </a:path>
            </a:pathLst>
          </a:custGeom>
          <a:blipFill>
            <a:blip r:embed="rId3">
              <a:alphaModFix amt="23000"/>
            </a:blip>
            <a:stretch>
              <a:fillRect l="-41760" t="0" r="0" b="0"/>
            </a:stretch>
          </a:blipFill>
        </p:spPr>
      </p:sp>
      <p:sp>
        <p:nvSpPr>
          <p:cNvPr name="Freeform 7" id="7"/>
          <p:cNvSpPr/>
          <p:nvPr/>
        </p:nvSpPr>
        <p:spPr>
          <a:xfrm flipH="true" flipV="false" rot="0">
            <a:off x="-2198478" y="-6936210"/>
            <a:ext cx="11129273" cy="11905421"/>
          </a:xfrm>
          <a:custGeom>
            <a:avLst/>
            <a:gdLst/>
            <a:ahLst/>
            <a:cxnLst/>
            <a:rect r="r" b="b" t="t" l="l"/>
            <a:pathLst>
              <a:path h="11905421" w="11129273">
                <a:moveTo>
                  <a:pt x="11129273" y="0"/>
                </a:moveTo>
                <a:lnTo>
                  <a:pt x="0" y="0"/>
                </a:lnTo>
                <a:lnTo>
                  <a:pt x="0" y="11905420"/>
                </a:lnTo>
                <a:lnTo>
                  <a:pt x="11129273" y="11905420"/>
                </a:lnTo>
                <a:lnTo>
                  <a:pt x="11129273" y="0"/>
                </a:lnTo>
                <a:close/>
              </a:path>
            </a:pathLst>
          </a:custGeom>
          <a:blipFill>
            <a:blip r:embed="rId3">
              <a:alphaModFix amt="23000"/>
            </a:blip>
            <a:stretch>
              <a:fillRect l="-31055" t="0" r="0" b="0"/>
            </a:stretch>
          </a:blipFill>
        </p:spPr>
      </p:sp>
      <p:sp>
        <p:nvSpPr>
          <p:cNvPr name="Freeform 8" id="8"/>
          <p:cNvSpPr/>
          <p:nvPr/>
        </p:nvSpPr>
        <p:spPr>
          <a:xfrm flipH="false" flipV="false" rot="0">
            <a:off x="15880642" y="9053085"/>
            <a:ext cx="15240000" cy="8229600"/>
          </a:xfrm>
          <a:custGeom>
            <a:avLst/>
            <a:gdLst/>
            <a:ahLst/>
            <a:cxnLst/>
            <a:rect r="r" b="b" t="t" l="l"/>
            <a:pathLst>
              <a:path h="8229600" w="15240000">
                <a:moveTo>
                  <a:pt x="0" y="0"/>
                </a:moveTo>
                <a:lnTo>
                  <a:pt x="15240000" y="0"/>
                </a:lnTo>
                <a:lnTo>
                  <a:pt x="15240000" y="8229600"/>
                </a:lnTo>
                <a:lnTo>
                  <a:pt x="0" y="8229600"/>
                </a:lnTo>
                <a:lnTo>
                  <a:pt x="0" y="0"/>
                </a:lnTo>
                <a:close/>
              </a:path>
            </a:pathLst>
          </a:custGeom>
          <a:blipFill>
            <a:blip r:embed="rId4">
              <a:alphaModFix amt="90000"/>
            </a:blip>
            <a:stretch>
              <a:fillRect l="0" t="0" r="0" b="0"/>
            </a:stretch>
          </a:blipFill>
        </p:spPr>
      </p:sp>
      <p:grpSp>
        <p:nvGrpSpPr>
          <p:cNvPr name="Group 9" id="9"/>
          <p:cNvGrpSpPr/>
          <p:nvPr/>
        </p:nvGrpSpPr>
        <p:grpSpPr>
          <a:xfrm rot="0">
            <a:off x="300644" y="750913"/>
            <a:ext cx="13860272" cy="3725686"/>
            <a:chOff x="0" y="0"/>
            <a:chExt cx="5347767" cy="1437497"/>
          </a:xfrm>
        </p:grpSpPr>
        <p:sp>
          <p:nvSpPr>
            <p:cNvPr name="Freeform 10" id="10"/>
            <p:cNvSpPr/>
            <p:nvPr/>
          </p:nvSpPr>
          <p:spPr>
            <a:xfrm flipH="false" flipV="false" rot="0">
              <a:off x="0" y="0"/>
              <a:ext cx="5347767" cy="1437497"/>
            </a:xfrm>
            <a:custGeom>
              <a:avLst/>
              <a:gdLst/>
              <a:ahLst/>
              <a:cxnLst/>
              <a:rect r="r" b="b" t="t" l="l"/>
              <a:pathLst>
                <a:path h="1437497" w="5347767">
                  <a:moveTo>
                    <a:pt x="13406" y="0"/>
                  </a:moveTo>
                  <a:lnTo>
                    <a:pt x="5334362" y="0"/>
                  </a:lnTo>
                  <a:cubicBezTo>
                    <a:pt x="5337917" y="0"/>
                    <a:pt x="5341327" y="1412"/>
                    <a:pt x="5343841" y="3926"/>
                  </a:cubicBezTo>
                  <a:cubicBezTo>
                    <a:pt x="5346355" y="6440"/>
                    <a:pt x="5347767" y="9850"/>
                    <a:pt x="5347767" y="13406"/>
                  </a:cubicBezTo>
                  <a:lnTo>
                    <a:pt x="5347767" y="1424091"/>
                  </a:lnTo>
                  <a:cubicBezTo>
                    <a:pt x="5347767" y="1427647"/>
                    <a:pt x="5346355" y="1431057"/>
                    <a:pt x="5343841" y="1433571"/>
                  </a:cubicBezTo>
                  <a:cubicBezTo>
                    <a:pt x="5341327" y="1436085"/>
                    <a:pt x="5337917" y="1437497"/>
                    <a:pt x="5334362" y="1437497"/>
                  </a:cubicBezTo>
                  <a:lnTo>
                    <a:pt x="13406" y="1437497"/>
                  </a:lnTo>
                  <a:cubicBezTo>
                    <a:pt x="9850" y="1437497"/>
                    <a:pt x="6440" y="1436085"/>
                    <a:pt x="3926" y="1433571"/>
                  </a:cubicBezTo>
                  <a:cubicBezTo>
                    <a:pt x="1412" y="1431057"/>
                    <a:pt x="0" y="1427647"/>
                    <a:pt x="0" y="1424091"/>
                  </a:cubicBezTo>
                  <a:lnTo>
                    <a:pt x="0" y="13406"/>
                  </a:lnTo>
                  <a:cubicBezTo>
                    <a:pt x="0" y="9850"/>
                    <a:pt x="1412" y="6440"/>
                    <a:pt x="3926" y="3926"/>
                  </a:cubicBezTo>
                  <a:cubicBezTo>
                    <a:pt x="6440" y="1412"/>
                    <a:pt x="9850" y="0"/>
                    <a:pt x="13406" y="0"/>
                  </a:cubicBezTo>
                  <a:close/>
                </a:path>
              </a:pathLst>
            </a:custGeom>
            <a:gradFill rotWithShape="true">
              <a:gsLst>
                <a:gs pos="0">
                  <a:srgbClr val="FFFFFF">
                    <a:alpha val="34000"/>
                  </a:srgbClr>
                </a:gs>
                <a:gs pos="100000">
                  <a:srgbClr val="5B9E51">
                    <a:alpha val="34000"/>
                  </a:srgbClr>
                </a:gs>
              </a:gsLst>
              <a:lin ang="5400000"/>
            </a:gradFill>
            <a:ln w="38100" cap="rnd">
              <a:gradFill>
                <a:gsLst>
                  <a:gs pos="0">
                    <a:srgbClr val="5B9E51">
                      <a:alpha val="34000"/>
                    </a:srgbClr>
                  </a:gs>
                  <a:gs pos="100000">
                    <a:srgbClr val="FFFFFF">
                      <a:alpha val="34000"/>
                    </a:srgbClr>
                  </a:gs>
                </a:gsLst>
                <a:lin ang="0"/>
              </a:gradFill>
              <a:prstDash val="solid"/>
              <a:round/>
            </a:ln>
          </p:spPr>
        </p:sp>
        <p:sp>
          <p:nvSpPr>
            <p:cNvPr name="TextBox 11" id="11"/>
            <p:cNvSpPr txBox="true"/>
            <p:nvPr/>
          </p:nvSpPr>
          <p:spPr>
            <a:xfrm>
              <a:off x="0" y="28575"/>
              <a:ext cx="5347767" cy="1408922"/>
            </a:xfrm>
            <a:prstGeom prst="rect">
              <a:avLst/>
            </a:prstGeom>
          </p:spPr>
          <p:txBody>
            <a:bodyPr anchor="ctr" rtlCol="false" tIns="50800" lIns="50800" bIns="50800" rIns="50800"/>
            <a:lstStyle/>
            <a:p>
              <a:pPr algn="ctr">
                <a:lnSpc>
                  <a:spcPts val="2000"/>
                </a:lnSpc>
              </a:pPr>
            </a:p>
          </p:txBody>
        </p:sp>
      </p:grpSp>
      <p:grpSp>
        <p:nvGrpSpPr>
          <p:cNvPr name="Group 12" id="12"/>
          <p:cNvGrpSpPr/>
          <p:nvPr/>
        </p:nvGrpSpPr>
        <p:grpSpPr>
          <a:xfrm rot="0">
            <a:off x="461071" y="919173"/>
            <a:ext cx="4573915" cy="3491478"/>
            <a:chOff x="0" y="0"/>
            <a:chExt cx="2163899" cy="1651803"/>
          </a:xfrm>
        </p:grpSpPr>
        <p:sp>
          <p:nvSpPr>
            <p:cNvPr name="Freeform 13" id="13"/>
            <p:cNvSpPr/>
            <p:nvPr/>
          </p:nvSpPr>
          <p:spPr>
            <a:xfrm flipH="false" flipV="false" rot="0">
              <a:off x="0" y="0"/>
              <a:ext cx="2163899" cy="1651803"/>
            </a:xfrm>
            <a:custGeom>
              <a:avLst/>
              <a:gdLst/>
              <a:ahLst/>
              <a:cxnLst/>
              <a:rect r="r" b="b" t="t" l="l"/>
              <a:pathLst>
                <a:path h="1651803" w="2163899">
                  <a:moveTo>
                    <a:pt x="45701" y="0"/>
                  </a:moveTo>
                  <a:lnTo>
                    <a:pt x="2118198" y="0"/>
                  </a:lnTo>
                  <a:cubicBezTo>
                    <a:pt x="2130319" y="0"/>
                    <a:pt x="2141943" y="4815"/>
                    <a:pt x="2150514" y="13385"/>
                  </a:cubicBezTo>
                  <a:cubicBezTo>
                    <a:pt x="2159084" y="21956"/>
                    <a:pt x="2163899" y="33580"/>
                    <a:pt x="2163899" y="45701"/>
                  </a:cubicBezTo>
                  <a:lnTo>
                    <a:pt x="2163899" y="1606102"/>
                  </a:lnTo>
                  <a:cubicBezTo>
                    <a:pt x="2163899" y="1631342"/>
                    <a:pt x="2143438" y="1651803"/>
                    <a:pt x="2118198" y="1651803"/>
                  </a:cubicBezTo>
                  <a:lnTo>
                    <a:pt x="45701" y="1651803"/>
                  </a:lnTo>
                  <a:cubicBezTo>
                    <a:pt x="33580" y="1651803"/>
                    <a:pt x="21956" y="1646988"/>
                    <a:pt x="13385" y="1638417"/>
                  </a:cubicBezTo>
                  <a:cubicBezTo>
                    <a:pt x="4815" y="1629847"/>
                    <a:pt x="0" y="1618223"/>
                    <a:pt x="0" y="1606102"/>
                  </a:cubicBezTo>
                  <a:lnTo>
                    <a:pt x="0" y="45701"/>
                  </a:lnTo>
                  <a:cubicBezTo>
                    <a:pt x="0" y="20461"/>
                    <a:pt x="20461" y="0"/>
                    <a:pt x="4570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14" id="14"/>
            <p:cNvSpPr txBox="true"/>
            <p:nvPr/>
          </p:nvSpPr>
          <p:spPr>
            <a:xfrm>
              <a:off x="0" y="28575"/>
              <a:ext cx="2163899" cy="1623228"/>
            </a:xfrm>
            <a:prstGeom prst="rect">
              <a:avLst/>
            </a:prstGeom>
          </p:spPr>
          <p:txBody>
            <a:bodyPr anchor="ctr" rtlCol="false" tIns="50800" lIns="50800" bIns="50800" rIns="50800"/>
            <a:lstStyle/>
            <a:p>
              <a:pPr algn="ctr">
                <a:lnSpc>
                  <a:spcPts val="2000"/>
                </a:lnSpc>
              </a:pPr>
            </a:p>
          </p:txBody>
        </p:sp>
      </p:grpSp>
      <p:grpSp>
        <p:nvGrpSpPr>
          <p:cNvPr name="Group 15" id="15"/>
          <p:cNvGrpSpPr/>
          <p:nvPr/>
        </p:nvGrpSpPr>
        <p:grpSpPr>
          <a:xfrm rot="0">
            <a:off x="5484151" y="919173"/>
            <a:ext cx="4598741" cy="3491478"/>
            <a:chOff x="0" y="0"/>
            <a:chExt cx="2251148" cy="1709127"/>
          </a:xfrm>
        </p:grpSpPr>
        <p:sp>
          <p:nvSpPr>
            <p:cNvPr name="Freeform 16" id="16"/>
            <p:cNvSpPr/>
            <p:nvPr/>
          </p:nvSpPr>
          <p:spPr>
            <a:xfrm flipH="false" flipV="false" rot="0">
              <a:off x="0" y="0"/>
              <a:ext cx="2251148" cy="1709127"/>
            </a:xfrm>
            <a:custGeom>
              <a:avLst/>
              <a:gdLst/>
              <a:ahLst/>
              <a:cxnLst/>
              <a:rect r="r" b="b" t="t" l="l"/>
              <a:pathLst>
                <a:path h="1709127" w="2251148">
                  <a:moveTo>
                    <a:pt x="43771" y="0"/>
                  </a:moveTo>
                  <a:lnTo>
                    <a:pt x="2207377" y="0"/>
                  </a:lnTo>
                  <a:cubicBezTo>
                    <a:pt x="2231551" y="0"/>
                    <a:pt x="2251148" y="19597"/>
                    <a:pt x="2251148" y="43771"/>
                  </a:cubicBezTo>
                  <a:lnTo>
                    <a:pt x="2251148" y="1665357"/>
                  </a:lnTo>
                  <a:cubicBezTo>
                    <a:pt x="2251148" y="1689530"/>
                    <a:pt x="2231551" y="1709127"/>
                    <a:pt x="2207377" y="1709127"/>
                  </a:cubicBezTo>
                  <a:lnTo>
                    <a:pt x="43771" y="1709127"/>
                  </a:lnTo>
                  <a:cubicBezTo>
                    <a:pt x="19597" y="1709127"/>
                    <a:pt x="0" y="1689530"/>
                    <a:pt x="0" y="1665357"/>
                  </a:cubicBezTo>
                  <a:lnTo>
                    <a:pt x="0" y="43771"/>
                  </a:lnTo>
                  <a:cubicBezTo>
                    <a:pt x="0" y="19597"/>
                    <a:pt x="19597" y="0"/>
                    <a:pt x="4377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17" id="17"/>
            <p:cNvSpPr txBox="true"/>
            <p:nvPr/>
          </p:nvSpPr>
          <p:spPr>
            <a:xfrm>
              <a:off x="0" y="28575"/>
              <a:ext cx="2251148" cy="1680552"/>
            </a:xfrm>
            <a:prstGeom prst="rect">
              <a:avLst/>
            </a:prstGeom>
          </p:spPr>
          <p:txBody>
            <a:bodyPr anchor="ctr" rtlCol="false" tIns="50800" lIns="50800" bIns="50800" rIns="50800"/>
            <a:lstStyle/>
            <a:p>
              <a:pPr algn="ctr">
                <a:lnSpc>
                  <a:spcPts val="2000"/>
                </a:lnSpc>
              </a:pPr>
            </a:p>
          </p:txBody>
        </p:sp>
      </p:grpSp>
      <p:sp>
        <p:nvSpPr>
          <p:cNvPr name="Freeform 18" id="18"/>
          <p:cNvSpPr/>
          <p:nvPr/>
        </p:nvSpPr>
        <p:spPr>
          <a:xfrm flipH="false" flipV="false" rot="0">
            <a:off x="2969593" y="-5446885"/>
            <a:ext cx="12734391" cy="8229600"/>
          </a:xfrm>
          <a:custGeom>
            <a:avLst/>
            <a:gdLst/>
            <a:ahLst/>
            <a:cxnLst/>
            <a:rect r="r" b="b" t="t" l="l"/>
            <a:pathLst>
              <a:path h="8229600" w="12734391">
                <a:moveTo>
                  <a:pt x="0" y="0"/>
                </a:moveTo>
                <a:lnTo>
                  <a:pt x="12734391" y="0"/>
                </a:lnTo>
                <a:lnTo>
                  <a:pt x="12734391" y="8229600"/>
                </a:lnTo>
                <a:lnTo>
                  <a:pt x="0" y="8229600"/>
                </a:lnTo>
                <a:lnTo>
                  <a:pt x="0" y="0"/>
                </a:lnTo>
                <a:close/>
              </a:path>
            </a:pathLst>
          </a:custGeom>
          <a:blipFill>
            <a:blip r:embed="rId5"/>
            <a:stretch>
              <a:fillRect l="0" t="0" r="0" b="0"/>
            </a:stretch>
          </a:blipFill>
        </p:spPr>
      </p:sp>
      <p:grpSp>
        <p:nvGrpSpPr>
          <p:cNvPr name="Group 19" id="19"/>
          <p:cNvGrpSpPr/>
          <p:nvPr/>
        </p:nvGrpSpPr>
        <p:grpSpPr>
          <a:xfrm rot="0">
            <a:off x="230970" y="4600424"/>
            <a:ext cx="13929946" cy="5398999"/>
            <a:chOff x="0" y="0"/>
            <a:chExt cx="4280384" cy="1659000"/>
          </a:xfrm>
        </p:grpSpPr>
        <p:sp>
          <p:nvSpPr>
            <p:cNvPr name="Freeform 20" id="20"/>
            <p:cNvSpPr/>
            <p:nvPr/>
          </p:nvSpPr>
          <p:spPr>
            <a:xfrm flipH="false" flipV="false" rot="0">
              <a:off x="0" y="0"/>
              <a:ext cx="4280384" cy="1659000"/>
            </a:xfrm>
            <a:custGeom>
              <a:avLst/>
              <a:gdLst/>
              <a:ahLst/>
              <a:cxnLst/>
              <a:rect r="r" b="b" t="t" l="l"/>
              <a:pathLst>
                <a:path h="1659000" w="4280384">
                  <a:moveTo>
                    <a:pt x="18341" y="0"/>
                  </a:moveTo>
                  <a:lnTo>
                    <a:pt x="4262043" y="0"/>
                  </a:lnTo>
                  <a:cubicBezTo>
                    <a:pt x="4266907" y="0"/>
                    <a:pt x="4271572" y="1932"/>
                    <a:pt x="4275012" y="5372"/>
                  </a:cubicBezTo>
                  <a:cubicBezTo>
                    <a:pt x="4278451" y="8811"/>
                    <a:pt x="4280384" y="13476"/>
                    <a:pt x="4280384" y="18341"/>
                  </a:cubicBezTo>
                  <a:lnTo>
                    <a:pt x="4280384" y="1640660"/>
                  </a:lnTo>
                  <a:cubicBezTo>
                    <a:pt x="4280384" y="1650789"/>
                    <a:pt x="4272172" y="1659000"/>
                    <a:pt x="4262043" y="1659000"/>
                  </a:cubicBezTo>
                  <a:lnTo>
                    <a:pt x="18341" y="1659000"/>
                  </a:lnTo>
                  <a:cubicBezTo>
                    <a:pt x="8211" y="1659000"/>
                    <a:pt x="0" y="1650789"/>
                    <a:pt x="0" y="1640660"/>
                  </a:cubicBezTo>
                  <a:lnTo>
                    <a:pt x="0" y="18341"/>
                  </a:lnTo>
                  <a:cubicBezTo>
                    <a:pt x="0" y="8211"/>
                    <a:pt x="8211" y="0"/>
                    <a:pt x="18341" y="0"/>
                  </a:cubicBezTo>
                  <a:close/>
                </a:path>
              </a:pathLst>
            </a:custGeom>
            <a:gradFill rotWithShape="true">
              <a:gsLst>
                <a:gs pos="0">
                  <a:srgbClr val="FFFFFF">
                    <a:alpha val="34000"/>
                  </a:srgbClr>
                </a:gs>
                <a:gs pos="100000">
                  <a:srgbClr val="5B9E51">
                    <a:alpha val="34000"/>
                  </a:srgbClr>
                </a:gs>
              </a:gsLst>
              <a:lin ang="5400000"/>
            </a:gradFill>
            <a:ln w="38100" cap="rnd">
              <a:gradFill>
                <a:gsLst>
                  <a:gs pos="0">
                    <a:srgbClr val="5B9E51">
                      <a:alpha val="34000"/>
                    </a:srgbClr>
                  </a:gs>
                  <a:gs pos="100000">
                    <a:srgbClr val="FFFFFF">
                      <a:alpha val="34000"/>
                    </a:srgbClr>
                  </a:gs>
                </a:gsLst>
                <a:lin ang="0"/>
              </a:gradFill>
              <a:prstDash val="solid"/>
              <a:round/>
            </a:ln>
          </p:spPr>
        </p:sp>
        <p:sp>
          <p:nvSpPr>
            <p:cNvPr name="TextBox 21" id="21"/>
            <p:cNvSpPr txBox="true"/>
            <p:nvPr/>
          </p:nvSpPr>
          <p:spPr>
            <a:xfrm>
              <a:off x="0" y="28575"/>
              <a:ext cx="4280384" cy="1630425"/>
            </a:xfrm>
            <a:prstGeom prst="rect">
              <a:avLst/>
            </a:prstGeom>
          </p:spPr>
          <p:txBody>
            <a:bodyPr anchor="ctr" rtlCol="false" tIns="50800" lIns="50800" bIns="50800" rIns="50800"/>
            <a:lstStyle/>
            <a:p>
              <a:pPr algn="ctr">
                <a:lnSpc>
                  <a:spcPts val="2000"/>
                </a:lnSpc>
              </a:pPr>
            </a:p>
          </p:txBody>
        </p:sp>
      </p:grpSp>
      <p:grpSp>
        <p:nvGrpSpPr>
          <p:cNvPr name="Group 22" id="22"/>
          <p:cNvGrpSpPr/>
          <p:nvPr/>
        </p:nvGrpSpPr>
        <p:grpSpPr>
          <a:xfrm rot="0">
            <a:off x="14532391" y="919173"/>
            <a:ext cx="4312156" cy="7750400"/>
            <a:chOff x="0" y="0"/>
            <a:chExt cx="1135712" cy="2041258"/>
          </a:xfrm>
        </p:grpSpPr>
        <p:sp>
          <p:nvSpPr>
            <p:cNvPr name="Freeform 23" id="23"/>
            <p:cNvSpPr/>
            <p:nvPr/>
          </p:nvSpPr>
          <p:spPr>
            <a:xfrm flipH="false" flipV="false" rot="0">
              <a:off x="0" y="0"/>
              <a:ext cx="1135712" cy="2041258"/>
            </a:xfrm>
            <a:custGeom>
              <a:avLst/>
              <a:gdLst/>
              <a:ahLst/>
              <a:cxnLst/>
              <a:rect r="r" b="b" t="t" l="l"/>
              <a:pathLst>
                <a:path h="2041258" w="1135712">
                  <a:moveTo>
                    <a:pt x="62838" y="0"/>
                  </a:moveTo>
                  <a:lnTo>
                    <a:pt x="1072874" y="0"/>
                  </a:lnTo>
                  <a:cubicBezTo>
                    <a:pt x="1107578" y="0"/>
                    <a:pt x="1135712" y="28134"/>
                    <a:pt x="1135712" y="62838"/>
                  </a:cubicBezTo>
                  <a:lnTo>
                    <a:pt x="1135712" y="1978420"/>
                  </a:lnTo>
                  <a:cubicBezTo>
                    <a:pt x="1135712" y="1995085"/>
                    <a:pt x="1129091" y="2011068"/>
                    <a:pt x="1117307" y="2022853"/>
                  </a:cubicBezTo>
                  <a:cubicBezTo>
                    <a:pt x="1105523" y="2034637"/>
                    <a:pt x="1089540" y="2041258"/>
                    <a:pt x="1072874" y="2041258"/>
                  </a:cubicBezTo>
                  <a:lnTo>
                    <a:pt x="62838" y="2041258"/>
                  </a:lnTo>
                  <a:cubicBezTo>
                    <a:pt x="46172" y="2041258"/>
                    <a:pt x="30189" y="2034637"/>
                    <a:pt x="18405" y="2022853"/>
                  </a:cubicBezTo>
                  <a:cubicBezTo>
                    <a:pt x="6620" y="2011068"/>
                    <a:pt x="0" y="1995085"/>
                    <a:pt x="0" y="1978420"/>
                  </a:cubicBezTo>
                  <a:lnTo>
                    <a:pt x="0" y="62838"/>
                  </a:lnTo>
                  <a:cubicBezTo>
                    <a:pt x="0" y="46172"/>
                    <a:pt x="6620" y="30189"/>
                    <a:pt x="18405" y="18405"/>
                  </a:cubicBezTo>
                  <a:cubicBezTo>
                    <a:pt x="30189" y="6620"/>
                    <a:pt x="46172" y="0"/>
                    <a:pt x="62838" y="0"/>
                  </a:cubicBezTo>
                  <a:close/>
                </a:path>
              </a:pathLst>
            </a:custGeom>
            <a:gradFill rotWithShape="true">
              <a:gsLst>
                <a:gs pos="0">
                  <a:srgbClr val="FFFFFF">
                    <a:alpha val="22500"/>
                  </a:srgbClr>
                </a:gs>
                <a:gs pos="100000">
                  <a:srgbClr val="FFFFFF">
                    <a:alpha val="14220"/>
                  </a:srgbClr>
                </a:gs>
              </a:gsLst>
              <a:lin ang="5400000"/>
            </a:gradFill>
            <a:ln w="38100" cap="rnd">
              <a:gradFill>
                <a:gsLst>
                  <a:gs pos="0">
                    <a:srgbClr val="FFDE59">
                      <a:alpha val="36000"/>
                    </a:srgbClr>
                  </a:gs>
                  <a:gs pos="100000">
                    <a:srgbClr val="FFFFFF">
                      <a:alpha val="3780"/>
                    </a:srgbClr>
                  </a:gs>
                </a:gsLst>
                <a:lin ang="2700000"/>
              </a:gradFill>
              <a:prstDash val="solid"/>
              <a:round/>
            </a:ln>
          </p:spPr>
        </p:sp>
        <p:sp>
          <p:nvSpPr>
            <p:cNvPr name="TextBox 24" id="24"/>
            <p:cNvSpPr txBox="true"/>
            <p:nvPr/>
          </p:nvSpPr>
          <p:spPr>
            <a:xfrm>
              <a:off x="0" y="-104775"/>
              <a:ext cx="1135712" cy="2146033"/>
            </a:xfrm>
            <a:prstGeom prst="rect">
              <a:avLst/>
            </a:prstGeom>
          </p:spPr>
          <p:txBody>
            <a:bodyPr anchor="ctr" rtlCol="false" tIns="50800" lIns="50800" bIns="50800" rIns="50800"/>
            <a:lstStyle/>
            <a:p>
              <a:pPr algn="ctr">
                <a:lnSpc>
                  <a:spcPts val="3528"/>
                </a:lnSpc>
              </a:pPr>
            </a:p>
          </p:txBody>
        </p:sp>
      </p:grpSp>
      <p:grpSp>
        <p:nvGrpSpPr>
          <p:cNvPr name="Group 25" id="25"/>
          <p:cNvGrpSpPr/>
          <p:nvPr/>
        </p:nvGrpSpPr>
        <p:grpSpPr>
          <a:xfrm rot="0">
            <a:off x="508008" y="4771874"/>
            <a:ext cx="9574884" cy="4788085"/>
            <a:chOff x="0" y="0"/>
            <a:chExt cx="4529835" cy="2265222"/>
          </a:xfrm>
        </p:grpSpPr>
        <p:sp>
          <p:nvSpPr>
            <p:cNvPr name="Freeform 26" id="26"/>
            <p:cNvSpPr/>
            <p:nvPr/>
          </p:nvSpPr>
          <p:spPr>
            <a:xfrm flipH="false" flipV="false" rot="0">
              <a:off x="0" y="0"/>
              <a:ext cx="4529835" cy="2265222"/>
            </a:xfrm>
            <a:custGeom>
              <a:avLst/>
              <a:gdLst/>
              <a:ahLst/>
              <a:cxnLst/>
              <a:rect r="r" b="b" t="t" l="l"/>
              <a:pathLst>
                <a:path h="2265222" w="4529835">
                  <a:moveTo>
                    <a:pt x="21831" y="0"/>
                  </a:moveTo>
                  <a:lnTo>
                    <a:pt x="4508004" y="0"/>
                  </a:lnTo>
                  <a:cubicBezTo>
                    <a:pt x="4520061" y="0"/>
                    <a:pt x="4529835" y="9774"/>
                    <a:pt x="4529835" y="21831"/>
                  </a:cubicBezTo>
                  <a:lnTo>
                    <a:pt x="4529835" y="2243391"/>
                  </a:lnTo>
                  <a:cubicBezTo>
                    <a:pt x="4529835" y="2255448"/>
                    <a:pt x="4520061" y="2265222"/>
                    <a:pt x="4508004" y="2265222"/>
                  </a:cubicBezTo>
                  <a:lnTo>
                    <a:pt x="21831" y="2265222"/>
                  </a:lnTo>
                  <a:cubicBezTo>
                    <a:pt x="9774" y="2265222"/>
                    <a:pt x="0" y="2255448"/>
                    <a:pt x="0" y="2243391"/>
                  </a:cubicBezTo>
                  <a:lnTo>
                    <a:pt x="0" y="21831"/>
                  </a:lnTo>
                  <a:cubicBezTo>
                    <a:pt x="0" y="9774"/>
                    <a:pt x="9774" y="0"/>
                    <a:pt x="21831"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27" id="27"/>
            <p:cNvSpPr txBox="true"/>
            <p:nvPr/>
          </p:nvSpPr>
          <p:spPr>
            <a:xfrm>
              <a:off x="0" y="28575"/>
              <a:ext cx="4529835" cy="2236647"/>
            </a:xfrm>
            <a:prstGeom prst="rect">
              <a:avLst/>
            </a:prstGeom>
          </p:spPr>
          <p:txBody>
            <a:bodyPr anchor="ctr" rtlCol="false" tIns="50800" lIns="50800" bIns="50800" rIns="50800"/>
            <a:lstStyle/>
            <a:p>
              <a:pPr algn="ctr">
                <a:lnSpc>
                  <a:spcPts val="2000"/>
                </a:lnSpc>
              </a:pPr>
            </a:p>
          </p:txBody>
        </p:sp>
      </p:grpSp>
      <p:sp>
        <p:nvSpPr>
          <p:cNvPr name="Freeform 28" id="28"/>
          <p:cNvSpPr/>
          <p:nvPr/>
        </p:nvSpPr>
        <p:spPr>
          <a:xfrm flipH="false" flipV="false" rot="0">
            <a:off x="13477248" y="8397195"/>
            <a:ext cx="1586979" cy="2012851"/>
          </a:xfrm>
          <a:custGeom>
            <a:avLst/>
            <a:gdLst/>
            <a:ahLst/>
            <a:cxnLst/>
            <a:rect r="r" b="b" t="t" l="l"/>
            <a:pathLst>
              <a:path h="2012851" w="1586979">
                <a:moveTo>
                  <a:pt x="0" y="0"/>
                </a:moveTo>
                <a:lnTo>
                  <a:pt x="1586978" y="0"/>
                </a:lnTo>
                <a:lnTo>
                  <a:pt x="1586978" y="2012851"/>
                </a:lnTo>
                <a:lnTo>
                  <a:pt x="0" y="2012851"/>
                </a:lnTo>
                <a:lnTo>
                  <a:pt x="0" y="0"/>
                </a:lnTo>
                <a:close/>
              </a:path>
            </a:pathLst>
          </a:custGeom>
          <a:blipFill>
            <a:blip r:embed="rId6"/>
            <a:stretch>
              <a:fillRect l="0" t="0" r="0" b="0"/>
            </a:stretch>
          </a:blipFill>
        </p:spPr>
      </p:sp>
      <p:sp>
        <p:nvSpPr>
          <p:cNvPr name="Freeform 29" id="29"/>
          <p:cNvSpPr/>
          <p:nvPr/>
        </p:nvSpPr>
        <p:spPr>
          <a:xfrm flipH="false" flipV="false" rot="0">
            <a:off x="907523" y="5039888"/>
            <a:ext cx="8650854" cy="4520071"/>
          </a:xfrm>
          <a:custGeom>
            <a:avLst/>
            <a:gdLst/>
            <a:ahLst/>
            <a:cxnLst/>
            <a:rect r="r" b="b" t="t" l="l"/>
            <a:pathLst>
              <a:path h="4520071" w="8650854">
                <a:moveTo>
                  <a:pt x="0" y="0"/>
                </a:moveTo>
                <a:lnTo>
                  <a:pt x="8650854" y="0"/>
                </a:lnTo>
                <a:lnTo>
                  <a:pt x="8650854" y="4520071"/>
                </a:lnTo>
                <a:lnTo>
                  <a:pt x="0" y="4520071"/>
                </a:lnTo>
                <a:lnTo>
                  <a:pt x="0" y="0"/>
                </a:lnTo>
                <a:close/>
              </a:path>
            </a:pathLst>
          </a:custGeom>
          <a:blipFill>
            <a:blip r:embed="rId7"/>
            <a:stretch>
              <a:fillRect l="0" t="0" r="0" b="0"/>
            </a:stretch>
          </a:blipFill>
        </p:spPr>
      </p:sp>
      <p:sp>
        <p:nvSpPr>
          <p:cNvPr name="Freeform 30" id="30"/>
          <p:cNvSpPr/>
          <p:nvPr/>
        </p:nvSpPr>
        <p:spPr>
          <a:xfrm flipH="false" flipV="false" rot="0">
            <a:off x="790504" y="973936"/>
            <a:ext cx="4113745" cy="3173460"/>
          </a:xfrm>
          <a:custGeom>
            <a:avLst/>
            <a:gdLst/>
            <a:ahLst/>
            <a:cxnLst/>
            <a:rect r="r" b="b" t="t" l="l"/>
            <a:pathLst>
              <a:path h="3173460" w="4113745">
                <a:moveTo>
                  <a:pt x="0" y="0"/>
                </a:moveTo>
                <a:lnTo>
                  <a:pt x="4113744" y="0"/>
                </a:lnTo>
                <a:lnTo>
                  <a:pt x="4113744" y="3173460"/>
                </a:lnTo>
                <a:lnTo>
                  <a:pt x="0" y="3173460"/>
                </a:lnTo>
                <a:lnTo>
                  <a:pt x="0" y="0"/>
                </a:lnTo>
                <a:close/>
              </a:path>
            </a:pathLst>
          </a:custGeom>
          <a:blipFill>
            <a:blip r:embed="rId8"/>
            <a:stretch>
              <a:fillRect l="0" t="0" r="0" b="0"/>
            </a:stretch>
          </a:blipFill>
        </p:spPr>
      </p:sp>
      <p:sp>
        <p:nvSpPr>
          <p:cNvPr name="Freeform 31" id="31"/>
          <p:cNvSpPr/>
          <p:nvPr/>
        </p:nvSpPr>
        <p:spPr>
          <a:xfrm flipH="false" flipV="false" rot="0">
            <a:off x="5761732" y="1028700"/>
            <a:ext cx="3967446" cy="3060601"/>
          </a:xfrm>
          <a:custGeom>
            <a:avLst/>
            <a:gdLst/>
            <a:ahLst/>
            <a:cxnLst/>
            <a:rect r="r" b="b" t="t" l="l"/>
            <a:pathLst>
              <a:path h="3060601" w="3967446">
                <a:moveTo>
                  <a:pt x="0" y="0"/>
                </a:moveTo>
                <a:lnTo>
                  <a:pt x="3967446" y="0"/>
                </a:lnTo>
                <a:lnTo>
                  <a:pt x="3967446" y="3060601"/>
                </a:lnTo>
                <a:lnTo>
                  <a:pt x="0" y="3060601"/>
                </a:lnTo>
                <a:lnTo>
                  <a:pt x="0" y="0"/>
                </a:lnTo>
                <a:close/>
              </a:path>
            </a:pathLst>
          </a:custGeom>
          <a:blipFill>
            <a:blip r:embed="rId9"/>
            <a:stretch>
              <a:fillRect l="0" t="0" r="0" b="0"/>
            </a:stretch>
          </a:blipFill>
        </p:spPr>
      </p:sp>
      <p:sp>
        <p:nvSpPr>
          <p:cNvPr name="TextBox 32" id="32"/>
          <p:cNvSpPr txBox="true"/>
          <p:nvPr/>
        </p:nvSpPr>
        <p:spPr>
          <a:xfrm rot="0">
            <a:off x="543568" y="148933"/>
            <a:ext cx="17723114" cy="478156"/>
          </a:xfrm>
          <a:prstGeom prst="rect">
            <a:avLst/>
          </a:prstGeom>
        </p:spPr>
        <p:txBody>
          <a:bodyPr anchor="t" rtlCol="false" tIns="0" lIns="0" bIns="0" rIns="0">
            <a:spAutoFit/>
          </a:bodyPr>
          <a:lstStyle/>
          <a:p>
            <a:pPr algn="ctr" marL="0" indent="0" lvl="0">
              <a:lnSpc>
                <a:spcPts val="4049"/>
              </a:lnSpc>
            </a:pPr>
            <a:r>
              <a:rPr lang="en-US" b="true" sz="2699" spc="8">
                <a:solidFill>
                  <a:srgbClr val="F3740B"/>
                </a:solidFill>
                <a:latin typeface="Inter Ultra-Bold"/>
                <a:ea typeface="Inter Ultra-Bold"/>
                <a:cs typeface="Inter Ultra-Bold"/>
                <a:sym typeface="Inter Ultra-Bold"/>
              </a:rPr>
              <a:t>ĐÂU LÀ ‘THỜI ĐIỂM VÀNG’  THÚC ĐẨY NGƯỜI DÙNG SỬ DỤNG ĐA DẠNG DỊCH VỤ CỦA ZALOPAY...</a:t>
            </a:r>
          </a:p>
        </p:txBody>
      </p:sp>
      <p:sp>
        <p:nvSpPr>
          <p:cNvPr name="TextBox 33" id="33"/>
          <p:cNvSpPr txBox="true"/>
          <p:nvPr/>
        </p:nvSpPr>
        <p:spPr>
          <a:xfrm rot="0">
            <a:off x="14894341" y="2578052"/>
            <a:ext cx="3122313" cy="5419725"/>
          </a:xfrm>
          <a:prstGeom prst="rect">
            <a:avLst/>
          </a:prstGeom>
        </p:spPr>
        <p:txBody>
          <a:bodyPr anchor="t" rtlCol="false" tIns="0" lIns="0" bIns="0" rIns="0">
            <a:spAutoFit/>
          </a:bodyPr>
          <a:lstStyle/>
          <a:p>
            <a:pPr algn="just">
              <a:lnSpc>
                <a:spcPts val="2250"/>
              </a:lnSpc>
            </a:pPr>
            <a:r>
              <a:rPr lang="en-US" sz="1500">
                <a:solidFill>
                  <a:srgbClr val="FFDE59"/>
                </a:solidFill>
                <a:latin typeface="Montserrat"/>
                <a:ea typeface="Montserrat"/>
                <a:cs typeface="Montserrat"/>
                <a:sym typeface="Montserrat"/>
              </a:rPr>
              <a:t>Đánh giá sơ bộ cho thấy mức độ đa dạng trong danh mục sử dụng dịch vụ ở lần giao dịch thứ 2 vẫn còn khá hạn chế. Tuy n</a:t>
            </a:r>
            <a:r>
              <a:rPr lang="en-US" sz="1500">
                <a:solidFill>
                  <a:srgbClr val="FFDE59"/>
                </a:solidFill>
                <a:latin typeface="Montserrat"/>
                <a:ea typeface="Montserrat"/>
                <a:cs typeface="Montserrat"/>
                <a:sym typeface="Montserrat"/>
              </a:rPr>
              <a:t>hiên, khi</a:t>
            </a:r>
            <a:r>
              <a:rPr lang="en-US" sz="1500">
                <a:solidFill>
                  <a:srgbClr val="FFDE59"/>
                </a:solidFill>
                <a:latin typeface="Montserrat"/>
                <a:ea typeface="Montserrat"/>
                <a:cs typeface="Montserrat"/>
                <a:sym typeface="Montserrat"/>
              </a:rPr>
              <a:t> đi sâ</a:t>
            </a:r>
            <a:r>
              <a:rPr lang="en-US" sz="1500">
                <a:solidFill>
                  <a:srgbClr val="FFDE59"/>
                </a:solidFill>
                <a:latin typeface="Montserrat"/>
                <a:ea typeface="Montserrat"/>
                <a:cs typeface="Montserrat"/>
                <a:sym typeface="Montserrat"/>
              </a:rPr>
              <a:t>u hơn vào</a:t>
            </a:r>
            <a:r>
              <a:rPr lang="en-US" sz="1500">
                <a:solidFill>
                  <a:srgbClr val="FFDE59"/>
                </a:solidFill>
                <a:latin typeface="Montserrat"/>
                <a:ea typeface="Montserrat"/>
                <a:cs typeface="Montserrat"/>
                <a:sym typeface="Montserrat"/>
              </a:rPr>
              <a:t> ma trận chuyển</a:t>
            </a:r>
            <a:r>
              <a:rPr lang="en-US" sz="1500">
                <a:solidFill>
                  <a:srgbClr val="FFDE59"/>
                </a:solidFill>
                <a:latin typeface="Montserrat"/>
                <a:ea typeface="Montserrat"/>
                <a:cs typeface="Montserrat"/>
                <a:sym typeface="Montserrat"/>
              </a:rPr>
              <a:t> đổi hà</a:t>
            </a:r>
            <a:r>
              <a:rPr lang="en-US" sz="1500">
                <a:solidFill>
                  <a:srgbClr val="FFDE59"/>
                </a:solidFill>
                <a:latin typeface="Montserrat"/>
                <a:ea typeface="Montserrat"/>
                <a:cs typeface="Montserrat"/>
                <a:sym typeface="Montserrat"/>
              </a:rPr>
              <a:t>nh v</a:t>
            </a:r>
            <a:r>
              <a:rPr lang="en-US" sz="1500">
                <a:solidFill>
                  <a:srgbClr val="FFDE59"/>
                </a:solidFill>
                <a:latin typeface="Montserrat"/>
                <a:ea typeface="Montserrat"/>
                <a:cs typeface="Montserrat"/>
                <a:sym typeface="Montserrat"/>
              </a:rPr>
              <a:t>i giữa</a:t>
            </a:r>
            <a:r>
              <a:rPr lang="en-US" sz="1500">
                <a:solidFill>
                  <a:srgbClr val="FFDE59"/>
                </a:solidFill>
                <a:latin typeface="Montserrat"/>
                <a:ea typeface="Montserrat"/>
                <a:cs typeface="Montserrat"/>
                <a:sym typeface="Montserrat"/>
              </a:rPr>
              <a:t> giao dịc</a:t>
            </a:r>
            <a:r>
              <a:rPr lang="en-US" sz="1500">
                <a:solidFill>
                  <a:srgbClr val="FFDE59"/>
                </a:solidFill>
                <a:latin typeface="Montserrat"/>
                <a:ea typeface="Montserrat"/>
                <a:cs typeface="Montserrat"/>
                <a:sym typeface="Montserrat"/>
              </a:rPr>
              <a:t>h t</a:t>
            </a:r>
            <a:r>
              <a:rPr lang="en-US" sz="1500">
                <a:solidFill>
                  <a:srgbClr val="FFDE59"/>
                </a:solidFill>
                <a:latin typeface="Montserrat"/>
                <a:ea typeface="Montserrat"/>
                <a:cs typeface="Montserrat"/>
                <a:sym typeface="Montserrat"/>
              </a:rPr>
              <a:t>hứ</a:t>
            </a:r>
            <a:r>
              <a:rPr lang="en-US" sz="1500">
                <a:solidFill>
                  <a:srgbClr val="FFDE59"/>
                </a:solidFill>
                <a:latin typeface="Montserrat"/>
                <a:ea typeface="Montserrat"/>
                <a:cs typeface="Montserrat"/>
                <a:sym typeface="Montserrat"/>
              </a:rPr>
              <a:t> nhấ</a:t>
            </a:r>
            <a:r>
              <a:rPr lang="en-US" sz="1500">
                <a:solidFill>
                  <a:srgbClr val="FFDE59"/>
                </a:solidFill>
                <a:latin typeface="Montserrat"/>
                <a:ea typeface="Montserrat"/>
                <a:cs typeface="Montserrat"/>
                <a:sym typeface="Montserrat"/>
              </a:rPr>
              <a:t>t</a:t>
            </a:r>
            <a:r>
              <a:rPr lang="en-US" sz="1500">
                <a:solidFill>
                  <a:srgbClr val="FFDE59"/>
                </a:solidFill>
                <a:latin typeface="Montserrat"/>
                <a:ea typeface="Montserrat"/>
                <a:cs typeface="Montserrat"/>
                <a:sym typeface="Montserrat"/>
              </a:rPr>
              <a:t> và </a:t>
            </a:r>
            <a:r>
              <a:rPr lang="en-US" sz="1500">
                <a:solidFill>
                  <a:srgbClr val="FFDE59"/>
                </a:solidFill>
                <a:latin typeface="Montserrat"/>
                <a:ea typeface="Montserrat"/>
                <a:cs typeface="Montserrat"/>
                <a:sym typeface="Montserrat"/>
              </a:rPr>
              <a:t>giao</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dị</a:t>
            </a:r>
            <a:r>
              <a:rPr lang="en-US" sz="1500">
                <a:solidFill>
                  <a:srgbClr val="FFDE59"/>
                </a:solidFill>
                <a:latin typeface="Montserrat"/>
                <a:ea typeface="Montserrat"/>
                <a:cs typeface="Montserrat"/>
                <a:sym typeface="Montserrat"/>
              </a:rPr>
              <a:t>ch thứ h</a:t>
            </a:r>
            <a:r>
              <a:rPr lang="en-US" sz="1500">
                <a:solidFill>
                  <a:srgbClr val="FFDE59"/>
                </a:solidFill>
                <a:latin typeface="Montserrat"/>
                <a:ea typeface="Montserrat"/>
                <a:cs typeface="Montserrat"/>
                <a:sym typeface="Montserrat"/>
              </a:rPr>
              <a:t>ai, dữ liệu</a:t>
            </a:r>
            <a:r>
              <a:rPr lang="en-US" sz="1500">
                <a:solidFill>
                  <a:srgbClr val="FFDE59"/>
                </a:solidFill>
                <a:latin typeface="Montserrat"/>
                <a:ea typeface="Montserrat"/>
                <a:cs typeface="Montserrat"/>
                <a:sym typeface="Montserrat"/>
              </a:rPr>
              <a:t> </a:t>
            </a:r>
            <a:r>
              <a:rPr lang="en-US" sz="1500">
                <a:solidFill>
                  <a:srgbClr val="FFDE59"/>
                </a:solidFill>
                <a:latin typeface="Montserrat"/>
                <a:ea typeface="Montserrat"/>
                <a:cs typeface="Montserrat"/>
                <a:sym typeface="Montserrat"/>
              </a:rPr>
              <a:t>lại</a:t>
            </a:r>
            <a:r>
              <a:rPr lang="en-US" sz="1500">
                <a:solidFill>
                  <a:srgbClr val="FFDE59"/>
                </a:solidFill>
                <a:latin typeface="Montserrat"/>
                <a:ea typeface="Montserrat"/>
                <a:cs typeface="Montserrat"/>
                <a:sym typeface="Montserrat"/>
              </a:rPr>
              <a:t> bắt đầu xuất hiệ</a:t>
            </a:r>
            <a:r>
              <a:rPr lang="en-US" sz="1500">
                <a:solidFill>
                  <a:srgbClr val="FFDE59"/>
                </a:solidFill>
                <a:latin typeface="Montserrat"/>
                <a:ea typeface="Montserrat"/>
                <a:cs typeface="Montserrat"/>
                <a:sym typeface="Montserrat"/>
              </a:rPr>
              <a:t>n một tín</a:t>
            </a:r>
            <a:r>
              <a:rPr lang="en-US" sz="1500">
                <a:solidFill>
                  <a:srgbClr val="FFDE59"/>
                </a:solidFill>
                <a:latin typeface="Montserrat"/>
                <a:ea typeface="Montserrat"/>
                <a:cs typeface="Montserrat"/>
                <a:sym typeface="Montserrat"/>
              </a:rPr>
              <a:t> hiệu rất quan tr</a:t>
            </a:r>
            <a:r>
              <a:rPr lang="en-US" sz="1500">
                <a:solidFill>
                  <a:srgbClr val="FFDE59"/>
                </a:solidFill>
                <a:latin typeface="Montserrat"/>
                <a:ea typeface="Montserrat"/>
                <a:cs typeface="Montserrat"/>
                <a:sym typeface="Montserrat"/>
              </a:rPr>
              <a:t>ọng. Một phần người dù</a:t>
            </a:r>
            <a:r>
              <a:rPr lang="en-US" sz="1500">
                <a:solidFill>
                  <a:srgbClr val="FFDE59"/>
                </a:solidFill>
                <a:latin typeface="Montserrat"/>
                <a:ea typeface="Montserrat"/>
                <a:cs typeface="Montserrat"/>
                <a:sym typeface="Montserrat"/>
              </a:rPr>
              <a:t>ng bắt</a:t>
            </a:r>
            <a:r>
              <a:rPr lang="en-US" sz="1500">
                <a:solidFill>
                  <a:srgbClr val="FFDE59"/>
                </a:solidFill>
                <a:latin typeface="Montserrat"/>
                <a:ea typeface="Montserrat"/>
                <a:cs typeface="Montserrat"/>
                <a:sym typeface="Montserrat"/>
              </a:rPr>
              <a:t> đầu</a:t>
            </a:r>
            <a:r>
              <a:rPr lang="en-US" sz="1500">
                <a:solidFill>
                  <a:srgbClr val="FFDE59"/>
                </a:solidFill>
                <a:latin typeface="Montserrat"/>
                <a:ea typeface="Montserrat"/>
                <a:cs typeface="Montserrat"/>
                <a:sym typeface="Montserrat"/>
              </a:rPr>
              <a:t> dịch</a:t>
            </a:r>
            <a:r>
              <a:rPr lang="en-US" sz="1500">
                <a:solidFill>
                  <a:srgbClr val="FFDE59"/>
                </a:solidFill>
                <a:latin typeface="Montserrat"/>
                <a:ea typeface="Montserrat"/>
                <a:cs typeface="Montserrat"/>
                <a:sym typeface="Montserrat"/>
              </a:rPr>
              <a:t> chuyển sang các use case khác như Goods Transaction, Interactive Service hoặc Obligation Payment. giao dịch quay lại lần thứ hai chính cột mốc quyết định để NPU có thể trở thành khách hàng trung thành lâu dài của ZaloPay.</a:t>
            </a:r>
          </a:p>
          <a:p>
            <a:pPr algn="just">
              <a:lnSpc>
                <a:spcPts val="2250"/>
              </a:lnSpc>
            </a:pPr>
          </a:p>
        </p:txBody>
      </p:sp>
      <p:sp>
        <p:nvSpPr>
          <p:cNvPr name="TextBox 34" id="34"/>
          <p:cNvSpPr txBox="true"/>
          <p:nvPr/>
        </p:nvSpPr>
        <p:spPr>
          <a:xfrm rot="0">
            <a:off x="15497016" y="1847203"/>
            <a:ext cx="1916963" cy="429294"/>
          </a:xfrm>
          <a:prstGeom prst="rect">
            <a:avLst/>
          </a:prstGeom>
        </p:spPr>
        <p:txBody>
          <a:bodyPr anchor="t" rtlCol="false" tIns="0" lIns="0" bIns="0" rIns="0">
            <a:spAutoFit/>
          </a:bodyPr>
          <a:lstStyle/>
          <a:p>
            <a:pPr algn="ctr">
              <a:lnSpc>
                <a:spcPts val="3673"/>
              </a:lnSpc>
            </a:pPr>
            <a:r>
              <a:rPr lang="en-US" b="true" sz="2449">
                <a:solidFill>
                  <a:srgbClr val="FFDE59"/>
                </a:solidFill>
                <a:latin typeface="Montserrat Bold"/>
                <a:ea typeface="Montserrat Bold"/>
                <a:cs typeface="Montserrat Bold"/>
                <a:sym typeface="Montserrat Bold"/>
              </a:rPr>
              <a:t>KẾT LUẬN</a:t>
            </a:r>
          </a:p>
        </p:txBody>
      </p:sp>
      <p:sp>
        <p:nvSpPr>
          <p:cNvPr name="TextBox 35" id="35"/>
          <p:cNvSpPr txBox="true"/>
          <p:nvPr/>
        </p:nvSpPr>
        <p:spPr>
          <a:xfrm rot="0">
            <a:off x="643278" y="3933662"/>
            <a:ext cx="4260970" cy="328041"/>
          </a:xfrm>
          <a:prstGeom prst="rect">
            <a:avLst/>
          </a:prstGeom>
        </p:spPr>
        <p:txBody>
          <a:bodyPr anchor="t" rtlCol="false" tIns="0" lIns="0" bIns="0" rIns="0">
            <a:spAutoFit/>
          </a:bodyPr>
          <a:lstStyle/>
          <a:p>
            <a:pPr algn="just">
              <a:lnSpc>
                <a:spcPts val="1332"/>
              </a:lnSpc>
            </a:pPr>
            <a:r>
              <a:rPr lang="en-US" sz="1200">
                <a:solidFill>
                  <a:srgbClr val="000000"/>
                </a:solidFill>
                <a:latin typeface="Montserrat Light"/>
                <a:ea typeface="Montserrat Light"/>
                <a:cs typeface="Montserrat Light"/>
                <a:sym typeface="Montserrat Light"/>
              </a:rPr>
              <a:t>Hình 13: Tỉ lệ phân bố giao dịch lần đầu và từ lần thứ hai trở đi giữa các danh mục High NPU - LOW DISCOUNT</a:t>
            </a:r>
          </a:p>
        </p:txBody>
      </p:sp>
      <p:sp>
        <p:nvSpPr>
          <p:cNvPr name="TextBox 36" id="36"/>
          <p:cNvSpPr txBox="true"/>
          <p:nvPr/>
        </p:nvSpPr>
        <p:spPr>
          <a:xfrm rot="0">
            <a:off x="5639097" y="3952712"/>
            <a:ext cx="4316568" cy="290703"/>
          </a:xfrm>
          <a:prstGeom prst="rect">
            <a:avLst/>
          </a:prstGeom>
        </p:spPr>
        <p:txBody>
          <a:bodyPr anchor="t" rtlCol="false" tIns="0" lIns="0" bIns="0" rIns="0">
            <a:spAutoFit/>
          </a:bodyPr>
          <a:lstStyle/>
          <a:p>
            <a:pPr algn="just">
              <a:lnSpc>
                <a:spcPts val="1176"/>
              </a:lnSpc>
            </a:pPr>
            <a:r>
              <a:rPr lang="en-US" sz="1200">
                <a:solidFill>
                  <a:srgbClr val="000000"/>
                </a:solidFill>
                <a:latin typeface="Montserrat Light"/>
                <a:ea typeface="Montserrat Light"/>
                <a:cs typeface="Montserrat Light"/>
                <a:sym typeface="Montserrat Light"/>
              </a:rPr>
              <a:t>Hình 14: Tỉ lệ phân bố giao dịch lần đầu và từ lần thứ hai trở đi giữa các danh mục High NPU - HIGH DISCOUNT</a:t>
            </a:r>
          </a:p>
        </p:txBody>
      </p:sp>
      <p:sp>
        <p:nvSpPr>
          <p:cNvPr name="TextBox 37" id="37"/>
          <p:cNvSpPr txBox="true"/>
          <p:nvPr/>
        </p:nvSpPr>
        <p:spPr>
          <a:xfrm rot="0">
            <a:off x="15064226" y="8875880"/>
            <a:ext cx="2802234" cy="1036320"/>
          </a:xfrm>
          <a:prstGeom prst="rect">
            <a:avLst/>
          </a:prstGeom>
        </p:spPr>
        <p:txBody>
          <a:bodyPr anchor="t" rtlCol="false" tIns="0" lIns="0" bIns="0" rIns="0">
            <a:spAutoFit/>
          </a:bodyPr>
          <a:lstStyle/>
          <a:p>
            <a:pPr algn="just">
              <a:lnSpc>
                <a:spcPts val="1679"/>
              </a:lnSpc>
            </a:pPr>
            <a:r>
              <a:rPr lang="en-US" sz="1200" i="true">
                <a:solidFill>
                  <a:srgbClr val="FFFFFF"/>
                </a:solidFill>
                <a:latin typeface="Montserrat Light Italics"/>
                <a:ea typeface="Montserrat Light Italics"/>
                <a:cs typeface="Montserrat Light Italics"/>
                <a:sym typeface="Montserrat Light Italics"/>
              </a:rPr>
              <a:t>*Chú thích:</a:t>
            </a:r>
          </a:p>
          <a:p>
            <a:pPr algn="just">
              <a:lnSpc>
                <a:spcPts val="1679"/>
              </a:lnSpc>
            </a:pPr>
            <a:r>
              <a:rPr lang="en-US" sz="1200" i="true">
                <a:solidFill>
                  <a:srgbClr val="FFFFFF"/>
                </a:solidFill>
                <a:latin typeface="Montserrat Light Italics"/>
                <a:ea typeface="Montserrat Light Italics"/>
                <a:cs typeface="Montserrat Light Italics"/>
                <a:sym typeface="Montserrat Light Italics"/>
              </a:rPr>
              <a:t>Hình 13; 14. sử dụng dữ liệu trong từ 3 campaign (10249, 8248,8589) </a:t>
            </a:r>
          </a:p>
          <a:p>
            <a:pPr algn="just">
              <a:lnSpc>
                <a:spcPts val="1679"/>
              </a:lnSpc>
            </a:pPr>
            <a:r>
              <a:rPr lang="en-US" sz="1200" i="true">
                <a:solidFill>
                  <a:srgbClr val="FFFFFF"/>
                </a:solidFill>
                <a:latin typeface="Montserrat Light Italics"/>
                <a:ea typeface="Montserrat Light Italics"/>
                <a:cs typeface="Montserrat Light Italics"/>
                <a:sym typeface="Montserrat Light Italics"/>
              </a:rPr>
              <a:t>Hình... sử dụng dữ liệu trong 4 campaign (8932, 8386, 7421, 8589)</a:t>
            </a:r>
          </a:p>
        </p:txBody>
      </p:sp>
      <p:sp>
        <p:nvSpPr>
          <p:cNvPr name="TextBox 38" id="38"/>
          <p:cNvSpPr txBox="true"/>
          <p:nvPr/>
        </p:nvSpPr>
        <p:spPr>
          <a:xfrm rot="0">
            <a:off x="508008" y="9664734"/>
            <a:ext cx="6352827" cy="198120"/>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Hình 15: Bảng tương quan tỉ lệ quay lại của các NPU giữa các danh mục với nhau</a:t>
            </a:r>
          </a:p>
        </p:txBody>
      </p:sp>
      <p:sp>
        <p:nvSpPr>
          <p:cNvPr name="Freeform 39" id="39"/>
          <p:cNvSpPr/>
          <p:nvPr/>
        </p:nvSpPr>
        <p:spPr>
          <a:xfrm flipH="false" flipV="false" rot="0">
            <a:off x="10972616" y="5239783"/>
            <a:ext cx="309435" cy="143887"/>
          </a:xfrm>
          <a:custGeom>
            <a:avLst/>
            <a:gdLst/>
            <a:ahLst/>
            <a:cxnLst/>
            <a:rect r="r" b="b" t="t" l="l"/>
            <a:pathLst>
              <a:path h="143887" w="309435">
                <a:moveTo>
                  <a:pt x="0" y="0"/>
                </a:moveTo>
                <a:lnTo>
                  <a:pt x="309435" y="0"/>
                </a:lnTo>
                <a:lnTo>
                  <a:pt x="309435" y="143888"/>
                </a:lnTo>
                <a:lnTo>
                  <a:pt x="0" y="1438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0" id="40"/>
          <p:cNvSpPr/>
          <p:nvPr/>
        </p:nvSpPr>
        <p:spPr>
          <a:xfrm flipH="true" flipV="false" rot="0">
            <a:off x="13088690" y="5217371"/>
            <a:ext cx="309435" cy="143887"/>
          </a:xfrm>
          <a:custGeom>
            <a:avLst/>
            <a:gdLst/>
            <a:ahLst/>
            <a:cxnLst/>
            <a:rect r="r" b="b" t="t" l="l"/>
            <a:pathLst>
              <a:path h="143887" w="309435">
                <a:moveTo>
                  <a:pt x="309435" y="0"/>
                </a:moveTo>
                <a:lnTo>
                  <a:pt x="0" y="0"/>
                </a:lnTo>
                <a:lnTo>
                  <a:pt x="0" y="143887"/>
                </a:lnTo>
                <a:lnTo>
                  <a:pt x="309435" y="143887"/>
                </a:lnTo>
                <a:lnTo>
                  <a:pt x="30943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1" id="41"/>
          <p:cNvSpPr txBox="true"/>
          <p:nvPr/>
        </p:nvSpPr>
        <p:spPr>
          <a:xfrm rot="0">
            <a:off x="11289405" y="5076825"/>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QUAN SÁT</a:t>
            </a:r>
          </a:p>
        </p:txBody>
      </p:sp>
      <p:sp>
        <p:nvSpPr>
          <p:cNvPr name="TextBox 42" id="42"/>
          <p:cNvSpPr txBox="true"/>
          <p:nvPr/>
        </p:nvSpPr>
        <p:spPr>
          <a:xfrm rot="0">
            <a:off x="10600305" y="5575204"/>
            <a:ext cx="3084793" cy="3881755"/>
          </a:xfrm>
          <a:prstGeom prst="rect">
            <a:avLst/>
          </a:prstGeom>
        </p:spPr>
        <p:txBody>
          <a:bodyPr anchor="t" rtlCol="false" tIns="0" lIns="0" bIns="0" rIns="0">
            <a:spAutoFit/>
          </a:bodyPr>
          <a:lstStyle/>
          <a:p>
            <a:pPr algn="just">
              <a:lnSpc>
                <a:spcPts val="1819"/>
              </a:lnSpc>
            </a:pPr>
            <a:r>
              <a:rPr lang="en-US" sz="1299">
                <a:solidFill>
                  <a:srgbClr val="FFFFFF"/>
                </a:solidFill>
                <a:latin typeface="Montserrat Light"/>
                <a:ea typeface="Montserrat Light"/>
                <a:cs typeface="Montserrat Light"/>
                <a:sym typeface="Montserrat Light"/>
              </a:rPr>
              <a:t>Người dùng Access_Service bộc lộ xu hướng mở rộng thấp, với 71,8% quay lại giao dịch trong Dịch vụ số. Tuy nhiên, 16,0% đã chuyển đổi thành công sang Obligation_Payment (Thanh toán hóa đơn). Ngược lại, 34,5% người dùng Obligation_Payment (Thanh toán hóa đơn) cũng mở rộng sang Access_Service . Tỷ Lệ Quay Lại Cùng Danh Mục: 62,7% số người dùng quay lại thực hiện giao dịch thứ hai trong cùng danh mục với giao dịch đầu tiên. Tỷ Lệ Quay Lại Cùng Merchant: 46,8% số người dùng quay lại giao dịch với đúng merchant (appID) cũ ở lần thứ hai. </a:t>
            </a:r>
          </a:p>
        </p:txBody>
      </p:sp>
      <p:sp>
        <p:nvSpPr>
          <p:cNvPr name="Freeform 43" id="43"/>
          <p:cNvSpPr/>
          <p:nvPr/>
        </p:nvSpPr>
        <p:spPr>
          <a:xfrm flipH="false" flipV="false" rot="0">
            <a:off x="10923858" y="1552709"/>
            <a:ext cx="309435" cy="143887"/>
          </a:xfrm>
          <a:custGeom>
            <a:avLst/>
            <a:gdLst/>
            <a:ahLst/>
            <a:cxnLst/>
            <a:rect r="r" b="b" t="t" l="l"/>
            <a:pathLst>
              <a:path h="143887" w="309435">
                <a:moveTo>
                  <a:pt x="0" y="0"/>
                </a:moveTo>
                <a:lnTo>
                  <a:pt x="309435" y="0"/>
                </a:lnTo>
                <a:lnTo>
                  <a:pt x="309435" y="143888"/>
                </a:lnTo>
                <a:lnTo>
                  <a:pt x="0" y="1438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4" id="44"/>
          <p:cNvSpPr/>
          <p:nvPr/>
        </p:nvSpPr>
        <p:spPr>
          <a:xfrm flipH="true" flipV="false" rot="0">
            <a:off x="13039931" y="1530297"/>
            <a:ext cx="309435" cy="143887"/>
          </a:xfrm>
          <a:custGeom>
            <a:avLst/>
            <a:gdLst/>
            <a:ahLst/>
            <a:cxnLst/>
            <a:rect r="r" b="b" t="t" l="l"/>
            <a:pathLst>
              <a:path h="143887" w="309435">
                <a:moveTo>
                  <a:pt x="309435" y="0"/>
                </a:moveTo>
                <a:lnTo>
                  <a:pt x="0" y="0"/>
                </a:lnTo>
                <a:lnTo>
                  <a:pt x="0" y="143887"/>
                </a:lnTo>
                <a:lnTo>
                  <a:pt x="309435" y="143887"/>
                </a:lnTo>
                <a:lnTo>
                  <a:pt x="30943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5" id="45"/>
          <p:cNvSpPr txBox="true"/>
          <p:nvPr/>
        </p:nvSpPr>
        <p:spPr>
          <a:xfrm rot="0">
            <a:off x="11240647" y="1389751"/>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QUAN SÁT</a:t>
            </a:r>
          </a:p>
        </p:txBody>
      </p:sp>
      <p:sp>
        <p:nvSpPr>
          <p:cNvPr name="TextBox 46" id="46"/>
          <p:cNvSpPr txBox="true"/>
          <p:nvPr/>
        </p:nvSpPr>
        <p:spPr>
          <a:xfrm rot="0">
            <a:off x="10454367" y="1885303"/>
            <a:ext cx="3454654" cy="1138555"/>
          </a:xfrm>
          <a:prstGeom prst="rect">
            <a:avLst/>
          </a:prstGeom>
        </p:spPr>
        <p:txBody>
          <a:bodyPr anchor="t" rtlCol="false" tIns="0" lIns="0" bIns="0" rIns="0">
            <a:spAutoFit/>
          </a:bodyPr>
          <a:lstStyle/>
          <a:p>
            <a:pPr algn="just">
              <a:lnSpc>
                <a:spcPts val="1819"/>
              </a:lnSpc>
            </a:pPr>
            <a:r>
              <a:rPr lang="en-US" sz="1299">
                <a:solidFill>
                  <a:srgbClr val="FFFFFF"/>
                </a:solidFill>
                <a:latin typeface="Montserrat Light"/>
                <a:ea typeface="Montserrat Light"/>
                <a:cs typeface="Montserrat Light"/>
                <a:sym typeface="Montserrat Light"/>
              </a:rPr>
              <a:t>Nhóm khách hàng đến từ  2 nhóm: High NPU Low Discount và High NPU High Discount đều sự khả quan trong thực hiện trải nghiệm các dịch vụ khác của Zalopay ở lần giao dịch thứ hai.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0A0A">
                <a:alpha val="98824"/>
              </a:srgbClr>
            </a:solidFill>
          </p:spPr>
        </p:sp>
        <p:sp>
          <p:nvSpPr>
            <p:cNvPr name="TextBox 5" id="5"/>
            <p:cNvSpPr txBox="true"/>
            <p:nvPr/>
          </p:nvSpPr>
          <p:spPr>
            <a:xfrm>
              <a:off x="0" y="-104775"/>
              <a:ext cx="4816593" cy="281410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160916" y="1323948"/>
            <a:ext cx="10288805" cy="11905421"/>
          </a:xfrm>
          <a:custGeom>
            <a:avLst/>
            <a:gdLst/>
            <a:ahLst/>
            <a:cxnLst/>
            <a:rect r="r" b="b" t="t" l="l"/>
            <a:pathLst>
              <a:path h="11905421" w="10288805">
                <a:moveTo>
                  <a:pt x="0" y="11905420"/>
                </a:moveTo>
                <a:lnTo>
                  <a:pt x="10288805" y="11905420"/>
                </a:lnTo>
                <a:lnTo>
                  <a:pt x="10288805" y="0"/>
                </a:lnTo>
                <a:lnTo>
                  <a:pt x="0" y="0"/>
                </a:lnTo>
                <a:lnTo>
                  <a:pt x="0" y="11905420"/>
                </a:lnTo>
                <a:close/>
              </a:path>
            </a:pathLst>
          </a:custGeom>
          <a:blipFill>
            <a:blip r:embed="rId3">
              <a:alphaModFix amt="23000"/>
            </a:blip>
            <a:stretch>
              <a:fillRect l="-41760" t="0" r="0" b="0"/>
            </a:stretch>
          </a:blipFill>
        </p:spPr>
      </p:sp>
      <p:sp>
        <p:nvSpPr>
          <p:cNvPr name="Freeform 7" id="7"/>
          <p:cNvSpPr/>
          <p:nvPr/>
        </p:nvSpPr>
        <p:spPr>
          <a:xfrm flipH="false" flipV="false" rot="0">
            <a:off x="15880642" y="9053085"/>
            <a:ext cx="15240000" cy="8229600"/>
          </a:xfrm>
          <a:custGeom>
            <a:avLst/>
            <a:gdLst/>
            <a:ahLst/>
            <a:cxnLst/>
            <a:rect r="r" b="b" t="t" l="l"/>
            <a:pathLst>
              <a:path h="8229600" w="15240000">
                <a:moveTo>
                  <a:pt x="0" y="0"/>
                </a:moveTo>
                <a:lnTo>
                  <a:pt x="15240000" y="0"/>
                </a:lnTo>
                <a:lnTo>
                  <a:pt x="15240000" y="8229600"/>
                </a:lnTo>
                <a:lnTo>
                  <a:pt x="0" y="8229600"/>
                </a:lnTo>
                <a:lnTo>
                  <a:pt x="0" y="0"/>
                </a:lnTo>
                <a:close/>
              </a:path>
            </a:pathLst>
          </a:custGeom>
          <a:blipFill>
            <a:blip r:embed="rId4">
              <a:alphaModFix amt="90000"/>
            </a:blip>
            <a:stretch>
              <a:fillRect l="0" t="0" r="0" b="0"/>
            </a:stretch>
          </a:blipFill>
        </p:spPr>
      </p:sp>
      <p:grpSp>
        <p:nvGrpSpPr>
          <p:cNvPr name="Group 8" id="8"/>
          <p:cNvGrpSpPr/>
          <p:nvPr/>
        </p:nvGrpSpPr>
        <p:grpSpPr>
          <a:xfrm rot="0">
            <a:off x="564886" y="1028700"/>
            <a:ext cx="17301574" cy="3645558"/>
            <a:chOff x="0" y="0"/>
            <a:chExt cx="6675540" cy="1406581"/>
          </a:xfrm>
        </p:grpSpPr>
        <p:sp>
          <p:nvSpPr>
            <p:cNvPr name="Freeform 9" id="9"/>
            <p:cNvSpPr/>
            <p:nvPr/>
          </p:nvSpPr>
          <p:spPr>
            <a:xfrm flipH="false" flipV="false" rot="0">
              <a:off x="0" y="0"/>
              <a:ext cx="6675540" cy="1406581"/>
            </a:xfrm>
            <a:custGeom>
              <a:avLst/>
              <a:gdLst/>
              <a:ahLst/>
              <a:cxnLst/>
              <a:rect r="r" b="b" t="t" l="l"/>
              <a:pathLst>
                <a:path h="1406581" w="6675540">
                  <a:moveTo>
                    <a:pt x="10739" y="0"/>
                  </a:moveTo>
                  <a:lnTo>
                    <a:pt x="6664801" y="0"/>
                  </a:lnTo>
                  <a:cubicBezTo>
                    <a:pt x="6670732" y="0"/>
                    <a:pt x="6675540" y="4808"/>
                    <a:pt x="6675540" y="10739"/>
                  </a:cubicBezTo>
                  <a:lnTo>
                    <a:pt x="6675540" y="1395842"/>
                  </a:lnTo>
                  <a:cubicBezTo>
                    <a:pt x="6675540" y="1401773"/>
                    <a:pt x="6670732" y="1406581"/>
                    <a:pt x="6664801" y="1406581"/>
                  </a:cubicBezTo>
                  <a:lnTo>
                    <a:pt x="10739" y="1406581"/>
                  </a:lnTo>
                  <a:cubicBezTo>
                    <a:pt x="4808" y="1406581"/>
                    <a:pt x="0" y="1401773"/>
                    <a:pt x="0" y="1395842"/>
                  </a:cubicBezTo>
                  <a:lnTo>
                    <a:pt x="0" y="10739"/>
                  </a:lnTo>
                  <a:cubicBezTo>
                    <a:pt x="0" y="4808"/>
                    <a:pt x="4808" y="0"/>
                    <a:pt x="10739" y="0"/>
                  </a:cubicBezTo>
                  <a:close/>
                </a:path>
              </a:pathLst>
            </a:custGeom>
            <a:ln w="38100" cap="rnd">
              <a:gradFill>
                <a:gsLst>
                  <a:gs pos="0">
                    <a:srgbClr val="5B9E51">
                      <a:alpha val="100000"/>
                    </a:srgbClr>
                  </a:gs>
                  <a:gs pos="100000">
                    <a:srgbClr val="FFFFFF">
                      <a:alpha val="100000"/>
                    </a:srgbClr>
                  </a:gs>
                </a:gsLst>
                <a:lin ang="0"/>
              </a:gradFill>
              <a:prstDash val="solid"/>
              <a:round/>
            </a:ln>
          </p:spPr>
        </p:sp>
        <p:sp>
          <p:nvSpPr>
            <p:cNvPr name="TextBox 10" id="10"/>
            <p:cNvSpPr txBox="true"/>
            <p:nvPr/>
          </p:nvSpPr>
          <p:spPr>
            <a:xfrm>
              <a:off x="0" y="28575"/>
              <a:ext cx="6675540" cy="1378006"/>
            </a:xfrm>
            <a:prstGeom prst="rect">
              <a:avLst/>
            </a:prstGeom>
          </p:spPr>
          <p:txBody>
            <a:bodyPr anchor="ctr" rtlCol="false" tIns="50800" lIns="50800" bIns="50800" rIns="50800"/>
            <a:lstStyle/>
            <a:p>
              <a:pPr algn="ctr">
                <a:lnSpc>
                  <a:spcPts val="2000"/>
                </a:lnSpc>
              </a:pPr>
            </a:p>
          </p:txBody>
        </p:sp>
      </p:grpSp>
      <p:sp>
        <p:nvSpPr>
          <p:cNvPr name="Freeform 11" id="11"/>
          <p:cNvSpPr/>
          <p:nvPr/>
        </p:nvSpPr>
        <p:spPr>
          <a:xfrm flipH="false" flipV="false" rot="0">
            <a:off x="2969593" y="-5446885"/>
            <a:ext cx="12734391" cy="8229600"/>
          </a:xfrm>
          <a:custGeom>
            <a:avLst/>
            <a:gdLst/>
            <a:ahLst/>
            <a:cxnLst/>
            <a:rect r="r" b="b" t="t" l="l"/>
            <a:pathLst>
              <a:path h="8229600" w="12734391">
                <a:moveTo>
                  <a:pt x="0" y="0"/>
                </a:moveTo>
                <a:lnTo>
                  <a:pt x="12734391" y="0"/>
                </a:lnTo>
                <a:lnTo>
                  <a:pt x="12734391" y="8229600"/>
                </a:lnTo>
                <a:lnTo>
                  <a:pt x="0" y="8229600"/>
                </a:lnTo>
                <a:lnTo>
                  <a:pt x="0" y="0"/>
                </a:lnTo>
                <a:close/>
              </a:path>
            </a:pathLst>
          </a:custGeom>
          <a:blipFill>
            <a:blip r:embed="rId5"/>
            <a:stretch>
              <a:fillRect l="0" t="0" r="0" b="0"/>
            </a:stretch>
          </a:blipFill>
        </p:spPr>
      </p:sp>
      <p:grpSp>
        <p:nvGrpSpPr>
          <p:cNvPr name="Group 12" id="12"/>
          <p:cNvGrpSpPr/>
          <p:nvPr/>
        </p:nvGrpSpPr>
        <p:grpSpPr>
          <a:xfrm rot="0">
            <a:off x="564886" y="4855233"/>
            <a:ext cx="17301574" cy="5217206"/>
            <a:chOff x="0" y="0"/>
            <a:chExt cx="5316415" cy="1603139"/>
          </a:xfrm>
        </p:grpSpPr>
        <p:sp>
          <p:nvSpPr>
            <p:cNvPr name="Freeform 13" id="13"/>
            <p:cNvSpPr/>
            <p:nvPr/>
          </p:nvSpPr>
          <p:spPr>
            <a:xfrm flipH="false" flipV="false" rot="0">
              <a:off x="0" y="0"/>
              <a:ext cx="5316415" cy="1603139"/>
            </a:xfrm>
            <a:custGeom>
              <a:avLst/>
              <a:gdLst/>
              <a:ahLst/>
              <a:cxnLst/>
              <a:rect r="r" b="b" t="t" l="l"/>
              <a:pathLst>
                <a:path h="1603139" w="5316415">
                  <a:moveTo>
                    <a:pt x="14766" y="0"/>
                  </a:moveTo>
                  <a:lnTo>
                    <a:pt x="5301648" y="0"/>
                  </a:lnTo>
                  <a:cubicBezTo>
                    <a:pt x="5305565" y="0"/>
                    <a:pt x="5309321" y="1556"/>
                    <a:pt x="5312090" y="4325"/>
                  </a:cubicBezTo>
                  <a:cubicBezTo>
                    <a:pt x="5314859" y="7094"/>
                    <a:pt x="5316415" y="10850"/>
                    <a:pt x="5316415" y="14766"/>
                  </a:cubicBezTo>
                  <a:lnTo>
                    <a:pt x="5316415" y="1588373"/>
                  </a:lnTo>
                  <a:cubicBezTo>
                    <a:pt x="5316415" y="1592289"/>
                    <a:pt x="5314859" y="1596045"/>
                    <a:pt x="5312090" y="1598814"/>
                  </a:cubicBezTo>
                  <a:cubicBezTo>
                    <a:pt x="5309321" y="1601584"/>
                    <a:pt x="5305565" y="1603139"/>
                    <a:pt x="5301648" y="1603139"/>
                  </a:cubicBezTo>
                  <a:lnTo>
                    <a:pt x="14766" y="1603139"/>
                  </a:lnTo>
                  <a:cubicBezTo>
                    <a:pt x="10850" y="1603139"/>
                    <a:pt x="7094" y="1601584"/>
                    <a:pt x="4325" y="1598814"/>
                  </a:cubicBezTo>
                  <a:cubicBezTo>
                    <a:pt x="1556" y="1596045"/>
                    <a:pt x="0" y="1592289"/>
                    <a:pt x="0" y="1588373"/>
                  </a:cubicBezTo>
                  <a:lnTo>
                    <a:pt x="0" y="14766"/>
                  </a:lnTo>
                  <a:cubicBezTo>
                    <a:pt x="0" y="10850"/>
                    <a:pt x="1556" y="7094"/>
                    <a:pt x="4325" y="4325"/>
                  </a:cubicBezTo>
                  <a:cubicBezTo>
                    <a:pt x="7094" y="1556"/>
                    <a:pt x="10850" y="0"/>
                    <a:pt x="14766" y="0"/>
                  </a:cubicBezTo>
                  <a:close/>
                </a:path>
              </a:pathLst>
            </a:custGeom>
            <a:ln w="38100" cap="rnd">
              <a:gradFill>
                <a:gsLst>
                  <a:gs pos="0">
                    <a:srgbClr val="5B9E51">
                      <a:alpha val="100000"/>
                    </a:srgbClr>
                  </a:gs>
                  <a:gs pos="100000">
                    <a:srgbClr val="FFFFFF">
                      <a:alpha val="100000"/>
                    </a:srgbClr>
                  </a:gs>
                </a:gsLst>
                <a:lin ang="0"/>
              </a:gradFill>
              <a:prstDash val="solid"/>
              <a:round/>
            </a:ln>
          </p:spPr>
        </p:sp>
        <p:sp>
          <p:nvSpPr>
            <p:cNvPr name="TextBox 14" id="14"/>
            <p:cNvSpPr txBox="true"/>
            <p:nvPr/>
          </p:nvSpPr>
          <p:spPr>
            <a:xfrm>
              <a:off x="0" y="28575"/>
              <a:ext cx="5316415" cy="1574564"/>
            </a:xfrm>
            <a:prstGeom prst="rect">
              <a:avLst/>
            </a:prstGeom>
          </p:spPr>
          <p:txBody>
            <a:bodyPr anchor="ctr" rtlCol="false" tIns="50800" lIns="50800" bIns="50800" rIns="50800"/>
            <a:lstStyle/>
            <a:p>
              <a:pPr algn="ctr">
                <a:lnSpc>
                  <a:spcPts val="2000"/>
                </a:lnSpc>
              </a:pPr>
            </a:p>
          </p:txBody>
        </p:sp>
      </p:grpSp>
      <p:sp>
        <p:nvSpPr>
          <p:cNvPr name="Freeform 15" id="15"/>
          <p:cNvSpPr/>
          <p:nvPr/>
        </p:nvSpPr>
        <p:spPr>
          <a:xfrm flipH="false" flipV="false" rot="0">
            <a:off x="4499448" y="2179676"/>
            <a:ext cx="533258" cy="332619"/>
          </a:xfrm>
          <a:custGeom>
            <a:avLst/>
            <a:gdLst/>
            <a:ahLst/>
            <a:cxnLst/>
            <a:rect r="r" b="b" t="t" l="l"/>
            <a:pathLst>
              <a:path h="332619" w="533258">
                <a:moveTo>
                  <a:pt x="0" y="0"/>
                </a:moveTo>
                <a:lnTo>
                  <a:pt x="533258" y="0"/>
                </a:lnTo>
                <a:lnTo>
                  <a:pt x="533258" y="332620"/>
                </a:lnTo>
                <a:lnTo>
                  <a:pt x="0" y="3326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0161713" y="2044702"/>
            <a:ext cx="580724" cy="602567"/>
          </a:xfrm>
          <a:custGeom>
            <a:avLst/>
            <a:gdLst/>
            <a:ahLst/>
            <a:cxnLst/>
            <a:rect r="r" b="b" t="t" l="l"/>
            <a:pathLst>
              <a:path h="602567" w="580724">
                <a:moveTo>
                  <a:pt x="0" y="0"/>
                </a:moveTo>
                <a:lnTo>
                  <a:pt x="580724" y="0"/>
                </a:lnTo>
                <a:lnTo>
                  <a:pt x="580724" y="602568"/>
                </a:lnTo>
                <a:lnTo>
                  <a:pt x="0" y="6025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12030121" y="2953952"/>
            <a:ext cx="265481" cy="1311017"/>
          </a:xfrm>
          <a:custGeom>
            <a:avLst/>
            <a:gdLst/>
            <a:ahLst/>
            <a:cxnLst/>
            <a:rect r="r" b="b" t="t" l="l"/>
            <a:pathLst>
              <a:path h="1311017" w="265481">
                <a:moveTo>
                  <a:pt x="0" y="0"/>
                </a:moveTo>
                <a:lnTo>
                  <a:pt x="265481" y="0"/>
                </a:lnTo>
                <a:lnTo>
                  <a:pt x="265481" y="1311017"/>
                </a:lnTo>
                <a:lnTo>
                  <a:pt x="0" y="13110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8" id="18"/>
          <p:cNvGrpSpPr/>
          <p:nvPr/>
        </p:nvGrpSpPr>
        <p:grpSpPr>
          <a:xfrm rot="0">
            <a:off x="1277291" y="5655333"/>
            <a:ext cx="2841452" cy="762031"/>
            <a:chOff x="0" y="0"/>
            <a:chExt cx="873119" cy="234156"/>
          </a:xfrm>
        </p:grpSpPr>
        <p:sp>
          <p:nvSpPr>
            <p:cNvPr name="Freeform 19" id="19"/>
            <p:cNvSpPr/>
            <p:nvPr/>
          </p:nvSpPr>
          <p:spPr>
            <a:xfrm flipH="false" flipV="false" rot="0">
              <a:off x="0" y="0"/>
              <a:ext cx="873119" cy="234156"/>
            </a:xfrm>
            <a:custGeom>
              <a:avLst/>
              <a:gdLst/>
              <a:ahLst/>
              <a:cxnLst/>
              <a:rect r="r" b="b" t="t" l="l"/>
              <a:pathLst>
                <a:path h="234156" w="873119">
                  <a:moveTo>
                    <a:pt x="89913" y="0"/>
                  </a:moveTo>
                  <a:lnTo>
                    <a:pt x="783206" y="0"/>
                  </a:lnTo>
                  <a:cubicBezTo>
                    <a:pt x="807053" y="0"/>
                    <a:pt x="829922" y="9473"/>
                    <a:pt x="846784" y="26335"/>
                  </a:cubicBezTo>
                  <a:cubicBezTo>
                    <a:pt x="863646" y="43197"/>
                    <a:pt x="873119" y="66067"/>
                    <a:pt x="873119" y="89913"/>
                  </a:cubicBezTo>
                  <a:lnTo>
                    <a:pt x="873119" y="144243"/>
                  </a:lnTo>
                  <a:cubicBezTo>
                    <a:pt x="873119" y="168090"/>
                    <a:pt x="863646" y="190959"/>
                    <a:pt x="846784" y="207821"/>
                  </a:cubicBezTo>
                  <a:cubicBezTo>
                    <a:pt x="829922" y="224683"/>
                    <a:pt x="807053" y="234156"/>
                    <a:pt x="783206" y="234156"/>
                  </a:cubicBezTo>
                  <a:lnTo>
                    <a:pt x="89913" y="234156"/>
                  </a:lnTo>
                  <a:cubicBezTo>
                    <a:pt x="66067" y="234156"/>
                    <a:pt x="43197" y="224683"/>
                    <a:pt x="26335" y="207821"/>
                  </a:cubicBezTo>
                  <a:cubicBezTo>
                    <a:pt x="9473" y="190959"/>
                    <a:pt x="0" y="168090"/>
                    <a:pt x="0" y="144243"/>
                  </a:cubicBezTo>
                  <a:lnTo>
                    <a:pt x="0" y="89913"/>
                  </a:lnTo>
                  <a:cubicBezTo>
                    <a:pt x="0" y="66067"/>
                    <a:pt x="9473" y="43197"/>
                    <a:pt x="26335" y="26335"/>
                  </a:cubicBezTo>
                  <a:cubicBezTo>
                    <a:pt x="43197" y="9473"/>
                    <a:pt x="66067" y="0"/>
                    <a:pt x="89913" y="0"/>
                  </a:cubicBezTo>
                  <a:close/>
                </a:path>
              </a:pathLst>
            </a:custGeom>
            <a:ln w="38100" cap="rnd">
              <a:gradFill>
                <a:gsLst>
                  <a:gs pos="0">
                    <a:srgbClr val="FFFFFF">
                      <a:alpha val="100000"/>
                    </a:srgbClr>
                  </a:gs>
                  <a:gs pos="25000">
                    <a:srgbClr val="9B9A9A">
                      <a:alpha val="100000"/>
                    </a:srgbClr>
                  </a:gs>
                  <a:gs pos="50000">
                    <a:srgbClr val="FFFFFF">
                      <a:alpha val="100000"/>
                    </a:srgbClr>
                  </a:gs>
                  <a:gs pos="75000">
                    <a:srgbClr val="9C9B9B">
                      <a:alpha val="100000"/>
                    </a:srgbClr>
                  </a:gs>
                  <a:gs pos="100000">
                    <a:srgbClr val="FFFFFF">
                      <a:alpha val="100000"/>
                    </a:srgbClr>
                  </a:gs>
                </a:gsLst>
                <a:lin ang="2700000"/>
              </a:gradFill>
              <a:prstDash val="solid"/>
              <a:round/>
            </a:ln>
          </p:spPr>
        </p:sp>
        <p:sp>
          <p:nvSpPr>
            <p:cNvPr name="TextBox 20" id="20"/>
            <p:cNvSpPr txBox="true"/>
            <p:nvPr/>
          </p:nvSpPr>
          <p:spPr>
            <a:xfrm>
              <a:off x="0" y="28575"/>
              <a:ext cx="873119" cy="205581"/>
            </a:xfrm>
            <a:prstGeom prst="rect">
              <a:avLst/>
            </a:prstGeom>
          </p:spPr>
          <p:txBody>
            <a:bodyPr anchor="ctr" rtlCol="false" tIns="50800" lIns="50800" bIns="50800" rIns="50800"/>
            <a:lstStyle/>
            <a:p>
              <a:pPr algn="ctr">
                <a:lnSpc>
                  <a:spcPts val="2000"/>
                </a:lnSpc>
              </a:pPr>
            </a:p>
          </p:txBody>
        </p:sp>
      </p:grpSp>
      <p:grpSp>
        <p:nvGrpSpPr>
          <p:cNvPr name="Group 21" id="21"/>
          <p:cNvGrpSpPr/>
          <p:nvPr/>
        </p:nvGrpSpPr>
        <p:grpSpPr>
          <a:xfrm rot="0">
            <a:off x="5214474" y="5655333"/>
            <a:ext cx="2841452" cy="762031"/>
            <a:chOff x="0" y="0"/>
            <a:chExt cx="873119" cy="234156"/>
          </a:xfrm>
        </p:grpSpPr>
        <p:sp>
          <p:nvSpPr>
            <p:cNvPr name="Freeform 22" id="22"/>
            <p:cNvSpPr/>
            <p:nvPr/>
          </p:nvSpPr>
          <p:spPr>
            <a:xfrm flipH="false" flipV="false" rot="0">
              <a:off x="0" y="0"/>
              <a:ext cx="873119" cy="234156"/>
            </a:xfrm>
            <a:custGeom>
              <a:avLst/>
              <a:gdLst/>
              <a:ahLst/>
              <a:cxnLst/>
              <a:rect r="r" b="b" t="t" l="l"/>
              <a:pathLst>
                <a:path h="234156" w="873119">
                  <a:moveTo>
                    <a:pt x="89913" y="0"/>
                  </a:moveTo>
                  <a:lnTo>
                    <a:pt x="783206" y="0"/>
                  </a:lnTo>
                  <a:cubicBezTo>
                    <a:pt x="807053" y="0"/>
                    <a:pt x="829922" y="9473"/>
                    <a:pt x="846784" y="26335"/>
                  </a:cubicBezTo>
                  <a:cubicBezTo>
                    <a:pt x="863646" y="43197"/>
                    <a:pt x="873119" y="66067"/>
                    <a:pt x="873119" y="89913"/>
                  </a:cubicBezTo>
                  <a:lnTo>
                    <a:pt x="873119" y="144243"/>
                  </a:lnTo>
                  <a:cubicBezTo>
                    <a:pt x="873119" y="168090"/>
                    <a:pt x="863646" y="190959"/>
                    <a:pt x="846784" y="207821"/>
                  </a:cubicBezTo>
                  <a:cubicBezTo>
                    <a:pt x="829922" y="224683"/>
                    <a:pt x="807053" y="234156"/>
                    <a:pt x="783206" y="234156"/>
                  </a:cubicBezTo>
                  <a:lnTo>
                    <a:pt x="89913" y="234156"/>
                  </a:lnTo>
                  <a:cubicBezTo>
                    <a:pt x="66067" y="234156"/>
                    <a:pt x="43197" y="224683"/>
                    <a:pt x="26335" y="207821"/>
                  </a:cubicBezTo>
                  <a:cubicBezTo>
                    <a:pt x="9473" y="190959"/>
                    <a:pt x="0" y="168090"/>
                    <a:pt x="0" y="144243"/>
                  </a:cubicBezTo>
                  <a:lnTo>
                    <a:pt x="0" y="89913"/>
                  </a:lnTo>
                  <a:cubicBezTo>
                    <a:pt x="0" y="66067"/>
                    <a:pt x="9473" y="43197"/>
                    <a:pt x="26335" y="26335"/>
                  </a:cubicBezTo>
                  <a:cubicBezTo>
                    <a:pt x="43197" y="9473"/>
                    <a:pt x="66067" y="0"/>
                    <a:pt x="89913" y="0"/>
                  </a:cubicBezTo>
                  <a:close/>
                </a:path>
              </a:pathLst>
            </a:custGeom>
            <a:ln w="38100" cap="rnd">
              <a:gradFill>
                <a:gsLst>
                  <a:gs pos="0">
                    <a:srgbClr val="FFFFFF">
                      <a:alpha val="100000"/>
                    </a:srgbClr>
                  </a:gs>
                  <a:gs pos="25000">
                    <a:srgbClr val="9B9A9A">
                      <a:alpha val="100000"/>
                    </a:srgbClr>
                  </a:gs>
                  <a:gs pos="50000">
                    <a:srgbClr val="FFFFFF">
                      <a:alpha val="100000"/>
                    </a:srgbClr>
                  </a:gs>
                  <a:gs pos="75000">
                    <a:srgbClr val="9C9B9B">
                      <a:alpha val="100000"/>
                    </a:srgbClr>
                  </a:gs>
                  <a:gs pos="100000">
                    <a:srgbClr val="FFFFFF">
                      <a:alpha val="100000"/>
                    </a:srgbClr>
                  </a:gs>
                </a:gsLst>
                <a:lin ang="2700000"/>
              </a:gradFill>
              <a:prstDash val="solid"/>
              <a:round/>
            </a:ln>
          </p:spPr>
        </p:sp>
        <p:sp>
          <p:nvSpPr>
            <p:cNvPr name="TextBox 23" id="23"/>
            <p:cNvSpPr txBox="true"/>
            <p:nvPr/>
          </p:nvSpPr>
          <p:spPr>
            <a:xfrm>
              <a:off x="0" y="28575"/>
              <a:ext cx="873119" cy="205581"/>
            </a:xfrm>
            <a:prstGeom prst="rect">
              <a:avLst/>
            </a:prstGeom>
          </p:spPr>
          <p:txBody>
            <a:bodyPr anchor="ctr" rtlCol="false" tIns="50800" lIns="50800" bIns="50800" rIns="50800"/>
            <a:lstStyle/>
            <a:p>
              <a:pPr algn="ctr">
                <a:lnSpc>
                  <a:spcPts val="2000"/>
                </a:lnSpc>
              </a:pPr>
            </a:p>
          </p:txBody>
        </p:sp>
      </p:grpSp>
      <p:grpSp>
        <p:nvGrpSpPr>
          <p:cNvPr name="Group 24" id="24"/>
          <p:cNvGrpSpPr/>
          <p:nvPr/>
        </p:nvGrpSpPr>
        <p:grpSpPr>
          <a:xfrm rot="0">
            <a:off x="9321410" y="5655333"/>
            <a:ext cx="2841452" cy="762031"/>
            <a:chOff x="0" y="0"/>
            <a:chExt cx="873119" cy="234156"/>
          </a:xfrm>
        </p:grpSpPr>
        <p:sp>
          <p:nvSpPr>
            <p:cNvPr name="Freeform 25" id="25"/>
            <p:cNvSpPr/>
            <p:nvPr/>
          </p:nvSpPr>
          <p:spPr>
            <a:xfrm flipH="false" flipV="false" rot="0">
              <a:off x="0" y="0"/>
              <a:ext cx="873119" cy="234156"/>
            </a:xfrm>
            <a:custGeom>
              <a:avLst/>
              <a:gdLst/>
              <a:ahLst/>
              <a:cxnLst/>
              <a:rect r="r" b="b" t="t" l="l"/>
              <a:pathLst>
                <a:path h="234156" w="873119">
                  <a:moveTo>
                    <a:pt x="89913" y="0"/>
                  </a:moveTo>
                  <a:lnTo>
                    <a:pt x="783206" y="0"/>
                  </a:lnTo>
                  <a:cubicBezTo>
                    <a:pt x="807053" y="0"/>
                    <a:pt x="829922" y="9473"/>
                    <a:pt x="846784" y="26335"/>
                  </a:cubicBezTo>
                  <a:cubicBezTo>
                    <a:pt x="863646" y="43197"/>
                    <a:pt x="873119" y="66067"/>
                    <a:pt x="873119" y="89913"/>
                  </a:cubicBezTo>
                  <a:lnTo>
                    <a:pt x="873119" y="144243"/>
                  </a:lnTo>
                  <a:cubicBezTo>
                    <a:pt x="873119" y="168090"/>
                    <a:pt x="863646" y="190959"/>
                    <a:pt x="846784" y="207821"/>
                  </a:cubicBezTo>
                  <a:cubicBezTo>
                    <a:pt x="829922" y="224683"/>
                    <a:pt x="807053" y="234156"/>
                    <a:pt x="783206" y="234156"/>
                  </a:cubicBezTo>
                  <a:lnTo>
                    <a:pt x="89913" y="234156"/>
                  </a:lnTo>
                  <a:cubicBezTo>
                    <a:pt x="66067" y="234156"/>
                    <a:pt x="43197" y="224683"/>
                    <a:pt x="26335" y="207821"/>
                  </a:cubicBezTo>
                  <a:cubicBezTo>
                    <a:pt x="9473" y="190959"/>
                    <a:pt x="0" y="168090"/>
                    <a:pt x="0" y="144243"/>
                  </a:cubicBezTo>
                  <a:lnTo>
                    <a:pt x="0" y="89913"/>
                  </a:lnTo>
                  <a:cubicBezTo>
                    <a:pt x="0" y="66067"/>
                    <a:pt x="9473" y="43197"/>
                    <a:pt x="26335" y="26335"/>
                  </a:cubicBezTo>
                  <a:cubicBezTo>
                    <a:pt x="43197" y="9473"/>
                    <a:pt x="66067" y="0"/>
                    <a:pt x="89913" y="0"/>
                  </a:cubicBezTo>
                  <a:close/>
                </a:path>
              </a:pathLst>
            </a:custGeom>
            <a:ln w="38100" cap="rnd">
              <a:gradFill>
                <a:gsLst>
                  <a:gs pos="0">
                    <a:srgbClr val="FFFFFF">
                      <a:alpha val="100000"/>
                    </a:srgbClr>
                  </a:gs>
                  <a:gs pos="25000">
                    <a:srgbClr val="9B9A9A">
                      <a:alpha val="100000"/>
                    </a:srgbClr>
                  </a:gs>
                  <a:gs pos="50000">
                    <a:srgbClr val="FFFFFF">
                      <a:alpha val="100000"/>
                    </a:srgbClr>
                  </a:gs>
                  <a:gs pos="75000">
                    <a:srgbClr val="9C9B9B">
                      <a:alpha val="100000"/>
                    </a:srgbClr>
                  </a:gs>
                  <a:gs pos="100000">
                    <a:srgbClr val="FFFFFF">
                      <a:alpha val="100000"/>
                    </a:srgbClr>
                  </a:gs>
                </a:gsLst>
                <a:lin ang="2700000"/>
              </a:gradFill>
              <a:prstDash val="solid"/>
              <a:round/>
            </a:ln>
          </p:spPr>
        </p:sp>
        <p:sp>
          <p:nvSpPr>
            <p:cNvPr name="TextBox 26" id="26"/>
            <p:cNvSpPr txBox="true"/>
            <p:nvPr/>
          </p:nvSpPr>
          <p:spPr>
            <a:xfrm>
              <a:off x="0" y="28575"/>
              <a:ext cx="873119" cy="205581"/>
            </a:xfrm>
            <a:prstGeom prst="rect">
              <a:avLst/>
            </a:prstGeom>
          </p:spPr>
          <p:txBody>
            <a:bodyPr anchor="ctr" rtlCol="false" tIns="50800" lIns="50800" bIns="50800" rIns="50800"/>
            <a:lstStyle/>
            <a:p>
              <a:pPr algn="ctr">
                <a:lnSpc>
                  <a:spcPts val="2000"/>
                </a:lnSpc>
              </a:pPr>
            </a:p>
          </p:txBody>
        </p:sp>
      </p:grpSp>
      <p:grpSp>
        <p:nvGrpSpPr>
          <p:cNvPr name="Group 27" id="27"/>
          <p:cNvGrpSpPr/>
          <p:nvPr/>
        </p:nvGrpSpPr>
        <p:grpSpPr>
          <a:xfrm rot="0">
            <a:off x="13718695" y="5655333"/>
            <a:ext cx="3185008" cy="762031"/>
            <a:chOff x="0" y="0"/>
            <a:chExt cx="978687" cy="234156"/>
          </a:xfrm>
        </p:grpSpPr>
        <p:sp>
          <p:nvSpPr>
            <p:cNvPr name="Freeform 28" id="28"/>
            <p:cNvSpPr/>
            <p:nvPr/>
          </p:nvSpPr>
          <p:spPr>
            <a:xfrm flipH="false" flipV="false" rot="0">
              <a:off x="0" y="0"/>
              <a:ext cx="978687" cy="234156"/>
            </a:xfrm>
            <a:custGeom>
              <a:avLst/>
              <a:gdLst/>
              <a:ahLst/>
              <a:cxnLst/>
              <a:rect r="r" b="b" t="t" l="l"/>
              <a:pathLst>
                <a:path h="234156" w="978687">
                  <a:moveTo>
                    <a:pt x="80214" y="0"/>
                  </a:moveTo>
                  <a:lnTo>
                    <a:pt x="898473" y="0"/>
                  </a:lnTo>
                  <a:cubicBezTo>
                    <a:pt x="942774" y="0"/>
                    <a:pt x="978687" y="35913"/>
                    <a:pt x="978687" y="80214"/>
                  </a:cubicBezTo>
                  <a:lnTo>
                    <a:pt x="978687" y="153942"/>
                  </a:lnTo>
                  <a:cubicBezTo>
                    <a:pt x="978687" y="198243"/>
                    <a:pt x="942774" y="234156"/>
                    <a:pt x="898473" y="234156"/>
                  </a:cubicBezTo>
                  <a:lnTo>
                    <a:pt x="80214" y="234156"/>
                  </a:lnTo>
                  <a:cubicBezTo>
                    <a:pt x="58940" y="234156"/>
                    <a:pt x="38537" y="225705"/>
                    <a:pt x="23494" y="210662"/>
                  </a:cubicBezTo>
                  <a:cubicBezTo>
                    <a:pt x="8451" y="195619"/>
                    <a:pt x="0" y="175216"/>
                    <a:pt x="0" y="153942"/>
                  </a:cubicBezTo>
                  <a:lnTo>
                    <a:pt x="0" y="80214"/>
                  </a:lnTo>
                  <a:cubicBezTo>
                    <a:pt x="0" y="35913"/>
                    <a:pt x="35913" y="0"/>
                    <a:pt x="80214" y="0"/>
                  </a:cubicBezTo>
                  <a:close/>
                </a:path>
              </a:pathLst>
            </a:custGeom>
            <a:ln w="38100" cap="rnd">
              <a:gradFill>
                <a:gsLst>
                  <a:gs pos="0">
                    <a:srgbClr val="FFFFFF">
                      <a:alpha val="100000"/>
                    </a:srgbClr>
                  </a:gs>
                  <a:gs pos="25000">
                    <a:srgbClr val="9B9A9A">
                      <a:alpha val="100000"/>
                    </a:srgbClr>
                  </a:gs>
                  <a:gs pos="50000">
                    <a:srgbClr val="FFFFFF">
                      <a:alpha val="100000"/>
                    </a:srgbClr>
                  </a:gs>
                  <a:gs pos="75000">
                    <a:srgbClr val="9C9B9B">
                      <a:alpha val="100000"/>
                    </a:srgbClr>
                  </a:gs>
                  <a:gs pos="100000">
                    <a:srgbClr val="FFFFFF">
                      <a:alpha val="100000"/>
                    </a:srgbClr>
                  </a:gs>
                </a:gsLst>
                <a:lin ang="2700000"/>
              </a:gradFill>
              <a:prstDash val="solid"/>
              <a:round/>
            </a:ln>
          </p:spPr>
        </p:sp>
        <p:sp>
          <p:nvSpPr>
            <p:cNvPr name="TextBox 29" id="29"/>
            <p:cNvSpPr txBox="true"/>
            <p:nvPr/>
          </p:nvSpPr>
          <p:spPr>
            <a:xfrm>
              <a:off x="0" y="28575"/>
              <a:ext cx="978687" cy="205581"/>
            </a:xfrm>
            <a:prstGeom prst="rect">
              <a:avLst/>
            </a:prstGeom>
          </p:spPr>
          <p:txBody>
            <a:bodyPr anchor="ctr" rtlCol="false" tIns="50800" lIns="50800" bIns="50800" rIns="50800"/>
            <a:lstStyle/>
            <a:p>
              <a:pPr algn="ctr">
                <a:lnSpc>
                  <a:spcPts val="2000"/>
                </a:lnSpc>
              </a:pPr>
            </a:p>
          </p:txBody>
        </p:sp>
      </p:grpSp>
      <p:sp>
        <p:nvSpPr>
          <p:cNvPr name="Freeform 30" id="30"/>
          <p:cNvSpPr/>
          <p:nvPr/>
        </p:nvSpPr>
        <p:spPr>
          <a:xfrm flipH="false" flipV="false" rot="5400000">
            <a:off x="2425224" y="6596612"/>
            <a:ext cx="456433" cy="260738"/>
          </a:xfrm>
          <a:custGeom>
            <a:avLst/>
            <a:gdLst/>
            <a:ahLst/>
            <a:cxnLst/>
            <a:rect r="r" b="b" t="t" l="l"/>
            <a:pathLst>
              <a:path h="260738" w="456433">
                <a:moveTo>
                  <a:pt x="0" y="0"/>
                </a:moveTo>
                <a:lnTo>
                  <a:pt x="456433" y="0"/>
                </a:lnTo>
                <a:lnTo>
                  <a:pt x="456433" y="260737"/>
                </a:lnTo>
                <a:lnTo>
                  <a:pt x="0" y="260737"/>
                </a:lnTo>
                <a:lnTo>
                  <a:pt x="0" y="0"/>
                </a:lnTo>
                <a:close/>
              </a:path>
            </a:pathLst>
          </a:custGeom>
          <a:blipFill>
            <a:blip r:embed="rId12"/>
            <a:stretch>
              <a:fillRect l="0" t="0" r="0" b="0"/>
            </a:stretch>
          </a:blipFill>
        </p:spPr>
      </p:sp>
      <p:grpSp>
        <p:nvGrpSpPr>
          <p:cNvPr name="Group 31" id="31"/>
          <p:cNvGrpSpPr/>
          <p:nvPr/>
        </p:nvGrpSpPr>
        <p:grpSpPr>
          <a:xfrm rot="0">
            <a:off x="1179674" y="7036598"/>
            <a:ext cx="3126472" cy="2797279"/>
            <a:chOff x="0" y="0"/>
            <a:chExt cx="823433" cy="736732"/>
          </a:xfrm>
        </p:grpSpPr>
        <p:sp>
          <p:nvSpPr>
            <p:cNvPr name="Freeform 32" id="32"/>
            <p:cNvSpPr/>
            <p:nvPr/>
          </p:nvSpPr>
          <p:spPr>
            <a:xfrm flipH="false" flipV="false" rot="0">
              <a:off x="0" y="0"/>
              <a:ext cx="823433" cy="736732"/>
            </a:xfrm>
            <a:custGeom>
              <a:avLst/>
              <a:gdLst/>
              <a:ahLst/>
              <a:cxnLst/>
              <a:rect r="r" b="b" t="t" l="l"/>
              <a:pathLst>
                <a:path h="736732" w="823433">
                  <a:moveTo>
                    <a:pt x="42096" y="0"/>
                  </a:moveTo>
                  <a:lnTo>
                    <a:pt x="781337" y="0"/>
                  </a:lnTo>
                  <a:cubicBezTo>
                    <a:pt x="804586" y="0"/>
                    <a:pt x="823433" y="18847"/>
                    <a:pt x="823433" y="42096"/>
                  </a:cubicBezTo>
                  <a:lnTo>
                    <a:pt x="823433" y="694636"/>
                  </a:lnTo>
                  <a:cubicBezTo>
                    <a:pt x="823433" y="717885"/>
                    <a:pt x="804586" y="736732"/>
                    <a:pt x="781337" y="736732"/>
                  </a:cubicBezTo>
                  <a:lnTo>
                    <a:pt x="42096" y="736732"/>
                  </a:lnTo>
                  <a:cubicBezTo>
                    <a:pt x="18847" y="736732"/>
                    <a:pt x="0" y="717885"/>
                    <a:pt x="0" y="694636"/>
                  </a:cubicBezTo>
                  <a:lnTo>
                    <a:pt x="0" y="42096"/>
                  </a:lnTo>
                  <a:cubicBezTo>
                    <a:pt x="0" y="18847"/>
                    <a:pt x="18847" y="0"/>
                    <a:pt x="42096" y="0"/>
                  </a:cubicBezTo>
                  <a:close/>
                </a:path>
              </a:pathLst>
            </a:custGeom>
            <a:gradFill rotWithShape="true">
              <a:gsLst>
                <a:gs pos="0">
                  <a:srgbClr val="FFFFFF">
                    <a:alpha val="15000"/>
                  </a:srgbClr>
                </a:gs>
                <a:gs pos="100000">
                  <a:srgbClr val="FFFFFF">
                    <a:alpha val="39500"/>
                  </a:srgbClr>
                </a:gs>
              </a:gsLst>
              <a:lin ang="5400000"/>
            </a:gradFill>
          </p:spPr>
        </p:sp>
        <p:sp>
          <p:nvSpPr>
            <p:cNvPr name="TextBox 33" id="33"/>
            <p:cNvSpPr txBox="true"/>
            <p:nvPr/>
          </p:nvSpPr>
          <p:spPr>
            <a:xfrm>
              <a:off x="0" y="28575"/>
              <a:ext cx="823433" cy="708157"/>
            </a:xfrm>
            <a:prstGeom prst="rect">
              <a:avLst/>
            </a:prstGeom>
          </p:spPr>
          <p:txBody>
            <a:bodyPr anchor="ctr" rtlCol="false" tIns="50800" lIns="50800" bIns="50800" rIns="50800"/>
            <a:lstStyle/>
            <a:p>
              <a:pPr algn="ctr">
                <a:lnSpc>
                  <a:spcPts val="2000"/>
                </a:lnSpc>
              </a:pPr>
            </a:p>
          </p:txBody>
        </p:sp>
      </p:grpSp>
      <p:grpSp>
        <p:nvGrpSpPr>
          <p:cNvPr name="Group 34" id="34"/>
          <p:cNvGrpSpPr/>
          <p:nvPr/>
        </p:nvGrpSpPr>
        <p:grpSpPr>
          <a:xfrm rot="0">
            <a:off x="5202332" y="7036598"/>
            <a:ext cx="3126472" cy="2016487"/>
            <a:chOff x="0" y="0"/>
            <a:chExt cx="823433" cy="531091"/>
          </a:xfrm>
        </p:grpSpPr>
        <p:sp>
          <p:nvSpPr>
            <p:cNvPr name="Freeform 35" id="35"/>
            <p:cNvSpPr/>
            <p:nvPr/>
          </p:nvSpPr>
          <p:spPr>
            <a:xfrm flipH="false" flipV="false" rot="0">
              <a:off x="0" y="0"/>
              <a:ext cx="823433" cy="531091"/>
            </a:xfrm>
            <a:custGeom>
              <a:avLst/>
              <a:gdLst/>
              <a:ahLst/>
              <a:cxnLst/>
              <a:rect r="r" b="b" t="t" l="l"/>
              <a:pathLst>
                <a:path h="531091" w="823433">
                  <a:moveTo>
                    <a:pt x="42096" y="0"/>
                  </a:moveTo>
                  <a:lnTo>
                    <a:pt x="781337" y="0"/>
                  </a:lnTo>
                  <a:cubicBezTo>
                    <a:pt x="804586" y="0"/>
                    <a:pt x="823433" y="18847"/>
                    <a:pt x="823433" y="42096"/>
                  </a:cubicBezTo>
                  <a:lnTo>
                    <a:pt x="823433" y="488995"/>
                  </a:lnTo>
                  <a:cubicBezTo>
                    <a:pt x="823433" y="512244"/>
                    <a:pt x="804586" y="531091"/>
                    <a:pt x="781337" y="531091"/>
                  </a:cubicBezTo>
                  <a:lnTo>
                    <a:pt x="42096" y="531091"/>
                  </a:lnTo>
                  <a:cubicBezTo>
                    <a:pt x="18847" y="531091"/>
                    <a:pt x="0" y="512244"/>
                    <a:pt x="0" y="488995"/>
                  </a:cubicBezTo>
                  <a:lnTo>
                    <a:pt x="0" y="42096"/>
                  </a:lnTo>
                  <a:cubicBezTo>
                    <a:pt x="0" y="18847"/>
                    <a:pt x="18847" y="0"/>
                    <a:pt x="42096" y="0"/>
                  </a:cubicBezTo>
                  <a:close/>
                </a:path>
              </a:pathLst>
            </a:custGeom>
            <a:gradFill rotWithShape="true">
              <a:gsLst>
                <a:gs pos="0">
                  <a:srgbClr val="FFFFFF">
                    <a:alpha val="15000"/>
                  </a:srgbClr>
                </a:gs>
                <a:gs pos="100000">
                  <a:srgbClr val="FFFFFF">
                    <a:alpha val="39500"/>
                  </a:srgbClr>
                </a:gs>
              </a:gsLst>
              <a:lin ang="5400000"/>
            </a:gradFill>
          </p:spPr>
        </p:sp>
        <p:sp>
          <p:nvSpPr>
            <p:cNvPr name="TextBox 36" id="36"/>
            <p:cNvSpPr txBox="true"/>
            <p:nvPr/>
          </p:nvSpPr>
          <p:spPr>
            <a:xfrm>
              <a:off x="0" y="28575"/>
              <a:ext cx="823433" cy="502516"/>
            </a:xfrm>
            <a:prstGeom prst="rect">
              <a:avLst/>
            </a:prstGeom>
          </p:spPr>
          <p:txBody>
            <a:bodyPr anchor="ctr" rtlCol="false" tIns="50800" lIns="50800" bIns="50800" rIns="50800"/>
            <a:lstStyle/>
            <a:p>
              <a:pPr algn="ctr">
                <a:lnSpc>
                  <a:spcPts val="2000"/>
                </a:lnSpc>
              </a:pPr>
            </a:p>
          </p:txBody>
        </p:sp>
      </p:grpSp>
      <p:sp>
        <p:nvSpPr>
          <p:cNvPr name="Freeform 37" id="37"/>
          <p:cNvSpPr/>
          <p:nvPr/>
        </p:nvSpPr>
        <p:spPr>
          <a:xfrm flipH="false" flipV="false" rot="5400000">
            <a:off x="6406983" y="6596612"/>
            <a:ext cx="456433" cy="260738"/>
          </a:xfrm>
          <a:custGeom>
            <a:avLst/>
            <a:gdLst/>
            <a:ahLst/>
            <a:cxnLst/>
            <a:rect r="r" b="b" t="t" l="l"/>
            <a:pathLst>
              <a:path h="260738" w="456433">
                <a:moveTo>
                  <a:pt x="0" y="0"/>
                </a:moveTo>
                <a:lnTo>
                  <a:pt x="456433" y="0"/>
                </a:lnTo>
                <a:lnTo>
                  <a:pt x="456433" y="260737"/>
                </a:lnTo>
                <a:lnTo>
                  <a:pt x="0" y="260737"/>
                </a:lnTo>
                <a:lnTo>
                  <a:pt x="0" y="0"/>
                </a:lnTo>
                <a:close/>
              </a:path>
            </a:pathLst>
          </a:custGeom>
          <a:blipFill>
            <a:blip r:embed="rId13"/>
            <a:stretch>
              <a:fillRect l="0" t="0" r="0" b="0"/>
            </a:stretch>
          </a:blipFill>
        </p:spPr>
      </p:sp>
      <p:grpSp>
        <p:nvGrpSpPr>
          <p:cNvPr name="Group 38" id="38"/>
          <p:cNvGrpSpPr/>
          <p:nvPr/>
        </p:nvGrpSpPr>
        <p:grpSpPr>
          <a:xfrm rot="0">
            <a:off x="9179201" y="7036598"/>
            <a:ext cx="3126472" cy="1343860"/>
            <a:chOff x="0" y="0"/>
            <a:chExt cx="823433" cy="353938"/>
          </a:xfrm>
        </p:grpSpPr>
        <p:sp>
          <p:nvSpPr>
            <p:cNvPr name="Freeform 39" id="39"/>
            <p:cNvSpPr/>
            <p:nvPr/>
          </p:nvSpPr>
          <p:spPr>
            <a:xfrm flipH="false" flipV="false" rot="0">
              <a:off x="0" y="0"/>
              <a:ext cx="823433" cy="353938"/>
            </a:xfrm>
            <a:custGeom>
              <a:avLst/>
              <a:gdLst/>
              <a:ahLst/>
              <a:cxnLst/>
              <a:rect r="r" b="b" t="t" l="l"/>
              <a:pathLst>
                <a:path h="353938" w="823433">
                  <a:moveTo>
                    <a:pt x="42096" y="0"/>
                  </a:moveTo>
                  <a:lnTo>
                    <a:pt x="781337" y="0"/>
                  </a:lnTo>
                  <a:cubicBezTo>
                    <a:pt x="804586" y="0"/>
                    <a:pt x="823433" y="18847"/>
                    <a:pt x="823433" y="42096"/>
                  </a:cubicBezTo>
                  <a:lnTo>
                    <a:pt x="823433" y="311842"/>
                  </a:lnTo>
                  <a:cubicBezTo>
                    <a:pt x="823433" y="335091"/>
                    <a:pt x="804586" y="353938"/>
                    <a:pt x="781337" y="353938"/>
                  </a:cubicBezTo>
                  <a:lnTo>
                    <a:pt x="42096" y="353938"/>
                  </a:lnTo>
                  <a:cubicBezTo>
                    <a:pt x="18847" y="353938"/>
                    <a:pt x="0" y="335091"/>
                    <a:pt x="0" y="311842"/>
                  </a:cubicBezTo>
                  <a:lnTo>
                    <a:pt x="0" y="42096"/>
                  </a:lnTo>
                  <a:cubicBezTo>
                    <a:pt x="0" y="18847"/>
                    <a:pt x="18847" y="0"/>
                    <a:pt x="42096" y="0"/>
                  </a:cubicBezTo>
                  <a:close/>
                </a:path>
              </a:pathLst>
            </a:custGeom>
            <a:gradFill rotWithShape="true">
              <a:gsLst>
                <a:gs pos="0">
                  <a:srgbClr val="FFFFFF">
                    <a:alpha val="15000"/>
                  </a:srgbClr>
                </a:gs>
                <a:gs pos="100000">
                  <a:srgbClr val="FFFFFF">
                    <a:alpha val="39500"/>
                  </a:srgbClr>
                </a:gs>
              </a:gsLst>
              <a:lin ang="5400000"/>
            </a:gradFill>
          </p:spPr>
        </p:sp>
        <p:sp>
          <p:nvSpPr>
            <p:cNvPr name="TextBox 40" id="40"/>
            <p:cNvSpPr txBox="true"/>
            <p:nvPr/>
          </p:nvSpPr>
          <p:spPr>
            <a:xfrm>
              <a:off x="0" y="28575"/>
              <a:ext cx="823433" cy="325363"/>
            </a:xfrm>
            <a:prstGeom prst="rect">
              <a:avLst/>
            </a:prstGeom>
          </p:spPr>
          <p:txBody>
            <a:bodyPr anchor="ctr" rtlCol="false" tIns="50800" lIns="50800" bIns="50800" rIns="50800"/>
            <a:lstStyle/>
            <a:p>
              <a:pPr algn="ctr">
                <a:lnSpc>
                  <a:spcPts val="2000"/>
                </a:lnSpc>
              </a:pPr>
            </a:p>
          </p:txBody>
        </p:sp>
      </p:grpSp>
      <p:sp>
        <p:nvSpPr>
          <p:cNvPr name="Freeform 41" id="41"/>
          <p:cNvSpPr/>
          <p:nvPr/>
        </p:nvSpPr>
        <p:spPr>
          <a:xfrm flipH="false" flipV="false" rot="5400000">
            <a:off x="10514221" y="6596612"/>
            <a:ext cx="456433" cy="260738"/>
          </a:xfrm>
          <a:custGeom>
            <a:avLst/>
            <a:gdLst/>
            <a:ahLst/>
            <a:cxnLst/>
            <a:rect r="r" b="b" t="t" l="l"/>
            <a:pathLst>
              <a:path h="260738" w="456433">
                <a:moveTo>
                  <a:pt x="0" y="0"/>
                </a:moveTo>
                <a:lnTo>
                  <a:pt x="456433" y="0"/>
                </a:lnTo>
                <a:lnTo>
                  <a:pt x="456433" y="260737"/>
                </a:lnTo>
                <a:lnTo>
                  <a:pt x="0" y="260737"/>
                </a:lnTo>
                <a:lnTo>
                  <a:pt x="0" y="0"/>
                </a:lnTo>
                <a:close/>
              </a:path>
            </a:pathLst>
          </a:custGeom>
          <a:blipFill>
            <a:blip r:embed="rId13"/>
            <a:stretch>
              <a:fillRect l="0" t="0" r="0" b="0"/>
            </a:stretch>
          </a:blipFill>
        </p:spPr>
      </p:sp>
      <p:grpSp>
        <p:nvGrpSpPr>
          <p:cNvPr name="Group 42" id="42"/>
          <p:cNvGrpSpPr/>
          <p:nvPr/>
        </p:nvGrpSpPr>
        <p:grpSpPr>
          <a:xfrm rot="0">
            <a:off x="12975579" y="7024315"/>
            <a:ext cx="4683999" cy="2913500"/>
            <a:chOff x="0" y="0"/>
            <a:chExt cx="1233646" cy="767342"/>
          </a:xfrm>
        </p:grpSpPr>
        <p:sp>
          <p:nvSpPr>
            <p:cNvPr name="Freeform 43" id="43"/>
            <p:cNvSpPr/>
            <p:nvPr/>
          </p:nvSpPr>
          <p:spPr>
            <a:xfrm flipH="false" flipV="false" rot="0">
              <a:off x="0" y="0"/>
              <a:ext cx="1233646" cy="767342"/>
            </a:xfrm>
            <a:custGeom>
              <a:avLst/>
              <a:gdLst/>
              <a:ahLst/>
              <a:cxnLst/>
              <a:rect r="r" b="b" t="t" l="l"/>
              <a:pathLst>
                <a:path h="767342" w="1233646">
                  <a:moveTo>
                    <a:pt x="28098" y="0"/>
                  </a:moveTo>
                  <a:lnTo>
                    <a:pt x="1205547" y="0"/>
                  </a:lnTo>
                  <a:cubicBezTo>
                    <a:pt x="1221066" y="0"/>
                    <a:pt x="1233646" y="12580"/>
                    <a:pt x="1233646" y="28098"/>
                  </a:cubicBezTo>
                  <a:lnTo>
                    <a:pt x="1233646" y="739243"/>
                  </a:lnTo>
                  <a:cubicBezTo>
                    <a:pt x="1233646" y="746695"/>
                    <a:pt x="1230685" y="753842"/>
                    <a:pt x="1225416" y="759112"/>
                  </a:cubicBezTo>
                  <a:cubicBezTo>
                    <a:pt x="1220147" y="764381"/>
                    <a:pt x="1213000" y="767342"/>
                    <a:pt x="1205547" y="767342"/>
                  </a:cubicBezTo>
                  <a:lnTo>
                    <a:pt x="28098" y="767342"/>
                  </a:lnTo>
                  <a:cubicBezTo>
                    <a:pt x="12580" y="767342"/>
                    <a:pt x="0" y="754762"/>
                    <a:pt x="0" y="739243"/>
                  </a:cubicBezTo>
                  <a:lnTo>
                    <a:pt x="0" y="28098"/>
                  </a:lnTo>
                  <a:cubicBezTo>
                    <a:pt x="0" y="12580"/>
                    <a:pt x="12580" y="0"/>
                    <a:pt x="28098" y="0"/>
                  </a:cubicBezTo>
                  <a:close/>
                </a:path>
              </a:pathLst>
            </a:custGeom>
            <a:gradFill rotWithShape="true">
              <a:gsLst>
                <a:gs pos="0">
                  <a:srgbClr val="FFFFFF">
                    <a:alpha val="15000"/>
                  </a:srgbClr>
                </a:gs>
                <a:gs pos="100000">
                  <a:srgbClr val="FFFFFF">
                    <a:alpha val="39500"/>
                  </a:srgbClr>
                </a:gs>
              </a:gsLst>
              <a:lin ang="5400000"/>
            </a:gradFill>
          </p:spPr>
        </p:sp>
        <p:sp>
          <p:nvSpPr>
            <p:cNvPr name="TextBox 44" id="44"/>
            <p:cNvSpPr txBox="true"/>
            <p:nvPr/>
          </p:nvSpPr>
          <p:spPr>
            <a:xfrm>
              <a:off x="0" y="28575"/>
              <a:ext cx="1233646" cy="738767"/>
            </a:xfrm>
            <a:prstGeom prst="rect">
              <a:avLst/>
            </a:prstGeom>
          </p:spPr>
          <p:txBody>
            <a:bodyPr anchor="ctr" rtlCol="false" tIns="50800" lIns="50800" bIns="50800" rIns="50800"/>
            <a:lstStyle/>
            <a:p>
              <a:pPr algn="ctr">
                <a:lnSpc>
                  <a:spcPts val="2000"/>
                </a:lnSpc>
              </a:pPr>
            </a:p>
          </p:txBody>
        </p:sp>
      </p:grpSp>
      <p:sp>
        <p:nvSpPr>
          <p:cNvPr name="Freeform 45" id="45"/>
          <p:cNvSpPr/>
          <p:nvPr/>
        </p:nvSpPr>
        <p:spPr>
          <a:xfrm flipH="false" flipV="false" rot="5400000">
            <a:off x="15082982" y="6584329"/>
            <a:ext cx="456433" cy="260738"/>
          </a:xfrm>
          <a:custGeom>
            <a:avLst/>
            <a:gdLst/>
            <a:ahLst/>
            <a:cxnLst/>
            <a:rect r="r" b="b" t="t" l="l"/>
            <a:pathLst>
              <a:path h="260738" w="456433">
                <a:moveTo>
                  <a:pt x="0" y="0"/>
                </a:moveTo>
                <a:lnTo>
                  <a:pt x="456434" y="0"/>
                </a:lnTo>
                <a:lnTo>
                  <a:pt x="456434" y="260737"/>
                </a:lnTo>
                <a:lnTo>
                  <a:pt x="0" y="260737"/>
                </a:lnTo>
                <a:lnTo>
                  <a:pt x="0" y="0"/>
                </a:lnTo>
                <a:close/>
              </a:path>
            </a:pathLst>
          </a:custGeom>
          <a:blipFill>
            <a:blip r:embed="rId13"/>
            <a:stretch>
              <a:fillRect l="0" t="0" r="0" b="0"/>
            </a:stretch>
          </a:blipFill>
        </p:spPr>
      </p:sp>
      <p:sp>
        <p:nvSpPr>
          <p:cNvPr name="Freeform 46" id="46"/>
          <p:cNvSpPr/>
          <p:nvPr/>
        </p:nvSpPr>
        <p:spPr>
          <a:xfrm flipH="false" flipV="false" rot="0">
            <a:off x="4451626" y="5758503"/>
            <a:ext cx="429965" cy="555690"/>
          </a:xfrm>
          <a:custGeom>
            <a:avLst/>
            <a:gdLst/>
            <a:ahLst/>
            <a:cxnLst/>
            <a:rect r="r" b="b" t="t" l="l"/>
            <a:pathLst>
              <a:path h="555690" w="429965">
                <a:moveTo>
                  <a:pt x="0" y="0"/>
                </a:moveTo>
                <a:lnTo>
                  <a:pt x="429965" y="0"/>
                </a:lnTo>
                <a:lnTo>
                  <a:pt x="429965" y="555690"/>
                </a:lnTo>
                <a:lnTo>
                  <a:pt x="0" y="55569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47" id="47"/>
          <p:cNvSpPr txBox="true"/>
          <p:nvPr/>
        </p:nvSpPr>
        <p:spPr>
          <a:xfrm rot="0">
            <a:off x="564886" y="218800"/>
            <a:ext cx="17723114" cy="628695"/>
          </a:xfrm>
          <a:prstGeom prst="rect">
            <a:avLst/>
          </a:prstGeom>
        </p:spPr>
        <p:txBody>
          <a:bodyPr anchor="t" rtlCol="false" tIns="0" lIns="0" bIns="0" rIns="0">
            <a:spAutoFit/>
          </a:bodyPr>
          <a:lstStyle/>
          <a:p>
            <a:pPr algn="ctr" marL="0" indent="0" lvl="0">
              <a:lnSpc>
                <a:spcPts val="5249"/>
              </a:lnSpc>
            </a:pPr>
            <a:r>
              <a:rPr lang="en-US" b="true" sz="3499" spc="10">
                <a:solidFill>
                  <a:srgbClr val="F3740B"/>
                </a:solidFill>
                <a:latin typeface="Inter Ultra-Bold"/>
                <a:ea typeface="Inter Ultra-Bold"/>
                <a:cs typeface="Inter Ultra-Bold"/>
                <a:sym typeface="Inter Ultra-Bold"/>
              </a:rPr>
              <a:t>TIÊU CHÍ ĐÁNH GIÁ VÀ FRAMWORK ĐÁNH GIÁ CHẤT LƯỢNG CAMPAIGN</a:t>
            </a:r>
          </a:p>
        </p:txBody>
      </p:sp>
      <p:sp>
        <p:nvSpPr>
          <p:cNvPr name="TextBox 48" id="48"/>
          <p:cNvSpPr txBox="true"/>
          <p:nvPr/>
        </p:nvSpPr>
        <p:spPr>
          <a:xfrm rot="25839">
            <a:off x="608099" y="9725281"/>
            <a:ext cx="3830089" cy="198142"/>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1.</a:t>
            </a:r>
          </a:p>
        </p:txBody>
      </p:sp>
      <p:sp>
        <p:nvSpPr>
          <p:cNvPr name="TextBox 49" id="49"/>
          <p:cNvSpPr txBox="true"/>
          <p:nvPr/>
        </p:nvSpPr>
        <p:spPr>
          <a:xfrm rot="0">
            <a:off x="1263064" y="1833699"/>
            <a:ext cx="2607088" cy="1017780"/>
          </a:xfrm>
          <a:prstGeom prst="rect">
            <a:avLst/>
          </a:prstGeom>
        </p:spPr>
        <p:txBody>
          <a:bodyPr anchor="t" rtlCol="false" tIns="0" lIns="0" bIns="0" rIns="0">
            <a:spAutoFit/>
          </a:bodyPr>
          <a:lstStyle/>
          <a:p>
            <a:pPr algn="just">
              <a:lnSpc>
                <a:spcPts val="4051"/>
              </a:lnSpc>
            </a:pPr>
            <a:r>
              <a:rPr lang="en-US" b="true" sz="3116" i="true">
                <a:solidFill>
                  <a:srgbClr val="11C96B"/>
                </a:solidFill>
                <a:latin typeface="Montserrat Heavy Italics"/>
                <a:ea typeface="Montserrat Heavy Italics"/>
                <a:cs typeface="Montserrat Heavy Italics"/>
                <a:sym typeface="Montserrat Heavy Italics"/>
              </a:rPr>
              <a:t>Campaign </a:t>
            </a:r>
          </a:p>
          <a:p>
            <a:pPr algn="just">
              <a:lnSpc>
                <a:spcPts val="4051"/>
              </a:lnSpc>
            </a:pPr>
            <a:r>
              <a:rPr lang="en-US" b="true" sz="3116" i="true">
                <a:solidFill>
                  <a:srgbClr val="11C96B"/>
                </a:solidFill>
                <a:latin typeface="Montserrat Heavy Italics"/>
                <a:ea typeface="Montserrat Heavy Italics"/>
                <a:cs typeface="Montserrat Heavy Italics"/>
                <a:sym typeface="Montserrat Heavy Italics"/>
              </a:rPr>
              <a:t>chất lượng</a:t>
            </a:r>
          </a:p>
        </p:txBody>
      </p:sp>
      <p:sp>
        <p:nvSpPr>
          <p:cNvPr name="TextBox 50" id="50"/>
          <p:cNvSpPr txBox="true"/>
          <p:nvPr/>
        </p:nvSpPr>
        <p:spPr>
          <a:xfrm rot="0">
            <a:off x="6118556" y="1833699"/>
            <a:ext cx="2957308" cy="1017780"/>
          </a:xfrm>
          <a:prstGeom prst="rect">
            <a:avLst/>
          </a:prstGeom>
        </p:spPr>
        <p:txBody>
          <a:bodyPr anchor="t" rtlCol="false" tIns="0" lIns="0" bIns="0" rIns="0">
            <a:spAutoFit/>
          </a:bodyPr>
          <a:lstStyle/>
          <a:p>
            <a:pPr algn="just">
              <a:lnSpc>
                <a:spcPts val="4051"/>
              </a:lnSpc>
            </a:pPr>
            <a:r>
              <a:rPr lang="en-US" b="true" sz="3116" i="true">
                <a:solidFill>
                  <a:srgbClr val="2BBBED"/>
                </a:solidFill>
                <a:latin typeface="Montserrat Heavy Italics"/>
                <a:ea typeface="Montserrat Heavy Italics"/>
                <a:cs typeface="Montserrat Heavy Italics"/>
                <a:sym typeface="Montserrat Heavy Italics"/>
              </a:rPr>
              <a:t>Campaign thu hút NPU</a:t>
            </a:r>
          </a:p>
        </p:txBody>
      </p:sp>
      <p:sp>
        <p:nvSpPr>
          <p:cNvPr name="TextBox 51" id="51"/>
          <p:cNvSpPr txBox="true"/>
          <p:nvPr/>
        </p:nvSpPr>
        <p:spPr>
          <a:xfrm rot="0">
            <a:off x="12226075" y="1795800"/>
            <a:ext cx="2667996" cy="1017780"/>
          </a:xfrm>
          <a:prstGeom prst="rect">
            <a:avLst/>
          </a:prstGeom>
        </p:spPr>
        <p:txBody>
          <a:bodyPr anchor="t" rtlCol="false" tIns="0" lIns="0" bIns="0" rIns="0">
            <a:spAutoFit/>
          </a:bodyPr>
          <a:lstStyle/>
          <a:p>
            <a:pPr algn="l">
              <a:lnSpc>
                <a:spcPts val="4051"/>
              </a:lnSpc>
            </a:pPr>
            <a:r>
              <a:rPr lang="en-US" b="true" sz="3116" i="true">
                <a:solidFill>
                  <a:srgbClr val="FFDE59"/>
                </a:solidFill>
                <a:latin typeface="Montserrat Heavy Italics"/>
                <a:ea typeface="Montserrat Heavy Italics"/>
                <a:cs typeface="Montserrat Heavy Italics"/>
                <a:sym typeface="Montserrat Heavy Italics"/>
              </a:rPr>
              <a:t>Người dùng chất lượng</a:t>
            </a:r>
          </a:p>
        </p:txBody>
      </p:sp>
      <p:sp>
        <p:nvSpPr>
          <p:cNvPr name="TextBox 52" id="52"/>
          <p:cNvSpPr txBox="true"/>
          <p:nvPr/>
        </p:nvSpPr>
        <p:spPr>
          <a:xfrm rot="0">
            <a:off x="5824296" y="3030941"/>
            <a:ext cx="3251567" cy="264204"/>
          </a:xfrm>
          <a:prstGeom prst="rect">
            <a:avLst/>
          </a:prstGeom>
        </p:spPr>
        <p:txBody>
          <a:bodyPr anchor="t" rtlCol="false" tIns="0" lIns="0" bIns="0" rIns="0">
            <a:spAutoFit/>
          </a:bodyPr>
          <a:lstStyle/>
          <a:p>
            <a:pPr algn="l" marL="345439" indent="-172720" lvl="1">
              <a:lnSpc>
                <a:spcPts val="2239"/>
              </a:lnSpc>
              <a:buFont typeface="Arial"/>
              <a:buChar char="•"/>
            </a:pPr>
            <a:r>
              <a:rPr lang="en-US" sz="1599" i="true">
                <a:solidFill>
                  <a:srgbClr val="FFFFFF"/>
                </a:solidFill>
                <a:latin typeface="Montserrat Italics"/>
                <a:ea typeface="Montserrat Italics"/>
                <a:cs typeface="Montserrat Italics"/>
                <a:sym typeface="Montserrat Italics"/>
              </a:rPr>
              <a:t>Số lượng NPU thu hút (cao)</a:t>
            </a:r>
          </a:p>
        </p:txBody>
      </p:sp>
      <p:sp>
        <p:nvSpPr>
          <p:cNvPr name="TextBox 53" id="53"/>
          <p:cNvSpPr txBox="true"/>
          <p:nvPr/>
        </p:nvSpPr>
        <p:spPr>
          <a:xfrm rot="0">
            <a:off x="12324028" y="2925377"/>
            <a:ext cx="5196976" cy="1369281"/>
          </a:xfrm>
          <a:prstGeom prst="rect">
            <a:avLst/>
          </a:prstGeom>
        </p:spPr>
        <p:txBody>
          <a:bodyPr anchor="t" rtlCol="false" tIns="0" lIns="0" bIns="0" rIns="0">
            <a:spAutoFit/>
          </a:bodyPr>
          <a:lstStyle/>
          <a:p>
            <a:pPr algn="l" marL="345439" indent="-172720" lvl="1">
              <a:lnSpc>
                <a:spcPts val="2239"/>
              </a:lnSpc>
              <a:buFont typeface="Arial"/>
              <a:buChar char="•"/>
            </a:pPr>
            <a:r>
              <a:rPr lang="en-US" sz="1599" i="true">
                <a:solidFill>
                  <a:srgbClr val="FFFFFF"/>
                </a:solidFill>
                <a:latin typeface="Montserrat Italics"/>
                <a:ea typeface="Montserrat Italics"/>
                <a:cs typeface="Montserrat Italics"/>
                <a:sym typeface="Montserrat Italics"/>
              </a:rPr>
              <a:t>Tỷ lệ khách hàng quay lại (cao)</a:t>
            </a:r>
          </a:p>
          <a:p>
            <a:pPr algn="l" marL="345439" indent="-172720" lvl="1">
              <a:lnSpc>
                <a:spcPts val="2239"/>
              </a:lnSpc>
              <a:buFont typeface="Arial"/>
              <a:buChar char="•"/>
            </a:pPr>
            <a:r>
              <a:rPr lang="en-US" sz="1599" i="true">
                <a:solidFill>
                  <a:srgbClr val="FFFFFF"/>
                </a:solidFill>
                <a:latin typeface="Montserrat Italics"/>
                <a:ea typeface="Montserrat Italics"/>
                <a:cs typeface="Montserrat Italics"/>
                <a:sym typeface="Montserrat Italics"/>
              </a:rPr>
              <a:t>Mức độ tương tác (cao)</a:t>
            </a:r>
          </a:p>
          <a:p>
            <a:pPr algn="l" marL="345439" indent="-172720" lvl="1">
              <a:lnSpc>
                <a:spcPts val="2239"/>
              </a:lnSpc>
              <a:buFont typeface="Arial"/>
              <a:buChar char="•"/>
            </a:pPr>
            <a:r>
              <a:rPr lang="en-US" sz="1599" i="true">
                <a:solidFill>
                  <a:srgbClr val="FFFFFF"/>
                </a:solidFill>
                <a:latin typeface="Montserrat Italics"/>
                <a:ea typeface="Montserrat Italics"/>
                <a:cs typeface="Montserrat Italics"/>
                <a:sym typeface="Montserrat Italics"/>
              </a:rPr>
              <a:t>Khả năng chi tiêu (cao)</a:t>
            </a:r>
          </a:p>
          <a:p>
            <a:pPr algn="l" marL="345439" indent="-172720" lvl="1">
              <a:lnSpc>
                <a:spcPts val="2239"/>
              </a:lnSpc>
              <a:buFont typeface="Arial"/>
              <a:buChar char="•"/>
            </a:pPr>
            <a:r>
              <a:rPr lang="en-US" sz="1599" i="true">
                <a:solidFill>
                  <a:srgbClr val="FFFFFF"/>
                </a:solidFill>
                <a:latin typeface="Montserrat Italics"/>
                <a:ea typeface="Montserrat Italics"/>
                <a:cs typeface="Montserrat Italics"/>
                <a:sym typeface="Montserrat Italics"/>
              </a:rPr>
              <a:t>Mức độ phụ thuộc khuyến mãi (thấp)</a:t>
            </a:r>
          </a:p>
          <a:p>
            <a:pPr algn="l" marL="345439" indent="-172720" lvl="1">
              <a:lnSpc>
                <a:spcPts val="2239"/>
              </a:lnSpc>
              <a:buFont typeface="Arial"/>
              <a:buChar char="•"/>
            </a:pPr>
            <a:r>
              <a:rPr lang="en-US" sz="1599" i="true">
                <a:solidFill>
                  <a:srgbClr val="FFFFFF"/>
                </a:solidFill>
                <a:latin typeface="Montserrat Italics"/>
                <a:ea typeface="Montserrat Italics"/>
                <a:cs typeface="Montserrat Italics"/>
                <a:sym typeface="Montserrat Italics"/>
              </a:rPr>
              <a:t>Đa dạng hành vi sử dụng dịch vụ (cao)</a:t>
            </a:r>
          </a:p>
        </p:txBody>
      </p:sp>
      <p:sp>
        <p:nvSpPr>
          <p:cNvPr name="TextBox 54" id="54"/>
          <p:cNvSpPr txBox="true"/>
          <p:nvPr/>
        </p:nvSpPr>
        <p:spPr>
          <a:xfrm rot="0">
            <a:off x="5339170" y="1257273"/>
            <a:ext cx="7473387" cy="371475"/>
          </a:xfrm>
          <a:prstGeom prst="rect">
            <a:avLst/>
          </a:prstGeom>
        </p:spPr>
        <p:txBody>
          <a:bodyPr anchor="t" rtlCol="false" tIns="0" lIns="0" bIns="0" rIns="0">
            <a:spAutoFit/>
          </a:bodyPr>
          <a:lstStyle/>
          <a:p>
            <a:pPr algn="ctr" marL="0" indent="0" lvl="0">
              <a:lnSpc>
                <a:spcPts val="3000"/>
              </a:lnSpc>
            </a:pPr>
            <a:r>
              <a:rPr lang="en-US" b="true" sz="2000" spc="6">
                <a:solidFill>
                  <a:srgbClr val="FFFFFF"/>
                </a:solidFill>
                <a:latin typeface="Inter Ultra-Bold"/>
                <a:ea typeface="Inter Ultra-Bold"/>
                <a:cs typeface="Inter Ultra-Bold"/>
                <a:sym typeface="Inter Ultra-Bold"/>
              </a:rPr>
              <a:t>TIÊU CHÍ ĐÁNH GIÁ CHIẾN DỊCH TỐT</a:t>
            </a:r>
          </a:p>
        </p:txBody>
      </p:sp>
      <p:sp>
        <p:nvSpPr>
          <p:cNvPr name="TextBox 55" id="55"/>
          <p:cNvSpPr txBox="true"/>
          <p:nvPr/>
        </p:nvSpPr>
        <p:spPr>
          <a:xfrm rot="0">
            <a:off x="5407306" y="5083833"/>
            <a:ext cx="7473387" cy="371475"/>
          </a:xfrm>
          <a:prstGeom prst="rect">
            <a:avLst/>
          </a:prstGeom>
        </p:spPr>
        <p:txBody>
          <a:bodyPr anchor="t" rtlCol="false" tIns="0" lIns="0" bIns="0" rIns="0">
            <a:spAutoFit/>
          </a:bodyPr>
          <a:lstStyle/>
          <a:p>
            <a:pPr algn="ctr" marL="0" indent="0" lvl="0">
              <a:lnSpc>
                <a:spcPts val="3000"/>
              </a:lnSpc>
            </a:pPr>
            <a:r>
              <a:rPr lang="en-US" b="true" sz="2000" spc="6">
                <a:solidFill>
                  <a:srgbClr val="FFFFFF"/>
                </a:solidFill>
                <a:latin typeface="Inter Ultra-Bold"/>
                <a:ea typeface="Inter Ultra-Bold"/>
                <a:cs typeface="Inter Ultra-Bold"/>
                <a:sym typeface="Inter Ultra-Bold"/>
              </a:rPr>
              <a:t>FRAMWORK</a:t>
            </a:r>
            <a:r>
              <a:rPr lang="en-US" b="true" sz="2000" spc="6">
                <a:solidFill>
                  <a:srgbClr val="FFFFFF"/>
                </a:solidFill>
                <a:latin typeface="Inter Ultra-Bold"/>
                <a:ea typeface="Inter Ultra-Bold"/>
                <a:cs typeface="Inter Ultra-Bold"/>
                <a:sym typeface="Inter Ultra-Bold"/>
              </a:rPr>
              <a:t> XÁC ĐỊNH CAMPAIGN TỐT VÀ KHÔNG TỐT</a:t>
            </a:r>
          </a:p>
        </p:txBody>
      </p:sp>
      <p:sp>
        <p:nvSpPr>
          <p:cNvPr name="TextBox 56" id="56"/>
          <p:cNvSpPr txBox="true"/>
          <p:nvPr/>
        </p:nvSpPr>
        <p:spPr>
          <a:xfrm rot="0">
            <a:off x="1614100" y="5889958"/>
            <a:ext cx="2167834" cy="264204"/>
          </a:xfrm>
          <a:prstGeom prst="rect">
            <a:avLst/>
          </a:prstGeom>
        </p:spPr>
        <p:txBody>
          <a:bodyPr anchor="t" rtlCol="false" tIns="0" lIns="0" bIns="0" rIns="0">
            <a:spAutoFit/>
          </a:bodyPr>
          <a:lstStyle/>
          <a:p>
            <a:pPr algn="l">
              <a:lnSpc>
                <a:spcPts val="2239"/>
              </a:lnSpc>
            </a:pPr>
            <a:r>
              <a:rPr lang="en-US" sz="1599" i="true">
                <a:solidFill>
                  <a:srgbClr val="FFFFFF"/>
                </a:solidFill>
                <a:latin typeface="Montserrat Italics"/>
                <a:ea typeface="Montserrat Italics"/>
                <a:cs typeface="Montserrat Italics"/>
                <a:sym typeface="Montserrat Italics"/>
              </a:rPr>
              <a:t>Feature Engineering</a:t>
            </a:r>
          </a:p>
        </p:txBody>
      </p:sp>
      <p:sp>
        <p:nvSpPr>
          <p:cNvPr name="TextBox 57" id="57"/>
          <p:cNvSpPr txBox="true"/>
          <p:nvPr/>
        </p:nvSpPr>
        <p:spPr>
          <a:xfrm rot="0">
            <a:off x="5554658" y="5889958"/>
            <a:ext cx="2167834" cy="264204"/>
          </a:xfrm>
          <a:prstGeom prst="rect">
            <a:avLst/>
          </a:prstGeom>
        </p:spPr>
        <p:txBody>
          <a:bodyPr anchor="t" rtlCol="false" tIns="0" lIns="0" bIns="0" rIns="0">
            <a:spAutoFit/>
          </a:bodyPr>
          <a:lstStyle/>
          <a:p>
            <a:pPr algn="l">
              <a:lnSpc>
                <a:spcPts val="2239"/>
              </a:lnSpc>
            </a:pPr>
            <a:r>
              <a:rPr lang="en-US" sz="1599" i="true">
                <a:solidFill>
                  <a:srgbClr val="FFFFFF"/>
                </a:solidFill>
                <a:latin typeface="Montserrat Italics"/>
                <a:ea typeface="Montserrat Italics"/>
                <a:cs typeface="Montserrat Italics"/>
                <a:sym typeface="Montserrat Italics"/>
              </a:rPr>
              <a:t>Data Preprocessing</a:t>
            </a:r>
          </a:p>
        </p:txBody>
      </p:sp>
      <p:sp>
        <p:nvSpPr>
          <p:cNvPr name="TextBox 58" id="58"/>
          <p:cNvSpPr txBox="true"/>
          <p:nvPr/>
        </p:nvSpPr>
        <p:spPr>
          <a:xfrm rot="0">
            <a:off x="9694208" y="5889958"/>
            <a:ext cx="2167834" cy="264204"/>
          </a:xfrm>
          <a:prstGeom prst="rect">
            <a:avLst/>
          </a:prstGeom>
        </p:spPr>
        <p:txBody>
          <a:bodyPr anchor="t" rtlCol="false" tIns="0" lIns="0" bIns="0" rIns="0">
            <a:spAutoFit/>
          </a:bodyPr>
          <a:lstStyle/>
          <a:p>
            <a:pPr algn="l">
              <a:lnSpc>
                <a:spcPts val="2239"/>
              </a:lnSpc>
            </a:pPr>
            <a:r>
              <a:rPr lang="en-US" sz="1599" i="true">
                <a:solidFill>
                  <a:srgbClr val="FFFFFF"/>
                </a:solidFill>
                <a:latin typeface="Montserrat Italics"/>
                <a:ea typeface="Montserrat Italics"/>
                <a:cs typeface="Montserrat Italics"/>
                <a:sym typeface="Montserrat Italics"/>
              </a:rPr>
              <a:t>K-means Clustering</a:t>
            </a:r>
          </a:p>
        </p:txBody>
      </p:sp>
      <p:sp>
        <p:nvSpPr>
          <p:cNvPr name="TextBox 59" id="59"/>
          <p:cNvSpPr txBox="true"/>
          <p:nvPr/>
        </p:nvSpPr>
        <p:spPr>
          <a:xfrm rot="0">
            <a:off x="13952971" y="5889958"/>
            <a:ext cx="2716457" cy="264204"/>
          </a:xfrm>
          <a:prstGeom prst="rect">
            <a:avLst/>
          </a:prstGeom>
        </p:spPr>
        <p:txBody>
          <a:bodyPr anchor="t" rtlCol="false" tIns="0" lIns="0" bIns="0" rIns="0">
            <a:spAutoFit/>
          </a:bodyPr>
          <a:lstStyle/>
          <a:p>
            <a:pPr algn="l">
              <a:lnSpc>
                <a:spcPts val="2239"/>
              </a:lnSpc>
            </a:pPr>
            <a:r>
              <a:rPr lang="en-US" sz="1599" i="true">
                <a:solidFill>
                  <a:srgbClr val="FFFFFF"/>
                </a:solidFill>
                <a:latin typeface="Montserrat Italics"/>
                <a:ea typeface="Montserrat Italics"/>
                <a:cs typeface="Montserrat Italics"/>
                <a:sym typeface="Montserrat Italics"/>
              </a:rPr>
              <a:t>Campaign Action Matrix</a:t>
            </a:r>
          </a:p>
        </p:txBody>
      </p:sp>
      <p:sp>
        <p:nvSpPr>
          <p:cNvPr name="TextBox 60" id="60"/>
          <p:cNvSpPr txBox="true"/>
          <p:nvPr/>
        </p:nvSpPr>
        <p:spPr>
          <a:xfrm rot="0">
            <a:off x="1389860" y="7173995"/>
            <a:ext cx="2787899" cy="2503435"/>
          </a:xfrm>
          <a:prstGeom prst="rect">
            <a:avLst/>
          </a:prstGeom>
        </p:spPr>
        <p:txBody>
          <a:bodyPr anchor="t" rtlCol="false" tIns="0" lIns="0" bIns="0" rIns="0">
            <a:spAutoFit/>
          </a:bodyPr>
          <a:lstStyle/>
          <a:p>
            <a:pPr algn="l">
              <a:lnSpc>
                <a:spcPts val="1679"/>
              </a:lnSpc>
            </a:pPr>
            <a:r>
              <a:rPr lang="en-US" sz="1200" i="true">
                <a:solidFill>
                  <a:srgbClr val="FFFFFF"/>
                </a:solidFill>
                <a:latin typeface="Montserrat Italics"/>
                <a:ea typeface="Montserrat Italics"/>
                <a:cs typeface="Montserrat Italics"/>
                <a:sym typeface="Montserrat Italics"/>
              </a:rPr>
              <a:t>Xây dựng 10 biến đặc trưng dựa trên 5 tiêu chí sau lần đầu giao dịch</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has_repeat</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days_to_2nd</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tx_count_after</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active_weeks</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post_user_charge</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organic_tx_rate</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has_organic</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first_disc_rate</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category_count</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merchant_count</a:t>
            </a:r>
          </a:p>
        </p:txBody>
      </p:sp>
      <p:sp>
        <p:nvSpPr>
          <p:cNvPr name="TextBox 61" id="61"/>
          <p:cNvSpPr txBox="true"/>
          <p:nvPr/>
        </p:nvSpPr>
        <p:spPr>
          <a:xfrm rot="0">
            <a:off x="5348724" y="7212372"/>
            <a:ext cx="2787899" cy="1665146"/>
          </a:xfrm>
          <a:prstGeom prst="rect">
            <a:avLst/>
          </a:prstGeom>
        </p:spPr>
        <p:txBody>
          <a:bodyPr anchor="t" rtlCol="false" tIns="0" lIns="0" bIns="0" rIns="0">
            <a:spAutoFit/>
          </a:bodyPr>
          <a:lstStyle/>
          <a:p>
            <a:pPr algn="l">
              <a:lnSpc>
                <a:spcPts val="1679"/>
              </a:lnSpc>
            </a:pPr>
            <a:r>
              <a:rPr lang="en-US" sz="1200" i="true">
                <a:solidFill>
                  <a:srgbClr val="FFFFFF"/>
                </a:solidFill>
                <a:latin typeface="Montserrat Italics"/>
                <a:ea typeface="Montserrat Italics"/>
                <a:cs typeface="Montserrat Italics"/>
                <a:sym typeface="Montserrat Italics"/>
              </a:rPr>
              <a:t>Giảm ảnh hưởng outlier và chuẩn hóa thang đo giữa các feature.</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Log transform các feature lệch phải</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Cap outliers để giảm ảnh hưởng giá trị bất thường</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Robust Scaling để chuẩn hóa thang đo giữa các feature</a:t>
            </a:r>
          </a:p>
        </p:txBody>
      </p:sp>
      <p:sp>
        <p:nvSpPr>
          <p:cNvPr name="TextBox 62" id="62"/>
          <p:cNvSpPr txBox="true"/>
          <p:nvPr/>
        </p:nvSpPr>
        <p:spPr>
          <a:xfrm rot="0">
            <a:off x="9384176" y="7212372"/>
            <a:ext cx="2787899" cy="1036430"/>
          </a:xfrm>
          <a:prstGeom prst="rect">
            <a:avLst/>
          </a:prstGeom>
        </p:spPr>
        <p:txBody>
          <a:bodyPr anchor="t" rtlCol="false" tIns="0" lIns="0" bIns="0" rIns="0">
            <a:spAutoFit/>
          </a:bodyPr>
          <a:lstStyle/>
          <a:p>
            <a:pPr algn="l">
              <a:lnSpc>
                <a:spcPts val="1679"/>
              </a:lnSpc>
            </a:pPr>
            <a:r>
              <a:rPr lang="en-US" sz="1200" i="true">
                <a:solidFill>
                  <a:srgbClr val="FFFFFF"/>
                </a:solidFill>
                <a:latin typeface="Montserrat Italics"/>
                <a:ea typeface="Montserrat Italics"/>
                <a:cs typeface="Montserrat Italics"/>
                <a:sym typeface="Montserrat Italics"/>
              </a:rPr>
              <a:t>Tiến trình thực hiện phần cụm:</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Chọn số lượng cụm</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Khởi tạo tâm cụm</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Phân cụm dữ liệu</a:t>
            </a:r>
          </a:p>
          <a:p>
            <a:pPr algn="l" marL="259080" indent="-129540" lvl="1">
              <a:lnSpc>
                <a:spcPts val="1679"/>
              </a:lnSpc>
              <a:buFont typeface="Arial"/>
              <a:buChar char="•"/>
            </a:pPr>
            <a:r>
              <a:rPr lang="en-US" sz="1200" i="true">
                <a:solidFill>
                  <a:srgbClr val="FFFFFF"/>
                </a:solidFill>
                <a:latin typeface="Montserrat Italics"/>
                <a:ea typeface="Montserrat Italics"/>
                <a:cs typeface="Montserrat Italics"/>
                <a:sym typeface="Montserrat Italics"/>
              </a:rPr>
              <a:t>Cập nhật tâm cụm</a:t>
            </a:r>
          </a:p>
        </p:txBody>
      </p:sp>
      <p:sp>
        <p:nvSpPr>
          <p:cNvPr name="TextBox 63" id="63"/>
          <p:cNvSpPr txBox="true"/>
          <p:nvPr/>
        </p:nvSpPr>
        <p:spPr>
          <a:xfrm rot="0">
            <a:off x="13095676" y="7278781"/>
            <a:ext cx="4628921" cy="2503170"/>
          </a:xfrm>
          <a:prstGeom prst="rect">
            <a:avLst/>
          </a:prstGeom>
        </p:spPr>
        <p:txBody>
          <a:bodyPr anchor="t" rtlCol="false" tIns="0" lIns="0" bIns="0" rIns="0">
            <a:spAutoFit/>
          </a:bodyPr>
          <a:lstStyle/>
          <a:p>
            <a:pPr algn="l">
              <a:lnSpc>
                <a:spcPts val="1679"/>
              </a:lnSpc>
            </a:pPr>
            <a:r>
              <a:rPr lang="en-US" sz="1200" i="true">
                <a:solidFill>
                  <a:srgbClr val="FFFFFF"/>
                </a:solidFill>
                <a:latin typeface="Montserrat Italics"/>
                <a:ea typeface="Montserrat Italics"/>
                <a:cs typeface="Montserrat Italics"/>
                <a:sym typeface="Montserrat Italics"/>
              </a:rPr>
              <a:t>Thực hiện xác định nhóm các chiến dịch tốt và không tốt</a:t>
            </a:r>
          </a:p>
          <a:p>
            <a:pPr algn="l" marL="259080" indent="-129540" lvl="1">
              <a:lnSpc>
                <a:spcPts val="1679"/>
              </a:lnSpc>
              <a:buFont typeface="Arial"/>
              <a:buChar char="•"/>
            </a:pPr>
            <a:r>
              <a:rPr lang="en-US" b="true" sz="1200" i="true">
                <a:solidFill>
                  <a:srgbClr val="FFFFFF"/>
                </a:solidFill>
                <a:latin typeface="Montserrat Semi-Bold Italics"/>
                <a:ea typeface="Montserrat Semi-Bold Italics"/>
                <a:cs typeface="Montserrat Semi-Bold Italics"/>
                <a:sym typeface="Montserrat Semi-Bold Italics"/>
              </a:rPr>
              <a:t>Chia nhóm chất lượng</a:t>
            </a:r>
          </a:p>
          <a:p>
            <a:pPr algn="l" marL="518160" indent="-172720" lvl="2">
              <a:lnSpc>
                <a:spcPts val="1679"/>
              </a:lnSpc>
              <a:buFont typeface="Arial"/>
              <a:buChar char="⚬"/>
            </a:pPr>
            <a:r>
              <a:rPr lang="en-US" sz="1200" i="true">
                <a:solidFill>
                  <a:srgbClr val="FFFFFF"/>
                </a:solidFill>
                <a:latin typeface="Montserrat Italics"/>
                <a:ea typeface="Montserrat Italics"/>
                <a:cs typeface="Montserrat Italics"/>
                <a:sym typeface="Montserrat Italics"/>
              </a:rPr>
              <a:t>Campaign chất lượng (Organic User + Loyal User)</a:t>
            </a:r>
          </a:p>
          <a:p>
            <a:pPr algn="l" marL="518160" indent="-172720" lvl="2">
              <a:lnSpc>
                <a:spcPts val="1679"/>
              </a:lnSpc>
              <a:buFont typeface="Arial"/>
              <a:buChar char="⚬"/>
            </a:pPr>
            <a:r>
              <a:rPr lang="en-US" sz="1200" i="true">
                <a:solidFill>
                  <a:srgbClr val="FFFFFF"/>
                </a:solidFill>
                <a:latin typeface="Montserrat Italics"/>
                <a:ea typeface="Montserrat Italics"/>
                <a:cs typeface="Montserrat Italics"/>
                <a:sym typeface="Montserrat Italics"/>
              </a:rPr>
              <a:t>Campaign không chất lượng (One-time promotion Users)</a:t>
            </a:r>
          </a:p>
          <a:p>
            <a:pPr algn="l" marL="259080" indent="-129540" lvl="1">
              <a:lnSpc>
                <a:spcPts val="1679"/>
              </a:lnSpc>
              <a:buFont typeface="Arial"/>
              <a:buChar char="•"/>
            </a:pPr>
            <a:r>
              <a:rPr lang="en-US" b="true" sz="1200" i="true">
                <a:solidFill>
                  <a:srgbClr val="FFFFFF"/>
                </a:solidFill>
                <a:latin typeface="Montserrat Bold Italics"/>
                <a:ea typeface="Montserrat Bold Italics"/>
                <a:cs typeface="Montserrat Bold Italics"/>
                <a:sym typeface="Montserrat Bold Italics"/>
              </a:rPr>
              <a:t>Xác định ngưỡng phân loại</a:t>
            </a:r>
          </a:p>
          <a:p>
            <a:pPr algn="l" marL="518160" indent="-172720" lvl="2">
              <a:lnSpc>
                <a:spcPts val="1679"/>
              </a:lnSpc>
              <a:buFont typeface="Arial"/>
              <a:buChar char="⚬"/>
            </a:pPr>
            <a:r>
              <a:rPr lang="en-US" sz="1200">
                <a:solidFill>
                  <a:srgbClr val="FFFFFF"/>
                </a:solidFill>
                <a:latin typeface="Montserrat"/>
                <a:ea typeface="Montserrat"/>
                <a:cs typeface="Montserrat"/>
                <a:sym typeface="Montserrat"/>
              </a:rPr>
              <a:t>Ngưỡng quy mô lớn:  ≥360 NPU.</a:t>
            </a:r>
          </a:p>
          <a:p>
            <a:pPr algn="l" marL="518160" indent="-172720" lvl="2">
              <a:lnSpc>
                <a:spcPts val="1679"/>
              </a:lnSpc>
              <a:buFont typeface="Arial"/>
              <a:buChar char="⚬"/>
            </a:pPr>
            <a:r>
              <a:rPr lang="en-US" sz="1200">
                <a:solidFill>
                  <a:srgbClr val="FFFFFF"/>
                </a:solidFill>
                <a:latin typeface="Montserrat"/>
                <a:ea typeface="Montserrat"/>
                <a:cs typeface="Montserrat"/>
                <a:sym typeface="Montserrat"/>
              </a:rPr>
              <a:t>Ngưỡng chất lượng cao (HQ Share) 78,7.</a:t>
            </a:r>
          </a:p>
          <a:p>
            <a:pPr algn="l" marL="518160" indent="-172720" lvl="2">
              <a:lnSpc>
                <a:spcPts val="1679"/>
              </a:lnSpc>
              <a:buFont typeface="Arial"/>
              <a:buChar char="⚬"/>
            </a:pPr>
            <a:r>
              <a:rPr lang="en-US" sz="1200">
                <a:solidFill>
                  <a:srgbClr val="FFFFFF"/>
                </a:solidFill>
                <a:latin typeface="Montserrat"/>
                <a:ea typeface="Montserrat"/>
                <a:cs typeface="Montserrat"/>
                <a:sym typeface="Montserrat"/>
              </a:rPr>
              <a:t>Ngưỡng chất lượng thấp (HQ Share): ≤61,3.</a:t>
            </a:r>
          </a:p>
          <a:p>
            <a:pPr algn="l" marL="259080" indent="-129540" lvl="1">
              <a:lnSpc>
                <a:spcPts val="1679"/>
              </a:lnSpc>
              <a:buFont typeface="Arial"/>
              <a:buChar char="•"/>
            </a:pPr>
            <a:r>
              <a:rPr lang="en-US" b="true" sz="1200" i="true">
                <a:solidFill>
                  <a:srgbClr val="FFFFFF"/>
                </a:solidFill>
                <a:latin typeface="Montserrat Bold Italics"/>
                <a:ea typeface="Montserrat Bold Italics"/>
                <a:cs typeface="Montserrat Bold Italics"/>
                <a:sym typeface="Montserrat Bold Italics"/>
              </a:rPr>
              <a:t>Xây dựng ma trận (2x2) phân loại chiến dịch  và xác định campaign tốt và không tốt theo 2 tiêu chí quy mô và chất lượng người dùng so với ngưỡng.</a:t>
            </a:r>
          </a:p>
        </p:txBody>
      </p:sp>
      <p:sp>
        <p:nvSpPr>
          <p:cNvPr name="Freeform 64" id="64"/>
          <p:cNvSpPr/>
          <p:nvPr/>
        </p:nvSpPr>
        <p:spPr>
          <a:xfrm flipH="false" flipV="false" rot="0">
            <a:off x="8455918" y="5758503"/>
            <a:ext cx="429965" cy="555690"/>
          </a:xfrm>
          <a:custGeom>
            <a:avLst/>
            <a:gdLst/>
            <a:ahLst/>
            <a:cxnLst/>
            <a:rect r="r" b="b" t="t" l="l"/>
            <a:pathLst>
              <a:path h="555690" w="429965">
                <a:moveTo>
                  <a:pt x="0" y="0"/>
                </a:moveTo>
                <a:lnTo>
                  <a:pt x="429965" y="0"/>
                </a:lnTo>
                <a:lnTo>
                  <a:pt x="429965" y="555690"/>
                </a:lnTo>
                <a:lnTo>
                  <a:pt x="0" y="55569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65" id="65"/>
          <p:cNvSpPr/>
          <p:nvPr/>
        </p:nvSpPr>
        <p:spPr>
          <a:xfrm flipH="false" flipV="false" rot="0">
            <a:off x="12665711" y="5758503"/>
            <a:ext cx="429965" cy="555690"/>
          </a:xfrm>
          <a:custGeom>
            <a:avLst/>
            <a:gdLst/>
            <a:ahLst/>
            <a:cxnLst/>
            <a:rect r="r" b="b" t="t" l="l"/>
            <a:pathLst>
              <a:path h="555690" w="429965">
                <a:moveTo>
                  <a:pt x="0" y="0"/>
                </a:moveTo>
                <a:lnTo>
                  <a:pt x="429965" y="0"/>
                </a:lnTo>
                <a:lnTo>
                  <a:pt x="429965" y="555690"/>
                </a:lnTo>
                <a:lnTo>
                  <a:pt x="0" y="55569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0A0A">
                <a:alpha val="98824"/>
              </a:srgbClr>
            </a:solidFill>
          </p:spPr>
        </p:sp>
        <p:sp>
          <p:nvSpPr>
            <p:cNvPr name="TextBox 5" id="5"/>
            <p:cNvSpPr txBox="true"/>
            <p:nvPr/>
          </p:nvSpPr>
          <p:spPr>
            <a:xfrm>
              <a:off x="0" y="-104775"/>
              <a:ext cx="4816593" cy="281410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160916" y="1323948"/>
            <a:ext cx="10288805" cy="11905421"/>
          </a:xfrm>
          <a:custGeom>
            <a:avLst/>
            <a:gdLst/>
            <a:ahLst/>
            <a:cxnLst/>
            <a:rect r="r" b="b" t="t" l="l"/>
            <a:pathLst>
              <a:path h="11905421" w="10288805">
                <a:moveTo>
                  <a:pt x="0" y="11905420"/>
                </a:moveTo>
                <a:lnTo>
                  <a:pt x="10288805" y="11905420"/>
                </a:lnTo>
                <a:lnTo>
                  <a:pt x="10288805" y="0"/>
                </a:lnTo>
                <a:lnTo>
                  <a:pt x="0" y="0"/>
                </a:lnTo>
                <a:lnTo>
                  <a:pt x="0" y="11905420"/>
                </a:lnTo>
                <a:close/>
              </a:path>
            </a:pathLst>
          </a:custGeom>
          <a:blipFill>
            <a:blip r:embed="rId3">
              <a:alphaModFix amt="23000"/>
            </a:blip>
            <a:stretch>
              <a:fillRect l="-41760" t="0" r="0" b="0"/>
            </a:stretch>
          </a:blipFill>
        </p:spPr>
      </p:sp>
      <p:sp>
        <p:nvSpPr>
          <p:cNvPr name="Freeform 7" id="7"/>
          <p:cNvSpPr/>
          <p:nvPr/>
        </p:nvSpPr>
        <p:spPr>
          <a:xfrm flipH="false" flipV="false" rot="0">
            <a:off x="15880642" y="9053085"/>
            <a:ext cx="15240000" cy="8229600"/>
          </a:xfrm>
          <a:custGeom>
            <a:avLst/>
            <a:gdLst/>
            <a:ahLst/>
            <a:cxnLst/>
            <a:rect r="r" b="b" t="t" l="l"/>
            <a:pathLst>
              <a:path h="8229600" w="15240000">
                <a:moveTo>
                  <a:pt x="0" y="0"/>
                </a:moveTo>
                <a:lnTo>
                  <a:pt x="15240000" y="0"/>
                </a:lnTo>
                <a:lnTo>
                  <a:pt x="15240000" y="8229600"/>
                </a:lnTo>
                <a:lnTo>
                  <a:pt x="0" y="8229600"/>
                </a:lnTo>
                <a:lnTo>
                  <a:pt x="0" y="0"/>
                </a:lnTo>
                <a:close/>
              </a:path>
            </a:pathLst>
          </a:custGeom>
          <a:blipFill>
            <a:blip r:embed="rId4">
              <a:alphaModFix amt="90000"/>
            </a:blip>
            <a:stretch>
              <a:fillRect l="0" t="0" r="0" b="0"/>
            </a:stretch>
          </a:blipFill>
        </p:spPr>
      </p:sp>
      <p:sp>
        <p:nvSpPr>
          <p:cNvPr name="Freeform 8" id="8"/>
          <p:cNvSpPr/>
          <p:nvPr/>
        </p:nvSpPr>
        <p:spPr>
          <a:xfrm flipH="false" flipV="false" rot="0">
            <a:off x="2969593" y="-5446885"/>
            <a:ext cx="12734391" cy="8229600"/>
          </a:xfrm>
          <a:custGeom>
            <a:avLst/>
            <a:gdLst/>
            <a:ahLst/>
            <a:cxnLst/>
            <a:rect r="r" b="b" t="t" l="l"/>
            <a:pathLst>
              <a:path h="8229600" w="12734391">
                <a:moveTo>
                  <a:pt x="0" y="0"/>
                </a:moveTo>
                <a:lnTo>
                  <a:pt x="12734391" y="0"/>
                </a:lnTo>
                <a:lnTo>
                  <a:pt x="12734391" y="8229600"/>
                </a:lnTo>
                <a:lnTo>
                  <a:pt x="0" y="8229600"/>
                </a:lnTo>
                <a:lnTo>
                  <a:pt x="0" y="0"/>
                </a:lnTo>
                <a:close/>
              </a:path>
            </a:pathLst>
          </a:custGeom>
          <a:blipFill>
            <a:blip r:embed="rId5"/>
            <a:stretch>
              <a:fillRect l="0" t="0" r="0" b="0"/>
            </a:stretch>
          </a:blipFill>
        </p:spPr>
      </p:sp>
      <p:grpSp>
        <p:nvGrpSpPr>
          <p:cNvPr name="Group 9" id="9"/>
          <p:cNvGrpSpPr/>
          <p:nvPr/>
        </p:nvGrpSpPr>
        <p:grpSpPr>
          <a:xfrm rot="0">
            <a:off x="564886" y="1028700"/>
            <a:ext cx="9357127" cy="8970723"/>
            <a:chOff x="0" y="0"/>
            <a:chExt cx="2875251" cy="2756517"/>
          </a:xfrm>
        </p:grpSpPr>
        <p:sp>
          <p:nvSpPr>
            <p:cNvPr name="Freeform 10" id="10"/>
            <p:cNvSpPr/>
            <p:nvPr/>
          </p:nvSpPr>
          <p:spPr>
            <a:xfrm flipH="false" flipV="false" rot="0">
              <a:off x="0" y="0"/>
              <a:ext cx="2875251" cy="2756517"/>
            </a:xfrm>
            <a:custGeom>
              <a:avLst/>
              <a:gdLst/>
              <a:ahLst/>
              <a:cxnLst/>
              <a:rect r="r" b="b" t="t" l="l"/>
              <a:pathLst>
                <a:path h="2756517" w="2875251">
                  <a:moveTo>
                    <a:pt x="27304" y="0"/>
                  </a:moveTo>
                  <a:lnTo>
                    <a:pt x="2847947" y="0"/>
                  </a:lnTo>
                  <a:cubicBezTo>
                    <a:pt x="2863027" y="0"/>
                    <a:pt x="2875251" y="12224"/>
                    <a:pt x="2875251" y="27304"/>
                  </a:cubicBezTo>
                  <a:lnTo>
                    <a:pt x="2875251" y="2729214"/>
                  </a:lnTo>
                  <a:cubicBezTo>
                    <a:pt x="2875251" y="2744293"/>
                    <a:pt x="2863027" y="2756517"/>
                    <a:pt x="2847947" y="2756517"/>
                  </a:cubicBezTo>
                  <a:lnTo>
                    <a:pt x="27304" y="2756517"/>
                  </a:lnTo>
                  <a:cubicBezTo>
                    <a:pt x="12224" y="2756517"/>
                    <a:pt x="0" y="2744293"/>
                    <a:pt x="0" y="2729214"/>
                  </a:cubicBezTo>
                  <a:lnTo>
                    <a:pt x="0" y="27304"/>
                  </a:lnTo>
                  <a:cubicBezTo>
                    <a:pt x="0" y="12224"/>
                    <a:pt x="12224" y="0"/>
                    <a:pt x="27304" y="0"/>
                  </a:cubicBezTo>
                  <a:close/>
                </a:path>
              </a:pathLst>
            </a:custGeom>
            <a:ln w="38100" cap="rnd">
              <a:gradFill>
                <a:gsLst>
                  <a:gs pos="0">
                    <a:srgbClr val="5B9E51">
                      <a:alpha val="100000"/>
                    </a:srgbClr>
                  </a:gs>
                  <a:gs pos="100000">
                    <a:srgbClr val="FFFFFF">
                      <a:alpha val="100000"/>
                    </a:srgbClr>
                  </a:gs>
                </a:gsLst>
                <a:lin ang="0"/>
              </a:gradFill>
              <a:prstDash val="solid"/>
              <a:round/>
            </a:ln>
          </p:spPr>
        </p:sp>
        <p:sp>
          <p:nvSpPr>
            <p:cNvPr name="TextBox 11" id="11"/>
            <p:cNvSpPr txBox="true"/>
            <p:nvPr/>
          </p:nvSpPr>
          <p:spPr>
            <a:xfrm>
              <a:off x="0" y="28575"/>
              <a:ext cx="2875251" cy="2727942"/>
            </a:xfrm>
            <a:prstGeom prst="rect">
              <a:avLst/>
            </a:prstGeom>
          </p:spPr>
          <p:txBody>
            <a:bodyPr anchor="ctr" rtlCol="false" tIns="50800" lIns="50800" bIns="50800" rIns="50800"/>
            <a:lstStyle/>
            <a:p>
              <a:pPr algn="ctr">
                <a:lnSpc>
                  <a:spcPts val="2000"/>
                </a:lnSpc>
              </a:pPr>
            </a:p>
          </p:txBody>
        </p:sp>
      </p:grpSp>
      <p:graphicFrame>
        <p:nvGraphicFramePr>
          <p:cNvPr name="Table 12" id="12"/>
          <p:cNvGraphicFramePr>
            <a:graphicFrameLocks noGrp="true"/>
          </p:cNvGraphicFramePr>
          <p:nvPr/>
        </p:nvGraphicFramePr>
        <p:xfrm>
          <a:off x="824911" y="1392865"/>
          <a:ext cx="8837077" cy="8242392"/>
        </p:xfrm>
        <a:graphic>
          <a:graphicData uri="http://schemas.openxmlformats.org/drawingml/2006/table">
            <a:tbl>
              <a:tblPr/>
              <a:tblGrid>
                <a:gridCol w="1985339"/>
                <a:gridCol w="1198627"/>
                <a:gridCol w="1198627"/>
                <a:gridCol w="4454484"/>
              </a:tblGrid>
              <a:tr h="1278809">
                <a:tc>
                  <a:txBody>
                    <a:bodyPr anchor="t" rtlCol="false"/>
                    <a:lstStyle/>
                    <a:p>
                      <a:pPr algn="ctr">
                        <a:lnSpc>
                          <a:spcPts val="2239"/>
                        </a:lnSpc>
                        <a:defRPr/>
                      </a:pPr>
                      <a:r>
                        <a:rPr lang="en-US" sz="1599" b="true">
                          <a:solidFill>
                            <a:srgbClr val="000000"/>
                          </a:solidFill>
                          <a:latin typeface="Montserrat Bold"/>
                          <a:ea typeface="Montserrat Bold"/>
                          <a:cs typeface="Montserrat Bold"/>
                          <a:sym typeface="Montserrat Bold"/>
                        </a:rPr>
                        <a:t>Cluster</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28DC66"/>
                    </a:solidFill>
                  </a:tcPr>
                </a:tc>
                <a:tc>
                  <a:txBody>
                    <a:bodyPr anchor="t" rtlCol="false"/>
                    <a:lstStyle/>
                    <a:p>
                      <a:pPr algn="ctr">
                        <a:lnSpc>
                          <a:spcPts val="2239"/>
                        </a:lnSpc>
                        <a:defRPr/>
                      </a:pPr>
                      <a:r>
                        <a:rPr lang="en-US" sz="1599" b="true">
                          <a:solidFill>
                            <a:srgbClr val="000000"/>
                          </a:solidFill>
                          <a:latin typeface="Montserrat Bold"/>
                          <a:ea typeface="Montserrat Bold"/>
                          <a:cs typeface="Montserrat Bold"/>
                          <a:sym typeface="Montserrat Bold"/>
                        </a:rPr>
                        <a:t>Tỷ trọng</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28DC66"/>
                    </a:solidFill>
                  </a:tcPr>
                </a:tc>
                <a:tc>
                  <a:txBody>
                    <a:bodyPr anchor="t" rtlCol="false"/>
                    <a:lstStyle/>
                    <a:p>
                      <a:pPr algn="ctr">
                        <a:lnSpc>
                          <a:spcPts val="2239"/>
                        </a:lnSpc>
                        <a:defRPr/>
                      </a:pPr>
                      <a:r>
                        <a:rPr lang="en-US" sz="1599" b="true">
                          <a:solidFill>
                            <a:srgbClr val="000000"/>
                          </a:solidFill>
                          <a:latin typeface="Montserrat Bold"/>
                          <a:ea typeface="Montserrat Bold"/>
                          <a:cs typeface="Montserrat Bold"/>
                          <a:sym typeface="Montserrat Bold"/>
                        </a:rPr>
                        <a:t>Đặc điểm hành vi (tổng hợp)</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28DC66"/>
                    </a:solidFill>
                  </a:tcPr>
                </a:tc>
                <a:tc>
                  <a:txBody>
                    <a:bodyPr anchor="t" rtlCol="false"/>
                    <a:lstStyle/>
                    <a:p>
                      <a:pPr algn="ctr">
                        <a:lnSpc>
                          <a:spcPts val="2239"/>
                        </a:lnSpc>
                        <a:defRPr/>
                      </a:pPr>
                      <a:r>
                        <a:rPr lang="en-US" sz="1599" b="true">
                          <a:solidFill>
                            <a:srgbClr val="000000"/>
                          </a:solidFill>
                          <a:latin typeface="Montserrat Bold"/>
                          <a:ea typeface="Montserrat Bold"/>
                          <a:cs typeface="Montserrat Bold"/>
                          <a:sym typeface="Montserrat Bold"/>
                        </a:rPr>
                        <a:t>Số lượng NPU </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28DC66"/>
                    </a:solidFill>
                  </a:tcPr>
                </a:tc>
              </a:tr>
              <a:tr h="2128094">
                <a:tc>
                  <a:txBody>
                    <a:bodyPr anchor="t" rtlCol="false"/>
                    <a:lstStyle/>
                    <a:p>
                      <a:pPr algn="ctr">
                        <a:lnSpc>
                          <a:spcPts val="2239"/>
                        </a:lnSpc>
                        <a:defRPr/>
                      </a:pPr>
                      <a:r>
                        <a:rPr lang="en-US" sz="1599" b="true">
                          <a:solidFill>
                            <a:srgbClr val="000000"/>
                          </a:solidFill>
                          <a:latin typeface="Montserrat Bold"/>
                          <a:ea typeface="Montserrat Bold"/>
                          <a:cs typeface="Montserrat Bold"/>
                          <a:sym typeface="Montserrat Bold"/>
                        </a:rPr>
                        <a:t>C1 — One-time Promo</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AFFC6"/>
                    </a:solidFill>
                  </a:tcPr>
                </a:tc>
                <a:tc>
                  <a:txBody>
                    <a:bodyPr anchor="t" rtlCol="false"/>
                    <a:lstStyle/>
                    <a:p>
                      <a:pPr algn="ctr">
                        <a:lnSpc>
                          <a:spcPts val="2239"/>
                        </a:lnSpc>
                        <a:defRPr/>
                      </a:pPr>
                      <a:r>
                        <a:rPr lang="en-US" sz="1599">
                          <a:solidFill>
                            <a:srgbClr val="000000"/>
                          </a:solidFill>
                          <a:latin typeface="Montserrat"/>
                          <a:ea typeface="Montserrat"/>
                          <a:cs typeface="Montserrat"/>
                          <a:sym typeface="Montserrat"/>
                        </a:rPr>
                        <a:t>23.20%</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c>
                  <a:txBody>
                    <a:bodyPr anchor="t" rtlCol="false"/>
                    <a:lstStyle/>
                    <a:p>
                      <a:pPr algn="just">
                        <a:lnSpc>
                          <a:spcPts val="2239"/>
                        </a:lnSpc>
                        <a:defRPr/>
                      </a:pPr>
                      <a:r>
                        <a:rPr lang="en-US" sz="1599">
                          <a:solidFill>
                            <a:srgbClr val="000000"/>
                          </a:solidFill>
                          <a:latin typeface="Montserrat"/>
                          <a:ea typeface="Montserrat"/>
                          <a:cs typeface="Montserrat"/>
                          <a:sym typeface="Montserrat"/>
                        </a:rPr>
                        <a:t>Gần như không quay lại sau giao dịch đầu tiên (~0.8%); toàn bộ hành vi phụ thuộc vào khuyến mãi; chi tiêu sau NPU gần như bằng 0; phạm vi sử dụng rất hẹp (chỉ 1 category và 1 merchant).</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c>
                  <a:txBody>
                    <a:bodyPr anchor="t" rtlCol="false"/>
                    <a:lstStyle/>
                    <a:p>
                      <a:pPr algn="ctr">
                        <a:lnSpc>
                          <a:spcPts val="2239"/>
                        </a:lnSpc>
                        <a:defRPr/>
                      </a:pPr>
                      <a:r>
                        <a:rPr lang="en-US" sz="1599">
                          <a:solidFill>
                            <a:srgbClr val="000000"/>
                          </a:solidFill>
                          <a:latin typeface="Montserrat"/>
                          <a:ea typeface="Montserrat"/>
                          <a:cs typeface="Montserrat"/>
                          <a:sym typeface="Montserrat"/>
                        </a:rPr>
                        <a:t>7.806</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r>
              <a:tr h="2411189">
                <a:tc>
                  <a:txBody>
                    <a:bodyPr anchor="t" rtlCol="false"/>
                    <a:lstStyle/>
                    <a:p>
                      <a:pPr algn="ctr">
                        <a:lnSpc>
                          <a:spcPts val="2239"/>
                        </a:lnSpc>
                        <a:defRPr/>
                      </a:pPr>
                      <a:r>
                        <a:rPr lang="en-US" sz="1599" b="true">
                          <a:solidFill>
                            <a:srgbClr val="000000"/>
                          </a:solidFill>
                          <a:latin typeface="Montserrat Bold"/>
                          <a:ea typeface="Montserrat Bold"/>
                          <a:cs typeface="Montserrat Bold"/>
                          <a:sym typeface="Montserrat Bold"/>
                        </a:rPr>
                        <a:t>C0 — Organic Retained</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AFFC6"/>
                    </a:solidFill>
                  </a:tcPr>
                </a:tc>
                <a:tc>
                  <a:txBody>
                    <a:bodyPr anchor="t" rtlCol="false"/>
                    <a:lstStyle/>
                    <a:p>
                      <a:pPr algn="ctr">
                        <a:lnSpc>
                          <a:spcPts val="2239"/>
                        </a:lnSpc>
                        <a:defRPr/>
                      </a:pPr>
                      <a:r>
                        <a:rPr lang="en-US" sz="1599">
                          <a:solidFill>
                            <a:srgbClr val="000000"/>
                          </a:solidFill>
                          <a:latin typeface="Montserrat"/>
                          <a:ea typeface="Montserrat"/>
                          <a:cs typeface="Montserrat"/>
                          <a:sym typeface="Montserrat"/>
                        </a:rPr>
                        <a:t>48.60%</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c>
                  <a:txBody>
                    <a:bodyPr anchor="t" rtlCol="false"/>
                    <a:lstStyle/>
                    <a:p>
                      <a:pPr algn="just">
                        <a:lnSpc>
                          <a:spcPts val="2239"/>
                        </a:lnSpc>
                        <a:defRPr/>
                      </a:pPr>
                      <a:r>
                        <a:rPr lang="en-US" sz="1599">
                          <a:solidFill>
                            <a:srgbClr val="000000"/>
                          </a:solidFill>
                          <a:latin typeface="Montserrat"/>
                          <a:ea typeface="Montserrat"/>
                          <a:cs typeface="Montserrat"/>
                          <a:sym typeface="Montserrat"/>
                        </a:rPr>
                        <a:t>Có xu hướng quay lại ở mức trung bình (~40 ngày); hơn một nửa giao dịch là tự nhiên (57% organic); chi tiêu sau NPU khoảng 685k VND; mức độ sử dụng mở rộng vừa phải (~1.6 category), phản ánh hành vi bắt đầu đa dạng hóa.</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c>
                  <a:txBody>
                    <a:bodyPr anchor="t" rtlCol="false"/>
                    <a:lstStyle/>
                    <a:p>
                      <a:pPr algn="ctr">
                        <a:lnSpc>
                          <a:spcPts val="2239"/>
                        </a:lnSpc>
                        <a:defRPr/>
                      </a:pPr>
                      <a:r>
                        <a:rPr lang="en-US" sz="1599">
                          <a:solidFill>
                            <a:srgbClr val="000000"/>
                          </a:solidFill>
                          <a:latin typeface="Montserrat"/>
                          <a:ea typeface="Montserrat"/>
                          <a:cs typeface="Montserrat"/>
                          <a:sym typeface="Montserrat"/>
                        </a:rPr>
                        <a:t>16.336</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r>
              <a:tr h="2424299">
                <a:tc>
                  <a:txBody>
                    <a:bodyPr anchor="t" rtlCol="false"/>
                    <a:lstStyle/>
                    <a:p>
                      <a:pPr algn="ctr">
                        <a:lnSpc>
                          <a:spcPts val="2239"/>
                        </a:lnSpc>
                        <a:defRPr/>
                      </a:pPr>
                      <a:r>
                        <a:rPr lang="en-US" sz="1599" b="true">
                          <a:solidFill>
                            <a:srgbClr val="000000"/>
                          </a:solidFill>
                          <a:latin typeface="Montserrat Bold"/>
                          <a:ea typeface="Montserrat Bold"/>
                          <a:cs typeface="Montserrat Bold"/>
                          <a:sym typeface="Montserrat Bold"/>
                        </a:rPr>
                        <a:t>C2 — High-value Loyal</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CAFFC6"/>
                    </a:solidFill>
                  </a:tcPr>
                </a:tc>
                <a:tc>
                  <a:txBody>
                    <a:bodyPr anchor="t" rtlCol="false"/>
                    <a:lstStyle/>
                    <a:p>
                      <a:pPr algn="ctr">
                        <a:lnSpc>
                          <a:spcPts val="2239"/>
                        </a:lnSpc>
                        <a:defRPr/>
                      </a:pPr>
                      <a:r>
                        <a:rPr lang="en-US" sz="1599">
                          <a:solidFill>
                            <a:srgbClr val="000000"/>
                          </a:solidFill>
                          <a:latin typeface="Montserrat"/>
                          <a:ea typeface="Montserrat"/>
                          <a:cs typeface="Montserrat"/>
                          <a:sym typeface="Montserrat"/>
                        </a:rPr>
                        <a:t>28.20%</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c>
                  <a:txBody>
                    <a:bodyPr anchor="t" rtlCol="false"/>
                    <a:lstStyle/>
                    <a:p>
                      <a:pPr algn="just">
                        <a:lnSpc>
                          <a:spcPts val="2239"/>
                        </a:lnSpc>
                        <a:defRPr/>
                      </a:pPr>
                      <a:r>
                        <a:rPr lang="en-US" sz="1599">
                          <a:solidFill>
                            <a:srgbClr val="000000"/>
                          </a:solidFill>
                          <a:latin typeface="Montserrat"/>
                          <a:ea typeface="Montserrat"/>
                          <a:cs typeface="Montserrat"/>
                          <a:sym typeface="Montserrat"/>
                        </a:rPr>
                        <a:t>Quay lại nhanh và ổn định (~15.6 ngày); phần lớn giao dịch mang tính tự nhiên (67.6% organic); chi tiêu cao (~3.63M VND); hành vi sử dụng mở rộng mạnh (~3.8 category), cho thấy mức độ gắn bó sâu rộng với hệ sinh thái.</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c>
                  <a:txBody>
                    <a:bodyPr anchor="t" rtlCol="false"/>
                    <a:lstStyle/>
                    <a:p>
                      <a:pPr algn="ctr">
                        <a:lnSpc>
                          <a:spcPts val="2239"/>
                        </a:lnSpc>
                        <a:defRPr/>
                      </a:pPr>
                      <a:r>
                        <a:rPr lang="en-US" sz="1599">
                          <a:solidFill>
                            <a:srgbClr val="000000"/>
                          </a:solidFill>
                          <a:latin typeface="Montserrat"/>
                          <a:ea typeface="Montserrat"/>
                          <a:cs typeface="Montserrat"/>
                          <a:sym typeface="Montserrat"/>
                        </a:rPr>
                        <a:t>9.489</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CFFFF"/>
                    </a:solidFill>
                  </a:tcPr>
                </a:tc>
              </a:tr>
            </a:tbl>
          </a:graphicData>
        </a:graphic>
      </p:graphicFrame>
      <p:sp>
        <p:nvSpPr>
          <p:cNvPr name="Freeform 13" id="13"/>
          <p:cNvSpPr/>
          <p:nvPr/>
        </p:nvSpPr>
        <p:spPr>
          <a:xfrm flipH="false" flipV="false" rot="0">
            <a:off x="10136132" y="2143244"/>
            <a:ext cx="7717700" cy="6000512"/>
          </a:xfrm>
          <a:custGeom>
            <a:avLst/>
            <a:gdLst/>
            <a:ahLst/>
            <a:cxnLst/>
            <a:rect r="r" b="b" t="t" l="l"/>
            <a:pathLst>
              <a:path h="6000512" w="7717700">
                <a:moveTo>
                  <a:pt x="0" y="0"/>
                </a:moveTo>
                <a:lnTo>
                  <a:pt x="7717700" y="0"/>
                </a:lnTo>
                <a:lnTo>
                  <a:pt x="7717700" y="6000512"/>
                </a:lnTo>
                <a:lnTo>
                  <a:pt x="0" y="6000512"/>
                </a:lnTo>
                <a:lnTo>
                  <a:pt x="0" y="0"/>
                </a:lnTo>
                <a:close/>
              </a:path>
            </a:pathLst>
          </a:custGeom>
          <a:blipFill>
            <a:blip r:embed="rId6"/>
            <a:stretch>
              <a:fillRect l="0" t="0" r="0" b="0"/>
            </a:stretch>
          </a:blipFill>
        </p:spPr>
      </p:sp>
      <p:sp>
        <p:nvSpPr>
          <p:cNvPr name="TextBox 14" id="14"/>
          <p:cNvSpPr txBox="true"/>
          <p:nvPr/>
        </p:nvSpPr>
        <p:spPr>
          <a:xfrm rot="0">
            <a:off x="564886" y="218800"/>
            <a:ext cx="17723114" cy="628695"/>
          </a:xfrm>
          <a:prstGeom prst="rect">
            <a:avLst/>
          </a:prstGeom>
        </p:spPr>
        <p:txBody>
          <a:bodyPr anchor="t" rtlCol="false" tIns="0" lIns="0" bIns="0" rIns="0">
            <a:spAutoFit/>
          </a:bodyPr>
          <a:lstStyle/>
          <a:p>
            <a:pPr algn="ctr" marL="0" indent="0" lvl="0">
              <a:lnSpc>
                <a:spcPts val="5249"/>
              </a:lnSpc>
            </a:pPr>
            <a:r>
              <a:rPr lang="en-US" b="true" sz="3499" spc="10">
                <a:solidFill>
                  <a:srgbClr val="CAFFC6"/>
                </a:solidFill>
                <a:latin typeface="Inter Ultra-Bold"/>
                <a:ea typeface="Inter Ultra-Bold"/>
                <a:cs typeface="Inter Ultra-Bold"/>
                <a:sym typeface="Inter Ultra-Bold"/>
              </a:rPr>
              <a:t>KẾT QUẢ PHÂN NHÓM KHÁCH HÀNG (K-MEANS)</a:t>
            </a:r>
          </a:p>
        </p:txBody>
      </p:sp>
      <p:sp>
        <p:nvSpPr>
          <p:cNvPr name="TextBox 15" id="15"/>
          <p:cNvSpPr txBox="true"/>
          <p:nvPr/>
        </p:nvSpPr>
        <p:spPr>
          <a:xfrm rot="0">
            <a:off x="10164893" y="8282061"/>
            <a:ext cx="6984272" cy="198120"/>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Hình 16: Hình ảnh 2 chiều thể hiện hành vi người dùng theo PC1 và PC2</a:t>
            </a:r>
          </a:p>
        </p:txBody>
      </p:sp>
      <p:sp>
        <p:nvSpPr>
          <p:cNvPr name="TextBox 16" id="16"/>
          <p:cNvSpPr txBox="true"/>
          <p:nvPr/>
        </p:nvSpPr>
        <p:spPr>
          <a:xfrm rot="0">
            <a:off x="10136132" y="8537331"/>
            <a:ext cx="5800427" cy="606171"/>
          </a:xfrm>
          <a:prstGeom prst="rect">
            <a:avLst/>
          </a:prstGeom>
        </p:spPr>
        <p:txBody>
          <a:bodyPr anchor="t" rtlCol="false" tIns="0" lIns="0" bIns="0" rIns="0">
            <a:spAutoFit/>
          </a:bodyPr>
          <a:lstStyle/>
          <a:p>
            <a:pPr algn="l" marL="259080" indent="-129540" lvl="1">
              <a:lnSpc>
                <a:spcPts val="2592"/>
              </a:lnSpc>
              <a:buFont typeface="Arial"/>
              <a:buChar char="•"/>
            </a:pPr>
            <a:r>
              <a:rPr lang="en-US" sz="1200" strike="noStrike" u="none">
                <a:solidFill>
                  <a:srgbClr val="FFFFFF"/>
                </a:solidFill>
                <a:latin typeface="Montserrat Light"/>
                <a:ea typeface="Montserrat Light"/>
                <a:cs typeface="Montserrat Light"/>
                <a:sym typeface="Montserrat Light"/>
              </a:rPr>
              <a:t>PC1: Mức độ tương tác tổng thể &amp; Giá trị giao dịch</a:t>
            </a:r>
          </a:p>
          <a:p>
            <a:pPr algn="l" marL="259080" indent="-129540" lvl="1">
              <a:lnSpc>
                <a:spcPts val="2592"/>
              </a:lnSpc>
              <a:buFont typeface="Arial"/>
              <a:buChar char="•"/>
            </a:pPr>
            <a:r>
              <a:rPr lang="en-US" sz="1200" strike="noStrike" u="none">
                <a:solidFill>
                  <a:srgbClr val="FFFFFF"/>
                </a:solidFill>
                <a:latin typeface="Montserrat Light"/>
                <a:ea typeface="Montserrat Light"/>
                <a:cs typeface="Montserrat Light"/>
                <a:sym typeface="Montserrat Light"/>
              </a:rPr>
              <a:t>PC2: Sự đánh đổi giữa Khám phá hệ sinh thái và Tính hữu cơ/Trung thành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0A0A">
                <a:alpha val="98824"/>
              </a:srgbClr>
            </a:solidFill>
          </p:spPr>
        </p:sp>
        <p:sp>
          <p:nvSpPr>
            <p:cNvPr name="TextBox 5" id="5"/>
            <p:cNvSpPr txBox="true"/>
            <p:nvPr/>
          </p:nvSpPr>
          <p:spPr>
            <a:xfrm>
              <a:off x="0" y="-104775"/>
              <a:ext cx="4816593" cy="281410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160916" y="1323948"/>
            <a:ext cx="10288805" cy="11905421"/>
          </a:xfrm>
          <a:custGeom>
            <a:avLst/>
            <a:gdLst/>
            <a:ahLst/>
            <a:cxnLst/>
            <a:rect r="r" b="b" t="t" l="l"/>
            <a:pathLst>
              <a:path h="11905421" w="10288805">
                <a:moveTo>
                  <a:pt x="0" y="11905420"/>
                </a:moveTo>
                <a:lnTo>
                  <a:pt x="10288805" y="11905420"/>
                </a:lnTo>
                <a:lnTo>
                  <a:pt x="10288805" y="0"/>
                </a:lnTo>
                <a:lnTo>
                  <a:pt x="0" y="0"/>
                </a:lnTo>
                <a:lnTo>
                  <a:pt x="0" y="11905420"/>
                </a:lnTo>
                <a:close/>
              </a:path>
            </a:pathLst>
          </a:custGeom>
          <a:blipFill>
            <a:blip r:embed="rId3">
              <a:alphaModFix amt="23000"/>
            </a:blip>
            <a:stretch>
              <a:fillRect l="-41760" t="0" r="0" b="0"/>
            </a:stretch>
          </a:blipFill>
        </p:spPr>
      </p:sp>
      <p:sp>
        <p:nvSpPr>
          <p:cNvPr name="Freeform 7" id="7"/>
          <p:cNvSpPr/>
          <p:nvPr/>
        </p:nvSpPr>
        <p:spPr>
          <a:xfrm flipH="false" flipV="false" rot="0">
            <a:off x="15880642" y="9053085"/>
            <a:ext cx="15240000" cy="8229600"/>
          </a:xfrm>
          <a:custGeom>
            <a:avLst/>
            <a:gdLst/>
            <a:ahLst/>
            <a:cxnLst/>
            <a:rect r="r" b="b" t="t" l="l"/>
            <a:pathLst>
              <a:path h="8229600" w="15240000">
                <a:moveTo>
                  <a:pt x="0" y="0"/>
                </a:moveTo>
                <a:lnTo>
                  <a:pt x="15240000" y="0"/>
                </a:lnTo>
                <a:lnTo>
                  <a:pt x="15240000" y="8229600"/>
                </a:lnTo>
                <a:lnTo>
                  <a:pt x="0" y="8229600"/>
                </a:lnTo>
                <a:lnTo>
                  <a:pt x="0" y="0"/>
                </a:lnTo>
                <a:close/>
              </a:path>
            </a:pathLst>
          </a:custGeom>
          <a:blipFill>
            <a:blip r:embed="rId4">
              <a:alphaModFix amt="90000"/>
            </a:blip>
            <a:stretch>
              <a:fillRect l="0" t="0" r="0" b="0"/>
            </a:stretch>
          </a:blipFill>
        </p:spPr>
      </p:sp>
      <p:sp>
        <p:nvSpPr>
          <p:cNvPr name="Freeform 8" id="8"/>
          <p:cNvSpPr/>
          <p:nvPr/>
        </p:nvSpPr>
        <p:spPr>
          <a:xfrm flipH="false" flipV="false" rot="0">
            <a:off x="2969593" y="-5446885"/>
            <a:ext cx="12734391" cy="8229600"/>
          </a:xfrm>
          <a:custGeom>
            <a:avLst/>
            <a:gdLst/>
            <a:ahLst/>
            <a:cxnLst/>
            <a:rect r="r" b="b" t="t" l="l"/>
            <a:pathLst>
              <a:path h="8229600" w="12734391">
                <a:moveTo>
                  <a:pt x="0" y="0"/>
                </a:moveTo>
                <a:lnTo>
                  <a:pt x="12734391" y="0"/>
                </a:lnTo>
                <a:lnTo>
                  <a:pt x="12734391" y="8229600"/>
                </a:lnTo>
                <a:lnTo>
                  <a:pt x="0" y="8229600"/>
                </a:lnTo>
                <a:lnTo>
                  <a:pt x="0" y="0"/>
                </a:lnTo>
                <a:close/>
              </a:path>
            </a:pathLst>
          </a:custGeom>
          <a:blipFill>
            <a:blip r:embed="rId5"/>
            <a:stretch>
              <a:fillRect l="0" t="0" r="0" b="0"/>
            </a:stretch>
          </a:blipFill>
        </p:spPr>
      </p:sp>
      <p:graphicFrame>
        <p:nvGraphicFramePr>
          <p:cNvPr name="Table 9" id="9"/>
          <p:cNvGraphicFramePr>
            <a:graphicFrameLocks noGrp="true"/>
          </p:cNvGraphicFramePr>
          <p:nvPr/>
        </p:nvGraphicFramePr>
        <p:xfrm>
          <a:off x="442316" y="1188211"/>
          <a:ext cx="17403369" cy="8367555"/>
        </p:xfrm>
        <a:graphic>
          <a:graphicData uri="http://schemas.openxmlformats.org/drawingml/2006/table">
            <a:tbl>
              <a:tblPr/>
              <a:tblGrid>
                <a:gridCol w="1413119"/>
                <a:gridCol w="3191648"/>
                <a:gridCol w="8164253"/>
                <a:gridCol w="4634349"/>
              </a:tblGrid>
              <a:tr h="698557">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Nhóm</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gradFill rotWithShape="true">
                      <a:gsLst>
                        <a:gs pos="0">
                          <a:srgbClr val="D1D0D0">
                            <a:alpha val="100000"/>
                          </a:srgbClr>
                        </a:gs>
                        <a:gs pos="100000">
                          <a:srgbClr val="FFFFFF">
                            <a:alpha val="100000"/>
                          </a:srgbClr>
                        </a:gs>
                      </a:gsLst>
                      <a:path path="circle">
                        <a:fillToRect l="0" r="100000" t="0" b="100000"/>
                      </a:path>
                      <a:tileRect r="0" l="-100000" b="0" t="-100000"/>
                    </a:gradFill>
                  </a:tcPr>
                </a:tc>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Quy mô </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gradFill rotWithShape="true">
                      <a:gsLst>
                        <a:gs pos="0">
                          <a:srgbClr val="D1D0D0">
                            <a:alpha val="100000"/>
                          </a:srgbClr>
                        </a:gs>
                        <a:gs pos="100000">
                          <a:srgbClr val="FFFFFF">
                            <a:alpha val="100000"/>
                          </a:srgbClr>
                        </a:gs>
                      </a:gsLst>
                      <a:path path="circle">
                        <a:fillToRect l="0" r="100000" t="0" b="100000"/>
                      </a:path>
                      <a:tileRect r="0" l="-100000" b="0" t="-100000"/>
                    </a:gradFill>
                  </a:tcPr>
                </a:tc>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Chất lượng người dùng</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gradFill rotWithShape="true">
                      <a:gsLst>
                        <a:gs pos="0">
                          <a:srgbClr val="D1D0D0">
                            <a:alpha val="100000"/>
                          </a:srgbClr>
                        </a:gs>
                        <a:gs pos="100000">
                          <a:srgbClr val="FFFFFF">
                            <a:alpha val="100000"/>
                          </a:srgbClr>
                        </a:gs>
                      </a:gsLst>
                      <a:path path="circle">
                        <a:fillToRect l="0" r="100000" t="0" b="100000"/>
                      </a:path>
                      <a:tileRect r="0" l="-100000" b="0" t="-100000"/>
                    </a:gradFill>
                  </a:tcPr>
                </a:tc>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Hành vi sử dụng &amp; giá trị</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gradFill rotWithShape="true">
                      <a:gsLst>
                        <a:gs pos="0">
                          <a:srgbClr val="D1D0D0">
                            <a:alpha val="100000"/>
                          </a:srgbClr>
                        </a:gs>
                        <a:gs pos="100000">
                          <a:srgbClr val="FFFFFF">
                            <a:alpha val="100000"/>
                          </a:srgbClr>
                        </a:gs>
                      </a:gsLst>
                      <a:path path="circle">
                        <a:fillToRect l="0" r="100000" t="0" b="100000"/>
                      </a:path>
                      <a:tileRect r="0" l="-100000" b="0" t="-100000"/>
                    </a:gradFill>
                  </a:tcPr>
                </a:tc>
              </a:tr>
              <a:tr h="1736414">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SCALE</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28DC66"/>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3 chiến dịch </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Q</a:t>
                      </a:r>
                      <a:r>
                        <a:rPr lang="en-US" sz="1400">
                          <a:solidFill>
                            <a:srgbClr val="000000"/>
                          </a:solidFill>
                          <a:latin typeface="Montserrat"/>
                          <a:ea typeface="Montserrat"/>
                          <a:cs typeface="Montserrat"/>
                          <a:sym typeface="Montserrat"/>
                        </a:rPr>
                        <a:t>uy mô trung bình khoảng 488 NPU</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D9FFD7"/>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Cấu trúc người dùng nghiêng mạnh về nhóm giá trị dài hạn ( C0 và C2: 75,3%, C1: 24,7%)</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Trung bình khoảng 2,3 triệu đồng giá trị giao dịchTần suất giao dịch cao với khoảng 12,4 lần sau lần đầu</a:t>
                      </a:r>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Mức độ mở rộng hành vi: 2 danh mục và hơn 3 merchant.</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D9FFD7"/>
                    </a:solidFill>
                  </a:tcPr>
                </a:tc>
                <a:tc>
                  <a:txBody>
                    <a:bodyPr anchor="t" rtlCol="false"/>
                    <a:lstStyle/>
                    <a:p>
                      <a:pPr algn="just">
                        <a:lnSpc>
                          <a:spcPts val="1960"/>
                        </a:lnSpc>
                        <a:defRPr/>
                      </a:pPr>
                      <a:r>
                        <a:rPr lang="en-US" sz="1400">
                          <a:solidFill>
                            <a:srgbClr val="000000"/>
                          </a:solidFill>
                          <a:latin typeface="Montserrat"/>
                          <a:ea typeface="Montserrat"/>
                          <a:cs typeface="Montserrat"/>
                          <a:sym typeface="Montserrat"/>
                        </a:rPr>
                        <a:t>Nhóm SCALE là nhóm hiệu quả cao nhất khi đồng thời </a:t>
                      </a:r>
                      <a:r>
                        <a:rPr lang="en-US" sz="1400" b="true">
                          <a:solidFill>
                            <a:srgbClr val="000000"/>
                          </a:solidFill>
                          <a:latin typeface="Montserrat Bold"/>
                          <a:ea typeface="Montserrat Bold"/>
                          <a:cs typeface="Montserrat Bold"/>
                          <a:sym typeface="Montserrat Bold"/>
                        </a:rPr>
                        <a:t>đạt quy mô lớn và chất lượng người dùng</a:t>
                      </a:r>
                      <a:r>
                        <a:rPr lang="en-US" sz="1400">
                          <a:solidFill>
                            <a:srgbClr val="000000"/>
                          </a:solidFill>
                          <a:latin typeface="Montserrat"/>
                          <a:ea typeface="Montserrat"/>
                          <a:cs typeface="Montserrat"/>
                          <a:sym typeface="Montserrat"/>
                        </a:rPr>
                        <a:t> chủ yếu là C0 và C2, </a:t>
                      </a:r>
                      <a:r>
                        <a:rPr lang="en-US" sz="1400" b="true">
                          <a:solidFill>
                            <a:srgbClr val="000000"/>
                          </a:solidFill>
                          <a:latin typeface="Montserrat Bold"/>
                          <a:ea typeface="Montserrat Bold"/>
                          <a:cs typeface="Montserrat Bold"/>
                          <a:sym typeface="Montserrat Bold"/>
                        </a:rPr>
                        <a:t>ít phụ thuộc khuyến mãi, tạo ra giá trị giao dịch cao và hành vi sử dụng bền vững. </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D9FFD7"/>
                    </a:solidFill>
                  </a:tcPr>
                </a:tc>
              </a:tr>
              <a:tr h="1736414">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TEST SCALE</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2BBBED"/>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20 chiến dịch (18,5%). </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Quy mô trung bình khoảng 97 NPU.</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DEF7FF"/>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HQ share rất cao ở giai đoạn đầu (~88%) nhưng giảm chất lượng giảm dần với C1 đạt 47,1%.</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G</a:t>
                      </a:r>
                      <a:r>
                        <a:rPr lang="en-US" sz="1400">
                          <a:solidFill>
                            <a:srgbClr val="000000"/>
                          </a:solidFill>
                          <a:latin typeface="Montserrat"/>
                          <a:ea typeface="Montserrat"/>
                          <a:cs typeface="Montserrat"/>
                          <a:sym typeface="Montserrat"/>
                        </a:rPr>
                        <a:t>iá trị trung bình khoảng 1,74 triệu đồng, với tần suất giao dịch khoảng 9,5 lần và mức độ sử dụng đa dạng tương đối cao, đạt trên 2 danh mục và gần 4 merchant.</a:t>
                      </a:r>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T</a:t>
                      </a:r>
                      <a:r>
                        <a:rPr lang="en-US" sz="1400">
                          <a:solidFill>
                            <a:srgbClr val="000000"/>
                          </a:solidFill>
                          <a:latin typeface="Montserrat"/>
                          <a:ea typeface="Montserrat"/>
                          <a:cs typeface="Montserrat"/>
                          <a:sym typeface="Montserrat"/>
                        </a:rPr>
                        <a:t>ỷ lệ người dùng phụ thuộc khuyến mãi ở mức khoảng 26,1%</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DEF7FF"/>
                    </a:solidFill>
                  </a:tcPr>
                </a:tc>
                <a:tc>
                  <a:txBody>
                    <a:bodyPr anchor="t" rtlCol="false"/>
                    <a:lstStyle/>
                    <a:p>
                      <a:pPr algn="just">
                        <a:lnSpc>
                          <a:spcPts val="1960"/>
                        </a:lnSpc>
                        <a:defRPr/>
                      </a:pPr>
                      <a:r>
                        <a:rPr lang="en-US" sz="1400">
                          <a:solidFill>
                            <a:srgbClr val="000000"/>
                          </a:solidFill>
                          <a:latin typeface="Montserrat"/>
                          <a:ea typeface="Montserrat"/>
                          <a:cs typeface="Montserrat"/>
                          <a:sym typeface="Montserrat"/>
                        </a:rPr>
                        <a:t>Nhóm TEST SCALE có </a:t>
                      </a:r>
                      <a:r>
                        <a:rPr lang="en-US" sz="1400" b="true">
                          <a:solidFill>
                            <a:srgbClr val="000000"/>
                          </a:solidFill>
                          <a:latin typeface="Montserrat Bold"/>
                          <a:ea typeface="Montserrat Bold"/>
                          <a:cs typeface="Montserrat Bold"/>
                          <a:sym typeface="Montserrat Bold"/>
                        </a:rPr>
                        <a:t>chất lượng đầu vào rất tốt nhưng suy giảm khi theo dõi dài hạn do tỷ lệ C1 tăng theo thời gian</a:t>
                      </a:r>
                      <a:r>
                        <a:rPr lang="en-US" sz="1400">
                          <a:solidFill>
                            <a:srgbClr val="000000"/>
                          </a:solidFill>
                          <a:latin typeface="Montserrat"/>
                          <a:ea typeface="Montserrat"/>
                          <a:cs typeface="Montserrat"/>
                          <a:sym typeface="Montserrat"/>
                        </a:rPr>
                        <a:t>. Người dùng có hành vi tốt trong giai đoạn đầu nhưng độ bền chưa ổn định.</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DEF7FF"/>
                    </a:solidFill>
                  </a:tcPr>
                </a:tc>
              </a:tr>
              <a:tr h="1217486">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MONITOR</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EFAC"/>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50 chiến dịch, (46,3%). </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Quy mô trung bình khoảng 378 NPU</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AE4"/>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HQ share đạt 68,6%. </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C0 (50%) và C1 (36,2%). Tỷ lệ quay lại ở mức 76,8% </a:t>
                      </a:r>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Tỷ lệ người dùng phụ thuộc khuyến mãi tương đối thấp ở mức 15,9%.</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AE4"/>
                    </a:solidFill>
                  </a:tcPr>
                </a:tc>
                <a:tc>
                  <a:txBody>
                    <a:bodyPr anchor="t" rtlCol="false"/>
                    <a:lstStyle/>
                    <a:p>
                      <a:pPr algn="just">
                        <a:lnSpc>
                          <a:spcPts val="1960"/>
                        </a:lnSpc>
                        <a:defRPr/>
                      </a:pPr>
                      <a:r>
                        <a:rPr lang="en-US" sz="1400">
                          <a:solidFill>
                            <a:srgbClr val="000000"/>
                          </a:solidFill>
                          <a:latin typeface="Montserrat"/>
                          <a:ea typeface="Montserrat"/>
                          <a:cs typeface="Montserrat"/>
                          <a:sym typeface="Montserrat"/>
                        </a:rPr>
                        <a:t>Nhóm MONITOR </a:t>
                      </a:r>
                      <a:r>
                        <a:rPr lang="en-US" sz="1400" b="true">
                          <a:solidFill>
                            <a:srgbClr val="000000"/>
                          </a:solidFill>
                          <a:latin typeface="Montserrat Bold"/>
                          <a:ea typeface="Montserrat Bold"/>
                          <a:cs typeface="Montserrat Bold"/>
                          <a:sym typeface="Montserrat Bold"/>
                        </a:rPr>
                        <a:t>chiếm tỷ trọng lớn và có chất lượng trung bình ổn định.</a:t>
                      </a:r>
                      <a:r>
                        <a:rPr lang="en-US" sz="1400">
                          <a:solidFill>
                            <a:srgbClr val="000000"/>
                          </a:solidFill>
                          <a:latin typeface="Montserrat"/>
                          <a:ea typeface="Montserrat"/>
                          <a:cs typeface="Montserrat"/>
                          <a:sym typeface="Montserrat"/>
                        </a:rPr>
                        <a:t> Người dùng cân bằng giữa organic và promo.</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AE4"/>
                    </a:solidFill>
                  </a:tcPr>
                </a:tc>
              </a:tr>
              <a:tr h="1476950">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REDESIGN</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98130"/>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Gồm 7 chiến dịch chiếm 6,5%.</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E1D0"/>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Tỷ lệ HQ share trong 30 ngày đạt 61,1%</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Tỷ lệ C1 (38,7%) cho thấy sự phụ thuộc tương đối cao vào khuyến mãi. </a:t>
                      </a:r>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Tỷ lệ người dùng quay lại giảm còn khoảng 74,3% và mức độ sử dụng organic ở mức 60,8 %.</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E1D0"/>
                    </a:solidFill>
                  </a:tcPr>
                </a:tc>
                <a:tc>
                  <a:txBody>
                    <a:bodyPr anchor="t" rtlCol="false"/>
                    <a:lstStyle/>
                    <a:p>
                      <a:pPr algn="just">
                        <a:lnSpc>
                          <a:spcPts val="1960"/>
                        </a:lnSpc>
                        <a:defRPr/>
                      </a:pPr>
                      <a:r>
                        <a:rPr lang="en-US" sz="1400">
                          <a:solidFill>
                            <a:srgbClr val="000000"/>
                          </a:solidFill>
                          <a:latin typeface="Montserrat"/>
                          <a:ea typeface="Montserrat"/>
                          <a:cs typeface="Montserrat"/>
                          <a:sym typeface="Montserrat"/>
                        </a:rPr>
                        <a:t>Nhóm REDESIGN có </a:t>
                      </a:r>
                      <a:r>
                        <a:rPr lang="en-US" sz="1400" b="true">
                          <a:solidFill>
                            <a:srgbClr val="000000"/>
                          </a:solidFill>
                          <a:latin typeface="Montserrat Bold"/>
                          <a:ea typeface="Montserrat Bold"/>
                          <a:cs typeface="Montserrat Bold"/>
                          <a:sym typeface="Montserrat Bold"/>
                        </a:rPr>
                        <a:t>quy mô lớn nhưng chất lượng thấp do phụ thuộc mạnh vào khuyến mãi.</a:t>
                      </a:r>
                      <a:r>
                        <a:rPr lang="en-US" sz="1400">
                          <a:solidFill>
                            <a:srgbClr val="000000"/>
                          </a:solidFill>
                          <a:latin typeface="Montserrat"/>
                          <a:ea typeface="Montserrat"/>
                          <a:cs typeface="Montserrat"/>
                          <a:sym typeface="Montserrat"/>
                        </a:rPr>
                        <a:t> Người dùng ít đa dạng hành vi, GMV và tần suất thấp hơn mặt bằng chung.</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E1D0"/>
                    </a:solidFill>
                  </a:tcPr>
                </a:tc>
              </a:tr>
              <a:tr h="1501733">
                <a:tc>
                  <a:txBody>
                    <a:bodyPr anchor="t" rtlCol="false"/>
                    <a:lstStyle/>
                    <a:p>
                      <a:pPr algn="ctr">
                        <a:lnSpc>
                          <a:spcPts val="1960"/>
                        </a:lnSpc>
                        <a:defRPr/>
                      </a:pPr>
                      <a:r>
                        <a:rPr lang="en-US" sz="1400" b="true">
                          <a:solidFill>
                            <a:srgbClr val="000000"/>
                          </a:solidFill>
                          <a:latin typeface="Montserrat Bold"/>
                          <a:ea typeface="Montserrat Bold"/>
                          <a:cs typeface="Montserrat Bold"/>
                          <a:sym typeface="Montserrat Bold"/>
                        </a:rPr>
                        <a:t>STOP</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3131"/>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2</a:t>
                      </a:r>
                      <a:r>
                        <a:rPr lang="en-US" sz="1400">
                          <a:solidFill>
                            <a:srgbClr val="000000"/>
                          </a:solidFill>
                          <a:latin typeface="Montserrat"/>
                          <a:ea typeface="Montserrat"/>
                          <a:cs typeface="Montserrat"/>
                          <a:sym typeface="Montserrat"/>
                        </a:rPr>
                        <a:t>8 chiến dịch chiếm 25,9%. </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Quy mô trung bình 103 NPU cho mỗi chiến dịch.</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D4D4"/>
                    </a:solidFill>
                  </a:tcPr>
                </a:tc>
                <a:tc>
                  <a:txBody>
                    <a:bodyPr anchor="t" rtlCol="false"/>
                    <a:lstStyle/>
                    <a:p>
                      <a:pPr algn="l" marL="302261" indent="-151130" lvl="1">
                        <a:lnSpc>
                          <a:spcPts val="1960"/>
                        </a:lnSpc>
                        <a:buFont typeface="Arial"/>
                        <a:buChar char="•"/>
                        <a:defRPr/>
                      </a:pPr>
                      <a:r>
                        <a:rPr lang="en-US" sz="1400">
                          <a:solidFill>
                            <a:srgbClr val="000000"/>
                          </a:solidFill>
                          <a:latin typeface="Montserrat"/>
                          <a:ea typeface="Montserrat"/>
                          <a:cs typeface="Montserrat"/>
                          <a:sym typeface="Montserrat"/>
                        </a:rPr>
                        <a:t>Chất lượng người dùng thấp nhất hệ thống với HQ share (57,9%). Tỷ lệ C1 (50,6% ) phần lớn người dùng đến từ nhóm sử dụng khuyến mãi.</a:t>
                      </a:r>
                      <a:endParaRPr lang="en-US" sz="1100"/>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 Tần suất giao dịch thấp nhất với khoảng 4,6 lần.</a:t>
                      </a:r>
                    </a:p>
                    <a:p>
                      <a:pPr algn="l" marL="302261" indent="-151130" lvl="1">
                        <a:lnSpc>
                          <a:spcPts val="1960"/>
                        </a:lnSpc>
                        <a:buFont typeface="Arial"/>
                        <a:buChar char="•"/>
                      </a:pPr>
                      <a:r>
                        <a:rPr lang="en-US" sz="1400">
                          <a:solidFill>
                            <a:srgbClr val="000000"/>
                          </a:solidFill>
                          <a:latin typeface="Montserrat"/>
                          <a:ea typeface="Montserrat"/>
                          <a:cs typeface="Montserrat"/>
                          <a:sym typeface="Montserrat"/>
                        </a:rPr>
                        <a:t>T</a:t>
                      </a:r>
                      <a:r>
                        <a:rPr lang="en-US" sz="1400">
                          <a:solidFill>
                            <a:srgbClr val="000000"/>
                          </a:solidFill>
                          <a:latin typeface="Montserrat"/>
                          <a:ea typeface="Montserrat"/>
                          <a:cs typeface="Montserrat"/>
                          <a:sym typeface="Montserrat"/>
                        </a:rPr>
                        <a:t>ỷ lệ quay lại chỉ đạt khoảng 67,8% và tỷ lệ người dùng organic dưới 50%.</a:t>
                      </a:r>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D4D4"/>
                    </a:solidFill>
                  </a:tcPr>
                </a:tc>
                <a:tc>
                  <a:txBody>
                    <a:bodyPr anchor="t" rtlCol="false"/>
                    <a:lstStyle/>
                    <a:p>
                      <a:pPr algn="just">
                        <a:lnSpc>
                          <a:spcPts val="1960"/>
                        </a:lnSpc>
                        <a:defRPr/>
                      </a:pPr>
                      <a:r>
                        <a:rPr lang="en-US" sz="1400">
                          <a:solidFill>
                            <a:srgbClr val="000000"/>
                          </a:solidFill>
                          <a:latin typeface="Montserrat"/>
                          <a:ea typeface="Montserrat"/>
                          <a:cs typeface="Montserrat"/>
                          <a:sym typeface="Montserrat"/>
                        </a:rPr>
                        <a:t>Nhóm STOP có hiệu quả thấp nhất khi vừa yếu về </a:t>
                      </a:r>
                      <a:r>
                        <a:rPr lang="en-US" sz="1400" b="true">
                          <a:solidFill>
                            <a:srgbClr val="000000"/>
                          </a:solidFill>
                          <a:latin typeface="Montserrat Bold"/>
                          <a:ea typeface="Montserrat Bold"/>
                          <a:cs typeface="Montserrat Bold"/>
                          <a:sym typeface="Montserrat Bold"/>
                        </a:rPr>
                        <a:t>chất lượng người dùng vừa kém về hiệu quả sử dụng.</a:t>
                      </a:r>
                      <a:r>
                        <a:rPr lang="en-US" sz="1400">
                          <a:solidFill>
                            <a:srgbClr val="000000"/>
                          </a:solidFill>
                          <a:latin typeface="Montserrat"/>
                          <a:ea typeface="Montserrat"/>
                          <a:cs typeface="Montserrat"/>
                          <a:sym typeface="Montserrat"/>
                        </a:rPr>
                        <a:t> Phần lớn </a:t>
                      </a:r>
                      <a:r>
                        <a:rPr lang="en-US" sz="1400" b="true">
                          <a:solidFill>
                            <a:srgbClr val="000000"/>
                          </a:solidFill>
                          <a:latin typeface="Montserrat Bold"/>
                          <a:ea typeface="Montserrat Bold"/>
                          <a:cs typeface="Montserrat Bold"/>
                          <a:sym typeface="Montserrat Bold"/>
                        </a:rPr>
                        <a:t>user đến từ khuyến mãi, không tạo hành vi dài hạn.</a:t>
                      </a:r>
                      <a:endParaRPr lang="en-US" sz="1100"/>
                    </a:p>
                  </a:txBody>
                  <a:tcPr marL="190500" marR="190500" marT="190500" marB="190500"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D4D4"/>
                    </a:solidFill>
                  </a:tcPr>
                </a:tc>
              </a:tr>
            </a:tbl>
          </a:graphicData>
        </a:graphic>
      </p:graphicFrame>
      <p:sp>
        <p:nvSpPr>
          <p:cNvPr name="TextBox 10" id="10"/>
          <p:cNvSpPr txBox="true"/>
          <p:nvPr/>
        </p:nvSpPr>
        <p:spPr>
          <a:xfrm rot="0">
            <a:off x="564886" y="218800"/>
            <a:ext cx="17723114" cy="628651"/>
          </a:xfrm>
          <a:prstGeom prst="rect">
            <a:avLst/>
          </a:prstGeom>
        </p:spPr>
        <p:txBody>
          <a:bodyPr anchor="t" rtlCol="false" tIns="0" lIns="0" bIns="0" rIns="0">
            <a:spAutoFit/>
          </a:bodyPr>
          <a:lstStyle/>
          <a:p>
            <a:pPr algn="ctr" marL="0" indent="0" lvl="0">
              <a:lnSpc>
                <a:spcPts val="5249"/>
              </a:lnSpc>
            </a:pPr>
            <a:r>
              <a:rPr lang="en-US" b="true" sz="3499" spc="10">
                <a:solidFill>
                  <a:srgbClr val="FFEA92"/>
                </a:solidFill>
                <a:latin typeface="Inter Ultra-Bold"/>
                <a:ea typeface="Inter Ultra-Bold"/>
                <a:cs typeface="Inter Ultra-Bold"/>
                <a:sym typeface="Inter Ultra-Bold"/>
              </a:rPr>
              <a:t>KẾT QUẢ PHÂN LOẠI CAMPAIGN TỐT VÀ CHƯA TỐT (2X2 MATRIX)</a:t>
            </a:r>
          </a:p>
        </p:txBody>
      </p:sp>
      <p:sp>
        <p:nvSpPr>
          <p:cNvPr name="TextBox 11" id="11"/>
          <p:cNvSpPr txBox="true"/>
          <p:nvPr/>
        </p:nvSpPr>
        <p:spPr>
          <a:xfrm rot="0">
            <a:off x="1145562" y="9766169"/>
            <a:ext cx="15996876" cy="247650"/>
          </a:xfrm>
          <a:prstGeom prst="rect">
            <a:avLst/>
          </a:prstGeom>
        </p:spPr>
        <p:txBody>
          <a:bodyPr anchor="t" rtlCol="false" tIns="0" lIns="0" bIns="0" rIns="0">
            <a:spAutoFit/>
          </a:bodyPr>
          <a:lstStyle/>
          <a:p>
            <a:pPr algn="just">
              <a:lnSpc>
                <a:spcPts val="2099"/>
              </a:lnSpc>
            </a:pPr>
            <a:r>
              <a:rPr lang="en-US" sz="1499" i="true">
                <a:solidFill>
                  <a:srgbClr val="FFFFFF"/>
                </a:solidFill>
                <a:latin typeface="Montserrat Light Italics"/>
                <a:ea typeface="Montserrat Light Italics"/>
                <a:cs typeface="Montserrat Light Italics"/>
                <a:sym typeface="Montserrat Light Italics"/>
              </a:rPr>
              <a:t>*Chú thích: HQ Share (High Quality Share)  tỷ lệ người dùng được xem là chất lượng cao trong tổng số người dùng của một nhóm;  HQ Share  = (C1 + C2) / (C0 + C1 + C2)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0A0A">
                <a:alpha val="96863"/>
              </a:srgbClr>
            </a:solidFill>
          </p:spPr>
        </p:sp>
        <p:sp>
          <p:nvSpPr>
            <p:cNvPr name="TextBox 5" id="5"/>
            <p:cNvSpPr txBox="true"/>
            <p:nvPr/>
          </p:nvSpPr>
          <p:spPr>
            <a:xfrm>
              <a:off x="0" y="-104775"/>
              <a:ext cx="4816593" cy="281410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160916" y="1323948"/>
            <a:ext cx="10288805" cy="11905421"/>
          </a:xfrm>
          <a:custGeom>
            <a:avLst/>
            <a:gdLst/>
            <a:ahLst/>
            <a:cxnLst/>
            <a:rect r="r" b="b" t="t" l="l"/>
            <a:pathLst>
              <a:path h="11905421" w="10288805">
                <a:moveTo>
                  <a:pt x="0" y="11905420"/>
                </a:moveTo>
                <a:lnTo>
                  <a:pt x="10288805" y="11905420"/>
                </a:lnTo>
                <a:lnTo>
                  <a:pt x="10288805" y="0"/>
                </a:lnTo>
                <a:lnTo>
                  <a:pt x="0" y="0"/>
                </a:lnTo>
                <a:lnTo>
                  <a:pt x="0" y="11905420"/>
                </a:lnTo>
                <a:close/>
              </a:path>
            </a:pathLst>
          </a:custGeom>
          <a:blipFill>
            <a:blip r:embed="rId3">
              <a:alphaModFix amt="23000"/>
            </a:blip>
            <a:stretch>
              <a:fillRect l="-41760" t="0" r="0" b="0"/>
            </a:stretch>
          </a:blipFill>
        </p:spPr>
      </p:sp>
      <p:sp>
        <p:nvSpPr>
          <p:cNvPr name="Freeform 7" id="7"/>
          <p:cNvSpPr/>
          <p:nvPr/>
        </p:nvSpPr>
        <p:spPr>
          <a:xfrm flipH="true" flipV="false" rot="0">
            <a:off x="-2198478" y="-6936210"/>
            <a:ext cx="11129273" cy="11905421"/>
          </a:xfrm>
          <a:custGeom>
            <a:avLst/>
            <a:gdLst/>
            <a:ahLst/>
            <a:cxnLst/>
            <a:rect r="r" b="b" t="t" l="l"/>
            <a:pathLst>
              <a:path h="11905421" w="11129273">
                <a:moveTo>
                  <a:pt x="11129273" y="0"/>
                </a:moveTo>
                <a:lnTo>
                  <a:pt x="0" y="0"/>
                </a:lnTo>
                <a:lnTo>
                  <a:pt x="0" y="11905420"/>
                </a:lnTo>
                <a:lnTo>
                  <a:pt x="11129273" y="11905420"/>
                </a:lnTo>
                <a:lnTo>
                  <a:pt x="11129273" y="0"/>
                </a:lnTo>
                <a:close/>
              </a:path>
            </a:pathLst>
          </a:custGeom>
          <a:blipFill>
            <a:blip r:embed="rId3">
              <a:alphaModFix amt="23000"/>
            </a:blip>
            <a:stretch>
              <a:fillRect l="-31055" t="0" r="0" b="0"/>
            </a:stretch>
          </a:blipFill>
        </p:spPr>
      </p:sp>
      <p:sp>
        <p:nvSpPr>
          <p:cNvPr name="Freeform 8" id="8"/>
          <p:cNvSpPr/>
          <p:nvPr/>
        </p:nvSpPr>
        <p:spPr>
          <a:xfrm flipH="false" flipV="false" rot="0">
            <a:off x="15880642" y="9053085"/>
            <a:ext cx="15240000" cy="8229600"/>
          </a:xfrm>
          <a:custGeom>
            <a:avLst/>
            <a:gdLst/>
            <a:ahLst/>
            <a:cxnLst/>
            <a:rect r="r" b="b" t="t" l="l"/>
            <a:pathLst>
              <a:path h="8229600" w="15240000">
                <a:moveTo>
                  <a:pt x="0" y="0"/>
                </a:moveTo>
                <a:lnTo>
                  <a:pt x="15240000" y="0"/>
                </a:lnTo>
                <a:lnTo>
                  <a:pt x="15240000" y="8229600"/>
                </a:lnTo>
                <a:lnTo>
                  <a:pt x="0" y="8229600"/>
                </a:lnTo>
                <a:lnTo>
                  <a:pt x="0" y="0"/>
                </a:lnTo>
                <a:close/>
              </a:path>
            </a:pathLst>
          </a:custGeom>
          <a:blipFill>
            <a:blip r:embed="rId4">
              <a:alphaModFix amt="90000"/>
            </a:blip>
            <a:stretch>
              <a:fillRect l="0" t="0" r="0" b="0"/>
            </a:stretch>
          </a:blipFill>
        </p:spPr>
      </p:sp>
      <p:grpSp>
        <p:nvGrpSpPr>
          <p:cNvPr name="Group 9" id="9"/>
          <p:cNvGrpSpPr/>
          <p:nvPr/>
        </p:nvGrpSpPr>
        <p:grpSpPr>
          <a:xfrm rot="0">
            <a:off x="300644" y="3222501"/>
            <a:ext cx="17736076" cy="3166442"/>
            <a:chOff x="0" y="0"/>
            <a:chExt cx="6843185" cy="1221722"/>
          </a:xfrm>
        </p:grpSpPr>
        <p:sp>
          <p:nvSpPr>
            <p:cNvPr name="Freeform 10" id="10"/>
            <p:cNvSpPr/>
            <p:nvPr/>
          </p:nvSpPr>
          <p:spPr>
            <a:xfrm flipH="false" flipV="false" rot="0">
              <a:off x="0" y="0"/>
              <a:ext cx="6843185" cy="1221722"/>
            </a:xfrm>
            <a:custGeom>
              <a:avLst/>
              <a:gdLst/>
              <a:ahLst/>
              <a:cxnLst/>
              <a:rect r="r" b="b" t="t" l="l"/>
              <a:pathLst>
                <a:path h="1221722" w="6843185">
                  <a:moveTo>
                    <a:pt x="10476" y="0"/>
                  </a:moveTo>
                  <a:lnTo>
                    <a:pt x="6832709" y="0"/>
                  </a:lnTo>
                  <a:cubicBezTo>
                    <a:pt x="6838495" y="0"/>
                    <a:pt x="6843185" y="4690"/>
                    <a:pt x="6843185" y="10476"/>
                  </a:cubicBezTo>
                  <a:lnTo>
                    <a:pt x="6843185" y="1211246"/>
                  </a:lnTo>
                  <a:cubicBezTo>
                    <a:pt x="6843185" y="1214024"/>
                    <a:pt x="6842082" y="1216689"/>
                    <a:pt x="6840117" y="1218653"/>
                  </a:cubicBezTo>
                  <a:cubicBezTo>
                    <a:pt x="6838152" y="1220618"/>
                    <a:pt x="6835487" y="1221722"/>
                    <a:pt x="6832709" y="1221722"/>
                  </a:cubicBezTo>
                  <a:lnTo>
                    <a:pt x="10476" y="1221722"/>
                  </a:lnTo>
                  <a:cubicBezTo>
                    <a:pt x="7698" y="1221722"/>
                    <a:pt x="5033" y="1220618"/>
                    <a:pt x="3068" y="1218653"/>
                  </a:cubicBezTo>
                  <a:cubicBezTo>
                    <a:pt x="1104" y="1216689"/>
                    <a:pt x="0" y="1214024"/>
                    <a:pt x="0" y="1211246"/>
                  </a:cubicBezTo>
                  <a:lnTo>
                    <a:pt x="0" y="10476"/>
                  </a:lnTo>
                  <a:cubicBezTo>
                    <a:pt x="0" y="4690"/>
                    <a:pt x="4690" y="0"/>
                    <a:pt x="10476" y="0"/>
                  </a:cubicBezTo>
                  <a:close/>
                </a:path>
              </a:pathLst>
            </a:custGeom>
            <a:gradFill rotWithShape="true">
              <a:gsLst>
                <a:gs pos="0">
                  <a:srgbClr val="FFFFFF">
                    <a:alpha val="34000"/>
                  </a:srgbClr>
                </a:gs>
                <a:gs pos="100000">
                  <a:srgbClr val="5B9E51">
                    <a:alpha val="34000"/>
                  </a:srgbClr>
                </a:gs>
              </a:gsLst>
              <a:lin ang="5400000"/>
            </a:gradFill>
            <a:ln w="38100" cap="rnd">
              <a:gradFill>
                <a:gsLst>
                  <a:gs pos="0">
                    <a:srgbClr val="5B9E51">
                      <a:alpha val="34000"/>
                    </a:srgbClr>
                  </a:gs>
                  <a:gs pos="100000">
                    <a:srgbClr val="FFFFFF">
                      <a:alpha val="34000"/>
                    </a:srgbClr>
                  </a:gs>
                </a:gsLst>
                <a:lin ang="0"/>
              </a:gradFill>
              <a:prstDash val="solid"/>
              <a:round/>
            </a:ln>
          </p:spPr>
        </p:sp>
        <p:sp>
          <p:nvSpPr>
            <p:cNvPr name="TextBox 11" id="11"/>
            <p:cNvSpPr txBox="true"/>
            <p:nvPr/>
          </p:nvSpPr>
          <p:spPr>
            <a:xfrm>
              <a:off x="0" y="28575"/>
              <a:ext cx="6843185" cy="1193147"/>
            </a:xfrm>
            <a:prstGeom prst="rect">
              <a:avLst/>
            </a:prstGeom>
          </p:spPr>
          <p:txBody>
            <a:bodyPr anchor="ctr" rtlCol="false" tIns="50800" lIns="50800" bIns="50800" rIns="50800"/>
            <a:lstStyle/>
            <a:p>
              <a:pPr algn="ctr">
                <a:lnSpc>
                  <a:spcPts val="2000"/>
                </a:lnSpc>
              </a:pPr>
            </a:p>
          </p:txBody>
        </p:sp>
      </p:grpSp>
      <p:sp>
        <p:nvSpPr>
          <p:cNvPr name="Freeform 12" id="12"/>
          <p:cNvSpPr/>
          <p:nvPr/>
        </p:nvSpPr>
        <p:spPr>
          <a:xfrm flipH="false" flipV="false" rot="0">
            <a:off x="2979700" y="-5321424"/>
            <a:ext cx="12734391" cy="8229600"/>
          </a:xfrm>
          <a:custGeom>
            <a:avLst/>
            <a:gdLst/>
            <a:ahLst/>
            <a:cxnLst/>
            <a:rect r="r" b="b" t="t" l="l"/>
            <a:pathLst>
              <a:path h="8229600" w="12734391">
                <a:moveTo>
                  <a:pt x="0" y="0"/>
                </a:moveTo>
                <a:lnTo>
                  <a:pt x="12734391" y="0"/>
                </a:lnTo>
                <a:lnTo>
                  <a:pt x="12734391" y="8229600"/>
                </a:lnTo>
                <a:lnTo>
                  <a:pt x="0" y="8229600"/>
                </a:lnTo>
                <a:lnTo>
                  <a:pt x="0" y="0"/>
                </a:lnTo>
                <a:close/>
              </a:path>
            </a:pathLst>
          </a:custGeom>
          <a:blipFill>
            <a:blip r:embed="rId5"/>
            <a:stretch>
              <a:fillRect l="0" t="0" r="0" b="0"/>
            </a:stretch>
          </a:blipFill>
        </p:spPr>
      </p:sp>
      <p:grpSp>
        <p:nvGrpSpPr>
          <p:cNvPr name="Group 13" id="13"/>
          <p:cNvGrpSpPr/>
          <p:nvPr/>
        </p:nvGrpSpPr>
        <p:grpSpPr>
          <a:xfrm rot="0">
            <a:off x="300644" y="712624"/>
            <a:ext cx="17736076" cy="2347952"/>
            <a:chOff x="0" y="0"/>
            <a:chExt cx="6843185" cy="905920"/>
          </a:xfrm>
        </p:grpSpPr>
        <p:sp>
          <p:nvSpPr>
            <p:cNvPr name="Freeform 14" id="14"/>
            <p:cNvSpPr/>
            <p:nvPr/>
          </p:nvSpPr>
          <p:spPr>
            <a:xfrm flipH="false" flipV="false" rot="0">
              <a:off x="0" y="0"/>
              <a:ext cx="6843185" cy="905920"/>
            </a:xfrm>
            <a:custGeom>
              <a:avLst/>
              <a:gdLst/>
              <a:ahLst/>
              <a:cxnLst/>
              <a:rect r="r" b="b" t="t" l="l"/>
              <a:pathLst>
                <a:path h="905920" w="6843185">
                  <a:moveTo>
                    <a:pt x="10476" y="0"/>
                  </a:moveTo>
                  <a:lnTo>
                    <a:pt x="6832709" y="0"/>
                  </a:lnTo>
                  <a:cubicBezTo>
                    <a:pt x="6838495" y="0"/>
                    <a:pt x="6843185" y="4690"/>
                    <a:pt x="6843185" y="10476"/>
                  </a:cubicBezTo>
                  <a:lnTo>
                    <a:pt x="6843185" y="895444"/>
                  </a:lnTo>
                  <a:cubicBezTo>
                    <a:pt x="6843185" y="898223"/>
                    <a:pt x="6842082" y="900887"/>
                    <a:pt x="6840117" y="902852"/>
                  </a:cubicBezTo>
                  <a:cubicBezTo>
                    <a:pt x="6838152" y="904817"/>
                    <a:pt x="6835487" y="905920"/>
                    <a:pt x="6832709" y="905920"/>
                  </a:cubicBezTo>
                  <a:lnTo>
                    <a:pt x="10476" y="905920"/>
                  </a:lnTo>
                  <a:cubicBezTo>
                    <a:pt x="4690" y="905920"/>
                    <a:pt x="0" y="901230"/>
                    <a:pt x="0" y="895444"/>
                  </a:cubicBezTo>
                  <a:lnTo>
                    <a:pt x="0" y="10476"/>
                  </a:lnTo>
                  <a:cubicBezTo>
                    <a:pt x="0" y="4690"/>
                    <a:pt x="4690" y="0"/>
                    <a:pt x="10476" y="0"/>
                  </a:cubicBezTo>
                  <a:close/>
                </a:path>
              </a:pathLst>
            </a:custGeom>
            <a:gradFill rotWithShape="true">
              <a:gsLst>
                <a:gs pos="0">
                  <a:srgbClr val="FFFFFF">
                    <a:alpha val="25000"/>
                  </a:srgbClr>
                </a:gs>
                <a:gs pos="100000">
                  <a:srgbClr val="000000">
                    <a:alpha val="25000"/>
                  </a:srgbClr>
                </a:gs>
              </a:gsLst>
              <a:lin ang="5400000"/>
            </a:gradFill>
            <a:ln w="38100" cap="rnd">
              <a:gradFill>
                <a:gsLst>
                  <a:gs pos="0">
                    <a:srgbClr val="5B9E51">
                      <a:alpha val="25000"/>
                    </a:srgbClr>
                  </a:gs>
                  <a:gs pos="100000">
                    <a:srgbClr val="FFFFFF">
                      <a:alpha val="25000"/>
                    </a:srgbClr>
                  </a:gs>
                </a:gsLst>
                <a:lin ang="0"/>
              </a:gradFill>
              <a:prstDash val="solid"/>
              <a:round/>
            </a:ln>
          </p:spPr>
        </p:sp>
        <p:sp>
          <p:nvSpPr>
            <p:cNvPr name="TextBox 15" id="15"/>
            <p:cNvSpPr txBox="true"/>
            <p:nvPr/>
          </p:nvSpPr>
          <p:spPr>
            <a:xfrm>
              <a:off x="0" y="28575"/>
              <a:ext cx="6843185" cy="877345"/>
            </a:xfrm>
            <a:prstGeom prst="rect">
              <a:avLst/>
            </a:prstGeom>
          </p:spPr>
          <p:txBody>
            <a:bodyPr anchor="ctr" rtlCol="false" tIns="50800" lIns="50800" bIns="50800" rIns="50800"/>
            <a:lstStyle/>
            <a:p>
              <a:pPr algn="ctr">
                <a:lnSpc>
                  <a:spcPts val="2000"/>
                </a:lnSpc>
              </a:pPr>
            </a:p>
          </p:txBody>
        </p:sp>
      </p:grpSp>
      <p:grpSp>
        <p:nvGrpSpPr>
          <p:cNvPr name="Group 16" id="16"/>
          <p:cNvGrpSpPr/>
          <p:nvPr/>
        </p:nvGrpSpPr>
        <p:grpSpPr>
          <a:xfrm rot="0">
            <a:off x="548867" y="932947"/>
            <a:ext cx="5907210" cy="1907105"/>
            <a:chOff x="0" y="0"/>
            <a:chExt cx="2794675" cy="902243"/>
          </a:xfrm>
        </p:grpSpPr>
        <p:sp>
          <p:nvSpPr>
            <p:cNvPr name="Freeform 17" id="17"/>
            <p:cNvSpPr/>
            <p:nvPr/>
          </p:nvSpPr>
          <p:spPr>
            <a:xfrm flipH="false" flipV="false" rot="0">
              <a:off x="0" y="0"/>
              <a:ext cx="2794675" cy="902243"/>
            </a:xfrm>
            <a:custGeom>
              <a:avLst/>
              <a:gdLst/>
              <a:ahLst/>
              <a:cxnLst/>
              <a:rect r="r" b="b" t="t" l="l"/>
              <a:pathLst>
                <a:path h="902243" w="2794675">
                  <a:moveTo>
                    <a:pt x="35386" y="0"/>
                  </a:moveTo>
                  <a:lnTo>
                    <a:pt x="2759289" y="0"/>
                  </a:lnTo>
                  <a:cubicBezTo>
                    <a:pt x="2768674" y="0"/>
                    <a:pt x="2777674" y="3728"/>
                    <a:pt x="2784310" y="10364"/>
                  </a:cubicBezTo>
                  <a:cubicBezTo>
                    <a:pt x="2790947" y="17000"/>
                    <a:pt x="2794675" y="26001"/>
                    <a:pt x="2794675" y="35386"/>
                  </a:cubicBezTo>
                  <a:lnTo>
                    <a:pt x="2794675" y="866857"/>
                  </a:lnTo>
                  <a:cubicBezTo>
                    <a:pt x="2794675" y="876242"/>
                    <a:pt x="2790947" y="885242"/>
                    <a:pt x="2784310" y="891879"/>
                  </a:cubicBezTo>
                  <a:cubicBezTo>
                    <a:pt x="2777674" y="898515"/>
                    <a:pt x="2768674" y="902243"/>
                    <a:pt x="2759289" y="902243"/>
                  </a:cubicBezTo>
                  <a:lnTo>
                    <a:pt x="35386" y="902243"/>
                  </a:lnTo>
                  <a:cubicBezTo>
                    <a:pt x="26001" y="902243"/>
                    <a:pt x="17000" y="898515"/>
                    <a:pt x="10364" y="891879"/>
                  </a:cubicBezTo>
                  <a:cubicBezTo>
                    <a:pt x="3728" y="885242"/>
                    <a:pt x="0" y="876242"/>
                    <a:pt x="0" y="866857"/>
                  </a:cubicBezTo>
                  <a:lnTo>
                    <a:pt x="0" y="35386"/>
                  </a:lnTo>
                  <a:cubicBezTo>
                    <a:pt x="0" y="26001"/>
                    <a:pt x="3728" y="17000"/>
                    <a:pt x="10364" y="10364"/>
                  </a:cubicBezTo>
                  <a:cubicBezTo>
                    <a:pt x="17000" y="3728"/>
                    <a:pt x="26001" y="0"/>
                    <a:pt x="35386"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18" id="18"/>
            <p:cNvSpPr txBox="true"/>
            <p:nvPr/>
          </p:nvSpPr>
          <p:spPr>
            <a:xfrm>
              <a:off x="0" y="28575"/>
              <a:ext cx="2794675" cy="873668"/>
            </a:xfrm>
            <a:prstGeom prst="rect">
              <a:avLst/>
            </a:prstGeom>
          </p:spPr>
          <p:txBody>
            <a:bodyPr anchor="ctr" rtlCol="false" tIns="50800" lIns="50800" bIns="50800" rIns="50800"/>
            <a:lstStyle/>
            <a:p>
              <a:pPr algn="ctr">
                <a:lnSpc>
                  <a:spcPts val="2000"/>
                </a:lnSpc>
              </a:pPr>
            </a:p>
          </p:txBody>
        </p:sp>
      </p:grpSp>
      <p:grpSp>
        <p:nvGrpSpPr>
          <p:cNvPr name="Group 19" id="19"/>
          <p:cNvGrpSpPr/>
          <p:nvPr/>
        </p:nvGrpSpPr>
        <p:grpSpPr>
          <a:xfrm rot="0">
            <a:off x="8240162" y="932947"/>
            <a:ext cx="5930862" cy="1907105"/>
            <a:chOff x="0" y="0"/>
            <a:chExt cx="2903239" cy="933554"/>
          </a:xfrm>
        </p:grpSpPr>
        <p:sp>
          <p:nvSpPr>
            <p:cNvPr name="Freeform 20" id="20"/>
            <p:cNvSpPr/>
            <p:nvPr/>
          </p:nvSpPr>
          <p:spPr>
            <a:xfrm flipH="false" flipV="false" rot="0">
              <a:off x="0" y="0"/>
              <a:ext cx="2903239" cy="933554"/>
            </a:xfrm>
            <a:custGeom>
              <a:avLst/>
              <a:gdLst/>
              <a:ahLst/>
              <a:cxnLst/>
              <a:rect r="r" b="b" t="t" l="l"/>
              <a:pathLst>
                <a:path h="933554" w="2903239">
                  <a:moveTo>
                    <a:pt x="33939" y="0"/>
                  </a:moveTo>
                  <a:lnTo>
                    <a:pt x="2869300" y="0"/>
                  </a:lnTo>
                  <a:cubicBezTo>
                    <a:pt x="2888044" y="0"/>
                    <a:pt x="2903239" y="15195"/>
                    <a:pt x="2903239" y="33939"/>
                  </a:cubicBezTo>
                  <a:lnTo>
                    <a:pt x="2903239" y="899615"/>
                  </a:lnTo>
                  <a:cubicBezTo>
                    <a:pt x="2903239" y="918359"/>
                    <a:pt x="2888044" y="933554"/>
                    <a:pt x="2869300" y="933554"/>
                  </a:cubicBezTo>
                  <a:lnTo>
                    <a:pt x="33939" y="933554"/>
                  </a:lnTo>
                  <a:cubicBezTo>
                    <a:pt x="15195" y="933554"/>
                    <a:pt x="0" y="918359"/>
                    <a:pt x="0" y="899615"/>
                  </a:cubicBezTo>
                  <a:lnTo>
                    <a:pt x="0" y="33939"/>
                  </a:lnTo>
                  <a:cubicBezTo>
                    <a:pt x="0" y="15195"/>
                    <a:pt x="15195" y="0"/>
                    <a:pt x="33939" y="0"/>
                  </a:cubicBezTo>
                  <a:close/>
                </a:path>
              </a:pathLst>
            </a:custGeom>
            <a:solidFill>
              <a:srgbClr val="FFFFFF"/>
            </a:solidFill>
            <a:ln w="38100" cap="rnd">
              <a:gradFill>
                <a:gsLst>
                  <a:gs pos="0">
                    <a:srgbClr val="5F89FF">
                      <a:alpha val="100000"/>
                    </a:srgbClr>
                  </a:gs>
                  <a:gs pos="100000">
                    <a:srgbClr val="FFFFFF">
                      <a:alpha val="18500"/>
                    </a:srgbClr>
                  </a:gs>
                </a:gsLst>
                <a:lin ang="5400000"/>
              </a:gradFill>
              <a:prstDash val="solid"/>
              <a:round/>
            </a:ln>
          </p:spPr>
        </p:sp>
        <p:sp>
          <p:nvSpPr>
            <p:cNvPr name="TextBox 21" id="21"/>
            <p:cNvSpPr txBox="true"/>
            <p:nvPr/>
          </p:nvSpPr>
          <p:spPr>
            <a:xfrm>
              <a:off x="0" y="28575"/>
              <a:ext cx="2903239" cy="904979"/>
            </a:xfrm>
            <a:prstGeom prst="rect">
              <a:avLst/>
            </a:prstGeom>
          </p:spPr>
          <p:txBody>
            <a:bodyPr anchor="ctr" rtlCol="false" tIns="50800" lIns="50800" bIns="50800" rIns="50800"/>
            <a:lstStyle/>
            <a:p>
              <a:pPr algn="ctr">
                <a:lnSpc>
                  <a:spcPts val="2000"/>
                </a:lnSpc>
              </a:pPr>
            </a:p>
          </p:txBody>
        </p:sp>
      </p:grpSp>
      <p:sp>
        <p:nvSpPr>
          <p:cNvPr name="Freeform 22" id="22"/>
          <p:cNvSpPr/>
          <p:nvPr/>
        </p:nvSpPr>
        <p:spPr>
          <a:xfrm flipH="false" flipV="false" rot="0">
            <a:off x="14822606" y="903769"/>
            <a:ext cx="309435" cy="143887"/>
          </a:xfrm>
          <a:custGeom>
            <a:avLst/>
            <a:gdLst/>
            <a:ahLst/>
            <a:cxnLst/>
            <a:rect r="r" b="b" t="t" l="l"/>
            <a:pathLst>
              <a:path h="143887" w="309435">
                <a:moveTo>
                  <a:pt x="0" y="0"/>
                </a:moveTo>
                <a:lnTo>
                  <a:pt x="309435" y="0"/>
                </a:lnTo>
                <a:lnTo>
                  <a:pt x="309435" y="143887"/>
                </a:lnTo>
                <a:lnTo>
                  <a:pt x="0" y="1438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8040985" y="3432051"/>
            <a:ext cx="6064013" cy="2653006"/>
          </a:xfrm>
          <a:custGeom>
            <a:avLst/>
            <a:gdLst/>
            <a:ahLst/>
            <a:cxnLst/>
            <a:rect r="r" b="b" t="t" l="l"/>
            <a:pathLst>
              <a:path h="2653006" w="6064013">
                <a:moveTo>
                  <a:pt x="0" y="0"/>
                </a:moveTo>
                <a:lnTo>
                  <a:pt x="6064013" y="0"/>
                </a:lnTo>
                <a:lnTo>
                  <a:pt x="6064013" y="2653006"/>
                </a:lnTo>
                <a:lnTo>
                  <a:pt x="0" y="2653006"/>
                </a:lnTo>
                <a:lnTo>
                  <a:pt x="0" y="0"/>
                </a:lnTo>
                <a:close/>
              </a:path>
            </a:pathLst>
          </a:custGeom>
          <a:blipFill>
            <a:blip r:embed="rId8"/>
            <a:stretch>
              <a:fillRect l="0" t="0" r="0" b="0"/>
            </a:stretch>
          </a:blipFill>
          <a:ln w="28575" cap="sq">
            <a:gradFill>
              <a:gsLst>
                <a:gs pos="0">
                  <a:srgbClr val="5F89FF">
                    <a:alpha val="100000"/>
                  </a:srgbClr>
                </a:gs>
                <a:gs pos="100000">
                  <a:srgbClr val="FFFFFF">
                    <a:alpha val="18500"/>
                  </a:srgbClr>
                </a:gs>
              </a:gsLst>
              <a:lin ang="5400000"/>
            </a:gradFill>
            <a:prstDash val="solid"/>
            <a:miter/>
          </a:ln>
        </p:spPr>
      </p:sp>
      <p:sp>
        <p:nvSpPr>
          <p:cNvPr name="Freeform 24" id="24"/>
          <p:cNvSpPr/>
          <p:nvPr/>
        </p:nvSpPr>
        <p:spPr>
          <a:xfrm flipH="false" flipV="false" rot="0">
            <a:off x="6583956" y="1190941"/>
            <a:ext cx="1474581" cy="1466100"/>
          </a:xfrm>
          <a:custGeom>
            <a:avLst/>
            <a:gdLst/>
            <a:ahLst/>
            <a:cxnLst/>
            <a:rect r="r" b="b" t="t" l="l"/>
            <a:pathLst>
              <a:path h="1466100" w="1474581">
                <a:moveTo>
                  <a:pt x="0" y="0"/>
                </a:moveTo>
                <a:lnTo>
                  <a:pt x="1474581" y="0"/>
                </a:lnTo>
                <a:lnTo>
                  <a:pt x="1474581" y="1466100"/>
                </a:lnTo>
                <a:lnTo>
                  <a:pt x="0" y="14661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8433237" y="1307310"/>
            <a:ext cx="5650629" cy="579190"/>
          </a:xfrm>
          <a:custGeom>
            <a:avLst/>
            <a:gdLst/>
            <a:ahLst/>
            <a:cxnLst/>
            <a:rect r="r" b="b" t="t" l="l"/>
            <a:pathLst>
              <a:path h="579190" w="5650629">
                <a:moveTo>
                  <a:pt x="0" y="0"/>
                </a:moveTo>
                <a:lnTo>
                  <a:pt x="5650630" y="0"/>
                </a:lnTo>
                <a:lnTo>
                  <a:pt x="5650630" y="579189"/>
                </a:lnTo>
                <a:lnTo>
                  <a:pt x="0" y="579189"/>
                </a:lnTo>
                <a:lnTo>
                  <a:pt x="0" y="0"/>
                </a:lnTo>
                <a:close/>
              </a:path>
            </a:pathLst>
          </a:custGeom>
          <a:blipFill>
            <a:blip r:embed="rId11"/>
            <a:stretch>
              <a:fillRect l="0" t="0" r="-99999" b="0"/>
            </a:stretch>
          </a:blipFill>
          <a:ln w="9525" cap="sq">
            <a:solidFill>
              <a:srgbClr val="000000"/>
            </a:solidFill>
            <a:prstDash val="solid"/>
            <a:miter/>
          </a:ln>
        </p:spPr>
      </p:sp>
      <p:sp>
        <p:nvSpPr>
          <p:cNvPr name="Freeform 26" id="26"/>
          <p:cNvSpPr/>
          <p:nvPr/>
        </p:nvSpPr>
        <p:spPr>
          <a:xfrm flipH="false" flipV="false" rot="0">
            <a:off x="8433237" y="1923991"/>
            <a:ext cx="5634975" cy="579190"/>
          </a:xfrm>
          <a:custGeom>
            <a:avLst/>
            <a:gdLst/>
            <a:ahLst/>
            <a:cxnLst/>
            <a:rect r="r" b="b" t="t" l="l"/>
            <a:pathLst>
              <a:path h="579190" w="5634975">
                <a:moveTo>
                  <a:pt x="0" y="0"/>
                </a:moveTo>
                <a:lnTo>
                  <a:pt x="5634975" y="0"/>
                </a:lnTo>
                <a:lnTo>
                  <a:pt x="5634975" y="579189"/>
                </a:lnTo>
                <a:lnTo>
                  <a:pt x="0" y="579189"/>
                </a:lnTo>
                <a:lnTo>
                  <a:pt x="0" y="0"/>
                </a:lnTo>
                <a:close/>
              </a:path>
            </a:pathLst>
          </a:custGeom>
          <a:blipFill>
            <a:blip r:embed="rId11"/>
            <a:stretch>
              <a:fillRect l="-100555" t="0" r="0" b="0"/>
            </a:stretch>
          </a:blipFill>
          <a:ln w="9525" cap="sq">
            <a:solidFill>
              <a:srgbClr val="000000"/>
            </a:solidFill>
            <a:prstDash val="solid"/>
            <a:miter/>
          </a:ln>
        </p:spPr>
      </p:sp>
      <p:sp>
        <p:nvSpPr>
          <p:cNvPr name="Freeform 27" id="27"/>
          <p:cNvSpPr/>
          <p:nvPr/>
        </p:nvSpPr>
        <p:spPr>
          <a:xfrm flipH="false" flipV="false" rot="0">
            <a:off x="6531523" y="4200858"/>
            <a:ext cx="1474581" cy="1466100"/>
          </a:xfrm>
          <a:custGeom>
            <a:avLst/>
            <a:gdLst/>
            <a:ahLst/>
            <a:cxnLst/>
            <a:rect r="r" b="b" t="t" l="l"/>
            <a:pathLst>
              <a:path h="1466100" w="1474581">
                <a:moveTo>
                  <a:pt x="0" y="0"/>
                </a:moveTo>
                <a:lnTo>
                  <a:pt x="1474581" y="0"/>
                </a:lnTo>
                <a:lnTo>
                  <a:pt x="1474581" y="1466101"/>
                </a:lnTo>
                <a:lnTo>
                  <a:pt x="0" y="14661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8" id="28"/>
          <p:cNvSpPr/>
          <p:nvPr/>
        </p:nvSpPr>
        <p:spPr>
          <a:xfrm flipH="false" flipV="false" rot="0">
            <a:off x="699384" y="1253066"/>
            <a:ext cx="5650629" cy="593316"/>
          </a:xfrm>
          <a:custGeom>
            <a:avLst/>
            <a:gdLst/>
            <a:ahLst/>
            <a:cxnLst/>
            <a:rect r="r" b="b" t="t" l="l"/>
            <a:pathLst>
              <a:path h="593316" w="5650629">
                <a:moveTo>
                  <a:pt x="0" y="0"/>
                </a:moveTo>
                <a:lnTo>
                  <a:pt x="5650629" y="0"/>
                </a:lnTo>
                <a:lnTo>
                  <a:pt x="5650629" y="593316"/>
                </a:lnTo>
                <a:lnTo>
                  <a:pt x="0" y="593316"/>
                </a:lnTo>
                <a:lnTo>
                  <a:pt x="0" y="0"/>
                </a:lnTo>
                <a:close/>
              </a:path>
            </a:pathLst>
          </a:custGeom>
          <a:blipFill>
            <a:blip r:embed="rId12"/>
            <a:stretch>
              <a:fillRect l="0" t="0" r="-99999" b="0"/>
            </a:stretch>
          </a:blipFill>
          <a:ln w="9525" cap="sq">
            <a:solidFill>
              <a:srgbClr val="000000"/>
            </a:solidFill>
            <a:prstDash val="solid"/>
            <a:miter/>
          </a:ln>
        </p:spPr>
      </p:sp>
      <p:sp>
        <p:nvSpPr>
          <p:cNvPr name="Freeform 29" id="29"/>
          <p:cNvSpPr/>
          <p:nvPr/>
        </p:nvSpPr>
        <p:spPr>
          <a:xfrm flipH="false" flipV="false" rot="0">
            <a:off x="677157" y="1886499"/>
            <a:ext cx="5649624" cy="593316"/>
          </a:xfrm>
          <a:custGeom>
            <a:avLst/>
            <a:gdLst/>
            <a:ahLst/>
            <a:cxnLst/>
            <a:rect r="r" b="b" t="t" l="l"/>
            <a:pathLst>
              <a:path h="593316" w="5649624">
                <a:moveTo>
                  <a:pt x="0" y="0"/>
                </a:moveTo>
                <a:lnTo>
                  <a:pt x="5649625" y="0"/>
                </a:lnTo>
                <a:lnTo>
                  <a:pt x="5649625" y="593317"/>
                </a:lnTo>
                <a:lnTo>
                  <a:pt x="0" y="593317"/>
                </a:lnTo>
                <a:lnTo>
                  <a:pt x="0" y="0"/>
                </a:lnTo>
                <a:close/>
              </a:path>
            </a:pathLst>
          </a:custGeom>
          <a:blipFill>
            <a:blip r:embed="rId12"/>
            <a:stretch>
              <a:fillRect l="-100035" t="0" r="0" b="0"/>
            </a:stretch>
          </a:blipFill>
          <a:ln w="9525" cap="sq">
            <a:solidFill>
              <a:srgbClr val="000000"/>
            </a:solidFill>
            <a:prstDash val="solid"/>
            <a:miter/>
          </a:ln>
        </p:spPr>
      </p:sp>
      <p:sp>
        <p:nvSpPr>
          <p:cNvPr name="Freeform 30" id="30"/>
          <p:cNvSpPr/>
          <p:nvPr/>
        </p:nvSpPr>
        <p:spPr>
          <a:xfrm flipH="false" flipV="false" rot="0">
            <a:off x="548867" y="3435105"/>
            <a:ext cx="5932616" cy="2649951"/>
          </a:xfrm>
          <a:custGeom>
            <a:avLst/>
            <a:gdLst/>
            <a:ahLst/>
            <a:cxnLst/>
            <a:rect r="r" b="b" t="t" l="l"/>
            <a:pathLst>
              <a:path h="2649951" w="5932616">
                <a:moveTo>
                  <a:pt x="0" y="0"/>
                </a:moveTo>
                <a:lnTo>
                  <a:pt x="5932616" y="0"/>
                </a:lnTo>
                <a:lnTo>
                  <a:pt x="5932616" y="2649952"/>
                </a:lnTo>
                <a:lnTo>
                  <a:pt x="0" y="2649952"/>
                </a:lnTo>
                <a:lnTo>
                  <a:pt x="0" y="0"/>
                </a:lnTo>
                <a:close/>
              </a:path>
            </a:pathLst>
          </a:custGeom>
          <a:blipFill>
            <a:blip r:embed="rId13"/>
            <a:stretch>
              <a:fillRect l="0" t="0" r="0" b="0"/>
            </a:stretch>
          </a:blipFill>
          <a:ln w="28575" cap="sq">
            <a:gradFill>
              <a:gsLst>
                <a:gs pos="0">
                  <a:srgbClr val="5F89FF">
                    <a:alpha val="100000"/>
                  </a:srgbClr>
                </a:gs>
                <a:gs pos="100000">
                  <a:srgbClr val="FFFFFF">
                    <a:alpha val="18500"/>
                  </a:srgbClr>
                </a:gs>
              </a:gsLst>
              <a:lin ang="5400000"/>
            </a:gradFill>
            <a:prstDash val="solid"/>
            <a:miter/>
          </a:ln>
        </p:spPr>
      </p:sp>
      <p:grpSp>
        <p:nvGrpSpPr>
          <p:cNvPr name="Group 31" id="31"/>
          <p:cNvGrpSpPr/>
          <p:nvPr/>
        </p:nvGrpSpPr>
        <p:grpSpPr>
          <a:xfrm rot="0">
            <a:off x="205373" y="6569918"/>
            <a:ext cx="17831347" cy="3528034"/>
            <a:chOff x="0" y="0"/>
            <a:chExt cx="6879944" cy="1361236"/>
          </a:xfrm>
        </p:grpSpPr>
        <p:sp>
          <p:nvSpPr>
            <p:cNvPr name="Freeform 32" id="32"/>
            <p:cNvSpPr/>
            <p:nvPr/>
          </p:nvSpPr>
          <p:spPr>
            <a:xfrm flipH="false" flipV="false" rot="0">
              <a:off x="0" y="0"/>
              <a:ext cx="6879944" cy="1361236"/>
            </a:xfrm>
            <a:custGeom>
              <a:avLst/>
              <a:gdLst/>
              <a:ahLst/>
              <a:cxnLst/>
              <a:rect r="r" b="b" t="t" l="l"/>
              <a:pathLst>
                <a:path h="1361236" w="6879944">
                  <a:moveTo>
                    <a:pt x="10420" y="0"/>
                  </a:moveTo>
                  <a:lnTo>
                    <a:pt x="6869524" y="0"/>
                  </a:lnTo>
                  <a:cubicBezTo>
                    <a:pt x="6875279" y="0"/>
                    <a:pt x="6879944" y="4665"/>
                    <a:pt x="6879944" y="10420"/>
                  </a:cubicBezTo>
                  <a:lnTo>
                    <a:pt x="6879944" y="1350816"/>
                  </a:lnTo>
                  <a:cubicBezTo>
                    <a:pt x="6879944" y="1353580"/>
                    <a:pt x="6878847" y="1356230"/>
                    <a:pt x="6876893" y="1358184"/>
                  </a:cubicBezTo>
                  <a:cubicBezTo>
                    <a:pt x="6874939" y="1360138"/>
                    <a:pt x="6872288" y="1361236"/>
                    <a:pt x="6869524" y="1361236"/>
                  </a:cubicBezTo>
                  <a:lnTo>
                    <a:pt x="10420" y="1361236"/>
                  </a:lnTo>
                  <a:cubicBezTo>
                    <a:pt x="4665" y="1361236"/>
                    <a:pt x="0" y="1356571"/>
                    <a:pt x="0" y="1350816"/>
                  </a:cubicBezTo>
                  <a:lnTo>
                    <a:pt x="0" y="10420"/>
                  </a:lnTo>
                  <a:cubicBezTo>
                    <a:pt x="0" y="4665"/>
                    <a:pt x="4665" y="0"/>
                    <a:pt x="10420" y="0"/>
                  </a:cubicBezTo>
                  <a:close/>
                </a:path>
              </a:pathLst>
            </a:custGeom>
            <a:gradFill rotWithShape="true">
              <a:gsLst>
                <a:gs pos="0">
                  <a:srgbClr val="FFFFFF">
                    <a:alpha val="34000"/>
                  </a:srgbClr>
                </a:gs>
                <a:gs pos="100000">
                  <a:srgbClr val="5B9E51">
                    <a:alpha val="34000"/>
                  </a:srgbClr>
                </a:gs>
              </a:gsLst>
              <a:lin ang="5400000"/>
            </a:gradFill>
            <a:ln w="38100" cap="rnd">
              <a:gradFill>
                <a:gsLst>
                  <a:gs pos="0">
                    <a:srgbClr val="5B9E51">
                      <a:alpha val="34000"/>
                    </a:srgbClr>
                  </a:gs>
                  <a:gs pos="100000">
                    <a:srgbClr val="FFFFFF">
                      <a:alpha val="34000"/>
                    </a:srgbClr>
                  </a:gs>
                </a:gsLst>
                <a:lin ang="0"/>
              </a:gradFill>
              <a:prstDash val="solid"/>
              <a:round/>
            </a:ln>
          </p:spPr>
        </p:sp>
        <p:sp>
          <p:nvSpPr>
            <p:cNvPr name="TextBox 33" id="33"/>
            <p:cNvSpPr txBox="true"/>
            <p:nvPr/>
          </p:nvSpPr>
          <p:spPr>
            <a:xfrm>
              <a:off x="0" y="28575"/>
              <a:ext cx="6879944" cy="1332661"/>
            </a:xfrm>
            <a:prstGeom prst="rect">
              <a:avLst/>
            </a:prstGeom>
          </p:spPr>
          <p:txBody>
            <a:bodyPr anchor="ctr" rtlCol="false" tIns="50800" lIns="50800" bIns="50800" rIns="50800"/>
            <a:lstStyle/>
            <a:p>
              <a:pPr algn="ctr">
                <a:lnSpc>
                  <a:spcPts val="2000"/>
                </a:lnSpc>
              </a:pPr>
            </a:p>
          </p:txBody>
        </p:sp>
      </p:grpSp>
      <p:sp>
        <p:nvSpPr>
          <p:cNvPr name="Freeform 34" id="34"/>
          <p:cNvSpPr/>
          <p:nvPr/>
        </p:nvSpPr>
        <p:spPr>
          <a:xfrm flipH="false" flipV="false" rot="0">
            <a:off x="6481483" y="7611171"/>
            <a:ext cx="1474581" cy="1466100"/>
          </a:xfrm>
          <a:custGeom>
            <a:avLst/>
            <a:gdLst/>
            <a:ahLst/>
            <a:cxnLst/>
            <a:rect r="r" b="b" t="t" l="l"/>
            <a:pathLst>
              <a:path h="1466100" w="1474581">
                <a:moveTo>
                  <a:pt x="0" y="0"/>
                </a:moveTo>
                <a:lnTo>
                  <a:pt x="1474581" y="0"/>
                </a:lnTo>
                <a:lnTo>
                  <a:pt x="1474581" y="1466101"/>
                </a:lnTo>
                <a:lnTo>
                  <a:pt x="0" y="14661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true" flipV="false" rot="0">
            <a:off x="16938679" y="903769"/>
            <a:ext cx="309435" cy="143887"/>
          </a:xfrm>
          <a:custGeom>
            <a:avLst/>
            <a:gdLst/>
            <a:ahLst/>
            <a:cxnLst/>
            <a:rect r="r" b="b" t="t" l="l"/>
            <a:pathLst>
              <a:path h="143887" w="309435">
                <a:moveTo>
                  <a:pt x="309435" y="0"/>
                </a:moveTo>
                <a:lnTo>
                  <a:pt x="0" y="0"/>
                </a:lnTo>
                <a:lnTo>
                  <a:pt x="0" y="143887"/>
                </a:lnTo>
                <a:lnTo>
                  <a:pt x="309435" y="143887"/>
                </a:lnTo>
                <a:lnTo>
                  <a:pt x="30943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14854774" y="3632995"/>
            <a:ext cx="309435" cy="143887"/>
          </a:xfrm>
          <a:custGeom>
            <a:avLst/>
            <a:gdLst/>
            <a:ahLst/>
            <a:cxnLst/>
            <a:rect r="r" b="b" t="t" l="l"/>
            <a:pathLst>
              <a:path h="143887" w="309435">
                <a:moveTo>
                  <a:pt x="0" y="0"/>
                </a:moveTo>
                <a:lnTo>
                  <a:pt x="309435" y="0"/>
                </a:lnTo>
                <a:lnTo>
                  <a:pt x="309435" y="143887"/>
                </a:lnTo>
                <a:lnTo>
                  <a:pt x="0" y="1438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true" flipV="false" rot="0">
            <a:off x="16970848" y="3632995"/>
            <a:ext cx="309435" cy="143887"/>
          </a:xfrm>
          <a:custGeom>
            <a:avLst/>
            <a:gdLst/>
            <a:ahLst/>
            <a:cxnLst/>
            <a:rect r="r" b="b" t="t" l="l"/>
            <a:pathLst>
              <a:path h="143887" w="309435">
                <a:moveTo>
                  <a:pt x="309435" y="0"/>
                </a:moveTo>
                <a:lnTo>
                  <a:pt x="0" y="0"/>
                </a:lnTo>
                <a:lnTo>
                  <a:pt x="0" y="143887"/>
                </a:lnTo>
                <a:lnTo>
                  <a:pt x="309435" y="143887"/>
                </a:lnTo>
                <a:lnTo>
                  <a:pt x="30943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543568" y="7045856"/>
            <a:ext cx="5912509" cy="2586723"/>
          </a:xfrm>
          <a:custGeom>
            <a:avLst/>
            <a:gdLst/>
            <a:ahLst/>
            <a:cxnLst/>
            <a:rect r="r" b="b" t="t" l="l"/>
            <a:pathLst>
              <a:path h="2586723" w="5912509">
                <a:moveTo>
                  <a:pt x="0" y="0"/>
                </a:moveTo>
                <a:lnTo>
                  <a:pt x="5912509" y="0"/>
                </a:lnTo>
                <a:lnTo>
                  <a:pt x="5912509" y="2586722"/>
                </a:lnTo>
                <a:lnTo>
                  <a:pt x="0" y="2586722"/>
                </a:lnTo>
                <a:lnTo>
                  <a:pt x="0" y="0"/>
                </a:lnTo>
                <a:close/>
              </a:path>
            </a:pathLst>
          </a:custGeom>
          <a:blipFill>
            <a:blip r:embed="rId14"/>
            <a:stretch>
              <a:fillRect l="0" t="0" r="0" b="0"/>
            </a:stretch>
          </a:blipFill>
          <a:ln w="38100" cap="sq">
            <a:gradFill>
              <a:gsLst>
                <a:gs pos="0">
                  <a:srgbClr val="5F89FF">
                    <a:alpha val="100000"/>
                  </a:srgbClr>
                </a:gs>
                <a:gs pos="100000">
                  <a:srgbClr val="FFFFFF">
                    <a:alpha val="18500"/>
                  </a:srgbClr>
                </a:gs>
              </a:gsLst>
              <a:lin ang="5400000"/>
            </a:gradFill>
            <a:prstDash val="solid"/>
            <a:miter/>
          </a:ln>
        </p:spPr>
      </p:sp>
      <p:sp>
        <p:nvSpPr>
          <p:cNvPr name="Freeform 39" id="39"/>
          <p:cNvSpPr/>
          <p:nvPr/>
        </p:nvSpPr>
        <p:spPr>
          <a:xfrm flipH="false" flipV="false" rot="0">
            <a:off x="14854774" y="7018626"/>
            <a:ext cx="309435" cy="143887"/>
          </a:xfrm>
          <a:custGeom>
            <a:avLst/>
            <a:gdLst/>
            <a:ahLst/>
            <a:cxnLst/>
            <a:rect r="r" b="b" t="t" l="l"/>
            <a:pathLst>
              <a:path h="143887" w="309435">
                <a:moveTo>
                  <a:pt x="0" y="0"/>
                </a:moveTo>
                <a:lnTo>
                  <a:pt x="309435" y="0"/>
                </a:lnTo>
                <a:lnTo>
                  <a:pt x="309435" y="143888"/>
                </a:lnTo>
                <a:lnTo>
                  <a:pt x="0" y="1438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true" flipV="false" rot="0">
            <a:off x="16970848" y="6983554"/>
            <a:ext cx="309435" cy="143887"/>
          </a:xfrm>
          <a:custGeom>
            <a:avLst/>
            <a:gdLst/>
            <a:ahLst/>
            <a:cxnLst/>
            <a:rect r="r" b="b" t="t" l="l"/>
            <a:pathLst>
              <a:path h="143887" w="309435">
                <a:moveTo>
                  <a:pt x="309435" y="0"/>
                </a:moveTo>
                <a:lnTo>
                  <a:pt x="0" y="0"/>
                </a:lnTo>
                <a:lnTo>
                  <a:pt x="0" y="143888"/>
                </a:lnTo>
                <a:lnTo>
                  <a:pt x="309435" y="143888"/>
                </a:lnTo>
                <a:lnTo>
                  <a:pt x="30943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1" id="41"/>
          <p:cNvSpPr/>
          <p:nvPr/>
        </p:nvSpPr>
        <p:spPr>
          <a:xfrm flipH="false" flipV="false" rot="0">
            <a:off x="8040985" y="7073614"/>
            <a:ext cx="6064013" cy="2558964"/>
          </a:xfrm>
          <a:custGeom>
            <a:avLst/>
            <a:gdLst/>
            <a:ahLst/>
            <a:cxnLst/>
            <a:rect r="r" b="b" t="t" l="l"/>
            <a:pathLst>
              <a:path h="2558964" w="6064013">
                <a:moveTo>
                  <a:pt x="0" y="0"/>
                </a:moveTo>
                <a:lnTo>
                  <a:pt x="6064013" y="0"/>
                </a:lnTo>
                <a:lnTo>
                  <a:pt x="6064013" y="2558964"/>
                </a:lnTo>
                <a:lnTo>
                  <a:pt x="0" y="2558964"/>
                </a:lnTo>
                <a:lnTo>
                  <a:pt x="0" y="0"/>
                </a:lnTo>
                <a:close/>
              </a:path>
            </a:pathLst>
          </a:custGeom>
          <a:blipFill>
            <a:blip r:embed="rId15"/>
            <a:stretch>
              <a:fillRect l="0" t="0" r="0" b="-5452"/>
            </a:stretch>
          </a:blipFill>
          <a:ln w="38100" cap="sq">
            <a:gradFill>
              <a:gsLst>
                <a:gs pos="0">
                  <a:srgbClr val="5F89FF">
                    <a:alpha val="100000"/>
                  </a:srgbClr>
                </a:gs>
                <a:gs pos="100000">
                  <a:srgbClr val="FFFFFF">
                    <a:alpha val="18500"/>
                  </a:srgbClr>
                </a:gs>
              </a:gsLst>
              <a:lin ang="5400000"/>
            </a:gradFill>
            <a:prstDash val="solid"/>
            <a:miter/>
          </a:ln>
        </p:spPr>
      </p:sp>
      <p:sp>
        <p:nvSpPr>
          <p:cNvPr name="TextBox 42" id="42"/>
          <p:cNvSpPr txBox="true"/>
          <p:nvPr/>
        </p:nvSpPr>
        <p:spPr>
          <a:xfrm rot="0">
            <a:off x="14418091" y="1208814"/>
            <a:ext cx="3298875" cy="1664970"/>
          </a:xfrm>
          <a:prstGeom prst="rect">
            <a:avLst/>
          </a:prstGeom>
        </p:spPr>
        <p:txBody>
          <a:bodyPr anchor="t" rtlCol="false" tIns="0" lIns="0" bIns="0" rIns="0">
            <a:spAutoFit/>
          </a:bodyPr>
          <a:lstStyle/>
          <a:p>
            <a:pPr algn="just">
              <a:lnSpc>
                <a:spcPts val="1679"/>
              </a:lnSpc>
            </a:pPr>
            <a:r>
              <a:rPr lang="en-US" sz="1200">
                <a:solidFill>
                  <a:srgbClr val="FFFFFF"/>
                </a:solidFill>
                <a:latin typeface="Montserrat Light"/>
                <a:ea typeface="Montserrat Light"/>
                <a:cs typeface="Montserrat Light"/>
                <a:sym typeface="Montserrat Light"/>
              </a:rPr>
              <a:t>Mặc dù cả hai campaign đều tạo ra quy mô người dùng lớn và GMV đáng kể, </a:t>
            </a:r>
            <a:r>
              <a:rPr lang="en-US" sz="1200" b="true">
                <a:solidFill>
                  <a:srgbClr val="FF9339"/>
                </a:solidFill>
                <a:latin typeface="Montserrat Bold"/>
                <a:ea typeface="Montserrat Bold"/>
                <a:cs typeface="Montserrat Bold"/>
                <a:sym typeface="Montserrat Bold"/>
              </a:rPr>
              <a:t>tuy nhiên  campaign 7289 cho thấy mức độ phụ thuộc promotion cao hơn (52.3%&gt;36.6%)</a:t>
            </a:r>
            <a:r>
              <a:rPr lang="en-US" sz="1200">
                <a:solidFill>
                  <a:srgbClr val="FFFFFF"/>
                </a:solidFill>
                <a:latin typeface="Montserrat Light"/>
                <a:ea typeface="Montserrat Light"/>
                <a:cs typeface="Montserrat Light"/>
                <a:sym typeface="Montserrat Light"/>
              </a:rPr>
              <a:t> và tỷ trọng người dùng chất lượng thấp hơn đáng kể (61.7%&lt;78.7%). Điều này đặt ra câu hỏi liệu tăng trưởng mà Campaign 7289 tạo ra có thực sự bền vững hay không.</a:t>
            </a:r>
          </a:p>
        </p:txBody>
      </p:sp>
      <p:sp>
        <p:nvSpPr>
          <p:cNvPr name="TextBox 43" id="43"/>
          <p:cNvSpPr txBox="true"/>
          <p:nvPr/>
        </p:nvSpPr>
        <p:spPr>
          <a:xfrm rot="0">
            <a:off x="543568" y="148933"/>
            <a:ext cx="17723114" cy="478156"/>
          </a:xfrm>
          <a:prstGeom prst="rect">
            <a:avLst/>
          </a:prstGeom>
        </p:spPr>
        <p:txBody>
          <a:bodyPr anchor="t" rtlCol="false" tIns="0" lIns="0" bIns="0" rIns="0">
            <a:spAutoFit/>
          </a:bodyPr>
          <a:lstStyle/>
          <a:p>
            <a:pPr algn="ctr" marL="0" indent="0" lvl="0">
              <a:lnSpc>
                <a:spcPts val="4049"/>
              </a:lnSpc>
            </a:pPr>
            <a:r>
              <a:rPr lang="en-US" b="true" sz="2699" spc="8">
                <a:solidFill>
                  <a:srgbClr val="F3740B"/>
                </a:solidFill>
                <a:latin typeface="Inter Ultra-Bold"/>
                <a:ea typeface="Inter Ultra-Bold"/>
                <a:cs typeface="Inter Ultra-Bold"/>
                <a:sym typeface="Inter Ultra-Bold"/>
              </a:rPr>
              <a:t>LIỆU MỘT CAMPAIGN TỐT CÓ CẦN ‘HOÀN HẢO’ VỀ MỌI CHỈ SỐ?</a:t>
            </a:r>
          </a:p>
        </p:txBody>
      </p:sp>
      <p:sp>
        <p:nvSpPr>
          <p:cNvPr name="TextBox 44" id="44"/>
          <p:cNvSpPr txBox="true"/>
          <p:nvPr/>
        </p:nvSpPr>
        <p:spPr>
          <a:xfrm rot="0">
            <a:off x="678163" y="2548456"/>
            <a:ext cx="4876845" cy="198120"/>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17:  Các chỉ số đánh giá tổng quan quy mô Campagin 8409</a:t>
            </a:r>
          </a:p>
        </p:txBody>
      </p:sp>
      <p:sp>
        <p:nvSpPr>
          <p:cNvPr name="TextBox 45" id="45"/>
          <p:cNvSpPr txBox="true"/>
          <p:nvPr/>
        </p:nvSpPr>
        <p:spPr>
          <a:xfrm rot="0">
            <a:off x="15139395" y="740811"/>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NHẬN XÉT</a:t>
            </a:r>
          </a:p>
        </p:txBody>
      </p:sp>
      <p:sp>
        <p:nvSpPr>
          <p:cNvPr name="TextBox 46" id="46"/>
          <p:cNvSpPr txBox="true"/>
          <p:nvPr/>
        </p:nvSpPr>
        <p:spPr>
          <a:xfrm rot="0">
            <a:off x="14418091" y="4023660"/>
            <a:ext cx="3478996" cy="1824355"/>
          </a:xfrm>
          <a:prstGeom prst="rect">
            <a:avLst/>
          </a:prstGeom>
        </p:spPr>
        <p:txBody>
          <a:bodyPr anchor="t" rtlCol="false" tIns="0" lIns="0" bIns="0" rIns="0">
            <a:spAutoFit/>
          </a:bodyPr>
          <a:lstStyle/>
          <a:p>
            <a:pPr algn="just">
              <a:lnSpc>
                <a:spcPts val="1819"/>
              </a:lnSpc>
            </a:pPr>
            <a:r>
              <a:rPr lang="en-US" sz="1299">
                <a:solidFill>
                  <a:srgbClr val="FFFFFF"/>
                </a:solidFill>
                <a:latin typeface="Montserrat Light"/>
                <a:ea typeface="Montserrat Light"/>
                <a:cs typeface="Montserrat Light"/>
                <a:sym typeface="Montserrat Light"/>
              </a:rPr>
              <a:t>Sự khác biệt về tỷ lệ High Quality Share (7424: 82.5% &gt; 7289 : 61.7%) là do sự duy giảm trong việc giữ chân khách hàng, từ sau 1 kể từ lần đầu giao dịch, </a:t>
            </a:r>
            <a:r>
              <a:rPr lang="en-US" sz="1299" b="true">
                <a:solidFill>
                  <a:srgbClr val="FF9339"/>
                </a:solidFill>
                <a:latin typeface="Montserrat Bold"/>
                <a:ea typeface="Montserrat Bold"/>
                <a:cs typeface="Montserrat Bold"/>
                <a:sym typeface="Montserrat Bold"/>
              </a:rPr>
              <a:t>Campagin 7289 có tỷ lệ người dùng quay trở lại giảm xấp xỉ 65%</a:t>
            </a:r>
            <a:r>
              <a:rPr lang="en-US" sz="1299">
                <a:solidFill>
                  <a:srgbClr val="FFFFFF"/>
                </a:solidFill>
                <a:latin typeface="Montserrat Light"/>
                <a:ea typeface="Montserrat Light"/>
                <a:cs typeface="Montserrat Light"/>
                <a:sym typeface="Montserrat Light"/>
              </a:rPr>
              <a:t> điều này cho thấy cần điều chỉnh hoạt động triển khai để tăng khả năng giữ chân khách hàng.</a:t>
            </a:r>
          </a:p>
        </p:txBody>
      </p:sp>
      <p:sp>
        <p:nvSpPr>
          <p:cNvPr name="TextBox 47" id="47"/>
          <p:cNvSpPr txBox="true"/>
          <p:nvPr/>
        </p:nvSpPr>
        <p:spPr>
          <a:xfrm rot="0">
            <a:off x="8425439" y="2553018"/>
            <a:ext cx="4876845" cy="198120"/>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18: Các chỉ số đánh giá tổng quan quy mô Campagin 7289</a:t>
            </a:r>
          </a:p>
        </p:txBody>
      </p:sp>
      <p:sp>
        <p:nvSpPr>
          <p:cNvPr name="TextBox 48" id="48"/>
          <p:cNvSpPr txBox="true"/>
          <p:nvPr/>
        </p:nvSpPr>
        <p:spPr>
          <a:xfrm rot="0">
            <a:off x="2639938" y="1014829"/>
            <a:ext cx="1882524" cy="198120"/>
          </a:xfrm>
          <a:prstGeom prst="rect">
            <a:avLst/>
          </a:prstGeom>
        </p:spPr>
        <p:txBody>
          <a:bodyPr anchor="t" rtlCol="false" tIns="0" lIns="0" bIns="0" rIns="0">
            <a:spAutoFit/>
          </a:bodyPr>
          <a:lstStyle/>
          <a:p>
            <a:pPr algn="just">
              <a:lnSpc>
                <a:spcPts val="1679"/>
              </a:lnSpc>
            </a:pPr>
            <a:r>
              <a:rPr lang="en-US" sz="1200" b="true">
                <a:solidFill>
                  <a:srgbClr val="000000"/>
                </a:solidFill>
                <a:latin typeface="Montserrat Bold"/>
                <a:ea typeface="Montserrat Bold"/>
                <a:cs typeface="Montserrat Bold"/>
                <a:sym typeface="Montserrat Bold"/>
              </a:rPr>
              <a:t>CAMPAIGN TỐT (8409)</a:t>
            </a:r>
          </a:p>
        </p:txBody>
      </p:sp>
      <p:sp>
        <p:nvSpPr>
          <p:cNvPr name="TextBox 49" id="49"/>
          <p:cNvSpPr txBox="true"/>
          <p:nvPr/>
        </p:nvSpPr>
        <p:spPr>
          <a:xfrm rot="0">
            <a:off x="9990732" y="1014829"/>
            <a:ext cx="2296569" cy="198120"/>
          </a:xfrm>
          <a:prstGeom prst="rect">
            <a:avLst/>
          </a:prstGeom>
        </p:spPr>
        <p:txBody>
          <a:bodyPr anchor="t" rtlCol="false" tIns="0" lIns="0" bIns="0" rIns="0">
            <a:spAutoFit/>
          </a:bodyPr>
          <a:lstStyle/>
          <a:p>
            <a:pPr algn="just">
              <a:lnSpc>
                <a:spcPts val="1679"/>
              </a:lnSpc>
            </a:pPr>
            <a:r>
              <a:rPr lang="en-US" sz="1200" b="true">
                <a:solidFill>
                  <a:srgbClr val="000000"/>
                </a:solidFill>
                <a:latin typeface="Montserrat Bold"/>
                <a:ea typeface="Montserrat Bold"/>
                <a:cs typeface="Montserrat Bold"/>
                <a:sym typeface="Montserrat Bold"/>
              </a:rPr>
              <a:t>CAMPAIGN CHƯA TỐT (7289)</a:t>
            </a:r>
          </a:p>
        </p:txBody>
      </p:sp>
      <p:sp>
        <p:nvSpPr>
          <p:cNvPr name="TextBox 50" id="50"/>
          <p:cNvSpPr txBox="true"/>
          <p:nvPr/>
        </p:nvSpPr>
        <p:spPr>
          <a:xfrm rot="0">
            <a:off x="2424897" y="3506818"/>
            <a:ext cx="1882524" cy="198120"/>
          </a:xfrm>
          <a:prstGeom prst="rect">
            <a:avLst/>
          </a:prstGeom>
        </p:spPr>
        <p:txBody>
          <a:bodyPr anchor="t" rtlCol="false" tIns="0" lIns="0" bIns="0" rIns="0">
            <a:spAutoFit/>
          </a:bodyPr>
          <a:lstStyle/>
          <a:p>
            <a:pPr algn="just">
              <a:lnSpc>
                <a:spcPts val="1679"/>
              </a:lnSpc>
            </a:pPr>
            <a:r>
              <a:rPr lang="en-US" sz="1200" b="true">
                <a:solidFill>
                  <a:srgbClr val="000000"/>
                </a:solidFill>
                <a:latin typeface="Montserrat Bold"/>
                <a:ea typeface="Montserrat Bold"/>
                <a:cs typeface="Montserrat Bold"/>
                <a:sym typeface="Montserrat Bold"/>
              </a:rPr>
              <a:t>CAMPAIGN TỐT (8409)</a:t>
            </a:r>
          </a:p>
        </p:txBody>
      </p:sp>
      <p:sp>
        <p:nvSpPr>
          <p:cNvPr name="TextBox 51" id="51"/>
          <p:cNvSpPr txBox="true"/>
          <p:nvPr/>
        </p:nvSpPr>
        <p:spPr>
          <a:xfrm rot="0">
            <a:off x="9924707" y="3506818"/>
            <a:ext cx="2296569" cy="198120"/>
          </a:xfrm>
          <a:prstGeom prst="rect">
            <a:avLst/>
          </a:prstGeom>
        </p:spPr>
        <p:txBody>
          <a:bodyPr anchor="t" rtlCol="false" tIns="0" lIns="0" bIns="0" rIns="0">
            <a:spAutoFit/>
          </a:bodyPr>
          <a:lstStyle/>
          <a:p>
            <a:pPr algn="just">
              <a:lnSpc>
                <a:spcPts val="1679"/>
              </a:lnSpc>
            </a:pPr>
            <a:r>
              <a:rPr lang="en-US" sz="1200" b="true">
                <a:solidFill>
                  <a:srgbClr val="000000"/>
                </a:solidFill>
                <a:latin typeface="Montserrat Bold"/>
                <a:ea typeface="Montserrat Bold"/>
                <a:cs typeface="Montserrat Bold"/>
                <a:sym typeface="Montserrat Bold"/>
              </a:rPr>
              <a:t>CAMPAIGN CHƯA TỐT (7289)</a:t>
            </a:r>
          </a:p>
        </p:txBody>
      </p:sp>
      <p:sp>
        <p:nvSpPr>
          <p:cNvPr name="TextBox 52" id="52"/>
          <p:cNvSpPr txBox="true"/>
          <p:nvPr/>
        </p:nvSpPr>
        <p:spPr>
          <a:xfrm rot="0">
            <a:off x="2639938" y="6732014"/>
            <a:ext cx="1882524" cy="198120"/>
          </a:xfrm>
          <a:prstGeom prst="rect">
            <a:avLst/>
          </a:prstGeom>
        </p:spPr>
        <p:txBody>
          <a:bodyPr anchor="t" rtlCol="false" tIns="0" lIns="0" bIns="0" rIns="0">
            <a:spAutoFit/>
          </a:bodyPr>
          <a:lstStyle/>
          <a:p>
            <a:pPr algn="just">
              <a:lnSpc>
                <a:spcPts val="1679"/>
              </a:lnSpc>
            </a:pPr>
            <a:r>
              <a:rPr lang="en-US" b="true" sz="1200">
                <a:solidFill>
                  <a:srgbClr val="FFFFFF"/>
                </a:solidFill>
                <a:latin typeface="Montserrat Bold"/>
                <a:ea typeface="Montserrat Bold"/>
                <a:cs typeface="Montserrat Bold"/>
                <a:sym typeface="Montserrat Bold"/>
              </a:rPr>
              <a:t>CAMPAIGN TỐT (8409)</a:t>
            </a:r>
          </a:p>
        </p:txBody>
      </p:sp>
      <p:sp>
        <p:nvSpPr>
          <p:cNvPr name="TextBox 53" id="53"/>
          <p:cNvSpPr txBox="true"/>
          <p:nvPr/>
        </p:nvSpPr>
        <p:spPr>
          <a:xfrm rot="0">
            <a:off x="10057308" y="6732014"/>
            <a:ext cx="2296569" cy="198120"/>
          </a:xfrm>
          <a:prstGeom prst="rect">
            <a:avLst/>
          </a:prstGeom>
        </p:spPr>
        <p:txBody>
          <a:bodyPr anchor="t" rtlCol="false" tIns="0" lIns="0" bIns="0" rIns="0">
            <a:spAutoFit/>
          </a:bodyPr>
          <a:lstStyle/>
          <a:p>
            <a:pPr algn="just">
              <a:lnSpc>
                <a:spcPts val="1679"/>
              </a:lnSpc>
            </a:pPr>
            <a:r>
              <a:rPr lang="en-US" b="true" sz="1200">
                <a:solidFill>
                  <a:srgbClr val="FCFFFF"/>
                </a:solidFill>
                <a:latin typeface="Montserrat Bold"/>
                <a:ea typeface="Montserrat Bold"/>
                <a:cs typeface="Montserrat Bold"/>
                <a:sym typeface="Montserrat Bold"/>
              </a:rPr>
              <a:t>CAMPAIGN CHƯA TỐT (7289)</a:t>
            </a:r>
          </a:p>
        </p:txBody>
      </p:sp>
      <p:sp>
        <p:nvSpPr>
          <p:cNvPr name="TextBox 54" id="54"/>
          <p:cNvSpPr txBox="true"/>
          <p:nvPr/>
        </p:nvSpPr>
        <p:spPr>
          <a:xfrm rot="0">
            <a:off x="15171563" y="3470036"/>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NHẬN XÉT</a:t>
            </a:r>
          </a:p>
        </p:txBody>
      </p:sp>
      <p:sp>
        <p:nvSpPr>
          <p:cNvPr name="TextBox 55" id="55"/>
          <p:cNvSpPr txBox="true"/>
          <p:nvPr/>
        </p:nvSpPr>
        <p:spPr>
          <a:xfrm rot="0">
            <a:off x="14418091" y="7280875"/>
            <a:ext cx="3478996" cy="2510155"/>
          </a:xfrm>
          <a:prstGeom prst="rect">
            <a:avLst/>
          </a:prstGeom>
        </p:spPr>
        <p:txBody>
          <a:bodyPr anchor="t" rtlCol="false" tIns="0" lIns="0" bIns="0" rIns="0">
            <a:spAutoFit/>
          </a:bodyPr>
          <a:lstStyle/>
          <a:p>
            <a:pPr algn="just">
              <a:lnSpc>
                <a:spcPts val="1819"/>
              </a:lnSpc>
            </a:pPr>
            <a:r>
              <a:rPr lang="en-US" sz="1299">
                <a:solidFill>
                  <a:srgbClr val="FFFFFF"/>
                </a:solidFill>
                <a:latin typeface="Montserrat Light"/>
                <a:ea typeface="Montserrat Light"/>
                <a:cs typeface="Montserrat Light"/>
                <a:sym typeface="Montserrat Light"/>
              </a:rPr>
              <a:t>Campa</a:t>
            </a:r>
            <a:r>
              <a:rPr lang="en-US" sz="1299">
                <a:solidFill>
                  <a:srgbClr val="FFFFFF"/>
                </a:solidFill>
                <a:latin typeface="Montserrat Light"/>
                <a:ea typeface="Montserrat Light"/>
                <a:cs typeface="Montserrat Light"/>
                <a:sym typeface="Montserrat Light"/>
              </a:rPr>
              <a:t>ign tốt (8409) tạo ra giá trị vượt trội  transaction frequency đạt khoảng 53 và GMV/NPU đạt 10.755K ở 07-2022, cho thấy người dùng không chỉ quay lại nhiều mà còn tạo ra giá trị giao dịch lớn. Ngược lại, campaign chưa tốt (7289) có transaction frequency cao nhất chỉ khoảng 13.9 cùng GMV/NPU khoảng 1.013K. Sự khác biệt  giữa hai campaign nằm ở khả năng duy trì mức độ sử dụng và giá trị chi tiêu dài hạn của người dùng sau khi được thu hút.</a:t>
            </a:r>
          </a:p>
        </p:txBody>
      </p:sp>
      <p:sp>
        <p:nvSpPr>
          <p:cNvPr name="TextBox 56" id="56"/>
          <p:cNvSpPr txBox="true"/>
          <p:nvPr/>
        </p:nvSpPr>
        <p:spPr>
          <a:xfrm rot="0">
            <a:off x="15171563" y="6820596"/>
            <a:ext cx="1799284" cy="403129"/>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NHẬN XÉT</a:t>
            </a:r>
          </a:p>
        </p:txBody>
      </p:sp>
      <p:sp>
        <p:nvSpPr>
          <p:cNvPr name="TextBox 57" id="57"/>
          <p:cNvSpPr txBox="true"/>
          <p:nvPr/>
        </p:nvSpPr>
        <p:spPr>
          <a:xfrm rot="0">
            <a:off x="699384" y="6113089"/>
            <a:ext cx="4876845" cy="198120"/>
          </a:xfrm>
          <a:prstGeom prst="rect">
            <a:avLst/>
          </a:prstGeom>
        </p:spPr>
        <p:txBody>
          <a:bodyPr anchor="t" rtlCol="false" tIns="0" lIns="0" bIns="0" rIns="0">
            <a:spAutoFit/>
          </a:bodyPr>
          <a:lstStyle/>
          <a:p>
            <a:pPr algn="just">
              <a:lnSpc>
                <a:spcPts val="1679"/>
              </a:lnSpc>
            </a:pPr>
            <a:r>
              <a:rPr lang="en-US" sz="1200">
                <a:solidFill>
                  <a:srgbClr val="FCFFFF"/>
                </a:solidFill>
                <a:latin typeface="Montserrat Light"/>
                <a:ea typeface="Montserrat Light"/>
                <a:cs typeface="Montserrat Light"/>
                <a:sym typeface="Montserrat Light"/>
              </a:rPr>
              <a:t>Hình 18: Tỉ lệ NPU quay lại theo tháng của Campagin 8409</a:t>
            </a:r>
          </a:p>
        </p:txBody>
      </p:sp>
      <p:sp>
        <p:nvSpPr>
          <p:cNvPr name="TextBox 58" id="58"/>
          <p:cNvSpPr txBox="true"/>
          <p:nvPr/>
        </p:nvSpPr>
        <p:spPr>
          <a:xfrm rot="0">
            <a:off x="8446660" y="6117651"/>
            <a:ext cx="4876845" cy="198120"/>
          </a:xfrm>
          <a:prstGeom prst="rect">
            <a:avLst/>
          </a:prstGeom>
        </p:spPr>
        <p:txBody>
          <a:bodyPr anchor="t" rtlCol="false" tIns="0" lIns="0" bIns="0" rIns="0">
            <a:spAutoFit/>
          </a:bodyPr>
          <a:lstStyle/>
          <a:p>
            <a:pPr algn="just">
              <a:lnSpc>
                <a:spcPts val="1679"/>
              </a:lnSpc>
            </a:pPr>
            <a:r>
              <a:rPr lang="en-US" sz="1200">
                <a:solidFill>
                  <a:srgbClr val="FCFFFF"/>
                </a:solidFill>
                <a:latin typeface="Montserrat Light"/>
                <a:ea typeface="Montserrat Light"/>
                <a:cs typeface="Montserrat Light"/>
                <a:sym typeface="Montserrat Light"/>
              </a:rPr>
              <a:t>Hình 19: Tỉ lệ NPU quay lại theo tháng của Campagin 7289</a:t>
            </a:r>
          </a:p>
        </p:txBody>
      </p:sp>
      <p:sp>
        <p:nvSpPr>
          <p:cNvPr name="TextBox 59" id="59"/>
          <p:cNvSpPr txBox="true"/>
          <p:nvPr/>
        </p:nvSpPr>
        <p:spPr>
          <a:xfrm rot="0">
            <a:off x="548867" y="9699253"/>
            <a:ext cx="6242902" cy="198120"/>
          </a:xfrm>
          <a:prstGeom prst="rect">
            <a:avLst/>
          </a:prstGeom>
        </p:spPr>
        <p:txBody>
          <a:bodyPr anchor="t" rtlCol="false" tIns="0" lIns="0" bIns="0" rIns="0">
            <a:spAutoFit/>
          </a:bodyPr>
          <a:lstStyle/>
          <a:p>
            <a:pPr algn="just">
              <a:lnSpc>
                <a:spcPts val="1679"/>
              </a:lnSpc>
            </a:pPr>
            <a:r>
              <a:rPr lang="en-US" sz="1200">
                <a:solidFill>
                  <a:srgbClr val="FCFFFF"/>
                </a:solidFill>
                <a:latin typeface="Montserrat Light"/>
                <a:ea typeface="Montserrat Light"/>
                <a:cs typeface="Montserrat Light"/>
                <a:sym typeface="Montserrat Light"/>
              </a:rPr>
              <a:t>Hình 20: Tần suất giao dịch và giá trị giao dịch theo tháng của Campagin 8409</a:t>
            </a:r>
          </a:p>
        </p:txBody>
      </p:sp>
      <p:sp>
        <p:nvSpPr>
          <p:cNvPr name="TextBox 60" id="60"/>
          <p:cNvSpPr txBox="true"/>
          <p:nvPr/>
        </p:nvSpPr>
        <p:spPr>
          <a:xfrm rot="0">
            <a:off x="8111340" y="9699253"/>
            <a:ext cx="5993658" cy="198120"/>
          </a:xfrm>
          <a:prstGeom prst="rect">
            <a:avLst/>
          </a:prstGeom>
        </p:spPr>
        <p:txBody>
          <a:bodyPr anchor="t" rtlCol="false" tIns="0" lIns="0" bIns="0" rIns="0">
            <a:spAutoFit/>
          </a:bodyPr>
          <a:lstStyle/>
          <a:p>
            <a:pPr algn="just">
              <a:lnSpc>
                <a:spcPts val="1679"/>
              </a:lnSpc>
            </a:pPr>
            <a:r>
              <a:rPr lang="en-US" sz="1200">
                <a:solidFill>
                  <a:srgbClr val="FCFFFF"/>
                </a:solidFill>
                <a:latin typeface="Montserrat Light"/>
                <a:ea typeface="Montserrat Light"/>
                <a:cs typeface="Montserrat Light"/>
                <a:sym typeface="Montserrat Light"/>
              </a:rPr>
              <a:t>Hình 18: Tần suất giao dịch và giá trị giao dịch theo tháng của Campagin 7289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136B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A0A0A">
                <a:alpha val="96863"/>
              </a:srgbClr>
            </a:solidFill>
          </p:spPr>
        </p:sp>
        <p:sp>
          <p:nvSpPr>
            <p:cNvPr name="TextBox 5" id="5"/>
            <p:cNvSpPr txBox="true"/>
            <p:nvPr/>
          </p:nvSpPr>
          <p:spPr>
            <a:xfrm>
              <a:off x="0" y="-104775"/>
              <a:ext cx="4816593" cy="2814108"/>
            </a:xfrm>
            <a:prstGeom prst="rect">
              <a:avLst/>
            </a:prstGeom>
          </p:spPr>
          <p:txBody>
            <a:bodyPr anchor="ctr" rtlCol="false" tIns="50800" lIns="50800" bIns="50800" rIns="50800"/>
            <a:lstStyle/>
            <a:p>
              <a:pPr algn="ctr">
                <a:lnSpc>
                  <a:spcPts val="3528"/>
                </a:lnSpc>
              </a:pPr>
            </a:p>
          </p:txBody>
        </p:sp>
      </p:grpSp>
      <p:sp>
        <p:nvSpPr>
          <p:cNvPr name="Freeform 6" id="6"/>
          <p:cNvSpPr/>
          <p:nvPr/>
        </p:nvSpPr>
        <p:spPr>
          <a:xfrm flipH="false" flipV="true" rot="0">
            <a:off x="14160916" y="1323948"/>
            <a:ext cx="10288805" cy="11905421"/>
          </a:xfrm>
          <a:custGeom>
            <a:avLst/>
            <a:gdLst/>
            <a:ahLst/>
            <a:cxnLst/>
            <a:rect r="r" b="b" t="t" l="l"/>
            <a:pathLst>
              <a:path h="11905421" w="10288805">
                <a:moveTo>
                  <a:pt x="0" y="11905420"/>
                </a:moveTo>
                <a:lnTo>
                  <a:pt x="10288805" y="11905420"/>
                </a:lnTo>
                <a:lnTo>
                  <a:pt x="10288805" y="0"/>
                </a:lnTo>
                <a:lnTo>
                  <a:pt x="0" y="0"/>
                </a:lnTo>
                <a:lnTo>
                  <a:pt x="0" y="11905420"/>
                </a:lnTo>
                <a:close/>
              </a:path>
            </a:pathLst>
          </a:custGeom>
          <a:blipFill>
            <a:blip r:embed="rId3">
              <a:alphaModFix amt="23000"/>
            </a:blip>
            <a:stretch>
              <a:fillRect l="-41760" t="0" r="0" b="0"/>
            </a:stretch>
          </a:blipFill>
        </p:spPr>
      </p:sp>
      <p:sp>
        <p:nvSpPr>
          <p:cNvPr name="Freeform 7" id="7"/>
          <p:cNvSpPr/>
          <p:nvPr/>
        </p:nvSpPr>
        <p:spPr>
          <a:xfrm flipH="true" flipV="false" rot="0">
            <a:off x="-2198478" y="-6936210"/>
            <a:ext cx="11129273" cy="11905421"/>
          </a:xfrm>
          <a:custGeom>
            <a:avLst/>
            <a:gdLst/>
            <a:ahLst/>
            <a:cxnLst/>
            <a:rect r="r" b="b" t="t" l="l"/>
            <a:pathLst>
              <a:path h="11905421" w="11129273">
                <a:moveTo>
                  <a:pt x="11129273" y="0"/>
                </a:moveTo>
                <a:lnTo>
                  <a:pt x="0" y="0"/>
                </a:lnTo>
                <a:lnTo>
                  <a:pt x="0" y="11905420"/>
                </a:lnTo>
                <a:lnTo>
                  <a:pt x="11129273" y="11905420"/>
                </a:lnTo>
                <a:lnTo>
                  <a:pt x="11129273" y="0"/>
                </a:lnTo>
                <a:close/>
              </a:path>
            </a:pathLst>
          </a:custGeom>
          <a:blipFill>
            <a:blip r:embed="rId3">
              <a:alphaModFix amt="23000"/>
            </a:blip>
            <a:stretch>
              <a:fillRect l="-31055" t="0" r="0" b="0"/>
            </a:stretch>
          </a:blipFill>
        </p:spPr>
      </p:sp>
      <p:grpSp>
        <p:nvGrpSpPr>
          <p:cNvPr name="Group 8" id="8"/>
          <p:cNvGrpSpPr/>
          <p:nvPr/>
        </p:nvGrpSpPr>
        <p:grpSpPr>
          <a:xfrm rot="0">
            <a:off x="275962" y="798099"/>
            <a:ext cx="17736076" cy="6984645"/>
            <a:chOff x="0" y="0"/>
            <a:chExt cx="6843185" cy="2694915"/>
          </a:xfrm>
        </p:grpSpPr>
        <p:sp>
          <p:nvSpPr>
            <p:cNvPr name="Freeform 9" id="9"/>
            <p:cNvSpPr/>
            <p:nvPr/>
          </p:nvSpPr>
          <p:spPr>
            <a:xfrm flipH="false" flipV="false" rot="0">
              <a:off x="0" y="0"/>
              <a:ext cx="6843185" cy="2694915"/>
            </a:xfrm>
            <a:custGeom>
              <a:avLst/>
              <a:gdLst/>
              <a:ahLst/>
              <a:cxnLst/>
              <a:rect r="r" b="b" t="t" l="l"/>
              <a:pathLst>
                <a:path h="2694915" w="6843185">
                  <a:moveTo>
                    <a:pt x="10476" y="0"/>
                  </a:moveTo>
                  <a:lnTo>
                    <a:pt x="6832709" y="0"/>
                  </a:lnTo>
                  <a:cubicBezTo>
                    <a:pt x="6838495" y="0"/>
                    <a:pt x="6843185" y="4690"/>
                    <a:pt x="6843185" y="10476"/>
                  </a:cubicBezTo>
                  <a:lnTo>
                    <a:pt x="6843185" y="2684439"/>
                  </a:lnTo>
                  <a:cubicBezTo>
                    <a:pt x="6843185" y="2687218"/>
                    <a:pt x="6842082" y="2689882"/>
                    <a:pt x="6840117" y="2691847"/>
                  </a:cubicBezTo>
                  <a:cubicBezTo>
                    <a:pt x="6838152" y="2693812"/>
                    <a:pt x="6835487" y="2694915"/>
                    <a:pt x="6832709" y="2694915"/>
                  </a:cubicBezTo>
                  <a:lnTo>
                    <a:pt x="10476" y="2694915"/>
                  </a:lnTo>
                  <a:cubicBezTo>
                    <a:pt x="7698" y="2694915"/>
                    <a:pt x="5033" y="2693812"/>
                    <a:pt x="3068" y="2691847"/>
                  </a:cubicBezTo>
                  <a:cubicBezTo>
                    <a:pt x="1104" y="2689882"/>
                    <a:pt x="0" y="2687218"/>
                    <a:pt x="0" y="2684439"/>
                  </a:cubicBezTo>
                  <a:lnTo>
                    <a:pt x="0" y="10476"/>
                  </a:lnTo>
                  <a:cubicBezTo>
                    <a:pt x="0" y="4690"/>
                    <a:pt x="4690" y="0"/>
                    <a:pt x="10476" y="0"/>
                  </a:cubicBezTo>
                  <a:close/>
                </a:path>
              </a:pathLst>
            </a:custGeom>
            <a:gradFill rotWithShape="true">
              <a:gsLst>
                <a:gs pos="0">
                  <a:srgbClr val="FFFFFF">
                    <a:alpha val="34000"/>
                  </a:srgbClr>
                </a:gs>
                <a:gs pos="100000">
                  <a:srgbClr val="5B9E51">
                    <a:alpha val="34000"/>
                  </a:srgbClr>
                </a:gs>
              </a:gsLst>
              <a:lin ang="5400000"/>
            </a:gradFill>
            <a:ln w="38100" cap="rnd">
              <a:gradFill>
                <a:gsLst>
                  <a:gs pos="0">
                    <a:srgbClr val="5B9E51">
                      <a:alpha val="34000"/>
                    </a:srgbClr>
                  </a:gs>
                  <a:gs pos="100000">
                    <a:srgbClr val="FFFFFF">
                      <a:alpha val="34000"/>
                    </a:srgbClr>
                  </a:gs>
                </a:gsLst>
                <a:lin ang="0"/>
              </a:gradFill>
              <a:prstDash val="solid"/>
              <a:round/>
            </a:ln>
          </p:spPr>
        </p:sp>
        <p:sp>
          <p:nvSpPr>
            <p:cNvPr name="TextBox 10" id="10"/>
            <p:cNvSpPr txBox="true"/>
            <p:nvPr/>
          </p:nvSpPr>
          <p:spPr>
            <a:xfrm>
              <a:off x="0" y="28575"/>
              <a:ext cx="6843185" cy="2666340"/>
            </a:xfrm>
            <a:prstGeom prst="rect">
              <a:avLst/>
            </a:prstGeom>
          </p:spPr>
          <p:txBody>
            <a:bodyPr anchor="ctr" rtlCol="false" tIns="50800" lIns="50800" bIns="50800" rIns="50800"/>
            <a:lstStyle/>
            <a:p>
              <a:pPr algn="ctr">
                <a:lnSpc>
                  <a:spcPts val="2000"/>
                </a:lnSpc>
              </a:pPr>
            </a:p>
          </p:txBody>
        </p:sp>
      </p:grpSp>
      <p:sp>
        <p:nvSpPr>
          <p:cNvPr name="Freeform 11" id="11"/>
          <p:cNvSpPr/>
          <p:nvPr/>
        </p:nvSpPr>
        <p:spPr>
          <a:xfrm flipH="false" flipV="false" rot="0">
            <a:off x="2979700" y="-5321424"/>
            <a:ext cx="12734391" cy="8229600"/>
          </a:xfrm>
          <a:custGeom>
            <a:avLst/>
            <a:gdLst/>
            <a:ahLst/>
            <a:cxnLst/>
            <a:rect r="r" b="b" t="t" l="l"/>
            <a:pathLst>
              <a:path h="8229600" w="12734391">
                <a:moveTo>
                  <a:pt x="0" y="0"/>
                </a:moveTo>
                <a:lnTo>
                  <a:pt x="12734391" y="0"/>
                </a:lnTo>
                <a:lnTo>
                  <a:pt x="12734391" y="8229600"/>
                </a:lnTo>
                <a:lnTo>
                  <a:pt x="0" y="8229600"/>
                </a:lnTo>
                <a:lnTo>
                  <a:pt x="0" y="0"/>
                </a:lnTo>
                <a:close/>
              </a:path>
            </a:pathLst>
          </a:custGeom>
          <a:blipFill>
            <a:blip r:embed="rId4"/>
            <a:stretch>
              <a:fillRect l="0" t="0" r="0" b="0"/>
            </a:stretch>
          </a:blipFill>
        </p:spPr>
      </p:sp>
      <p:sp>
        <p:nvSpPr>
          <p:cNvPr name="Freeform 12" id="12"/>
          <p:cNvSpPr/>
          <p:nvPr/>
        </p:nvSpPr>
        <p:spPr>
          <a:xfrm flipH="false" flipV="false" rot="0">
            <a:off x="7869274" y="1738934"/>
            <a:ext cx="2454181" cy="2440067"/>
          </a:xfrm>
          <a:custGeom>
            <a:avLst/>
            <a:gdLst/>
            <a:ahLst/>
            <a:cxnLst/>
            <a:rect r="r" b="b" t="t" l="l"/>
            <a:pathLst>
              <a:path h="2440067" w="2454181">
                <a:moveTo>
                  <a:pt x="0" y="0"/>
                </a:moveTo>
                <a:lnTo>
                  <a:pt x="2454181" y="0"/>
                </a:lnTo>
                <a:lnTo>
                  <a:pt x="2454181" y="2440067"/>
                </a:lnTo>
                <a:lnTo>
                  <a:pt x="0" y="24400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296601" y="7877994"/>
            <a:ext cx="17736076" cy="4159557"/>
            <a:chOff x="0" y="0"/>
            <a:chExt cx="4671230" cy="1095521"/>
          </a:xfrm>
        </p:grpSpPr>
        <p:sp>
          <p:nvSpPr>
            <p:cNvPr name="Freeform 14" id="14"/>
            <p:cNvSpPr/>
            <p:nvPr/>
          </p:nvSpPr>
          <p:spPr>
            <a:xfrm flipH="false" flipV="false" rot="0">
              <a:off x="0" y="0"/>
              <a:ext cx="4671230" cy="1095521"/>
            </a:xfrm>
            <a:custGeom>
              <a:avLst/>
              <a:gdLst/>
              <a:ahLst/>
              <a:cxnLst/>
              <a:rect r="r" b="b" t="t" l="l"/>
              <a:pathLst>
                <a:path h="1095521" w="4671230">
                  <a:moveTo>
                    <a:pt x="15278" y="0"/>
                  </a:moveTo>
                  <a:lnTo>
                    <a:pt x="4655952" y="0"/>
                  </a:lnTo>
                  <a:cubicBezTo>
                    <a:pt x="4660004" y="0"/>
                    <a:pt x="4663890" y="1610"/>
                    <a:pt x="4666755" y="4475"/>
                  </a:cubicBezTo>
                  <a:cubicBezTo>
                    <a:pt x="4669620" y="7340"/>
                    <a:pt x="4671230" y="11226"/>
                    <a:pt x="4671230" y="15278"/>
                  </a:cubicBezTo>
                  <a:lnTo>
                    <a:pt x="4671230" y="1080243"/>
                  </a:lnTo>
                  <a:cubicBezTo>
                    <a:pt x="4671230" y="1084295"/>
                    <a:pt x="4669620" y="1088181"/>
                    <a:pt x="4666755" y="1091046"/>
                  </a:cubicBezTo>
                  <a:cubicBezTo>
                    <a:pt x="4663890" y="1093912"/>
                    <a:pt x="4660004" y="1095521"/>
                    <a:pt x="4655952" y="1095521"/>
                  </a:cubicBezTo>
                  <a:lnTo>
                    <a:pt x="15278" y="1095521"/>
                  </a:lnTo>
                  <a:cubicBezTo>
                    <a:pt x="6840" y="1095521"/>
                    <a:pt x="0" y="1088681"/>
                    <a:pt x="0" y="1080243"/>
                  </a:cubicBezTo>
                  <a:lnTo>
                    <a:pt x="0" y="15278"/>
                  </a:lnTo>
                  <a:cubicBezTo>
                    <a:pt x="0" y="11226"/>
                    <a:pt x="1610" y="7340"/>
                    <a:pt x="4475" y="4475"/>
                  </a:cubicBezTo>
                  <a:cubicBezTo>
                    <a:pt x="7340" y="1610"/>
                    <a:pt x="11226" y="0"/>
                    <a:pt x="15278" y="0"/>
                  </a:cubicBezTo>
                  <a:close/>
                </a:path>
              </a:pathLst>
            </a:custGeom>
            <a:gradFill rotWithShape="true">
              <a:gsLst>
                <a:gs pos="0">
                  <a:srgbClr val="9C2357">
                    <a:alpha val="27900"/>
                  </a:srgbClr>
                </a:gs>
                <a:gs pos="100000">
                  <a:srgbClr val="FF9376">
                    <a:alpha val="36000"/>
                  </a:srgbClr>
                </a:gs>
              </a:gsLst>
              <a:lin ang="5400000"/>
            </a:gradFill>
            <a:ln w="38100" cap="rnd">
              <a:gradFill>
                <a:gsLst>
                  <a:gs pos="0">
                    <a:srgbClr val="FF8C32">
                      <a:alpha val="36000"/>
                    </a:srgbClr>
                  </a:gs>
                  <a:gs pos="100000">
                    <a:srgbClr val="FFFFFF">
                      <a:alpha val="36000"/>
                    </a:srgbClr>
                  </a:gs>
                </a:gsLst>
                <a:lin ang="0"/>
              </a:gradFill>
              <a:prstDash val="solid"/>
              <a:round/>
            </a:ln>
          </p:spPr>
        </p:sp>
        <p:sp>
          <p:nvSpPr>
            <p:cNvPr name="TextBox 15" id="15"/>
            <p:cNvSpPr txBox="true"/>
            <p:nvPr/>
          </p:nvSpPr>
          <p:spPr>
            <a:xfrm>
              <a:off x="0" y="-104775"/>
              <a:ext cx="4671230" cy="1200296"/>
            </a:xfrm>
            <a:prstGeom prst="rect">
              <a:avLst/>
            </a:prstGeom>
          </p:spPr>
          <p:txBody>
            <a:bodyPr anchor="ctr" rtlCol="false" tIns="50800" lIns="50800" bIns="50800" rIns="50800"/>
            <a:lstStyle/>
            <a:p>
              <a:pPr algn="ctr">
                <a:lnSpc>
                  <a:spcPts val="3528"/>
                </a:lnSpc>
              </a:pPr>
            </a:p>
          </p:txBody>
        </p:sp>
      </p:grpSp>
      <p:sp>
        <p:nvSpPr>
          <p:cNvPr name="TextBox 16" id="16"/>
          <p:cNvSpPr txBox="true"/>
          <p:nvPr/>
        </p:nvSpPr>
        <p:spPr>
          <a:xfrm rot="0">
            <a:off x="587625" y="8373796"/>
            <a:ext cx="17074817" cy="2099310"/>
          </a:xfrm>
          <a:prstGeom prst="rect">
            <a:avLst/>
          </a:prstGeom>
        </p:spPr>
        <p:txBody>
          <a:bodyPr anchor="t" rtlCol="false" tIns="0" lIns="0" bIns="0" rIns="0">
            <a:spAutoFit/>
          </a:bodyPr>
          <a:lstStyle/>
          <a:p>
            <a:pPr algn="just">
              <a:lnSpc>
                <a:spcPts val="2849"/>
              </a:lnSpc>
            </a:pPr>
            <a:r>
              <a:rPr lang="en-US" sz="1899" b="true">
                <a:solidFill>
                  <a:srgbClr val="FFFFFF"/>
                </a:solidFill>
                <a:latin typeface="Montserrat Medium"/>
                <a:ea typeface="Montserrat Medium"/>
                <a:cs typeface="Montserrat Medium"/>
                <a:sym typeface="Montserrat Medium"/>
              </a:rPr>
              <a:t>Sự</a:t>
            </a:r>
            <a:r>
              <a:rPr lang="en-US" sz="1899" b="true">
                <a:solidFill>
                  <a:srgbClr val="FFFFFF"/>
                </a:solidFill>
                <a:latin typeface="Montserrat Medium"/>
                <a:ea typeface="Montserrat Medium"/>
                <a:cs typeface="Montserrat Medium"/>
                <a:sym typeface="Montserrat Medium"/>
              </a:rPr>
              <a:t> khác biệt cốt lõi giữa campaign tốt (8409) và campaign chưa tốt (7289) </a:t>
            </a:r>
            <a:r>
              <a:rPr lang="en-US" b="true" sz="1899" i="true">
                <a:solidFill>
                  <a:srgbClr val="FF9339"/>
                </a:solidFill>
                <a:latin typeface="Montserrat Bold Italics"/>
                <a:ea typeface="Montserrat Bold Italics"/>
                <a:cs typeface="Montserrat Bold Italics"/>
                <a:sym typeface="Montserrat Bold Italics"/>
              </a:rPr>
              <a:t>nằm ở khả năng tạo tăng trưởng dài hạn tức là chất lượng người dùng sau acquisition </a:t>
            </a:r>
            <a:r>
              <a:rPr lang="en-US" sz="1899" b="true">
                <a:solidFill>
                  <a:srgbClr val="FF9339"/>
                </a:solidFill>
                <a:latin typeface="Montserrat Medium"/>
                <a:ea typeface="Montserrat Medium"/>
                <a:cs typeface="Montserrat Medium"/>
                <a:sym typeface="Montserrat Medium"/>
              </a:rPr>
              <a:t>.</a:t>
            </a:r>
            <a:r>
              <a:rPr lang="en-US" sz="1899" b="true">
                <a:solidFill>
                  <a:srgbClr val="FFFFFF"/>
                </a:solidFill>
                <a:latin typeface="Montserrat Medium"/>
                <a:ea typeface="Montserrat Medium"/>
                <a:cs typeface="Montserrat Medium"/>
                <a:sym typeface="Montserrat Medium"/>
              </a:rPr>
              <a:t> Trong khi campaign 8409 thành công trong việc chuyển hóa người dùng mới thành nhóm khách hàng trung thành với mức độ sử dụng và giá trị giao dịch cao, thì campaign 7289 chủ yếu phụ thuộc vào khuyến mãi để duy trì tương tác, dẫn đến khả năng giữ chân và tạo giá trị dài hạn thấp hơn đáng kể. Tuy nhiên Campaign 7289 thuộc nhóm Redesign vẫn có hội để tái thiết kế để phù hợp hơn.</a:t>
            </a:r>
          </a:p>
          <a:p>
            <a:pPr algn="just">
              <a:lnSpc>
                <a:spcPts val="2849"/>
              </a:lnSpc>
            </a:pPr>
          </a:p>
        </p:txBody>
      </p:sp>
      <p:sp>
        <p:nvSpPr>
          <p:cNvPr name="TextBox 17" id="17"/>
          <p:cNvSpPr txBox="true"/>
          <p:nvPr/>
        </p:nvSpPr>
        <p:spPr>
          <a:xfrm rot="0">
            <a:off x="5337346" y="8001627"/>
            <a:ext cx="7884549" cy="429319"/>
          </a:xfrm>
          <a:prstGeom prst="rect">
            <a:avLst/>
          </a:prstGeom>
        </p:spPr>
        <p:txBody>
          <a:bodyPr anchor="t" rtlCol="false" tIns="0" lIns="0" bIns="0" rIns="0">
            <a:spAutoFit/>
          </a:bodyPr>
          <a:lstStyle/>
          <a:p>
            <a:pPr algn="ctr">
              <a:lnSpc>
                <a:spcPts val="3673"/>
              </a:lnSpc>
            </a:pPr>
            <a:r>
              <a:rPr lang="en-US" b="true" sz="2449">
                <a:solidFill>
                  <a:srgbClr val="F3740B"/>
                </a:solidFill>
                <a:latin typeface="Montserrat Bold"/>
                <a:ea typeface="Montserrat Bold"/>
                <a:cs typeface="Montserrat Bold"/>
                <a:sym typeface="Montserrat Bold"/>
              </a:rPr>
              <a:t>KẾT LUẬN</a:t>
            </a:r>
          </a:p>
        </p:txBody>
      </p:sp>
      <p:sp>
        <p:nvSpPr>
          <p:cNvPr name="Freeform 18" id="18"/>
          <p:cNvSpPr/>
          <p:nvPr/>
        </p:nvSpPr>
        <p:spPr>
          <a:xfrm flipH="false" flipV="false" rot="0">
            <a:off x="11031027" y="1374739"/>
            <a:ext cx="6678304" cy="2938454"/>
          </a:xfrm>
          <a:custGeom>
            <a:avLst/>
            <a:gdLst/>
            <a:ahLst/>
            <a:cxnLst/>
            <a:rect r="r" b="b" t="t" l="l"/>
            <a:pathLst>
              <a:path h="2938454" w="6678304">
                <a:moveTo>
                  <a:pt x="0" y="0"/>
                </a:moveTo>
                <a:lnTo>
                  <a:pt x="6678305" y="0"/>
                </a:lnTo>
                <a:lnTo>
                  <a:pt x="6678305" y="2938454"/>
                </a:lnTo>
                <a:lnTo>
                  <a:pt x="0" y="2938454"/>
                </a:lnTo>
                <a:lnTo>
                  <a:pt x="0" y="0"/>
                </a:lnTo>
                <a:close/>
              </a:path>
            </a:pathLst>
          </a:custGeom>
          <a:blipFill>
            <a:blip r:embed="rId7"/>
            <a:stretch>
              <a:fillRect l="0" t="0" r="0" b="0"/>
            </a:stretch>
          </a:blipFill>
        </p:spPr>
      </p:sp>
      <p:sp>
        <p:nvSpPr>
          <p:cNvPr name="Freeform 19" id="19"/>
          <p:cNvSpPr/>
          <p:nvPr/>
        </p:nvSpPr>
        <p:spPr>
          <a:xfrm flipH="false" flipV="false" rot="0">
            <a:off x="11031027" y="4372300"/>
            <a:ext cx="6678304" cy="2955150"/>
          </a:xfrm>
          <a:custGeom>
            <a:avLst/>
            <a:gdLst/>
            <a:ahLst/>
            <a:cxnLst/>
            <a:rect r="r" b="b" t="t" l="l"/>
            <a:pathLst>
              <a:path h="2955150" w="6678304">
                <a:moveTo>
                  <a:pt x="0" y="0"/>
                </a:moveTo>
                <a:lnTo>
                  <a:pt x="6678305" y="0"/>
                </a:lnTo>
                <a:lnTo>
                  <a:pt x="6678305" y="2955149"/>
                </a:lnTo>
                <a:lnTo>
                  <a:pt x="0" y="2955149"/>
                </a:lnTo>
                <a:lnTo>
                  <a:pt x="0" y="0"/>
                </a:lnTo>
                <a:close/>
              </a:path>
            </a:pathLst>
          </a:custGeom>
          <a:blipFill>
            <a:blip r:embed="rId8"/>
            <a:stretch>
              <a:fillRect l="0" t="0" r="0" b="0"/>
            </a:stretch>
          </a:blipFill>
        </p:spPr>
      </p:sp>
      <p:sp>
        <p:nvSpPr>
          <p:cNvPr name="Freeform 20" id="20"/>
          <p:cNvSpPr/>
          <p:nvPr/>
        </p:nvSpPr>
        <p:spPr>
          <a:xfrm flipH="false" flipV="false" rot="0">
            <a:off x="634515" y="4372300"/>
            <a:ext cx="6663737" cy="2955150"/>
          </a:xfrm>
          <a:custGeom>
            <a:avLst/>
            <a:gdLst/>
            <a:ahLst/>
            <a:cxnLst/>
            <a:rect r="r" b="b" t="t" l="l"/>
            <a:pathLst>
              <a:path h="2955150" w="6663737">
                <a:moveTo>
                  <a:pt x="0" y="0"/>
                </a:moveTo>
                <a:lnTo>
                  <a:pt x="6663737" y="0"/>
                </a:lnTo>
                <a:lnTo>
                  <a:pt x="6663737" y="2955149"/>
                </a:lnTo>
                <a:lnTo>
                  <a:pt x="0" y="2955149"/>
                </a:lnTo>
                <a:lnTo>
                  <a:pt x="0" y="0"/>
                </a:lnTo>
                <a:close/>
              </a:path>
            </a:pathLst>
          </a:custGeom>
          <a:blipFill>
            <a:blip r:embed="rId9"/>
            <a:stretch>
              <a:fillRect l="0" t="0" r="0" b="0"/>
            </a:stretch>
          </a:blipFill>
        </p:spPr>
      </p:sp>
      <p:sp>
        <p:nvSpPr>
          <p:cNvPr name="Freeform 21" id="21"/>
          <p:cNvSpPr/>
          <p:nvPr/>
        </p:nvSpPr>
        <p:spPr>
          <a:xfrm flipH="false" flipV="false" rot="0">
            <a:off x="634515" y="1388181"/>
            <a:ext cx="6663737" cy="2915385"/>
          </a:xfrm>
          <a:custGeom>
            <a:avLst/>
            <a:gdLst/>
            <a:ahLst/>
            <a:cxnLst/>
            <a:rect r="r" b="b" t="t" l="l"/>
            <a:pathLst>
              <a:path h="2915385" w="6663737">
                <a:moveTo>
                  <a:pt x="0" y="0"/>
                </a:moveTo>
                <a:lnTo>
                  <a:pt x="6663737" y="0"/>
                </a:lnTo>
                <a:lnTo>
                  <a:pt x="6663737" y="2915385"/>
                </a:lnTo>
                <a:lnTo>
                  <a:pt x="0" y="2915385"/>
                </a:lnTo>
                <a:lnTo>
                  <a:pt x="0" y="0"/>
                </a:lnTo>
                <a:close/>
              </a:path>
            </a:pathLst>
          </a:custGeom>
          <a:blipFill>
            <a:blip r:embed="rId10"/>
            <a:stretch>
              <a:fillRect l="0" t="0" r="0" b="0"/>
            </a:stretch>
          </a:blipFill>
        </p:spPr>
      </p:sp>
      <p:sp>
        <p:nvSpPr>
          <p:cNvPr name="TextBox 22" id="22"/>
          <p:cNvSpPr txBox="true"/>
          <p:nvPr/>
        </p:nvSpPr>
        <p:spPr>
          <a:xfrm rot="0">
            <a:off x="606592" y="145077"/>
            <a:ext cx="17723114" cy="478156"/>
          </a:xfrm>
          <a:prstGeom prst="rect">
            <a:avLst/>
          </a:prstGeom>
        </p:spPr>
        <p:txBody>
          <a:bodyPr anchor="t" rtlCol="false" tIns="0" lIns="0" bIns="0" rIns="0">
            <a:spAutoFit/>
          </a:bodyPr>
          <a:lstStyle/>
          <a:p>
            <a:pPr algn="ctr" marL="0" indent="0" lvl="0">
              <a:lnSpc>
                <a:spcPts val="4049"/>
              </a:lnSpc>
            </a:pPr>
            <a:r>
              <a:rPr lang="en-US" b="true" sz="2699" spc="8">
                <a:solidFill>
                  <a:srgbClr val="F3740B"/>
                </a:solidFill>
                <a:latin typeface="Inter Ultra-Bold"/>
                <a:ea typeface="Inter Ultra-Bold"/>
                <a:cs typeface="Inter Ultra-Bold"/>
                <a:sym typeface="Inter Ultra-Bold"/>
              </a:rPr>
              <a:t>LIỆU MỘT CAMPAIGN TỐT CÓ CẦN ‘HOÀN HẢO’ VỀ MỌI CHỈ SỐ?</a:t>
            </a:r>
          </a:p>
        </p:txBody>
      </p:sp>
      <p:grpSp>
        <p:nvGrpSpPr>
          <p:cNvPr name="Group 23" id="23"/>
          <p:cNvGrpSpPr/>
          <p:nvPr/>
        </p:nvGrpSpPr>
        <p:grpSpPr>
          <a:xfrm rot="0">
            <a:off x="7488971" y="4361154"/>
            <a:ext cx="3351337" cy="2966295"/>
            <a:chOff x="0" y="0"/>
            <a:chExt cx="4468450" cy="3955060"/>
          </a:xfrm>
        </p:grpSpPr>
        <p:sp>
          <p:nvSpPr>
            <p:cNvPr name="Freeform 24" id="24"/>
            <p:cNvSpPr/>
            <p:nvPr/>
          </p:nvSpPr>
          <p:spPr>
            <a:xfrm flipH="false" flipV="false" rot="0">
              <a:off x="612316" y="128378"/>
              <a:ext cx="412580" cy="191850"/>
            </a:xfrm>
            <a:custGeom>
              <a:avLst/>
              <a:gdLst/>
              <a:ahLst/>
              <a:cxnLst/>
              <a:rect r="r" b="b" t="t" l="l"/>
              <a:pathLst>
                <a:path h="191850" w="412580">
                  <a:moveTo>
                    <a:pt x="0" y="0"/>
                  </a:moveTo>
                  <a:lnTo>
                    <a:pt x="412581" y="0"/>
                  </a:lnTo>
                  <a:lnTo>
                    <a:pt x="412581" y="191849"/>
                  </a:lnTo>
                  <a:lnTo>
                    <a:pt x="0" y="19184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true" flipV="false" rot="0">
              <a:off x="3433748" y="128378"/>
              <a:ext cx="412580" cy="191850"/>
            </a:xfrm>
            <a:custGeom>
              <a:avLst/>
              <a:gdLst/>
              <a:ahLst/>
              <a:cxnLst/>
              <a:rect r="r" b="b" t="t" l="l"/>
              <a:pathLst>
                <a:path h="191850" w="412580">
                  <a:moveTo>
                    <a:pt x="412580" y="0"/>
                  </a:moveTo>
                  <a:lnTo>
                    <a:pt x="0" y="0"/>
                  </a:lnTo>
                  <a:lnTo>
                    <a:pt x="0" y="191849"/>
                  </a:lnTo>
                  <a:lnTo>
                    <a:pt x="412580" y="191849"/>
                  </a:lnTo>
                  <a:lnTo>
                    <a:pt x="41258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6" id="26"/>
            <p:cNvSpPr txBox="true"/>
            <p:nvPr/>
          </p:nvSpPr>
          <p:spPr>
            <a:xfrm rot="0">
              <a:off x="0" y="312912"/>
              <a:ext cx="4468450" cy="3642148"/>
            </a:xfrm>
            <a:prstGeom prst="rect">
              <a:avLst/>
            </a:prstGeom>
          </p:spPr>
          <p:txBody>
            <a:bodyPr anchor="t" rtlCol="false" tIns="0" lIns="0" bIns="0" rIns="0">
              <a:spAutoFit/>
            </a:bodyPr>
            <a:lstStyle/>
            <a:p>
              <a:pPr algn="just">
                <a:lnSpc>
                  <a:spcPts val="1819"/>
                </a:lnSpc>
              </a:pPr>
            </a:p>
            <a:p>
              <a:pPr algn="just">
                <a:lnSpc>
                  <a:spcPts val="1819"/>
                </a:lnSpc>
              </a:pPr>
              <a:r>
                <a:rPr lang="en-US" sz="1299">
                  <a:solidFill>
                    <a:srgbClr val="FFFFFF"/>
                  </a:solidFill>
                  <a:latin typeface="Montserrat Light"/>
                  <a:ea typeface="Montserrat Light"/>
                  <a:cs typeface="Montserrat Light"/>
                  <a:sym typeface="Montserrat Light"/>
                </a:rPr>
                <a:t>Campaign tốt có</a:t>
              </a:r>
              <a:r>
                <a:rPr lang="en-US" sz="1299">
                  <a:solidFill>
                    <a:srgbClr val="FFFFFF"/>
                  </a:solidFill>
                  <a:latin typeface="Montserrat Light"/>
                  <a:ea typeface="Montserrat Light"/>
                  <a:cs typeface="Montserrat Light"/>
                  <a:sym typeface="Montserrat Light"/>
                </a:rPr>
                <a:t> khả năng chuyển đổi người dùng từ nhóm “One-time Promo” sang “High-value Loyal”, với tỷ lệ loyal users sau giao dịch thứ hai ở nhiều merchant đạt trên 80–90%. Ngược lại, campaign chưa tốt vẫn bị chi phối chủ yếu bởi nhóm “promo hunter” với tỷ lệ One-time Promo dao động khoảng 71–92%, cho thấy khả năng giữ chân và tạo giá trị dài hạn thấp hơn đáng kể.</a:t>
              </a:r>
            </a:p>
            <a:p>
              <a:pPr algn="just">
                <a:lnSpc>
                  <a:spcPts val="1819"/>
                </a:lnSpc>
              </a:pPr>
            </a:p>
          </p:txBody>
        </p:sp>
        <p:sp>
          <p:nvSpPr>
            <p:cNvPr name="TextBox 27" id="27"/>
            <p:cNvSpPr txBox="true"/>
            <p:nvPr/>
          </p:nvSpPr>
          <p:spPr>
            <a:xfrm rot="0">
              <a:off x="1034702" y="-66675"/>
              <a:ext cx="2399046" cy="515280"/>
            </a:xfrm>
            <a:prstGeom prst="rect">
              <a:avLst/>
            </a:prstGeom>
          </p:spPr>
          <p:txBody>
            <a:bodyPr anchor="t" rtlCol="false" tIns="0" lIns="0" bIns="0" rIns="0">
              <a:spAutoFit/>
            </a:bodyPr>
            <a:lstStyle/>
            <a:p>
              <a:pPr algn="ctr" marL="0" indent="0" lvl="0">
                <a:lnSpc>
                  <a:spcPts val="3311"/>
                </a:lnSpc>
              </a:pPr>
              <a:r>
                <a:rPr lang="en-US" b="true" sz="2207" spc="6">
                  <a:solidFill>
                    <a:srgbClr val="2BBBED"/>
                  </a:solidFill>
                  <a:latin typeface="Inter Ultra-Bold"/>
                  <a:ea typeface="Inter Ultra-Bold"/>
                  <a:cs typeface="Inter Ultra-Bold"/>
                  <a:sym typeface="Inter Ultra-Bold"/>
                </a:rPr>
                <a:t>NHẬN XÉT</a:t>
              </a:r>
            </a:p>
          </p:txBody>
        </p:sp>
      </p:grpSp>
      <p:sp>
        <p:nvSpPr>
          <p:cNvPr name="TextBox 28" id="28"/>
          <p:cNvSpPr txBox="true"/>
          <p:nvPr/>
        </p:nvSpPr>
        <p:spPr>
          <a:xfrm rot="0">
            <a:off x="2932064" y="1003724"/>
            <a:ext cx="1882524" cy="198120"/>
          </a:xfrm>
          <a:prstGeom prst="rect">
            <a:avLst/>
          </a:prstGeom>
        </p:spPr>
        <p:txBody>
          <a:bodyPr anchor="t" rtlCol="false" tIns="0" lIns="0" bIns="0" rIns="0">
            <a:spAutoFit/>
          </a:bodyPr>
          <a:lstStyle/>
          <a:p>
            <a:pPr algn="just">
              <a:lnSpc>
                <a:spcPts val="1679"/>
              </a:lnSpc>
            </a:pPr>
            <a:r>
              <a:rPr lang="en-US" b="true" sz="1200">
                <a:solidFill>
                  <a:srgbClr val="FFFFFF"/>
                </a:solidFill>
                <a:latin typeface="Montserrat Bold"/>
                <a:ea typeface="Montserrat Bold"/>
                <a:cs typeface="Montserrat Bold"/>
                <a:sym typeface="Montserrat Bold"/>
              </a:rPr>
              <a:t>CAMPAIGN TỐT (8409)</a:t>
            </a:r>
          </a:p>
        </p:txBody>
      </p:sp>
      <p:sp>
        <p:nvSpPr>
          <p:cNvPr name="TextBox 29" id="29"/>
          <p:cNvSpPr txBox="true"/>
          <p:nvPr/>
        </p:nvSpPr>
        <p:spPr>
          <a:xfrm rot="0">
            <a:off x="13221895" y="1003724"/>
            <a:ext cx="2296569" cy="198120"/>
          </a:xfrm>
          <a:prstGeom prst="rect">
            <a:avLst/>
          </a:prstGeom>
        </p:spPr>
        <p:txBody>
          <a:bodyPr anchor="t" rtlCol="false" tIns="0" lIns="0" bIns="0" rIns="0">
            <a:spAutoFit/>
          </a:bodyPr>
          <a:lstStyle/>
          <a:p>
            <a:pPr algn="just">
              <a:lnSpc>
                <a:spcPts val="1679"/>
              </a:lnSpc>
            </a:pPr>
            <a:r>
              <a:rPr lang="en-US" b="true" sz="1200">
                <a:solidFill>
                  <a:srgbClr val="FCFFFF"/>
                </a:solidFill>
                <a:latin typeface="Montserrat Bold"/>
                <a:ea typeface="Montserrat Bold"/>
                <a:cs typeface="Montserrat Bold"/>
                <a:sym typeface="Montserrat Bold"/>
              </a:rPr>
              <a:t>CAMPAIGN CHƯA TỐT (7289)</a:t>
            </a:r>
          </a:p>
        </p:txBody>
      </p:sp>
      <p:sp>
        <p:nvSpPr>
          <p:cNvPr name="TextBox 30" id="30"/>
          <p:cNvSpPr txBox="true"/>
          <p:nvPr/>
        </p:nvSpPr>
        <p:spPr>
          <a:xfrm rot="0">
            <a:off x="758607" y="4011243"/>
            <a:ext cx="5955377" cy="198120"/>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22:  Loại user mà Campagin 8409 thu hút trong suốt thời gian hoạt động</a:t>
            </a:r>
          </a:p>
        </p:txBody>
      </p:sp>
      <p:sp>
        <p:nvSpPr>
          <p:cNvPr name="TextBox 31" id="31"/>
          <p:cNvSpPr txBox="true"/>
          <p:nvPr/>
        </p:nvSpPr>
        <p:spPr>
          <a:xfrm rot="0">
            <a:off x="11183228" y="4070416"/>
            <a:ext cx="5955377" cy="198120"/>
          </a:xfrm>
          <a:prstGeom prst="rect">
            <a:avLst/>
          </a:prstGeom>
        </p:spPr>
        <p:txBody>
          <a:bodyPr anchor="t" rtlCol="false" tIns="0" lIns="0" bIns="0" rIns="0">
            <a:spAutoFit/>
          </a:bodyPr>
          <a:lstStyle/>
          <a:p>
            <a:pPr algn="just">
              <a:lnSpc>
                <a:spcPts val="1679"/>
              </a:lnSpc>
            </a:pPr>
            <a:r>
              <a:rPr lang="en-US" sz="1200">
                <a:solidFill>
                  <a:srgbClr val="000000"/>
                </a:solidFill>
                <a:latin typeface="Montserrat Light"/>
                <a:ea typeface="Montserrat Light"/>
                <a:cs typeface="Montserrat Light"/>
                <a:sym typeface="Montserrat Light"/>
              </a:rPr>
              <a:t>Hình 23:  Loại user mà Campagin 7289 thu hút trong suốt thời gian hoạt động</a:t>
            </a:r>
          </a:p>
        </p:txBody>
      </p:sp>
      <p:sp>
        <p:nvSpPr>
          <p:cNvPr name="TextBox 32" id="32"/>
          <p:cNvSpPr txBox="true"/>
          <p:nvPr/>
        </p:nvSpPr>
        <p:spPr>
          <a:xfrm rot="0">
            <a:off x="758607" y="7375074"/>
            <a:ext cx="6539644" cy="407670"/>
          </a:xfrm>
          <a:prstGeom prst="rect">
            <a:avLst/>
          </a:prstGeom>
        </p:spPr>
        <p:txBody>
          <a:bodyPr anchor="t" rtlCol="false" tIns="0" lIns="0" bIns="0" rIns="0">
            <a:spAutoFit/>
          </a:bodyPr>
          <a:lstStyle/>
          <a:p>
            <a:pPr algn="just">
              <a:lnSpc>
                <a:spcPts val="1679"/>
              </a:lnSpc>
            </a:pPr>
            <a:r>
              <a:rPr lang="en-US" sz="1200">
                <a:solidFill>
                  <a:srgbClr val="FCFFFF"/>
                </a:solidFill>
                <a:latin typeface="Montserrat Light"/>
                <a:ea typeface="Montserrat Light"/>
                <a:cs typeface="Montserrat Light"/>
                <a:sym typeface="Montserrat Light"/>
              </a:rPr>
              <a:t>Hình 24: Phân bố danh mục của NPU thu hút qua Campagin 8409 (giữa giao dịch đầu tiền và giao dịch thứ 2 trở đi)</a:t>
            </a:r>
          </a:p>
        </p:txBody>
      </p:sp>
      <p:sp>
        <p:nvSpPr>
          <p:cNvPr name="TextBox 33" id="33"/>
          <p:cNvSpPr txBox="true"/>
          <p:nvPr/>
        </p:nvSpPr>
        <p:spPr>
          <a:xfrm rot="0">
            <a:off x="11183228" y="7375074"/>
            <a:ext cx="6479214" cy="407670"/>
          </a:xfrm>
          <a:prstGeom prst="rect">
            <a:avLst/>
          </a:prstGeom>
        </p:spPr>
        <p:txBody>
          <a:bodyPr anchor="t" rtlCol="false" tIns="0" lIns="0" bIns="0" rIns="0">
            <a:spAutoFit/>
          </a:bodyPr>
          <a:lstStyle/>
          <a:p>
            <a:pPr algn="just">
              <a:lnSpc>
                <a:spcPts val="1679"/>
              </a:lnSpc>
            </a:pPr>
            <a:r>
              <a:rPr lang="en-US" sz="1200">
                <a:solidFill>
                  <a:srgbClr val="FCFFFF"/>
                </a:solidFill>
                <a:latin typeface="Montserrat Light"/>
                <a:ea typeface="Montserrat Light"/>
                <a:cs typeface="Montserrat Light"/>
                <a:sym typeface="Montserrat Light"/>
              </a:rPr>
              <a:t>Hình 25: Phân bố danh mục của NPU thu hút qua Campagin 7289 (giữa giao dịch đầu tiền và giao dịch thứ 2 trở đi)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3419" y="715200"/>
            <a:ext cx="243876" cy="347773"/>
          </a:xfrm>
          <a:custGeom>
            <a:avLst/>
            <a:gdLst/>
            <a:ahLst/>
            <a:cxnLst/>
            <a:rect r="r" b="b" t="t" l="l"/>
            <a:pathLst>
              <a:path h="347773" w="243876">
                <a:moveTo>
                  <a:pt x="0" y="0"/>
                </a:moveTo>
                <a:lnTo>
                  <a:pt x="243876" y="0"/>
                </a:lnTo>
                <a:lnTo>
                  <a:pt x="243876" y="347772"/>
                </a:lnTo>
                <a:lnTo>
                  <a:pt x="0" y="3477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alphaModFix amt="8999"/>
            </a:blip>
            <a:stretch>
              <a:fillRect l="0" t="0" r="0" b="0"/>
            </a:stretch>
          </a:blipFill>
        </p:spPr>
      </p:sp>
      <p:sp>
        <p:nvSpPr>
          <p:cNvPr name="Freeform 4" id="4"/>
          <p:cNvSpPr/>
          <p:nvPr/>
        </p:nvSpPr>
        <p:spPr>
          <a:xfrm flipH="false" flipV="false" rot="0">
            <a:off x="16074199" y="449020"/>
            <a:ext cx="532359" cy="532359"/>
          </a:xfrm>
          <a:custGeom>
            <a:avLst/>
            <a:gdLst/>
            <a:ahLst/>
            <a:cxnLst/>
            <a:rect r="r" b="b" t="t" l="l"/>
            <a:pathLst>
              <a:path h="532359" w="532359">
                <a:moveTo>
                  <a:pt x="0" y="0"/>
                </a:moveTo>
                <a:lnTo>
                  <a:pt x="532358" y="0"/>
                </a:lnTo>
                <a:lnTo>
                  <a:pt x="532358" y="532359"/>
                </a:lnTo>
                <a:lnTo>
                  <a:pt x="0" y="532359"/>
                </a:lnTo>
                <a:lnTo>
                  <a:pt x="0" y="0"/>
                </a:lnTo>
                <a:close/>
              </a:path>
            </a:pathLst>
          </a:custGeom>
          <a:blipFill>
            <a:blip r:embed="rId5"/>
            <a:stretch>
              <a:fillRect l="0" t="0" r="0" b="0"/>
            </a:stretch>
          </a:blipFill>
        </p:spPr>
      </p:sp>
      <p:sp>
        <p:nvSpPr>
          <p:cNvPr name="Freeform 5" id="5"/>
          <p:cNvSpPr/>
          <p:nvPr/>
        </p:nvSpPr>
        <p:spPr>
          <a:xfrm flipH="false" flipV="false" rot="0">
            <a:off x="16726941" y="449020"/>
            <a:ext cx="532359" cy="532359"/>
          </a:xfrm>
          <a:custGeom>
            <a:avLst/>
            <a:gdLst/>
            <a:ahLst/>
            <a:cxnLst/>
            <a:rect r="r" b="b" t="t" l="l"/>
            <a:pathLst>
              <a:path h="532359" w="532359">
                <a:moveTo>
                  <a:pt x="0" y="0"/>
                </a:moveTo>
                <a:lnTo>
                  <a:pt x="532359" y="0"/>
                </a:lnTo>
                <a:lnTo>
                  <a:pt x="532359" y="532359"/>
                </a:lnTo>
                <a:lnTo>
                  <a:pt x="0" y="532359"/>
                </a:lnTo>
                <a:lnTo>
                  <a:pt x="0" y="0"/>
                </a:lnTo>
                <a:close/>
              </a:path>
            </a:pathLst>
          </a:custGeom>
          <a:blipFill>
            <a:blip r:embed="rId6"/>
            <a:stretch>
              <a:fillRect l="0" t="0" r="0" b="0"/>
            </a:stretch>
          </a:blipFill>
        </p:spPr>
      </p:sp>
      <p:sp>
        <p:nvSpPr>
          <p:cNvPr name="AutoShape 6" id="6"/>
          <p:cNvSpPr/>
          <p:nvPr/>
        </p:nvSpPr>
        <p:spPr>
          <a:xfrm>
            <a:off x="1028700" y="1072497"/>
            <a:ext cx="16230600" cy="0"/>
          </a:xfrm>
          <a:prstGeom prst="line">
            <a:avLst/>
          </a:prstGeom>
          <a:ln cap="flat" w="19050">
            <a:solidFill>
              <a:srgbClr val="1136BF">
                <a:alpha val="49804"/>
              </a:srgbClr>
            </a:solidFill>
            <a:prstDash val="solid"/>
            <a:headEnd type="none" len="sm" w="sm"/>
            <a:tailEnd type="none" len="sm" w="sm"/>
          </a:ln>
        </p:spPr>
      </p:sp>
      <p:sp>
        <p:nvSpPr>
          <p:cNvPr name="Freeform 7" id="7"/>
          <p:cNvSpPr/>
          <p:nvPr/>
        </p:nvSpPr>
        <p:spPr>
          <a:xfrm flipH="false" flipV="false" rot="0">
            <a:off x="66283" y="1752917"/>
            <a:ext cx="2334272" cy="3086641"/>
          </a:xfrm>
          <a:custGeom>
            <a:avLst/>
            <a:gdLst/>
            <a:ahLst/>
            <a:cxnLst/>
            <a:rect r="r" b="b" t="t" l="l"/>
            <a:pathLst>
              <a:path h="3086641" w="2334272">
                <a:moveTo>
                  <a:pt x="0" y="0"/>
                </a:moveTo>
                <a:lnTo>
                  <a:pt x="2334272" y="0"/>
                </a:lnTo>
                <a:lnTo>
                  <a:pt x="2334272" y="3086641"/>
                </a:lnTo>
                <a:lnTo>
                  <a:pt x="0" y="3086641"/>
                </a:lnTo>
                <a:lnTo>
                  <a:pt x="0" y="0"/>
                </a:lnTo>
                <a:close/>
              </a:path>
            </a:pathLst>
          </a:custGeom>
          <a:blipFill>
            <a:blip r:embed="rId7"/>
            <a:stretch>
              <a:fillRect l="0" t="0" r="0" b="0"/>
            </a:stretch>
          </a:blipFill>
        </p:spPr>
      </p:sp>
      <p:sp>
        <p:nvSpPr>
          <p:cNvPr name="Freeform 8" id="8"/>
          <p:cNvSpPr/>
          <p:nvPr/>
        </p:nvSpPr>
        <p:spPr>
          <a:xfrm flipH="false" flipV="false" rot="891536">
            <a:off x="16749687" y="1652196"/>
            <a:ext cx="1755579" cy="1345213"/>
          </a:xfrm>
          <a:custGeom>
            <a:avLst/>
            <a:gdLst/>
            <a:ahLst/>
            <a:cxnLst/>
            <a:rect r="r" b="b" t="t" l="l"/>
            <a:pathLst>
              <a:path h="1345213" w="1755579">
                <a:moveTo>
                  <a:pt x="0" y="0"/>
                </a:moveTo>
                <a:lnTo>
                  <a:pt x="1755580" y="0"/>
                </a:lnTo>
                <a:lnTo>
                  <a:pt x="1755580" y="1345212"/>
                </a:lnTo>
                <a:lnTo>
                  <a:pt x="0" y="1345212"/>
                </a:lnTo>
                <a:lnTo>
                  <a:pt x="0" y="0"/>
                </a:lnTo>
                <a:close/>
              </a:path>
            </a:pathLst>
          </a:custGeom>
          <a:blipFill>
            <a:blip r:embed="rId8"/>
            <a:stretch>
              <a:fillRect l="0" t="0" r="0" b="0"/>
            </a:stretch>
          </a:blipFill>
        </p:spPr>
      </p:sp>
      <p:sp>
        <p:nvSpPr>
          <p:cNvPr name="Freeform 9" id="9"/>
          <p:cNvSpPr/>
          <p:nvPr/>
        </p:nvSpPr>
        <p:spPr>
          <a:xfrm flipH="false" flipV="false" rot="0">
            <a:off x="15140894" y="271643"/>
            <a:ext cx="933305" cy="933305"/>
          </a:xfrm>
          <a:custGeom>
            <a:avLst/>
            <a:gdLst/>
            <a:ahLst/>
            <a:cxnLst/>
            <a:rect r="r" b="b" t="t" l="l"/>
            <a:pathLst>
              <a:path h="933305" w="933305">
                <a:moveTo>
                  <a:pt x="0" y="0"/>
                </a:moveTo>
                <a:lnTo>
                  <a:pt x="933305" y="0"/>
                </a:lnTo>
                <a:lnTo>
                  <a:pt x="933305" y="933305"/>
                </a:lnTo>
                <a:lnTo>
                  <a:pt x="0" y="933305"/>
                </a:lnTo>
                <a:lnTo>
                  <a:pt x="0" y="0"/>
                </a:lnTo>
                <a:close/>
              </a:path>
            </a:pathLst>
          </a:custGeom>
          <a:blipFill>
            <a:blip r:embed="rId9"/>
            <a:stretch>
              <a:fillRect l="0" t="0" r="0" b="0"/>
            </a:stretch>
          </a:blipFill>
        </p:spPr>
      </p:sp>
      <p:grpSp>
        <p:nvGrpSpPr>
          <p:cNvPr name="Group 10" id="10"/>
          <p:cNvGrpSpPr/>
          <p:nvPr/>
        </p:nvGrpSpPr>
        <p:grpSpPr>
          <a:xfrm rot="0">
            <a:off x="0" y="9571800"/>
            <a:ext cx="18288000" cy="715200"/>
            <a:chOff x="0" y="0"/>
            <a:chExt cx="4816593" cy="188365"/>
          </a:xfrm>
        </p:grpSpPr>
        <p:sp>
          <p:nvSpPr>
            <p:cNvPr name="Freeform 11" id="11"/>
            <p:cNvSpPr/>
            <p:nvPr/>
          </p:nvSpPr>
          <p:spPr>
            <a:xfrm flipH="false" flipV="false" rot="0">
              <a:off x="0" y="0"/>
              <a:ext cx="4816592" cy="188365"/>
            </a:xfrm>
            <a:custGeom>
              <a:avLst/>
              <a:gdLst/>
              <a:ahLst/>
              <a:cxnLst/>
              <a:rect r="r" b="b" t="t" l="l"/>
              <a:pathLst>
                <a:path h="188365" w="4816592">
                  <a:moveTo>
                    <a:pt x="0" y="0"/>
                  </a:moveTo>
                  <a:lnTo>
                    <a:pt x="4816592" y="0"/>
                  </a:lnTo>
                  <a:lnTo>
                    <a:pt x="4816592" y="188365"/>
                  </a:lnTo>
                  <a:lnTo>
                    <a:pt x="0" y="188365"/>
                  </a:lnTo>
                  <a:close/>
                </a:path>
              </a:pathLst>
            </a:custGeom>
            <a:solidFill>
              <a:srgbClr val="28DC66"/>
            </a:solidFill>
          </p:spPr>
        </p:sp>
        <p:sp>
          <p:nvSpPr>
            <p:cNvPr name="TextBox 12" id="12"/>
            <p:cNvSpPr txBox="true"/>
            <p:nvPr/>
          </p:nvSpPr>
          <p:spPr>
            <a:xfrm>
              <a:off x="0" y="-104775"/>
              <a:ext cx="4816593" cy="293140"/>
            </a:xfrm>
            <a:prstGeom prst="rect">
              <a:avLst/>
            </a:prstGeom>
          </p:spPr>
          <p:txBody>
            <a:bodyPr anchor="ctr" rtlCol="false" tIns="50800" lIns="50800" bIns="50800" rIns="50800"/>
            <a:lstStyle/>
            <a:p>
              <a:pPr algn="ctr">
                <a:lnSpc>
                  <a:spcPts val="3528"/>
                </a:lnSpc>
              </a:pPr>
            </a:p>
          </p:txBody>
        </p:sp>
      </p:grpSp>
      <p:grpSp>
        <p:nvGrpSpPr>
          <p:cNvPr name="Group 13" id="13"/>
          <p:cNvGrpSpPr/>
          <p:nvPr/>
        </p:nvGrpSpPr>
        <p:grpSpPr>
          <a:xfrm rot="0">
            <a:off x="0" y="9571800"/>
            <a:ext cx="2681663" cy="715200"/>
            <a:chOff x="0" y="0"/>
            <a:chExt cx="706282" cy="188365"/>
          </a:xfrm>
        </p:grpSpPr>
        <p:sp>
          <p:nvSpPr>
            <p:cNvPr name="Freeform 14" id="14"/>
            <p:cNvSpPr/>
            <p:nvPr/>
          </p:nvSpPr>
          <p:spPr>
            <a:xfrm flipH="false" flipV="false" rot="0">
              <a:off x="0" y="0"/>
              <a:ext cx="706282" cy="188365"/>
            </a:xfrm>
            <a:custGeom>
              <a:avLst/>
              <a:gdLst/>
              <a:ahLst/>
              <a:cxnLst/>
              <a:rect r="r" b="b" t="t" l="l"/>
              <a:pathLst>
                <a:path h="188365" w="706282">
                  <a:moveTo>
                    <a:pt x="0" y="0"/>
                  </a:moveTo>
                  <a:lnTo>
                    <a:pt x="706282" y="0"/>
                  </a:lnTo>
                  <a:lnTo>
                    <a:pt x="706282" y="188365"/>
                  </a:lnTo>
                  <a:lnTo>
                    <a:pt x="0" y="188365"/>
                  </a:lnTo>
                  <a:close/>
                </a:path>
              </a:pathLst>
            </a:custGeom>
            <a:solidFill>
              <a:srgbClr val="1136BF"/>
            </a:solidFill>
          </p:spPr>
        </p:sp>
        <p:sp>
          <p:nvSpPr>
            <p:cNvPr name="TextBox 15" id="15"/>
            <p:cNvSpPr txBox="true"/>
            <p:nvPr/>
          </p:nvSpPr>
          <p:spPr>
            <a:xfrm>
              <a:off x="0" y="-104775"/>
              <a:ext cx="706282" cy="293140"/>
            </a:xfrm>
            <a:prstGeom prst="rect">
              <a:avLst/>
            </a:prstGeom>
          </p:spPr>
          <p:txBody>
            <a:bodyPr anchor="ctr" rtlCol="false" tIns="50800" lIns="50800" bIns="50800" rIns="50800"/>
            <a:lstStyle/>
            <a:p>
              <a:pPr algn="ctr">
                <a:lnSpc>
                  <a:spcPts val="3528"/>
                </a:lnSpc>
              </a:pPr>
            </a:p>
          </p:txBody>
        </p:sp>
      </p:grpSp>
      <p:sp>
        <p:nvSpPr>
          <p:cNvPr name="TextBox 16" id="16"/>
          <p:cNvSpPr txBox="true"/>
          <p:nvPr/>
        </p:nvSpPr>
        <p:spPr>
          <a:xfrm rot="0">
            <a:off x="1028700" y="663705"/>
            <a:ext cx="3305927" cy="225381"/>
          </a:xfrm>
          <a:prstGeom prst="rect">
            <a:avLst/>
          </a:prstGeom>
        </p:spPr>
        <p:txBody>
          <a:bodyPr anchor="t" rtlCol="false" tIns="0" lIns="0" bIns="0" rIns="0">
            <a:spAutoFit/>
          </a:bodyPr>
          <a:lstStyle/>
          <a:p>
            <a:pPr algn="l" marL="0" indent="0" lvl="0">
              <a:lnSpc>
                <a:spcPts val="1600"/>
              </a:lnSpc>
              <a:spcBef>
                <a:spcPct val="0"/>
              </a:spcBef>
            </a:pPr>
            <a:r>
              <a:rPr lang="en-US" b="true" sz="2000">
                <a:solidFill>
                  <a:srgbClr val="F3740B"/>
                </a:solidFill>
                <a:latin typeface="Montserrat Bold"/>
                <a:ea typeface="Montserrat Bold"/>
                <a:cs typeface="Montserrat Bold"/>
                <a:sym typeface="Montserrat Bold"/>
              </a:rPr>
              <a:t>Team: DataMine</a:t>
            </a:r>
          </a:p>
        </p:txBody>
      </p:sp>
      <p:sp>
        <p:nvSpPr>
          <p:cNvPr name="TextBox 17" id="17"/>
          <p:cNvSpPr txBox="true"/>
          <p:nvPr/>
        </p:nvSpPr>
        <p:spPr>
          <a:xfrm rot="0">
            <a:off x="387348" y="4046137"/>
            <a:ext cx="17513303" cy="2722574"/>
          </a:xfrm>
          <a:prstGeom prst="rect">
            <a:avLst/>
          </a:prstGeom>
        </p:spPr>
        <p:txBody>
          <a:bodyPr anchor="t" rtlCol="false" tIns="0" lIns="0" bIns="0" rIns="0">
            <a:spAutoFit/>
          </a:bodyPr>
          <a:lstStyle/>
          <a:p>
            <a:pPr algn="ctr">
              <a:lnSpc>
                <a:spcPts val="21392"/>
              </a:lnSpc>
            </a:pPr>
            <a:r>
              <a:rPr lang="en-US" b="true" sz="18129">
                <a:solidFill>
                  <a:srgbClr val="FFC700"/>
                </a:solidFill>
                <a:latin typeface="Montserrat Heavy"/>
                <a:ea typeface="Montserrat Heavy"/>
                <a:cs typeface="Montserrat Heavy"/>
                <a:sym typeface="Montserrat Heav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DAHUDEhBtIg</dc:identifier>
  <dcterms:modified xsi:type="dcterms:W3CDTF">2011-08-01T06:04:30Z</dcterms:modified>
  <cp:revision>1</cp:revision>
  <dc:title>Copy of Black Brown and White Gradient Modern Business Pitch Deck Presentation</dc:title>
</cp:coreProperties>
</file>