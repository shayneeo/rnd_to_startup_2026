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“80 đơn hàng cần giao. 10 chiếc xe tải. Và công cụ điều phối duy nhất… là một file Excel. Bạn có thấy quen không? Đó là buổi sáng bình thường của rất nhiều doanh nghiệp vận tải Việt Nam — tuyến chồng chéo, xe chạy vòng, cuối ngày gần một phần ba số xe quay về tay không. Và đó chính là lý do GreenLogix ra đời — tối ưu vận chuyển, tiết kiệm chi phí, kiến tạo tương lai xanh!”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[~12s] “Câu chuyện đó không phải cá biệt. Logistics Việt Nam đang tiêu tốn tới 17% GDP — gấp rưỡi mức bình quân thế giới — trong khi 80% phát thải CO2 ngành giao thông đến từ đường bộ, và có tới 30-35% xe chạy rỗng mỗi ngày.”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[~10s] “Đứng sau bài toán đó là 5 sinh viên đa ngành — công nghệ, tài chính, kinh doanh — cùng chung một mục tiêu: xanh hoá logistics Việt Nam.”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 “Với chúng tôi, logistics xanh không phải một lựa chọn xa xỉ, mà là con đường tất yếu để doanh nghiệp Việt Nam phát triển bền vững. Đó cũng là lý do GreenLogix hướng tới trở thành nền tảng quản trị vận tải và phát thải hàng đầu Việt Nam, đồng hành cùng mục tiêu Net Zero 2050.”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“Vậy GreenLogix giải quyết bài toán đó như thế nào? Nền tảng tự động sắp tuyến, chủ động cảnh báo lệch tuyến, ghép đơn chiều về để giảm xe chạy rỗng, và tự động đo lường — báo cáo CO2 theo chuẩn quốc tế GLEC và GHG Protocol — tất cả trên cùng một hệ thống.”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 “Toàn bộ được quản lý qua một giao diện trực quan: người quản lý tải đơn hàng lên, hệ thống tự nhóm tuyến, theo dõi vị trí xe theo thời gian thực, và xuất báo cáo phát thải chỉ trong vài cú nhấp chuột.”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[~15s] “Không chỉ vậy, khác với cách làm cũ vốn thủ công và không đo lường được phát thải, GreenLogix là nền tảng duy nhất kết hợp đồng thời tối ưu vận hành và đo lường CO2 minh bạch, truy vết đến từng đơn hàng cụ thể.”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“Quay lại với kho hàng 80 đơn hàng, 10 xe tải ở đầu video — đó chính là kịch bản thực tế mà GreenLogix đã mô phỏng thành công trên MVP tại greenlogix.w9.nu. Với thời gian hoàn vốn khoảng 1,68 năm, IRR 28%, và lợi nhuận dương từ năm thứ hai, đây là mô hình vừa khả thi, vừa bền vững.”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“Và hơn cả những con số, chúng tôi tin một tuyến đường không chạy rỗng cũng là một hơi thở trong lành hơn cho thành phố, một ngày làm việc nhẹ nhàng hơn cho người tài xế — nơi phát triển kinh tế và bảo vệ môi trường có thể song hành.”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[~10s] “Tối ưu vận chuyển, tiết kiệm chi phí, kiến tạo tương lai xanh — đó là những gì GreenLogix mang lại. Cảm ơn bạn đã dành thời gian đồng hành cùng chúng tôi.”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3.xml"/><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6.xml"/><Relationship Id="rId8" Type="http://schemas.openxmlformats.org/officeDocument/2006/relationships/image" Target="../media/image12.pn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xml"/><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amber.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cyan.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emerald.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5461000" y="355600"/>
            <a:ext cx="7366000" cy="482600"/>
          </a:xfrm>
          <a:prstGeom prst="roundRect">
            <a:avLst>
              <a:gd name="adj" fmla="val 50000"/>
            </a:avLst>
          </a:prstGeom>
          <a:solidFill>
            <a:srgbClr val="131B2A"/>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250" b="1">
                <a:solidFill>
                  <a:srgbClr val="FCFFFF"/>
                </a:solidFill>
                <a:latin typeface="Montserrat"/>
              </a:defRPr>
            </a:pPr>
            <a:r>
              <a:t>🏆 VÒNG 1: Ý TƯỞNG — OLYMPIC KHỞI NGHIỆP 2026</a:t>
            </a:r>
          </a:p>
        </p:txBody>
      </p:sp>
      <p:sp>
        <p:nvSpPr>
          <p:cNvPr id="7" name="TextBox 6"/>
          <p:cNvSpPr txBox="1"/>
          <p:nvPr/>
        </p:nvSpPr>
        <p:spPr>
          <a:xfrm>
            <a:off x="5461000" y="914400"/>
            <a:ext cx="7366000" cy="254000"/>
          </a:xfrm>
          <a:prstGeom prst="rect">
            <a:avLst/>
          </a:prstGeom>
          <a:noFill/>
        </p:spPr>
        <p:txBody>
          <a:bodyPr wrap="square" lIns="0" tIns="0" rIns="0" bIns="0">
            <a:spAutoFit/>
          </a:bodyPr>
          <a:lstStyle/>
          <a:p>
            <a:pPr algn="ctr">
              <a:spcBef>
                <a:spcPts val="0"/>
              </a:spcBef>
              <a:spcAft>
                <a:spcPts val="400"/>
              </a:spcAft>
              <a:defRPr sz="1100" b="0" i="0">
                <a:solidFill>
                  <a:srgbClr val="94A3B8"/>
                </a:solidFill>
                <a:latin typeface="Montserrat"/>
              </a:defRPr>
            </a:pPr>
            <a:r>
              <a:t>Đơn vị tổ chức: Trường ĐH Kinh tế Quốc dân (NEU) &amp; Trung tâm CICN</a:t>
            </a:r>
          </a:p>
        </p:txBody>
      </p:sp>
      <p:pic>
        <p:nvPicPr>
          <p:cNvPr id="8" name="Picture 7" descr="logo_neu_transparent.png"/>
          <p:cNvPicPr>
            <a:picLocks noChangeAspect="1"/>
          </p:cNvPicPr>
          <p:nvPr/>
        </p:nvPicPr>
        <p:blipFill>
          <a:blip r:embed="rId6"/>
          <a:stretch>
            <a:fillRect/>
          </a:stretch>
        </p:blipFill>
        <p:spPr>
          <a:xfrm>
            <a:off x="4572000" y="304800"/>
            <a:ext cx="584200" cy="584200"/>
          </a:xfrm>
          <a:prstGeom prst="rect">
            <a:avLst/>
          </a:prstGeom>
        </p:spPr>
      </p:pic>
      <p:pic>
        <p:nvPicPr>
          <p:cNvPr id="9" name="Picture 8" descr="logo_greenlogix_badge.png"/>
          <p:cNvPicPr>
            <a:picLocks noChangeAspect="1"/>
          </p:cNvPicPr>
          <p:nvPr/>
        </p:nvPicPr>
        <p:blipFill>
          <a:blip r:embed="rId7"/>
          <a:stretch>
            <a:fillRect/>
          </a:stretch>
        </p:blipFill>
        <p:spPr>
          <a:xfrm>
            <a:off x="13055600" y="304800"/>
            <a:ext cx="584200" cy="584200"/>
          </a:xfrm>
          <a:prstGeom prst="rect">
            <a:avLst/>
          </a:prstGeom>
        </p:spPr>
      </p:pic>
      <p:pic>
        <p:nvPicPr>
          <p:cNvPr id="10" name="Picture 9" descr="driver_phone_mockup.png"/>
          <p:cNvPicPr>
            <a:picLocks noChangeAspect="1"/>
          </p:cNvPicPr>
          <p:nvPr/>
        </p:nvPicPr>
        <p:blipFill>
          <a:blip r:embed="rId8"/>
          <a:stretch>
            <a:fillRect/>
          </a:stretch>
        </p:blipFill>
        <p:spPr>
          <a:xfrm>
            <a:off x="1016000" y="1422400"/>
            <a:ext cx="3810000" cy="8191500"/>
          </a:xfrm>
          <a:prstGeom prst="rect">
            <a:avLst/>
          </a:prstGeom>
        </p:spPr>
      </p:pic>
      <p:sp>
        <p:nvSpPr>
          <p:cNvPr id="11" name="Rounded Rectangle 10"/>
          <p:cNvSpPr/>
          <p:nvPr/>
        </p:nvSpPr>
        <p:spPr>
          <a:xfrm>
            <a:off x="5207000" y="1422400"/>
            <a:ext cx="12065000" cy="5651500"/>
          </a:xfrm>
          <a:prstGeom prst="roundRect">
            <a:avLst>
              <a:gd name="adj" fmla="val 3000"/>
            </a:avLst>
          </a:prstGeom>
          <a:solidFill>
            <a:srgbClr val="131B2A"/>
          </a:solidFill>
          <a:ln w="2032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0" y="1676400"/>
            <a:ext cx="11049000" cy="5143500"/>
          </a:xfrm>
          <a:prstGeom prst="rect">
            <a:avLst/>
          </a:prstGeom>
          <a:noFill/>
        </p:spPr>
        <p:txBody>
          <a:bodyPr wrap="square" lIns="0" tIns="0" rIns="0" bIns="0">
            <a:spAutoFit/>
          </a:bodyPr>
          <a:lstStyle/>
          <a:p>
            <a:pPr algn="l">
              <a:spcBef>
                <a:spcPts val="0"/>
              </a:spcBef>
              <a:spcAft>
                <a:spcPts val="600"/>
              </a:spcAft>
              <a:defRPr sz="1150" b="1" i="0">
                <a:solidFill>
                  <a:srgbClr val="11C96B"/>
                </a:solidFill>
                <a:latin typeface="Montserrat"/>
              </a:defRPr>
            </a:pPr>
            <a:r>
              <a:t>NỀN TẢNG ĐIỀU HÀNH VẬN TẢI XANH THÔNG MINH · CARGOX ENGINE</a:t>
            </a:r>
          </a:p>
          <a:p>
            <a:pPr algn="l">
              <a:spcBef>
                <a:spcPts val="0"/>
              </a:spcBef>
              <a:spcAft>
                <a:spcPts val="1000"/>
              </a:spcAft>
            </a:pPr>
            <a:r>
              <a:rPr sz="4800" b="1" i="0">
                <a:solidFill>
                  <a:srgbClr val="FCFFFF"/>
                </a:solidFill>
                <a:latin typeface="Montserrat"/>
              </a:rPr>
              <a:t>GREEN</a:t>
            </a:r>
            <a:r>
              <a:rPr sz="4800" b="1" i="0">
                <a:solidFill>
                  <a:srgbClr val="11C96B"/>
                </a:solidFill>
                <a:latin typeface="Montserrat"/>
              </a:rPr>
              <a:t>LOGIX</a:t>
            </a:r>
          </a:p>
          <a:p>
            <a:pPr algn="l">
              <a:spcBef>
                <a:spcPts val="0"/>
              </a:spcBef>
              <a:spcAft>
                <a:spcPts val="300"/>
              </a:spcAft>
              <a:defRPr sz="3200" b="1" i="0">
                <a:solidFill>
                  <a:srgbClr val="FCFFFF"/>
                </a:solidFill>
                <a:latin typeface="Montserrat"/>
              </a:defRPr>
            </a:pPr>
            <a:r>
              <a:t>TỐI ƯU VẬN CHUYỂN</a:t>
            </a:r>
          </a:p>
          <a:p>
            <a:pPr algn="l">
              <a:spcBef>
                <a:spcPts val="0"/>
              </a:spcBef>
              <a:spcAft>
                <a:spcPts val="300"/>
              </a:spcAft>
              <a:defRPr sz="3200" b="1" i="0">
                <a:solidFill>
                  <a:srgbClr val="11C96B"/>
                </a:solidFill>
                <a:latin typeface="Montserrat"/>
              </a:defRPr>
            </a:pPr>
            <a:r>
              <a:t>TIẾT KIỆM CHI PHÍ</a:t>
            </a:r>
          </a:p>
          <a:p>
            <a:pPr algn="l">
              <a:spcBef>
                <a:spcPts val="0"/>
              </a:spcBef>
              <a:spcAft>
                <a:spcPts val="1200"/>
              </a:spcAft>
              <a:defRPr sz="3200" b="1" i="0">
                <a:solidFill>
                  <a:srgbClr val="2BBBED"/>
                </a:solidFill>
                <a:latin typeface="Montserrat"/>
              </a:defRPr>
            </a:pPr>
            <a:r>
              <a:t>KIẾN TẠO TƯƠNG LAI XANH</a:t>
            </a:r>
          </a:p>
          <a:p>
            <a:pPr algn="l">
              <a:spcBef>
                <a:spcPts val="0"/>
              </a:spcBef>
              <a:spcAft>
                <a:spcPts val="1400"/>
              </a:spcAft>
              <a:defRPr sz="1500" b="0" i="0">
                <a:solidFill>
                  <a:srgbClr val="CBD5E1"/>
                </a:solidFill>
                <a:latin typeface="Montserrat"/>
              </a:defRPr>
            </a:pPr>
            <a:r>
              <a:t>Phần mềm tối ưu tuyến đường vận tải đô thị &amp; đo lường phát thải CO₂ theo chuẩn quốc tế</a:t>
            </a:r>
          </a:p>
        </p:txBody>
      </p:sp>
      <p:sp>
        <p:nvSpPr>
          <p:cNvPr id="13" name="Rounded Rectangle 12"/>
          <p:cNvSpPr/>
          <p:nvPr/>
        </p:nvSpPr>
        <p:spPr>
          <a:xfrm>
            <a:off x="5715000" y="5461000"/>
            <a:ext cx="4064000" cy="482600"/>
          </a:xfrm>
          <a:prstGeom prst="roundRect">
            <a:avLst>
              <a:gd name="adj" fmla="val 50000"/>
            </a:avLst>
          </a:prstGeom>
          <a:solidFill>
            <a:srgbClr val="0A261A"/>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300" b="1">
                <a:solidFill>
                  <a:srgbClr val="FCFFFF"/>
                </a:solidFill>
                <a:latin typeface="Montserrat"/>
              </a:defRPr>
            </a:pPr>
            <a:r>
              <a:t>● LIVE DEMO: greenlogix.w9.nu</a:t>
            </a:r>
          </a:p>
        </p:txBody>
      </p:sp>
      <p:sp>
        <p:nvSpPr>
          <p:cNvPr id="14" name="Rounded Rectangle 13"/>
          <p:cNvSpPr/>
          <p:nvPr/>
        </p:nvSpPr>
        <p:spPr>
          <a:xfrm>
            <a:off x="5715000" y="6159500"/>
            <a:ext cx="1905000" cy="3556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CFFFF"/>
                </a:solidFill>
                <a:latin typeface="Montserrat"/>
              </a:defRPr>
            </a:pPr>
            <a:r>
              <a:t>Nguyễn Thu Thuỷ</a:t>
            </a:r>
          </a:p>
        </p:txBody>
      </p:sp>
      <p:sp>
        <p:nvSpPr>
          <p:cNvPr id="15" name="Rounded Rectangle 14"/>
          <p:cNvSpPr/>
          <p:nvPr/>
        </p:nvSpPr>
        <p:spPr>
          <a:xfrm>
            <a:off x="7772400" y="6159500"/>
            <a:ext cx="1905000" cy="3556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CFFFF"/>
                </a:solidFill>
                <a:latin typeface="Montserrat"/>
              </a:defRPr>
            </a:pPr>
            <a:r>
              <a:t>Phạm Quốc Thanh</a:t>
            </a:r>
          </a:p>
        </p:txBody>
      </p:sp>
      <p:sp>
        <p:nvSpPr>
          <p:cNvPr id="16" name="Rounded Rectangle 15"/>
          <p:cNvSpPr/>
          <p:nvPr/>
        </p:nvSpPr>
        <p:spPr>
          <a:xfrm>
            <a:off x="9829800" y="6159500"/>
            <a:ext cx="1905000" cy="3556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CFFFF"/>
                </a:solidFill>
                <a:latin typeface="Montserrat"/>
              </a:defRPr>
            </a:pPr>
            <a:r>
              <a:t>Nguyễn N. K. Phương</a:t>
            </a:r>
          </a:p>
        </p:txBody>
      </p:sp>
      <p:sp>
        <p:nvSpPr>
          <p:cNvPr id="17" name="Rounded Rectangle 16"/>
          <p:cNvSpPr/>
          <p:nvPr/>
        </p:nvSpPr>
        <p:spPr>
          <a:xfrm>
            <a:off x="11887200" y="6159500"/>
            <a:ext cx="1905000" cy="3556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CFFFF"/>
                </a:solidFill>
                <a:latin typeface="Montserrat"/>
              </a:defRPr>
            </a:pPr>
            <a:r>
              <a:t>Nguyễn Hồng Phúc</a:t>
            </a:r>
          </a:p>
        </p:txBody>
      </p:sp>
      <p:sp>
        <p:nvSpPr>
          <p:cNvPr id="18" name="Rounded Rectangle 17"/>
          <p:cNvSpPr/>
          <p:nvPr/>
        </p:nvSpPr>
        <p:spPr>
          <a:xfrm>
            <a:off x="13944600" y="6159500"/>
            <a:ext cx="1905000" cy="3556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FCFFFF"/>
                </a:solidFill>
                <a:latin typeface="Montserrat"/>
              </a:defRPr>
            </a:pPr>
            <a:r>
              <a:t>Lê Thị Hoàng Ngân</a:t>
            </a:r>
          </a:p>
        </p:txBody>
      </p:sp>
      <p:sp>
        <p:nvSpPr>
          <p:cNvPr id="19" name="Rounded Rectangle 18"/>
          <p:cNvSpPr/>
          <p:nvPr/>
        </p:nvSpPr>
        <p:spPr>
          <a:xfrm>
            <a:off x="5207000" y="7302500"/>
            <a:ext cx="3810000" cy="2286000"/>
          </a:xfrm>
          <a:prstGeom prst="roundRect">
            <a:avLst>
              <a:gd name="adj" fmla="val 4000"/>
            </a:avLst>
          </a:prstGeom>
          <a:solidFill>
            <a:srgbClr val="0E1422"/>
          </a:solidFill>
          <a:ln w="1778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35600" y="7480300"/>
            <a:ext cx="3352800" cy="1930400"/>
          </a:xfrm>
          <a:prstGeom prst="rect">
            <a:avLst/>
          </a:prstGeom>
          <a:noFill/>
        </p:spPr>
        <p:txBody>
          <a:bodyPr wrap="square" lIns="0" tIns="0" rIns="0" bIns="0">
            <a:spAutoFit/>
          </a:bodyPr>
          <a:lstStyle/>
          <a:p>
            <a:pPr algn="l">
              <a:spcBef>
                <a:spcPts val="0"/>
              </a:spcBef>
              <a:spcAft>
                <a:spcPts val="400"/>
              </a:spcAft>
              <a:defRPr sz="1100" b="1" i="0">
                <a:solidFill>
                  <a:srgbClr val="2BBBED"/>
                </a:solidFill>
                <a:latin typeface="Montserrat"/>
              </a:defRPr>
            </a:pPr>
            <a:r>
              <a:t>» ĐỘI THI ĐA NGÀNH »</a:t>
            </a:r>
          </a:p>
          <a:p>
            <a:pPr algn="l">
              <a:spcBef>
                <a:spcPts val="0"/>
              </a:spcBef>
              <a:spcAft>
                <a:spcPts val="600"/>
              </a:spcAft>
              <a:defRPr sz="1400" b="1" i="0">
                <a:solidFill>
                  <a:srgbClr val="FCFFFF"/>
                </a:solidFill>
                <a:latin typeface="Montserrat"/>
              </a:defRPr>
            </a:pPr>
            <a:r>
              <a:t>5 thành viên liên ngành</a:t>
            </a:r>
          </a:p>
          <a:p>
            <a:pPr algn="l">
              <a:spcBef>
                <a:spcPts val="0"/>
              </a:spcBef>
              <a:spcAft>
                <a:spcPts val="400"/>
              </a:spcAft>
            </a:pPr>
            <a:r>
              <a:rPr sz="1150" b="0" i="0">
                <a:solidFill>
                  <a:srgbClr val="CBD5E1"/>
                </a:solidFill>
                <a:latin typeface="Montserrat"/>
              </a:rPr>
              <a:t>UEH · IU-VNU · FTU2 · FPT · DUT
</a:t>
            </a:r>
            <a:r>
              <a:rPr sz="1050" b="1" i="0">
                <a:solidFill>
                  <a:srgbClr val="F3740B"/>
                </a:solidFill>
                <a:latin typeface="Montserrat"/>
              </a:rPr>
              <a:t>★ Đang bổ sung thành viên ĐH Kinh tế Quốc dân (NEU) trước 12/09 theo đúng điều lệ.</a:t>
            </a:r>
          </a:p>
        </p:txBody>
      </p:sp>
      <p:sp>
        <p:nvSpPr>
          <p:cNvPr id="21" name="Rounded Rectangle 20"/>
          <p:cNvSpPr/>
          <p:nvPr/>
        </p:nvSpPr>
        <p:spPr>
          <a:xfrm>
            <a:off x="9334500" y="7302500"/>
            <a:ext cx="3810000" cy="2286000"/>
          </a:xfrm>
          <a:prstGeom prst="roundRect">
            <a:avLst>
              <a:gd name="adj" fmla="val 4000"/>
            </a:avLst>
          </a:prstGeom>
          <a:solidFill>
            <a:srgbClr val="0E1422"/>
          </a:solidFill>
          <a:ln w="1778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63100" y="7480300"/>
            <a:ext cx="3352800" cy="1930400"/>
          </a:xfrm>
          <a:prstGeom prst="rect">
            <a:avLst/>
          </a:prstGeom>
          <a:noFill/>
        </p:spPr>
        <p:txBody>
          <a:bodyPr wrap="square" lIns="0" tIns="0" rIns="0" bIns="0">
            <a:spAutoFit/>
          </a:bodyPr>
          <a:lstStyle/>
          <a:p>
            <a:pPr algn="l">
              <a:spcBef>
                <a:spcPts val="0"/>
              </a:spcBef>
              <a:spcAft>
                <a:spcPts val="400"/>
              </a:spcAft>
              <a:defRPr sz="1100" b="1" i="0">
                <a:solidFill>
                  <a:srgbClr val="11C96B"/>
                </a:solidFill>
                <a:latin typeface="Montserrat"/>
              </a:defRPr>
            </a:pPr>
            <a:r>
              <a:t>» THỰC NGHIỆM ĐÃ XÁC THỰC »</a:t>
            </a:r>
          </a:p>
          <a:p>
            <a:pPr algn="l">
              <a:spcBef>
                <a:spcPts val="0"/>
              </a:spcBef>
              <a:spcAft>
                <a:spcPts val="600"/>
              </a:spcAft>
              <a:defRPr sz="1400" b="1" i="0">
                <a:solidFill>
                  <a:srgbClr val="FCFFFF"/>
                </a:solidFill>
                <a:latin typeface="Montserrat"/>
              </a:defRPr>
            </a:pPr>
            <a:r>
              <a:t>80 đơn hàng trên 10 xe</a:t>
            </a:r>
          </a:p>
          <a:p>
            <a:pPr algn="l">
              <a:spcBef>
                <a:spcPts val="0"/>
              </a:spcBef>
              <a:spcAft>
                <a:spcPts val="400"/>
              </a:spcAft>
            </a:pPr>
            <a:r>
              <a:rPr sz="1150" b="0" i="0">
                <a:solidFill>
                  <a:srgbClr val="CBD5E1"/>
                </a:solidFill>
                <a:latin typeface="Montserrat"/>
              </a:rPr>
              <a:t>Cắt giảm </a:t>
            </a:r>
            <a:r>
              <a:rPr sz="1150" b="1" i="0">
                <a:solidFill>
                  <a:srgbClr val="11C96B"/>
                </a:solidFill>
                <a:latin typeface="Montserrat"/>
              </a:rPr>
              <a:t>142,8 kg CO₂</a:t>
            </a:r>
            <a:r>
              <a:rPr sz="1150" b="0" i="0">
                <a:solidFill>
                  <a:srgbClr val="CBD5E1"/>
                </a:solidFill>
                <a:latin typeface="Montserrat"/>
              </a:rPr>
              <a:t>, rút ngắn </a:t>
            </a:r>
            <a:r>
              <a:rPr sz="1150" b="1" i="0">
                <a:solidFill>
                  <a:srgbClr val="2BBBED"/>
                </a:solidFill>
                <a:latin typeface="Montserrat"/>
              </a:rPr>
              <a:t>80–90% thời gian</a:t>
            </a:r>
            <a:r>
              <a:rPr sz="1150" b="0" i="0">
                <a:solidFill>
                  <a:srgbClr val="CBD5E1"/>
                </a:solidFill>
                <a:latin typeface="Montserrat"/>
              </a:rPr>
              <a:t> điều phối và triệt tiêu </a:t>
            </a:r>
            <a:r>
              <a:rPr sz="1150" b="1" i="0">
                <a:solidFill>
                  <a:srgbClr val="11C96B"/>
                </a:solidFill>
                <a:latin typeface="Montserrat"/>
              </a:rPr>
              <a:t>30% xe chạy rỗng</a:t>
            </a:r>
            <a:r>
              <a:rPr sz="1150" b="0" i="0">
                <a:solidFill>
                  <a:srgbClr val="CBD5E1"/>
                </a:solidFill>
                <a:latin typeface="Montserrat"/>
              </a:rPr>
              <a:t> chiều về.</a:t>
            </a:r>
          </a:p>
        </p:txBody>
      </p:sp>
      <p:sp>
        <p:nvSpPr>
          <p:cNvPr id="23" name="Rounded Rectangle 22"/>
          <p:cNvSpPr/>
          <p:nvPr/>
        </p:nvSpPr>
        <p:spPr>
          <a:xfrm>
            <a:off x="13462000" y="7302500"/>
            <a:ext cx="3810000" cy="2286000"/>
          </a:xfrm>
          <a:prstGeom prst="roundRect">
            <a:avLst>
              <a:gd name="adj" fmla="val 4000"/>
            </a:avLst>
          </a:prstGeom>
          <a:solidFill>
            <a:srgbClr val="0E1422"/>
          </a:solidFill>
          <a:ln w="1778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690600" y="7480300"/>
            <a:ext cx="3352800" cy="1930400"/>
          </a:xfrm>
          <a:prstGeom prst="rect">
            <a:avLst/>
          </a:prstGeom>
          <a:noFill/>
        </p:spPr>
        <p:txBody>
          <a:bodyPr wrap="square" lIns="0" tIns="0" rIns="0" bIns="0">
            <a:spAutoFit/>
          </a:bodyPr>
          <a:lstStyle/>
          <a:p>
            <a:pPr algn="l">
              <a:spcBef>
                <a:spcPts val="0"/>
              </a:spcBef>
              <a:spcAft>
                <a:spcPts val="400"/>
              </a:spcAft>
              <a:defRPr sz="1100" b="1" i="0">
                <a:solidFill>
                  <a:srgbClr val="F3740B"/>
                </a:solidFill>
                <a:latin typeface="Montserrat"/>
              </a:defRPr>
            </a:pPr>
            <a:r>
              <a:t>» CHUẨN HÓA QUỐC TẾ »</a:t>
            </a:r>
          </a:p>
          <a:p>
            <a:pPr algn="l">
              <a:spcBef>
                <a:spcPts val="0"/>
              </a:spcBef>
              <a:spcAft>
                <a:spcPts val="600"/>
              </a:spcAft>
              <a:defRPr sz="1400" b="1" i="0">
                <a:solidFill>
                  <a:srgbClr val="FCFFFF"/>
                </a:solidFill>
                <a:latin typeface="Montserrat"/>
              </a:defRPr>
            </a:pPr>
            <a:r>
              <a:t>GLEC Scope 3 &amp; ISO 14064</a:t>
            </a:r>
          </a:p>
          <a:p>
            <a:pPr algn="l">
              <a:spcBef>
                <a:spcPts val="0"/>
              </a:spcBef>
              <a:spcAft>
                <a:spcPts val="400"/>
              </a:spcAft>
            </a:pPr>
            <a:r>
              <a:rPr sz="1150" b="0" i="0">
                <a:solidFill>
                  <a:srgbClr val="CBD5E1"/>
                </a:solidFill>
                <a:latin typeface="Montserrat"/>
              </a:rPr>
              <a:t>Tự động hóa kiểm kê carbon sẵn sàng phục vụ </a:t>
            </a:r>
            <a:r>
              <a:rPr sz="1150" b="1" i="0">
                <a:solidFill>
                  <a:srgbClr val="F3740B"/>
                </a:solidFill>
                <a:latin typeface="Montserrat"/>
              </a:rPr>
              <a:t>Nghị định 06/2022/NĐ-CP</a:t>
            </a:r>
            <a:r>
              <a:rPr sz="1150" b="0" i="0">
                <a:solidFill>
                  <a:srgbClr val="CBD5E1"/>
                </a:solidFill>
                <a:latin typeface="Montserrat"/>
              </a:rPr>
              <a:t> và đáp ứng tiêu chuẩn báo cáo bền vững </a:t>
            </a:r>
            <a:r>
              <a:rPr sz="1150" b="1" i="0">
                <a:solidFill>
                  <a:srgbClr val="FFDE59"/>
                </a:solidFill>
                <a:latin typeface="Montserrat"/>
              </a:rPr>
              <a:t>ESG / CBAM Châu Âu</a:t>
            </a:r>
            <a:r>
              <a:rPr sz="1150" b="0" i="0">
                <a:solidFill>
                  <a:srgbClr val="CBD5E1"/>
                </a:solidFill>
                <a:latin typeface="Montserrat"/>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amber.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cyan.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emerald.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016000" y="254000"/>
            <a:ext cx="6756400" cy="3302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2BBBED"/>
                </a:solidFill>
                <a:latin typeface="Montserrat"/>
              </a:defRPr>
            </a:pPr>
            <a:r>
              <a:t>» VẤN ĐỀ THỰC TIỄN · NGHỊCH LÝ KÉP CỦA LOGISTICS ĐÔ THỊ VIỆT NAM »</a:t>
            </a:r>
          </a:p>
        </p:txBody>
      </p:sp>
      <p:sp>
        <p:nvSpPr>
          <p:cNvPr id="7" name="Rounded Rectangle 6"/>
          <p:cNvSpPr/>
          <p:nvPr/>
        </p:nvSpPr>
        <p:spPr>
          <a:xfrm>
            <a:off x="13462000" y="254000"/>
            <a:ext cx="2667000" cy="330200"/>
          </a:xfrm>
          <a:prstGeom prst="roundRect">
            <a:avLst>
              <a:gd name="adj" fmla="val 5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94A3B8"/>
                </a:solidFill>
                <a:latin typeface="Montserrat"/>
              </a:defRPr>
            </a:pPr>
            <a:r>
              <a:t>🏆 OLYMPIC KHỞI NGHIỆP 2026</a:t>
            </a:r>
          </a:p>
        </p:txBody>
      </p:sp>
      <p:pic>
        <p:nvPicPr>
          <p:cNvPr id="8" name="Picture 7" descr="logo_neu_transparent.png"/>
          <p:cNvPicPr>
            <a:picLocks noChangeAspect="1"/>
          </p:cNvPicPr>
          <p:nvPr/>
        </p:nvPicPr>
        <p:blipFill>
          <a:blip r:embed="rId5"/>
          <a:stretch>
            <a:fillRect/>
          </a:stretch>
        </p:blipFill>
        <p:spPr>
          <a:xfrm>
            <a:off x="16281400" y="203200"/>
            <a:ext cx="406400" cy="406400"/>
          </a:xfrm>
          <a:prstGeom prst="rect">
            <a:avLst/>
          </a:prstGeom>
        </p:spPr>
      </p:pic>
      <p:pic>
        <p:nvPicPr>
          <p:cNvPr id="9" name="Picture 8" descr="logo_greenlogix_badge.png"/>
          <p:cNvPicPr>
            <a:picLocks noChangeAspect="1"/>
          </p:cNvPicPr>
          <p:nvPr/>
        </p:nvPicPr>
        <p:blipFill>
          <a:blip r:embed="rId6"/>
          <a:stretch>
            <a:fillRect/>
          </a:stretch>
        </p:blipFill>
        <p:spPr>
          <a:xfrm>
            <a:off x="16814800" y="203200"/>
            <a:ext cx="406400" cy="406400"/>
          </a:xfrm>
          <a:prstGeom prst="rect">
            <a:avLst/>
          </a:prstGeom>
        </p:spPr>
      </p:pic>
      <p:sp>
        <p:nvSpPr>
          <p:cNvPr id="10" name="TextBox 9"/>
          <p:cNvSpPr txBox="1"/>
          <p:nvPr/>
        </p:nvSpPr>
        <p:spPr>
          <a:xfrm>
            <a:off x="1016000" y="660400"/>
            <a:ext cx="16256000" cy="482600"/>
          </a:xfrm>
          <a:prstGeom prst="rect">
            <a:avLst/>
          </a:prstGeom>
          <a:noFill/>
        </p:spPr>
        <p:txBody>
          <a:bodyPr wrap="square" lIns="0" tIns="0" rIns="0" bIns="0">
            <a:spAutoFit/>
          </a:bodyPr>
          <a:lstStyle/>
          <a:p>
            <a:pPr algn="l">
              <a:spcBef>
                <a:spcPts val="0"/>
              </a:spcBef>
              <a:spcAft>
                <a:spcPts val="0"/>
              </a:spcAft>
              <a:defRPr sz="2600" b="1" i="0">
                <a:solidFill>
                  <a:srgbClr val="F3740B"/>
                </a:solidFill>
                <a:latin typeface="Montserrat"/>
              </a:defRPr>
            </a:pPr>
            <a:r>
              <a:t>MỖI NGÀY, HÀNG NGHÌN CHUYẾN XE… CHẠY RỖNG</a:t>
            </a:r>
          </a:p>
        </p:txBody>
      </p:sp>
      <p:sp>
        <p:nvSpPr>
          <p:cNvPr id="11" name="Rectangle 10"/>
          <p:cNvSpPr/>
          <p:nvPr/>
        </p:nvSpPr>
        <p:spPr>
          <a:xfrm>
            <a:off x="1016000" y="1193800"/>
            <a:ext cx="16256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1524000"/>
            <a:ext cx="5080000" cy="5397500"/>
          </a:xfrm>
          <a:prstGeom prst="roundRect">
            <a:avLst>
              <a:gd name="adj" fmla="val 4000"/>
            </a:avLst>
          </a:prstGeom>
          <a:solidFill>
            <a:srgbClr val="131B2A"/>
          </a:solidFill>
          <a:ln w="2032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0800" y="1828800"/>
            <a:ext cx="4470400" cy="4787900"/>
          </a:xfrm>
          <a:prstGeom prst="rect">
            <a:avLst/>
          </a:prstGeom>
          <a:noFill/>
        </p:spPr>
        <p:txBody>
          <a:bodyPr wrap="square" lIns="0" tIns="0" rIns="0" bIns="0">
            <a:spAutoFit/>
          </a:bodyPr>
          <a:lstStyle/>
          <a:p>
            <a:pPr algn="l">
              <a:spcBef>
                <a:spcPts val="0"/>
              </a:spcBef>
              <a:spcAft>
                <a:spcPts val="1000"/>
              </a:spcAft>
              <a:defRPr sz="1150" b="1" i="0">
                <a:solidFill>
                  <a:srgbClr val="EF4444"/>
                </a:solidFill>
                <a:latin typeface="Montserrat"/>
              </a:defRPr>
            </a:pPr>
            <a:r>
              <a:t>» CHI PHÍ LOGISTICS VIỆT NAM »</a:t>
            </a:r>
          </a:p>
          <a:p>
            <a:pPr algn="l">
              <a:spcBef>
                <a:spcPts val="0"/>
              </a:spcBef>
              <a:spcAft>
                <a:spcPts val="600"/>
              </a:spcAft>
              <a:defRPr sz="6800" b="1" i="0">
                <a:solidFill>
                  <a:srgbClr val="EF4444"/>
                </a:solidFill>
                <a:latin typeface="Montserrat"/>
              </a:defRPr>
            </a:pPr>
            <a:r>
              <a:t>17%</a:t>
            </a:r>
          </a:p>
          <a:p>
            <a:pPr algn="l">
              <a:spcBef>
                <a:spcPts val="0"/>
              </a:spcBef>
              <a:spcAft>
                <a:spcPts val="1400"/>
              </a:spcAft>
              <a:defRPr sz="1700" b="1" i="0">
                <a:solidFill>
                  <a:srgbClr val="FCFFFF"/>
                </a:solidFill>
                <a:latin typeface="Montserrat"/>
              </a:defRPr>
            </a:pPr>
            <a:r>
              <a:t>GDP dành cho chi phí vận tải &amp; logistics</a:t>
            </a:r>
          </a:p>
          <a:p>
            <a:pPr algn="l">
              <a:spcBef>
                <a:spcPts val="0"/>
              </a:spcBef>
              <a:spcAft>
                <a:spcPts val="400"/>
              </a:spcAft>
            </a:pPr>
            <a:r>
              <a:rPr sz="1300" b="1" i="0">
                <a:solidFill>
                  <a:srgbClr val="EF4444"/>
                </a:solidFill>
                <a:latin typeface="Montserrat"/>
              </a:rPr>
              <a:t>• </a:t>
            </a:r>
            <a:r>
              <a:rPr sz="1350" b="1" i="0">
                <a:solidFill>
                  <a:srgbClr val="FCFFFF"/>
                </a:solidFill>
                <a:latin typeface="Montserrat"/>
              </a:rPr>
              <a:t>Gấp rưỡi mức bình quân thế giới </a:t>
            </a:r>
            <a:r>
              <a:rPr sz="1350" b="0" i="0">
                <a:solidFill>
                  <a:srgbClr val="CBD5E1"/>
                </a:solidFill>
                <a:latin typeface="Montserrat"/>
              </a:rPr>
              <a:t>(thế giới chỉ khoảng 10–12% GDP).
</a:t>
            </a:r>
            <a:r>
              <a:rPr sz="1350" b="0" i="0">
                <a:solidFill>
                  <a:srgbClr val="CBD5E1"/>
                </a:solidFill>
                <a:latin typeface="Montserrat"/>
              </a:rPr>
              <a:t>• Làm suy giảm mạnh </a:t>
            </a:r>
            <a:r>
              <a:rPr sz="1350" b="1" i="0">
                <a:solidFill>
                  <a:srgbClr val="F3740B"/>
                </a:solidFill>
                <a:latin typeface="Montserrat"/>
              </a:rPr>
              <a:t>năng lực cạnh tranh quốc gia</a:t>
            </a:r>
            <a:r>
              <a:rPr sz="1350" b="0" i="0">
                <a:solidFill>
                  <a:srgbClr val="CBD5E1"/>
                </a:solidFill>
                <a:latin typeface="Montserrat"/>
              </a:rPr>
              <a:t> của hàng hoá xuất khẩu.
</a:t>
            </a:r>
            <a:r>
              <a:rPr sz="1350" b="0" i="0">
                <a:solidFill>
                  <a:srgbClr val="CBD5E1"/>
                </a:solidFill>
                <a:latin typeface="Montserrat"/>
              </a:rPr>
              <a:t>• Gánh nặng đè nặng lên </a:t>
            </a:r>
            <a:r>
              <a:rPr sz="1350" b="1" i="0">
                <a:solidFill>
                  <a:srgbClr val="2BBBED"/>
                </a:solidFill>
                <a:latin typeface="Montserrat"/>
              </a:rPr>
              <a:t>34.000+ SME vận tải</a:t>
            </a:r>
            <a:r>
              <a:rPr sz="1350" b="0" i="0">
                <a:solidFill>
                  <a:srgbClr val="CBD5E1"/>
                </a:solidFill>
                <a:latin typeface="Montserrat"/>
              </a:rPr>
              <a:t> thiếu công cụ số hóa điều phối.</a:t>
            </a:r>
          </a:p>
        </p:txBody>
      </p:sp>
      <p:sp>
        <p:nvSpPr>
          <p:cNvPr id="14" name="Rounded Rectangle 13"/>
          <p:cNvSpPr/>
          <p:nvPr/>
        </p:nvSpPr>
        <p:spPr>
          <a:xfrm>
            <a:off x="6604000" y="1524000"/>
            <a:ext cx="5080000" cy="5397500"/>
          </a:xfrm>
          <a:prstGeom prst="roundRect">
            <a:avLst>
              <a:gd name="adj" fmla="val 4000"/>
            </a:avLst>
          </a:prstGeom>
          <a:solidFill>
            <a:srgbClr val="131B2A"/>
          </a:solidFill>
          <a:ln w="2032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08800" y="1828800"/>
            <a:ext cx="4470400" cy="4787900"/>
          </a:xfrm>
          <a:prstGeom prst="rect">
            <a:avLst/>
          </a:prstGeom>
          <a:noFill/>
        </p:spPr>
        <p:txBody>
          <a:bodyPr wrap="square" lIns="0" tIns="0" rIns="0" bIns="0">
            <a:spAutoFit/>
          </a:bodyPr>
          <a:lstStyle/>
          <a:p>
            <a:pPr algn="l">
              <a:spcBef>
                <a:spcPts val="0"/>
              </a:spcBef>
              <a:spcAft>
                <a:spcPts val="1000"/>
              </a:spcAft>
              <a:defRPr sz="1150" b="1" i="0">
                <a:solidFill>
                  <a:srgbClr val="F3740B"/>
                </a:solidFill>
                <a:latin typeface="Montserrat"/>
              </a:defRPr>
            </a:pPr>
            <a:r>
              <a:t>» PHÁT THẢI GIAO THÔNG ĐÔ THỊ »</a:t>
            </a:r>
          </a:p>
          <a:p>
            <a:pPr algn="l">
              <a:spcBef>
                <a:spcPts val="0"/>
              </a:spcBef>
              <a:spcAft>
                <a:spcPts val="600"/>
              </a:spcAft>
              <a:defRPr sz="6800" b="1" i="0">
                <a:solidFill>
                  <a:srgbClr val="F3740B"/>
                </a:solidFill>
                <a:latin typeface="Montserrat"/>
              </a:defRPr>
            </a:pPr>
            <a:r>
              <a:t>80%</a:t>
            </a:r>
          </a:p>
          <a:p>
            <a:pPr algn="l">
              <a:spcBef>
                <a:spcPts val="0"/>
              </a:spcBef>
              <a:spcAft>
                <a:spcPts val="1400"/>
              </a:spcAft>
              <a:defRPr sz="1700" b="1" i="0">
                <a:solidFill>
                  <a:srgbClr val="FCFFFF"/>
                </a:solidFill>
                <a:latin typeface="Montserrat"/>
              </a:defRPr>
            </a:pPr>
            <a:r>
              <a:t>phát thải CO₂ giao thông đến từ đường bộ</a:t>
            </a:r>
          </a:p>
          <a:p>
            <a:pPr algn="l">
              <a:spcBef>
                <a:spcPts val="0"/>
              </a:spcBef>
              <a:spcAft>
                <a:spcPts val="400"/>
              </a:spcAft>
            </a:pPr>
            <a:r>
              <a:rPr sz="1350" b="0" i="0">
                <a:solidFill>
                  <a:srgbClr val="CBD5E1"/>
                </a:solidFill>
                <a:latin typeface="Montserrat"/>
              </a:rPr>
              <a:t>• Là tác nhân hàng đầu gây </a:t>
            </a:r>
            <a:r>
              <a:rPr sz="1350" b="1" i="0">
                <a:solidFill>
                  <a:srgbClr val="FCFFFF"/>
                </a:solidFill>
                <a:latin typeface="Montserrat"/>
              </a:rPr>
              <a:t>ô nhiễm không khí &amp; bụi mịn PM2.5</a:t>
            </a:r>
            <a:r>
              <a:rPr sz="1350" b="0" i="0">
                <a:solidFill>
                  <a:srgbClr val="CBD5E1"/>
                </a:solidFill>
                <a:latin typeface="Montserrat"/>
              </a:rPr>
              <a:t> tại các đô thị lớn.
</a:t>
            </a:r>
            <a:r>
              <a:rPr sz="1350" b="0" i="0">
                <a:solidFill>
                  <a:srgbClr val="CBD5E1"/>
                </a:solidFill>
                <a:latin typeface="Montserrat"/>
              </a:rPr>
              <a:t>• Sức ép pháp lý bắt buộc từ </a:t>
            </a:r>
            <a:r>
              <a:rPr sz="1350" b="1" i="0">
                <a:solidFill>
                  <a:srgbClr val="F3740B"/>
                </a:solidFill>
                <a:latin typeface="Montserrat"/>
              </a:rPr>
              <a:t>Nghị định 06/2022/NĐ-CP</a:t>
            </a:r>
            <a:r>
              <a:rPr sz="1350" b="0" i="0">
                <a:solidFill>
                  <a:srgbClr val="CBD5E1"/>
                </a:solidFill>
                <a:latin typeface="Montserrat"/>
              </a:rPr>
              <a:t> và cam kết COP26 Net Zero 2050.
</a:t>
            </a:r>
            <a:r>
              <a:rPr sz="1350" b="0" i="0">
                <a:solidFill>
                  <a:srgbClr val="CBD5E1"/>
                </a:solidFill>
                <a:latin typeface="Montserrat"/>
              </a:rPr>
              <a:t>• Doanh nghiệp </a:t>
            </a:r>
            <a:r>
              <a:rPr sz="1350" b="1" i="0">
                <a:solidFill>
                  <a:srgbClr val="EF4444"/>
                </a:solidFill>
                <a:latin typeface="Montserrat"/>
              </a:rPr>
              <a:t>mù mờ dữ liệu phát thải Scope 3</a:t>
            </a:r>
            <a:r>
              <a:rPr sz="1350" b="0" i="0">
                <a:solidFill>
                  <a:srgbClr val="CBD5E1"/>
                </a:solidFill>
                <a:latin typeface="Montserrat"/>
              </a:rPr>
              <a:t>, đối mặt rào cản thuế carbon CBAM.</a:t>
            </a:r>
          </a:p>
        </p:txBody>
      </p:sp>
      <p:sp>
        <p:nvSpPr>
          <p:cNvPr id="16" name="Rounded Rectangle 15"/>
          <p:cNvSpPr/>
          <p:nvPr/>
        </p:nvSpPr>
        <p:spPr>
          <a:xfrm>
            <a:off x="12192000" y="1524000"/>
            <a:ext cx="5080000" cy="5397500"/>
          </a:xfrm>
          <a:prstGeom prst="roundRect">
            <a:avLst>
              <a:gd name="adj" fmla="val 4000"/>
            </a:avLst>
          </a:prstGeom>
          <a:solidFill>
            <a:srgbClr val="131B2A"/>
          </a:solidFill>
          <a:ln w="2032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96800" y="1828800"/>
            <a:ext cx="4470400" cy="4787900"/>
          </a:xfrm>
          <a:prstGeom prst="rect">
            <a:avLst/>
          </a:prstGeom>
          <a:noFill/>
        </p:spPr>
        <p:txBody>
          <a:bodyPr wrap="square" lIns="0" tIns="0" rIns="0" bIns="0">
            <a:spAutoFit/>
          </a:bodyPr>
          <a:lstStyle/>
          <a:p>
            <a:pPr algn="l">
              <a:spcBef>
                <a:spcPts val="0"/>
              </a:spcBef>
              <a:spcAft>
                <a:spcPts val="1000"/>
              </a:spcAft>
              <a:defRPr sz="1150" b="1" i="0">
                <a:solidFill>
                  <a:srgbClr val="2BBBED"/>
                </a:solidFill>
                <a:latin typeface="Montserrat"/>
              </a:defRPr>
            </a:pPr>
            <a:r>
              <a:t>» LÃNG PHÍ HIỆU SUẤT ĐỘI XE »</a:t>
            </a:r>
          </a:p>
          <a:p>
            <a:pPr algn="l">
              <a:spcBef>
                <a:spcPts val="0"/>
              </a:spcBef>
              <a:spcAft>
                <a:spcPts val="600"/>
              </a:spcAft>
              <a:defRPr sz="6800" b="1" i="0">
                <a:solidFill>
                  <a:srgbClr val="2BBBED"/>
                </a:solidFill>
                <a:latin typeface="Montserrat"/>
              </a:defRPr>
            </a:pPr>
            <a:r>
              <a:t>30–35%</a:t>
            </a:r>
          </a:p>
          <a:p>
            <a:pPr algn="l">
              <a:spcBef>
                <a:spcPts val="0"/>
              </a:spcBef>
              <a:spcAft>
                <a:spcPts val="1400"/>
              </a:spcAft>
              <a:defRPr sz="1700" b="1" i="0">
                <a:solidFill>
                  <a:srgbClr val="FCFFFF"/>
                </a:solidFill>
                <a:latin typeface="Montserrat"/>
              </a:defRPr>
            </a:pPr>
            <a:r>
              <a:t>tỷ lệ xe tải chạy rỗng chiều về hiện nay</a:t>
            </a:r>
          </a:p>
          <a:p>
            <a:pPr algn="l">
              <a:spcBef>
                <a:spcPts val="0"/>
              </a:spcBef>
              <a:spcAft>
                <a:spcPts val="400"/>
              </a:spcAft>
            </a:pPr>
            <a:r>
              <a:rPr sz="1350" b="0" i="0">
                <a:solidFill>
                  <a:srgbClr val="CBD5E1"/>
                </a:solidFill>
                <a:latin typeface="Montserrat"/>
              </a:rPr>
              <a:t>• Cứ </a:t>
            </a:r>
            <a:r>
              <a:rPr sz="1350" b="1" i="0">
                <a:solidFill>
                  <a:srgbClr val="FCFFFF"/>
                </a:solidFill>
                <a:latin typeface="Montserrat"/>
              </a:rPr>
              <a:t>3 chuyến xe giao hàng thì 1 chuyến về không</a:t>
            </a:r>
            <a:r>
              <a:rPr sz="1350" b="0" i="0">
                <a:solidFill>
                  <a:srgbClr val="CBD5E1"/>
                </a:solidFill>
                <a:latin typeface="Montserrat"/>
              </a:rPr>
              <a:t> do thiếu công cụ ghép đơn ngược chiều.
</a:t>
            </a:r>
            <a:r>
              <a:rPr sz="1350" b="0" i="0">
                <a:solidFill>
                  <a:srgbClr val="CBD5E1"/>
                </a:solidFill>
                <a:latin typeface="Montserrat"/>
              </a:rPr>
              <a:t>• Lãng phí </a:t>
            </a:r>
            <a:r>
              <a:rPr sz="1350" b="1" i="0">
                <a:solidFill>
                  <a:srgbClr val="F3740B"/>
                </a:solidFill>
                <a:latin typeface="Montserrat"/>
              </a:rPr>
              <a:t>hàng nghìn tỷ đồng nhiên liệu</a:t>
            </a:r>
            <a:r>
              <a:rPr sz="1350" b="0" i="0">
                <a:solidFill>
                  <a:srgbClr val="CBD5E1"/>
                </a:solidFill>
                <a:latin typeface="Montserrat"/>
              </a:rPr>
              <a:t> và hao mòn phương tiện mỗi năm.
</a:t>
            </a:r>
            <a:r>
              <a:rPr sz="1350" b="0" i="0">
                <a:solidFill>
                  <a:srgbClr val="CBD5E1"/>
                </a:solidFill>
                <a:latin typeface="Montserrat"/>
              </a:rPr>
              <a:t>• Gia tăng </a:t>
            </a:r>
            <a:r>
              <a:rPr sz="1350" b="1" i="0">
                <a:solidFill>
                  <a:srgbClr val="EF4444"/>
                </a:solidFill>
                <a:latin typeface="Montserrat"/>
              </a:rPr>
              <a:t>ùn tắc giao thông giờ cao điểm</a:t>
            </a:r>
            <a:r>
              <a:rPr sz="1350" b="0" i="0">
                <a:solidFill>
                  <a:srgbClr val="CBD5E1"/>
                </a:solidFill>
                <a:latin typeface="Montserrat"/>
              </a:rPr>
              <a:t> khi xe di chuyển lòng vòng không mục đích.</a:t>
            </a:r>
          </a:p>
        </p:txBody>
      </p:sp>
      <p:sp>
        <p:nvSpPr>
          <p:cNvPr id="18" name="Rounded Rectangle 17"/>
          <p:cNvSpPr/>
          <p:nvPr/>
        </p:nvSpPr>
        <p:spPr>
          <a:xfrm>
            <a:off x="1016000" y="7175500"/>
            <a:ext cx="16256000" cy="1841500"/>
          </a:xfrm>
          <a:prstGeom prst="roundRect">
            <a:avLst>
              <a:gd name="adj" fmla="val 3500"/>
            </a:avLst>
          </a:prstGeom>
          <a:solidFill>
            <a:srgbClr val="241C06"/>
          </a:solidFill>
          <a:ln w="22860">
            <a:solidFill>
              <a:srgbClr val="FFDE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0800" y="7353300"/>
            <a:ext cx="15646400" cy="1485900"/>
          </a:xfrm>
          <a:prstGeom prst="rect">
            <a:avLst/>
          </a:prstGeom>
          <a:noFill/>
        </p:spPr>
        <p:txBody>
          <a:bodyPr wrap="square" lIns="0" tIns="0" rIns="0" bIns="0">
            <a:spAutoFit/>
          </a:bodyPr>
          <a:lstStyle/>
          <a:p>
            <a:pPr>
              <a:spcAft>
                <a:spcPts val="600"/>
              </a:spcAft>
              <a:defRPr sz="1400" b="1">
                <a:solidFill>
                  <a:srgbClr val="FFDE59"/>
                </a:solidFill>
                <a:latin typeface="Montserrat"/>
              </a:defRPr>
            </a:pPr>
            <a:r>
              <a:t>» KẾT LUẬN &amp; SỨ MỆNH »</a:t>
            </a:r>
          </a:p>
          <a:p>
            <a:pPr algn="l">
              <a:spcBef>
                <a:spcPts val="0"/>
              </a:spcBef>
              <a:spcAft>
                <a:spcPts val="200"/>
              </a:spcAft>
            </a:pPr>
            <a:r>
              <a:rPr sz="1500" b="0" i="0">
                <a:solidFill>
                  <a:srgbClr val="FCFFFF"/>
                </a:solidFill>
                <a:latin typeface="Montserrat"/>
              </a:rPr>
              <a:t>GreenLogix sinh ra để giải quyết triệt để bài toán này: </a:t>
            </a:r>
            <a:r>
              <a:rPr sz="1550" b="1" i="0">
                <a:solidFill>
                  <a:srgbClr val="11C96B"/>
                </a:solidFill>
                <a:latin typeface="Montserrat"/>
              </a:rPr>
              <a:t>Tự động sắp tuyến (Smart VRP)</a:t>
            </a:r>
            <a:r>
              <a:rPr sz="1500" b="0" i="0">
                <a:solidFill>
                  <a:srgbClr val="FCFFFF"/>
                </a:solidFill>
                <a:latin typeface="Montserrat"/>
              </a:rPr>
              <a:t> — </a:t>
            </a:r>
            <a:r>
              <a:rPr sz="1550" b="1" i="0">
                <a:solidFill>
                  <a:srgbClr val="2BBBED"/>
                </a:solidFill>
                <a:latin typeface="Montserrat"/>
              </a:rPr>
              <a:t>Ghép đơn chiều về thông minh</a:t>
            </a:r>
            <a:r>
              <a:rPr sz="1500" b="0" i="0">
                <a:solidFill>
                  <a:srgbClr val="FCFFFF"/>
                </a:solidFill>
                <a:latin typeface="Montserrat"/>
              </a:rPr>
              <a:t> — </a:t>
            </a:r>
            <a:r>
              <a:rPr sz="1550" b="1" i="0">
                <a:solidFill>
                  <a:srgbClr val="FFDE59"/>
                </a:solidFill>
                <a:latin typeface="Montserrat"/>
              </a:rPr>
              <a:t>Tự động đo lường &amp; xuất báo cáo CO₂ chuẩn quốc tế (GLEC / GHG Protocol Scope 3)</a:t>
            </a:r>
            <a:r>
              <a:rPr sz="1500" b="0" i="0">
                <a:solidFill>
                  <a:srgbClr val="FCFFFF"/>
                </a:solidFill>
                <a:latin typeface="Montserrat"/>
              </a:rPr>
              <a:t>, tất cả trên một nền tảng điện toán đám mây duy nhất.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cyan.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emerald.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amber.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016000" y="254000"/>
            <a:ext cx="4318000" cy="330200"/>
          </a:xfrm>
          <a:prstGeom prst="roundRect">
            <a:avLst>
              <a:gd name="adj" fmla="val 50000"/>
            </a:avLst>
          </a:prstGeom>
          <a:solidFill>
            <a:srgbClr val="0E1422"/>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11C96B"/>
                </a:solidFill>
                <a:latin typeface="Montserrat"/>
              </a:defRPr>
            </a:pPr>
            <a:r>
              <a:t>» ĐỘI THI DỰ THI · 5 THÀNH VIÊN ĐA NGÀNH »</a:t>
            </a:r>
          </a:p>
        </p:txBody>
      </p:sp>
      <p:sp>
        <p:nvSpPr>
          <p:cNvPr id="7" name="Rounded Rectangle 6"/>
          <p:cNvSpPr/>
          <p:nvPr/>
        </p:nvSpPr>
        <p:spPr>
          <a:xfrm>
            <a:off x="13462000" y="254000"/>
            <a:ext cx="2667000" cy="330200"/>
          </a:xfrm>
          <a:prstGeom prst="roundRect">
            <a:avLst>
              <a:gd name="adj" fmla="val 5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94A3B8"/>
                </a:solidFill>
                <a:latin typeface="Montserrat"/>
              </a:defRPr>
            </a:pPr>
            <a:r>
              <a:t>🏆 OLYMPIC KHỞI NGHIỆP 2026</a:t>
            </a:r>
          </a:p>
        </p:txBody>
      </p:sp>
      <p:pic>
        <p:nvPicPr>
          <p:cNvPr id="8" name="Picture 7" descr="logo_neu_transparent.png"/>
          <p:cNvPicPr>
            <a:picLocks noChangeAspect="1"/>
          </p:cNvPicPr>
          <p:nvPr/>
        </p:nvPicPr>
        <p:blipFill>
          <a:blip r:embed="rId5"/>
          <a:stretch>
            <a:fillRect/>
          </a:stretch>
        </p:blipFill>
        <p:spPr>
          <a:xfrm>
            <a:off x="16281400" y="203200"/>
            <a:ext cx="406400" cy="406400"/>
          </a:xfrm>
          <a:prstGeom prst="rect">
            <a:avLst/>
          </a:prstGeom>
        </p:spPr>
      </p:pic>
      <p:pic>
        <p:nvPicPr>
          <p:cNvPr id="9" name="Picture 8" descr="logo_greenlogix_badge.png"/>
          <p:cNvPicPr>
            <a:picLocks noChangeAspect="1"/>
          </p:cNvPicPr>
          <p:nvPr/>
        </p:nvPicPr>
        <p:blipFill>
          <a:blip r:embed="rId6"/>
          <a:stretch>
            <a:fillRect/>
          </a:stretch>
        </p:blipFill>
        <p:spPr>
          <a:xfrm>
            <a:off x="16814800" y="203200"/>
            <a:ext cx="406400" cy="406400"/>
          </a:xfrm>
          <a:prstGeom prst="rect">
            <a:avLst/>
          </a:prstGeom>
        </p:spPr>
      </p:pic>
      <p:sp>
        <p:nvSpPr>
          <p:cNvPr id="10" name="TextBox 9"/>
          <p:cNvSpPr txBox="1"/>
          <p:nvPr/>
        </p:nvSpPr>
        <p:spPr>
          <a:xfrm>
            <a:off x="1016000" y="660400"/>
            <a:ext cx="16256000" cy="482600"/>
          </a:xfrm>
          <a:prstGeom prst="rect">
            <a:avLst/>
          </a:prstGeom>
          <a:noFill/>
        </p:spPr>
        <p:txBody>
          <a:bodyPr wrap="square" lIns="0" tIns="0" rIns="0" bIns="0">
            <a:spAutoFit/>
          </a:bodyPr>
          <a:lstStyle/>
          <a:p>
            <a:pPr algn="l">
              <a:spcBef>
                <a:spcPts val="0"/>
              </a:spcBef>
              <a:spcAft>
                <a:spcPts val="0"/>
              </a:spcAft>
              <a:defRPr sz="2600" b="1" i="0">
                <a:solidFill>
                  <a:srgbClr val="2BBBED"/>
                </a:solidFill>
                <a:latin typeface="Montserrat"/>
              </a:defRPr>
            </a:pPr>
            <a:r>
              <a:t>ĐỘI NGŨ ECOMILES: SỨC MẠNH LIÊN NGÀNH</a:t>
            </a:r>
          </a:p>
        </p:txBody>
      </p:sp>
      <p:sp>
        <p:nvSpPr>
          <p:cNvPr id="11" name="Rectangle 10"/>
          <p:cNvSpPr/>
          <p:nvPr/>
        </p:nvSpPr>
        <p:spPr>
          <a:xfrm>
            <a:off x="1016000" y="1193800"/>
            <a:ext cx="16256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1524000"/>
            <a:ext cx="2997200" cy="5905500"/>
          </a:xfrm>
          <a:prstGeom prst="roundRect">
            <a:avLst>
              <a:gd name="adj" fmla="val 4000"/>
            </a:avLst>
          </a:prstGeom>
          <a:solidFill>
            <a:srgbClr val="131B2A"/>
          </a:solidFill>
          <a:ln w="1905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huy_avatar.png"/>
          <p:cNvPicPr>
            <a:picLocks noChangeAspect="1"/>
          </p:cNvPicPr>
          <p:nvPr/>
        </p:nvPicPr>
        <p:blipFill>
          <a:blip r:embed="rId8"/>
          <a:stretch>
            <a:fillRect/>
          </a:stretch>
        </p:blipFill>
        <p:spPr>
          <a:xfrm>
            <a:off x="1638300" y="1854200"/>
            <a:ext cx="1752600" cy="1752600"/>
          </a:xfrm>
          <a:prstGeom prst="rect">
            <a:avLst/>
          </a:prstGeom>
        </p:spPr>
      </p:pic>
      <p:sp>
        <p:nvSpPr>
          <p:cNvPr id="14" name="Rounded Rectangle 13"/>
          <p:cNvSpPr/>
          <p:nvPr/>
        </p:nvSpPr>
        <p:spPr>
          <a:xfrm>
            <a:off x="2984500" y="3251200"/>
            <a:ext cx="508000" cy="304800"/>
          </a:xfrm>
          <a:prstGeom prst="roundRect">
            <a:avLst>
              <a:gd name="adj" fmla="val 50000"/>
            </a:avLst>
          </a:prstGeom>
          <a:solidFill>
            <a:srgbClr val="0E1422"/>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11C96B"/>
                </a:solidFill>
                <a:latin typeface="Montserrat"/>
              </a:defRPr>
            </a:pPr>
            <a:r>
              <a:t>01</a:t>
            </a:r>
          </a:p>
        </p:txBody>
      </p:sp>
      <p:sp>
        <p:nvSpPr>
          <p:cNvPr id="15" name="TextBox 14"/>
          <p:cNvSpPr txBox="1"/>
          <p:nvPr/>
        </p:nvSpPr>
        <p:spPr>
          <a:xfrm>
            <a:off x="1168400" y="3873500"/>
            <a:ext cx="2692400" cy="2667000"/>
          </a:xfrm>
          <a:prstGeom prst="rect">
            <a:avLst/>
          </a:prstGeom>
          <a:noFill/>
        </p:spPr>
        <p:txBody>
          <a:bodyPr wrap="square" lIns="0" tIns="0" rIns="0" bIns="0">
            <a:spAutoFit/>
          </a:bodyPr>
          <a:lstStyle/>
          <a:p>
            <a:pPr algn="ctr">
              <a:spcBef>
                <a:spcPts val="0"/>
              </a:spcBef>
              <a:spcAft>
                <a:spcPts val="400"/>
              </a:spcAft>
              <a:defRPr sz="1700" b="1" i="0">
                <a:solidFill>
                  <a:srgbClr val="FCFFFF"/>
                </a:solidFill>
                <a:latin typeface="Montserrat"/>
              </a:defRPr>
            </a:pPr>
            <a:r>
              <a:t>Nguyễn Thu Thuỷ</a:t>
            </a:r>
          </a:p>
          <a:p>
            <a:pPr algn="ctr">
              <a:spcBef>
                <a:spcPts val="0"/>
              </a:spcBef>
              <a:spcAft>
                <a:spcPts val="800"/>
              </a:spcAft>
              <a:defRPr sz="1350" b="1" i="0">
                <a:solidFill>
                  <a:srgbClr val="11C96B"/>
                </a:solidFill>
                <a:latin typeface="Montserrat"/>
              </a:defRPr>
            </a:pPr>
            <a:r>
              <a:t>Kinh doanh Quốc tế</a:t>
            </a:r>
          </a:p>
          <a:p>
            <a:pPr algn="ctr">
              <a:spcBef>
                <a:spcPts val="0"/>
              </a:spcBef>
              <a:spcAft>
                <a:spcPts val="1400"/>
              </a:spcAft>
              <a:defRPr sz="1200" b="0" i="0">
                <a:solidFill>
                  <a:srgbClr val="CBD5E1"/>
                </a:solidFill>
                <a:latin typeface="Montserrat"/>
              </a:defRPr>
            </a:pPr>
            <a:r>
              <a:t>Quản trị KDQT &amp; Chiến lược</a:t>
            </a:r>
          </a:p>
        </p:txBody>
      </p:sp>
      <p:sp>
        <p:nvSpPr>
          <p:cNvPr id="16" name="Rounded Rectangle 15"/>
          <p:cNvSpPr/>
          <p:nvPr/>
        </p:nvSpPr>
        <p:spPr>
          <a:xfrm>
            <a:off x="1219200" y="6667500"/>
            <a:ext cx="2590800" cy="457200"/>
          </a:xfrm>
          <a:prstGeom prst="roundRect">
            <a:avLst>
              <a:gd name="adj" fmla="val 4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2BBBED"/>
                </a:solidFill>
                <a:latin typeface="Montserrat"/>
              </a:defRPr>
            </a:pPr>
            <a:r>
              <a:t>ĐH Kinh tế Quốc dân (NEU)</a:t>
            </a:r>
          </a:p>
        </p:txBody>
      </p:sp>
      <p:sp>
        <p:nvSpPr>
          <p:cNvPr id="17" name="Rounded Rectangle 16"/>
          <p:cNvSpPr/>
          <p:nvPr/>
        </p:nvSpPr>
        <p:spPr>
          <a:xfrm>
            <a:off x="4330700" y="1524000"/>
            <a:ext cx="2997200" cy="5905500"/>
          </a:xfrm>
          <a:prstGeom prst="roundRect">
            <a:avLst>
              <a:gd name="adj" fmla="val 4000"/>
            </a:avLst>
          </a:prstGeom>
          <a:solidFill>
            <a:srgbClr val="131B2A"/>
          </a:solidFill>
          <a:ln w="1905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hanh_avatar.png"/>
          <p:cNvPicPr>
            <a:picLocks noChangeAspect="1"/>
          </p:cNvPicPr>
          <p:nvPr/>
        </p:nvPicPr>
        <p:blipFill>
          <a:blip r:embed="rId9"/>
          <a:stretch>
            <a:fillRect/>
          </a:stretch>
        </p:blipFill>
        <p:spPr>
          <a:xfrm>
            <a:off x="4953000" y="1854200"/>
            <a:ext cx="1752600" cy="1752600"/>
          </a:xfrm>
          <a:prstGeom prst="rect">
            <a:avLst/>
          </a:prstGeom>
        </p:spPr>
      </p:pic>
      <p:sp>
        <p:nvSpPr>
          <p:cNvPr id="19" name="Rounded Rectangle 18"/>
          <p:cNvSpPr/>
          <p:nvPr/>
        </p:nvSpPr>
        <p:spPr>
          <a:xfrm>
            <a:off x="6299200" y="3251200"/>
            <a:ext cx="508000" cy="3048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2BBBED"/>
                </a:solidFill>
                <a:latin typeface="Montserrat"/>
              </a:defRPr>
            </a:pPr>
            <a:r>
              <a:t>02</a:t>
            </a:r>
          </a:p>
        </p:txBody>
      </p:sp>
      <p:sp>
        <p:nvSpPr>
          <p:cNvPr id="20" name="TextBox 19"/>
          <p:cNvSpPr txBox="1"/>
          <p:nvPr/>
        </p:nvSpPr>
        <p:spPr>
          <a:xfrm>
            <a:off x="4483100" y="3873500"/>
            <a:ext cx="2692400" cy="2667000"/>
          </a:xfrm>
          <a:prstGeom prst="rect">
            <a:avLst/>
          </a:prstGeom>
          <a:noFill/>
        </p:spPr>
        <p:txBody>
          <a:bodyPr wrap="square" lIns="0" tIns="0" rIns="0" bIns="0">
            <a:spAutoFit/>
          </a:bodyPr>
          <a:lstStyle/>
          <a:p>
            <a:pPr algn="ctr">
              <a:spcBef>
                <a:spcPts val="0"/>
              </a:spcBef>
              <a:spcAft>
                <a:spcPts val="400"/>
              </a:spcAft>
              <a:defRPr sz="1700" b="1" i="0">
                <a:solidFill>
                  <a:srgbClr val="FCFFFF"/>
                </a:solidFill>
                <a:latin typeface="Montserrat"/>
              </a:defRPr>
            </a:pPr>
            <a:r>
              <a:t>Phạm Quốc Thanh</a:t>
            </a:r>
          </a:p>
          <a:p>
            <a:pPr algn="ctr">
              <a:spcBef>
                <a:spcPts val="0"/>
              </a:spcBef>
              <a:spcAft>
                <a:spcPts val="800"/>
              </a:spcAft>
              <a:defRPr sz="1350" b="1" i="0">
                <a:solidFill>
                  <a:srgbClr val="2BBBED"/>
                </a:solidFill>
                <a:latin typeface="Montserrat"/>
              </a:defRPr>
            </a:pPr>
            <a:r>
              <a:t>Công nghệ</a:t>
            </a:r>
          </a:p>
          <a:p>
            <a:pPr algn="ctr">
              <a:spcBef>
                <a:spcPts val="0"/>
              </a:spcBef>
              <a:spcAft>
                <a:spcPts val="1400"/>
              </a:spcAft>
              <a:defRPr sz="1200" b="0" i="0">
                <a:solidFill>
                  <a:srgbClr val="CBD5E1"/>
                </a:solidFill>
                <a:latin typeface="Montserrat"/>
              </a:defRPr>
            </a:pPr>
            <a:r>
              <a:t>CTO &amp; Hệ thống AI / OSRM</a:t>
            </a:r>
          </a:p>
        </p:txBody>
      </p:sp>
      <p:sp>
        <p:nvSpPr>
          <p:cNvPr id="21" name="Rounded Rectangle 20"/>
          <p:cNvSpPr/>
          <p:nvPr/>
        </p:nvSpPr>
        <p:spPr>
          <a:xfrm>
            <a:off x="4533900" y="6667500"/>
            <a:ext cx="2590800" cy="457200"/>
          </a:xfrm>
          <a:prstGeom prst="roundRect">
            <a:avLst>
              <a:gd name="adj" fmla="val 4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2BBBED"/>
                </a:solidFill>
                <a:latin typeface="Montserrat"/>
              </a:defRPr>
            </a:pPr>
            <a:r>
              <a:t>IU - VNU-HCM (KT &amp; TC)</a:t>
            </a:r>
          </a:p>
        </p:txBody>
      </p:sp>
      <p:sp>
        <p:nvSpPr>
          <p:cNvPr id="22" name="Rounded Rectangle 21"/>
          <p:cNvSpPr/>
          <p:nvPr/>
        </p:nvSpPr>
        <p:spPr>
          <a:xfrm>
            <a:off x="7645400" y="1524000"/>
            <a:ext cx="2997200" cy="5905500"/>
          </a:xfrm>
          <a:prstGeom prst="roundRect">
            <a:avLst>
              <a:gd name="adj" fmla="val 4000"/>
            </a:avLst>
          </a:prstGeom>
          <a:solidFill>
            <a:srgbClr val="131B2A"/>
          </a:solidFill>
          <a:ln w="1905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huong_avatar.png"/>
          <p:cNvPicPr>
            <a:picLocks noChangeAspect="1"/>
          </p:cNvPicPr>
          <p:nvPr/>
        </p:nvPicPr>
        <p:blipFill>
          <a:blip r:embed="rId10"/>
          <a:stretch>
            <a:fillRect/>
          </a:stretch>
        </p:blipFill>
        <p:spPr>
          <a:xfrm>
            <a:off x="8267700" y="1854200"/>
            <a:ext cx="1752600" cy="1752600"/>
          </a:xfrm>
          <a:prstGeom prst="rect">
            <a:avLst/>
          </a:prstGeom>
        </p:spPr>
      </p:pic>
      <p:sp>
        <p:nvSpPr>
          <p:cNvPr id="24" name="Rounded Rectangle 23"/>
          <p:cNvSpPr/>
          <p:nvPr/>
        </p:nvSpPr>
        <p:spPr>
          <a:xfrm>
            <a:off x="9613900" y="3251200"/>
            <a:ext cx="508000" cy="304800"/>
          </a:xfrm>
          <a:prstGeom prst="roundRect">
            <a:avLst>
              <a:gd name="adj" fmla="val 50000"/>
            </a:avLst>
          </a:prstGeom>
          <a:solidFill>
            <a:srgbClr val="0E1422"/>
          </a:solidFill>
          <a:ln w="1524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3740B"/>
                </a:solidFill>
                <a:latin typeface="Montserrat"/>
              </a:defRPr>
            </a:pPr>
            <a:r>
              <a:t>03</a:t>
            </a:r>
          </a:p>
        </p:txBody>
      </p:sp>
      <p:sp>
        <p:nvSpPr>
          <p:cNvPr id="25" name="TextBox 24"/>
          <p:cNvSpPr txBox="1"/>
          <p:nvPr/>
        </p:nvSpPr>
        <p:spPr>
          <a:xfrm>
            <a:off x="7797800" y="3873500"/>
            <a:ext cx="2692400" cy="2667000"/>
          </a:xfrm>
          <a:prstGeom prst="rect">
            <a:avLst/>
          </a:prstGeom>
          <a:noFill/>
        </p:spPr>
        <p:txBody>
          <a:bodyPr wrap="square" lIns="0" tIns="0" rIns="0" bIns="0">
            <a:spAutoFit/>
          </a:bodyPr>
          <a:lstStyle/>
          <a:p>
            <a:pPr algn="ctr">
              <a:spcBef>
                <a:spcPts val="0"/>
              </a:spcBef>
              <a:spcAft>
                <a:spcPts val="400"/>
              </a:spcAft>
              <a:defRPr sz="1700" b="1" i="0">
                <a:solidFill>
                  <a:srgbClr val="FCFFFF"/>
                </a:solidFill>
                <a:latin typeface="Montserrat"/>
              </a:defRPr>
            </a:pPr>
            <a:r>
              <a:t>Nguyễn N. Khánh Phương</a:t>
            </a:r>
          </a:p>
          <a:p>
            <a:pPr algn="ctr">
              <a:spcBef>
                <a:spcPts val="0"/>
              </a:spcBef>
              <a:spcAft>
                <a:spcPts val="800"/>
              </a:spcAft>
              <a:defRPr sz="1350" b="1" i="0">
                <a:solidFill>
                  <a:srgbClr val="F3740B"/>
                </a:solidFill>
                <a:latin typeface="Montserrat"/>
              </a:defRPr>
            </a:pPr>
            <a:r>
              <a:t>Kinh doanh</a:t>
            </a:r>
          </a:p>
          <a:p>
            <a:pPr algn="ctr">
              <a:spcBef>
                <a:spcPts val="0"/>
              </a:spcBef>
              <a:spcAft>
                <a:spcPts val="1400"/>
              </a:spcAft>
              <a:defRPr sz="1200" b="0" i="0">
                <a:solidFill>
                  <a:srgbClr val="CBD5E1"/>
                </a:solidFill>
                <a:latin typeface="Montserrat"/>
              </a:defRPr>
            </a:pPr>
            <a:r>
              <a:t>Nghiên cứu Thị trường &amp; ESG</a:t>
            </a:r>
          </a:p>
        </p:txBody>
      </p:sp>
      <p:sp>
        <p:nvSpPr>
          <p:cNvPr id="26" name="Rounded Rectangle 25"/>
          <p:cNvSpPr/>
          <p:nvPr/>
        </p:nvSpPr>
        <p:spPr>
          <a:xfrm>
            <a:off x="7848600" y="6667500"/>
            <a:ext cx="2590800" cy="457200"/>
          </a:xfrm>
          <a:prstGeom prst="roundRect">
            <a:avLst>
              <a:gd name="adj" fmla="val 4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2BBBED"/>
                </a:solidFill>
                <a:latin typeface="Montserrat"/>
              </a:defRPr>
            </a:pPr>
            <a:r>
              <a:t>FTU CS2 (Marketing &amp; KD)</a:t>
            </a:r>
          </a:p>
        </p:txBody>
      </p:sp>
      <p:sp>
        <p:nvSpPr>
          <p:cNvPr id="27" name="Rounded Rectangle 26"/>
          <p:cNvSpPr/>
          <p:nvPr/>
        </p:nvSpPr>
        <p:spPr>
          <a:xfrm>
            <a:off x="10960100" y="1524000"/>
            <a:ext cx="2997200" cy="5905500"/>
          </a:xfrm>
          <a:prstGeom prst="roundRect">
            <a:avLst>
              <a:gd name="adj" fmla="val 4000"/>
            </a:avLst>
          </a:prstGeom>
          <a:solidFill>
            <a:srgbClr val="131B2A"/>
          </a:solidFill>
          <a:ln w="19050">
            <a:solidFill>
              <a:srgbClr val="FFDE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phuc_avatar.png"/>
          <p:cNvPicPr>
            <a:picLocks noChangeAspect="1"/>
          </p:cNvPicPr>
          <p:nvPr/>
        </p:nvPicPr>
        <p:blipFill>
          <a:blip r:embed="rId11"/>
          <a:stretch>
            <a:fillRect/>
          </a:stretch>
        </p:blipFill>
        <p:spPr>
          <a:xfrm>
            <a:off x="11582400" y="1854200"/>
            <a:ext cx="1752600" cy="1752600"/>
          </a:xfrm>
          <a:prstGeom prst="rect">
            <a:avLst/>
          </a:prstGeom>
        </p:spPr>
      </p:pic>
      <p:sp>
        <p:nvSpPr>
          <p:cNvPr id="29" name="Rounded Rectangle 28"/>
          <p:cNvSpPr/>
          <p:nvPr/>
        </p:nvSpPr>
        <p:spPr>
          <a:xfrm>
            <a:off x="12928600" y="3251200"/>
            <a:ext cx="508000" cy="304800"/>
          </a:xfrm>
          <a:prstGeom prst="roundRect">
            <a:avLst>
              <a:gd name="adj" fmla="val 50000"/>
            </a:avLst>
          </a:prstGeom>
          <a:solidFill>
            <a:srgbClr val="0E1422"/>
          </a:solidFill>
          <a:ln w="15240">
            <a:solidFill>
              <a:srgbClr val="FFDE59"/>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FFDE59"/>
                </a:solidFill>
                <a:latin typeface="Montserrat"/>
              </a:defRPr>
            </a:pPr>
            <a:r>
              <a:t>04</a:t>
            </a:r>
          </a:p>
        </p:txBody>
      </p:sp>
      <p:sp>
        <p:nvSpPr>
          <p:cNvPr id="30" name="TextBox 29"/>
          <p:cNvSpPr txBox="1"/>
          <p:nvPr/>
        </p:nvSpPr>
        <p:spPr>
          <a:xfrm>
            <a:off x="11112500" y="3873500"/>
            <a:ext cx="2692400" cy="2667000"/>
          </a:xfrm>
          <a:prstGeom prst="rect">
            <a:avLst/>
          </a:prstGeom>
          <a:noFill/>
        </p:spPr>
        <p:txBody>
          <a:bodyPr wrap="square" lIns="0" tIns="0" rIns="0" bIns="0">
            <a:spAutoFit/>
          </a:bodyPr>
          <a:lstStyle/>
          <a:p>
            <a:pPr algn="ctr">
              <a:spcBef>
                <a:spcPts val="0"/>
              </a:spcBef>
              <a:spcAft>
                <a:spcPts val="400"/>
              </a:spcAft>
              <a:defRPr sz="1700" b="1" i="0">
                <a:solidFill>
                  <a:srgbClr val="FCFFFF"/>
                </a:solidFill>
                <a:latin typeface="Montserrat"/>
              </a:defRPr>
            </a:pPr>
            <a:r>
              <a:t>Nguyễn Hồng Phúc</a:t>
            </a:r>
          </a:p>
          <a:p>
            <a:pPr algn="ctr">
              <a:spcBef>
                <a:spcPts val="0"/>
              </a:spcBef>
              <a:spcAft>
                <a:spcPts val="800"/>
              </a:spcAft>
              <a:defRPr sz="1350" b="1" i="0">
                <a:solidFill>
                  <a:srgbClr val="FFDE59"/>
                </a:solidFill>
                <a:latin typeface="Montserrat"/>
              </a:defRPr>
            </a:pPr>
            <a:r>
              <a:t>Tài chính</a:t>
            </a:r>
          </a:p>
          <a:p>
            <a:pPr algn="ctr">
              <a:spcBef>
                <a:spcPts val="0"/>
              </a:spcBef>
              <a:spcAft>
                <a:spcPts val="1400"/>
              </a:spcAft>
              <a:defRPr sz="1200" b="0" i="0">
                <a:solidFill>
                  <a:srgbClr val="CBD5E1"/>
                </a:solidFill>
                <a:latin typeface="Montserrat"/>
              </a:defRPr>
            </a:pPr>
            <a:r>
              <a:t>Kế hoạch Vốn &amp; Kiểm kê CO₂</a:t>
            </a:r>
          </a:p>
        </p:txBody>
      </p:sp>
      <p:sp>
        <p:nvSpPr>
          <p:cNvPr id="31" name="Rounded Rectangle 30"/>
          <p:cNvSpPr/>
          <p:nvPr/>
        </p:nvSpPr>
        <p:spPr>
          <a:xfrm>
            <a:off x="11163300" y="6667500"/>
            <a:ext cx="2590800" cy="457200"/>
          </a:xfrm>
          <a:prstGeom prst="roundRect">
            <a:avLst>
              <a:gd name="adj" fmla="val 4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2BBBED"/>
                </a:solidFill>
                <a:latin typeface="Montserrat"/>
              </a:defRPr>
            </a:pPr>
            <a:r>
              <a:t>FPT Hà Nội (Quản trị KD)</a:t>
            </a:r>
          </a:p>
        </p:txBody>
      </p:sp>
      <p:sp>
        <p:nvSpPr>
          <p:cNvPr id="32" name="Rounded Rectangle 31"/>
          <p:cNvSpPr/>
          <p:nvPr/>
        </p:nvSpPr>
        <p:spPr>
          <a:xfrm>
            <a:off x="14274800" y="1524000"/>
            <a:ext cx="2997200" cy="5905500"/>
          </a:xfrm>
          <a:prstGeom prst="roundRect">
            <a:avLst>
              <a:gd name="adj" fmla="val 4000"/>
            </a:avLst>
          </a:prstGeom>
          <a:solidFill>
            <a:srgbClr val="131B2A"/>
          </a:solidFill>
          <a:ln w="1905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ngan_avatar.png"/>
          <p:cNvPicPr>
            <a:picLocks noChangeAspect="1"/>
          </p:cNvPicPr>
          <p:nvPr/>
        </p:nvPicPr>
        <p:blipFill>
          <a:blip r:embed="rId12"/>
          <a:stretch>
            <a:fillRect/>
          </a:stretch>
        </p:blipFill>
        <p:spPr>
          <a:xfrm>
            <a:off x="14897100" y="1854200"/>
            <a:ext cx="1752600" cy="1752600"/>
          </a:xfrm>
          <a:prstGeom prst="rect">
            <a:avLst/>
          </a:prstGeom>
        </p:spPr>
      </p:pic>
      <p:sp>
        <p:nvSpPr>
          <p:cNvPr id="34" name="Rounded Rectangle 33"/>
          <p:cNvSpPr/>
          <p:nvPr/>
        </p:nvSpPr>
        <p:spPr>
          <a:xfrm>
            <a:off x="16243300" y="3251200"/>
            <a:ext cx="508000" cy="3048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2BBBED"/>
                </a:solidFill>
                <a:latin typeface="Montserrat"/>
              </a:defRPr>
            </a:pPr>
            <a:r>
              <a:t>05</a:t>
            </a:r>
          </a:p>
        </p:txBody>
      </p:sp>
      <p:sp>
        <p:nvSpPr>
          <p:cNvPr id="35" name="TextBox 34"/>
          <p:cNvSpPr txBox="1"/>
          <p:nvPr/>
        </p:nvSpPr>
        <p:spPr>
          <a:xfrm>
            <a:off x="14427200" y="3873500"/>
            <a:ext cx="2692400" cy="2667000"/>
          </a:xfrm>
          <a:prstGeom prst="rect">
            <a:avLst/>
          </a:prstGeom>
          <a:noFill/>
        </p:spPr>
        <p:txBody>
          <a:bodyPr wrap="square" lIns="0" tIns="0" rIns="0" bIns="0">
            <a:spAutoFit/>
          </a:bodyPr>
          <a:lstStyle/>
          <a:p>
            <a:pPr algn="ctr">
              <a:spcBef>
                <a:spcPts val="0"/>
              </a:spcBef>
              <a:spcAft>
                <a:spcPts val="400"/>
              </a:spcAft>
              <a:defRPr sz="1700" b="1" i="0">
                <a:solidFill>
                  <a:srgbClr val="FCFFFF"/>
                </a:solidFill>
                <a:latin typeface="Montserrat"/>
              </a:defRPr>
            </a:pPr>
            <a:r>
              <a:t>Lê Thị Hoàng Ngân</a:t>
            </a:r>
          </a:p>
          <a:p>
            <a:pPr algn="ctr">
              <a:spcBef>
                <a:spcPts val="0"/>
              </a:spcBef>
              <a:spcAft>
                <a:spcPts val="800"/>
              </a:spcAft>
              <a:defRPr sz="1350" b="1" i="0">
                <a:solidFill>
                  <a:srgbClr val="2BBBED"/>
                </a:solidFill>
                <a:latin typeface="Montserrat"/>
              </a:defRPr>
            </a:pPr>
            <a:r>
              <a:t>TMĐT</a:t>
            </a:r>
          </a:p>
          <a:p>
            <a:pPr algn="ctr">
              <a:spcBef>
                <a:spcPts val="0"/>
              </a:spcBef>
              <a:spcAft>
                <a:spcPts val="1400"/>
              </a:spcAft>
              <a:defRPr sz="1200" b="0" i="0">
                <a:solidFill>
                  <a:srgbClr val="CBD5E1"/>
                </a:solidFill>
                <a:latin typeface="Montserrat"/>
              </a:defRPr>
            </a:pPr>
            <a:r>
              <a:t>Thương Mại ĐT &amp; Kênh Số</a:t>
            </a:r>
          </a:p>
        </p:txBody>
      </p:sp>
      <p:sp>
        <p:nvSpPr>
          <p:cNvPr id="36" name="Rounded Rectangle 35"/>
          <p:cNvSpPr/>
          <p:nvPr/>
        </p:nvSpPr>
        <p:spPr>
          <a:xfrm>
            <a:off x="14478000" y="6667500"/>
            <a:ext cx="2590800" cy="457200"/>
          </a:xfrm>
          <a:prstGeom prst="roundRect">
            <a:avLst>
              <a:gd name="adj" fmla="val 4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00" b="1">
                <a:solidFill>
                  <a:srgbClr val="2BBBED"/>
                </a:solidFill>
                <a:latin typeface="Montserrat"/>
              </a:defRPr>
            </a:pPr>
            <a:r>
              <a:t>ĐH Kinh tế Quốc dân (NEU)</a:t>
            </a:r>
          </a:p>
        </p:txBody>
      </p:sp>
      <p:sp>
        <p:nvSpPr>
          <p:cNvPr id="37" name="Rounded Rectangle 36"/>
          <p:cNvSpPr/>
          <p:nvPr/>
        </p:nvSpPr>
        <p:spPr>
          <a:xfrm>
            <a:off x="1016000" y="7683500"/>
            <a:ext cx="16256000" cy="1333500"/>
          </a:xfrm>
          <a:prstGeom prst="roundRect">
            <a:avLst>
              <a:gd name="adj" fmla="val 4000"/>
            </a:avLst>
          </a:prstGeom>
          <a:solidFill>
            <a:srgbClr val="2C1606"/>
          </a:solidFill>
          <a:ln w="2032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33500" y="7848600"/>
            <a:ext cx="15621000" cy="1016000"/>
          </a:xfrm>
          <a:prstGeom prst="rect">
            <a:avLst/>
          </a:prstGeom>
          <a:noFill/>
        </p:spPr>
        <p:txBody>
          <a:bodyPr wrap="square" lIns="0" tIns="0" rIns="0" bIns="0">
            <a:spAutoFit/>
          </a:bodyPr>
          <a:lstStyle/>
          <a:p>
            <a:pPr algn="l">
              <a:spcBef>
                <a:spcPts val="0"/>
              </a:spcBef>
              <a:spcAft>
                <a:spcPts val="400"/>
              </a:spcAft>
              <a:defRPr sz="1300" b="1" i="0">
                <a:solidFill>
                  <a:srgbClr val="F3740B"/>
                </a:solidFill>
                <a:latin typeface="Montserrat"/>
              </a:defRPr>
            </a:pPr>
            <a:r>
              <a:t>★ ĐIỀU LỆ OLYMPIC KHỞI NGHIỆP 2026 (SO 2026):</a:t>
            </a:r>
          </a:p>
          <a:p>
            <a:pPr algn="l">
              <a:spcBef>
                <a:spcPts val="0"/>
              </a:spcBef>
              <a:spcAft>
                <a:spcPts val="400"/>
              </a:spcAft>
            </a:pPr>
            <a:r>
              <a:rPr sz="1400" b="0" i="0">
                <a:solidFill>
                  <a:srgbClr val="FCFFFF"/>
                </a:solidFill>
                <a:latin typeface="Montserrat"/>
              </a:rPr>
              <a:t>Đội ngũ sáng lập chính thức kết nạp </a:t>
            </a:r>
            <a:r>
              <a:rPr sz="1400" b="1" i="0">
                <a:solidFill>
                  <a:srgbClr val="FFDE59"/>
                </a:solidFill>
                <a:latin typeface="Montserrat"/>
              </a:rPr>
              <a:t>2 thành viên nòng cốt từ Đại học Kinh tế Quốc dân (NEU)</a:t>
            </a:r>
            <a:r>
              <a:rPr sz="1400" b="0" i="0">
                <a:solidFill>
                  <a:srgbClr val="FCFFFF"/>
                </a:solidFill>
                <a:latin typeface="Montserrat"/>
              </a:rPr>
              <a:t>: Nguyễn Thu Thuỷ (Quản trị Kinh doanh Quốc tế) &amp; Lê Thị Hoàng Ngân (Thương Mại Điện Tử) đáp ứng xuất sắc điều lệ cuộc thi.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emerald.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cyan.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amber.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016000" y="254000"/>
            <a:ext cx="4013200" cy="3302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2BBBED"/>
                </a:solidFill>
                <a:latin typeface="Montserrat"/>
              </a:defRPr>
            </a:pPr>
            <a:r>
              <a:t>» Ý NGHĨA DỰ ÁN &amp; TẦM NHÌN CHIẾN LƯỢC »</a:t>
            </a:r>
          </a:p>
        </p:txBody>
      </p:sp>
      <p:sp>
        <p:nvSpPr>
          <p:cNvPr id="7" name="Rounded Rectangle 6"/>
          <p:cNvSpPr/>
          <p:nvPr/>
        </p:nvSpPr>
        <p:spPr>
          <a:xfrm>
            <a:off x="13462000" y="254000"/>
            <a:ext cx="2667000" cy="330200"/>
          </a:xfrm>
          <a:prstGeom prst="roundRect">
            <a:avLst>
              <a:gd name="adj" fmla="val 5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94A3B8"/>
                </a:solidFill>
                <a:latin typeface="Montserrat"/>
              </a:defRPr>
            </a:pPr>
            <a:r>
              <a:t>🏆 OLYMPIC KHỞI NGHIỆP 2026</a:t>
            </a:r>
          </a:p>
        </p:txBody>
      </p:sp>
      <p:pic>
        <p:nvPicPr>
          <p:cNvPr id="8" name="Picture 7" descr="logo_neu_transparent.png"/>
          <p:cNvPicPr>
            <a:picLocks noChangeAspect="1"/>
          </p:cNvPicPr>
          <p:nvPr/>
        </p:nvPicPr>
        <p:blipFill>
          <a:blip r:embed="rId5"/>
          <a:stretch>
            <a:fillRect/>
          </a:stretch>
        </p:blipFill>
        <p:spPr>
          <a:xfrm>
            <a:off x="16281400" y="203200"/>
            <a:ext cx="406400" cy="406400"/>
          </a:xfrm>
          <a:prstGeom prst="rect">
            <a:avLst/>
          </a:prstGeom>
        </p:spPr>
      </p:pic>
      <p:pic>
        <p:nvPicPr>
          <p:cNvPr id="9" name="Picture 8" descr="logo_greenlogix_badge.png"/>
          <p:cNvPicPr>
            <a:picLocks noChangeAspect="1"/>
          </p:cNvPicPr>
          <p:nvPr/>
        </p:nvPicPr>
        <p:blipFill>
          <a:blip r:embed="rId6"/>
          <a:stretch>
            <a:fillRect/>
          </a:stretch>
        </p:blipFill>
        <p:spPr>
          <a:xfrm>
            <a:off x="16814800" y="203200"/>
            <a:ext cx="406400" cy="406400"/>
          </a:xfrm>
          <a:prstGeom prst="rect">
            <a:avLst/>
          </a:prstGeom>
        </p:spPr>
      </p:pic>
      <p:sp>
        <p:nvSpPr>
          <p:cNvPr id="10" name="TextBox 9"/>
          <p:cNvSpPr txBox="1"/>
          <p:nvPr/>
        </p:nvSpPr>
        <p:spPr>
          <a:xfrm>
            <a:off x="1016000" y="660400"/>
            <a:ext cx="16256000" cy="482600"/>
          </a:xfrm>
          <a:prstGeom prst="rect">
            <a:avLst/>
          </a:prstGeom>
          <a:noFill/>
        </p:spPr>
        <p:txBody>
          <a:bodyPr wrap="square" lIns="0" tIns="0" rIns="0" bIns="0">
            <a:spAutoFit/>
          </a:bodyPr>
          <a:lstStyle/>
          <a:p>
            <a:pPr algn="l">
              <a:spcBef>
                <a:spcPts val="0"/>
              </a:spcBef>
              <a:spcAft>
                <a:spcPts val="0"/>
              </a:spcAft>
              <a:defRPr sz="2600" b="1" i="0">
                <a:solidFill>
                  <a:srgbClr val="11C96B"/>
                </a:solidFill>
                <a:latin typeface="Montserrat"/>
              </a:defRPr>
            </a:pPr>
            <a:r>
              <a:t>LOGISTICS XANH: CON ĐƯỜNG TẤT YẾU CHO DOANH NGHIỆP VIỆT NAM</a:t>
            </a:r>
          </a:p>
        </p:txBody>
      </p:sp>
      <p:sp>
        <p:nvSpPr>
          <p:cNvPr id="11" name="Rectangle 10"/>
          <p:cNvSpPr/>
          <p:nvPr/>
        </p:nvSpPr>
        <p:spPr>
          <a:xfrm>
            <a:off x="1016000" y="1193800"/>
            <a:ext cx="16256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1524000"/>
            <a:ext cx="16256000" cy="3048000"/>
          </a:xfrm>
          <a:prstGeom prst="roundRect">
            <a:avLst>
              <a:gd name="adj" fmla="val 3000"/>
            </a:avLst>
          </a:prstGeom>
          <a:solidFill>
            <a:srgbClr val="0A261A"/>
          </a:solidFill>
          <a:ln w="2286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0" y="1778000"/>
            <a:ext cx="15240000" cy="2540000"/>
          </a:xfrm>
          <a:prstGeom prst="rect">
            <a:avLst/>
          </a:prstGeom>
          <a:noFill/>
        </p:spPr>
        <p:txBody>
          <a:bodyPr wrap="square" lIns="0" tIns="0" rIns="0" bIns="0">
            <a:spAutoFit/>
          </a:bodyPr>
          <a:lstStyle/>
          <a:p>
            <a:pPr algn="l">
              <a:spcBef>
                <a:spcPts val="0"/>
              </a:spcBef>
              <a:spcAft>
                <a:spcPts val="1400"/>
              </a:spcAft>
              <a:defRPr sz="2500" b="1" i="1">
                <a:solidFill>
                  <a:srgbClr val="FCFFFF"/>
                </a:solidFill>
                <a:latin typeface="Montserrat"/>
              </a:defRPr>
            </a:pPr>
            <a:r>
              <a:t>“ Logistics xanh không phải một lựa chọn xa xỉ — mà là con đường tất yếu để doanh nghiệp Việt Nam phát triển bền vững. ”</a:t>
            </a:r>
          </a:p>
        </p:txBody>
      </p:sp>
      <p:sp>
        <p:nvSpPr>
          <p:cNvPr id="14" name="Rectangle 13"/>
          <p:cNvSpPr/>
          <p:nvPr/>
        </p:nvSpPr>
        <p:spPr>
          <a:xfrm>
            <a:off x="1524000" y="2794000"/>
            <a:ext cx="15240000" cy="12700"/>
          </a:xfrm>
          <a:prstGeom prst="rect">
            <a:avLst/>
          </a:prstGeom>
          <a:solidFill>
            <a:srgbClr val="11C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24000" y="2984500"/>
            <a:ext cx="15240000" cy="1333500"/>
          </a:xfrm>
          <a:prstGeom prst="rect">
            <a:avLst/>
          </a:prstGeom>
          <a:noFill/>
        </p:spPr>
        <p:txBody>
          <a:bodyPr wrap="square" lIns="0" tIns="0" rIns="0" bIns="0">
            <a:spAutoFit/>
          </a:bodyPr>
          <a:lstStyle/>
          <a:p>
            <a:pPr algn="l">
              <a:spcBef>
                <a:spcPts val="0"/>
              </a:spcBef>
              <a:spcAft>
                <a:spcPts val="600"/>
              </a:spcAft>
              <a:defRPr sz="1300" b="1" i="0">
                <a:solidFill>
                  <a:srgbClr val="11C96B"/>
                </a:solidFill>
                <a:latin typeface="Montserrat"/>
              </a:defRPr>
            </a:pPr>
            <a:r>
              <a:t>» TẦM NHÌN CHIẾN LƯỢC ĐẾN NĂM 2030 »</a:t>
            </a:r>
          </a:p>
          <a:p>
            <a:pPr algn="l">
              <a:spcBef>
                <a:spcPts val="0"/>
              </a:spcBef>
              <a:spcAft>
                <a:spcPts val="400"/>
              </a:spcAft>
            </a:pPr>
            <a:r>
              <a:rPr sz="1700" b="0" i="0">
                <a:solidFill>
                  <a:srgbClr val="FCFFFF"/>
                </a:solidFill>
                <a:latin typeface="Montserrat"/>
              </a:rPr>
              <a:t>Trở thành </a:t>
            </a:r>
            <a:r>
              <a:rPr sz="1700" b="1" i="0">
                <a:solidFill>
                  <a:srgbClr val="11C96B"/>
                </a:solidFill>
                <a:latin typeface="Montserrat"/>
              </a:rPr>
              <a:t>nền tảng quản trị vận tải và phát thải hàng đầu</a:t>
            </a:r>
            <a:r>
              <a:rPr sz="1700" b="0" i="0">
                <a:solidFill>
                  <a:srgbClr val="FCFFFF"/>
                </a:solidFill>
                <a:latin typeface="Montserrat"/>
              </a:rPr>
              <a:t> cho doanh nghiệp logistics vừa và nhỏ (SME) tại Việt Nam, đóng góp cụ thể và có thể đo đếm được vào mục tiêu </a:t>
            </a:r>
            <a:r>
              <a:rPr sz="1700" b="1" i="0">
                <a:solidFill>
                  <a:srgbClr val="2BBBED"/>
                </a:solidFill>
                <a:latin typeface="Montserrat"/>
              </a:rPr>
              <a:t>Net Zero 2050</a:t>
            </a:r>
            <a:r>
              <a:rPr sz="1700" b="0" i="0">
                <a:solidFill>
                  <a:srgbClr val="FCFFFF"/>
                </a:solidFill>
                <a:latin typeface="Montserrat"/>
              </a:rPr>
              <a:t> của quốc gia.</a:t>
            </a:r>
          </a:p>
        </p:txBody>
      </p:sp>
      <p:sp>
        <p:nvSpPr>
          <p:cNvPr id="16" name="Rounded Rectangle 15"/>
          <p:cNvSpPr/>
          <p:nvPr/>
        </p:nvSpPr>
        <p:spPr>
          <a:xfrm>
            <a:off x="1016000" y="4826000"/>
            <a:ext cx="5080000" cy="4191000"/>
          </a:xfrm>
          <a:prstGeom prst="roundRect">
            <a:avLst>
              <a:gd name="adj" fmla="val 4000"/>
            </a:avLst>
          </a:prstGeom>
          <a:solidFill>
            <a:srgbClr val="131B2A"/>
          </a:solidFill>
          <a:ln w="1905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0800" y="5105400"/>
            <a:ext cx="4470400" cy="3632200"/>
          </a:xfrm>
          <a:prstGeom prst="rect">
            <a:avLst/>
          </a:prstGeom>
          <a:noFill/>
        </p:spPr>
        <p:txBody>
          <a:bodyPr wrap="square" lIns="0" tIns="0" rIns="0" bIns="0">
            <a:spAutoFit/>
          </a:bodyPr>
          <a:lstStyle/>
          <a:p>
            <a:pPr algn="l">
              <a:spcBef>
                <a:spcPts val="0"/>
              </a:spcBef>
              <a:spcAft>
                <a:spcPts val="800"/>
              </a:spcAft>
              <a:defRPr sz="1200" b="1" i="0">
                <a:solidFill>
                  <a:srgbClr val="2BBBED"/>
                </a:solidFill>
                <a:latin typeface="Montserrat"/>
              </a:defRPr>
            </a:pPr>
            <a:r>
              <a:t>» CAM KẾT COP26 &amp; NET ZERO 2050 »</a:t>
            </a:r>
          </a:p>
          <a:p>
            <a:pPr algn="l">
              <a:spcBef>
                <a:spcPts val="0"/>
              </a:spcBef>
              <a:spcAft>
                <a:spcPts val="1200"/>
              </a:spcAft>
              <a:defRPr sz="1900" b="1" i="0">
                <a:solidFill>
                  <a:srgbClr val="FCFFFF"/>
                </a:solidFill>
                <a:latin typeface="Montserrat"/>
              </a:defRPr>
            </a:pPr>
            <a:r>
              <a:t>Tiên phong chuyển đổi xanh</a:t>
            </a:r>
          </a:p>
          <a:p>
            <a:pPr algn="l">
              <a:spcBef>
                <a:spcPts val="0"/>
              </a:spcBef>
              <a:spcAft>
                <a:spcPts val="400"/>
              </a:spcAft>
            </a:pPr>
            <a:r>
              <a:rPr sz="1350" b="0" i="0">
                <a:solidFill>
                  <a:srgbClr val="CBD5E1"/>
                </a:solidFill>
                <a:latin typeface="Montserrat"/>
              </a:rPr>
              <a:t>• Việt Nam cam kết đạt </a:t>
            </a:r>
            <a:r>
              <a:rPr sz="1350" b="1" i="0">
                <a:solidFill>
                  <a:srgbClr val="2BBBED"/>
                </a:solidFill>
                <a:latin typeface="Montserrat"/>
              </a:rPr>
              <a:t>phát thải ròng bằng 0 vào năm 2050</a:t>
            </a:r>
            <a:r>
              <a:rPr sz="1350" b="0" i="0">
                <a:solidFill>
                  <a:srgbClr val="CBD5E1"/>
                </a:solidFill>
                <a:latin typeface="Montserrat"/>
              </a:rPr>
              <a:t>.
</a:t>
            </a:r>
            <a:r>
              <a:rPr sz="1350" b="0" i="0">
                <a:solidFill>
                  <a:srgbClr val="CBD5E1"/>
                </a:solidFill>
                <a:latin typeface="Montserrat"/>
              </a:rPr>
              <a:t>• GreenLogix giúp xanh hóa ngay trên </a:t>
            </a:r>
            <a:r>
              <a:rPr sz="1350" b="1" i="0">
                <a:solidFill>
                  <a:srgbClr val="11C96B"/>
                </a:solidFill>
                <a:latin typeface="Montserrat"/>
              </a:rPr>
              <a:t>đội xe hiện hữu</a:t>
            </a:r>
            <a:r>
              <a:rPr sz="1350" b="0" i="0">
                <a:solidFill>
                  <a:srgbClr val="CBD5E1"/>
                </a:solidFill>
                <a:latin typeface="Montserrat"/>
              </a:rPr>
              <a:t> mà không cần vốn đầu tư xe điện đắt đỏ.
</a:t>
            </a:r>
            <a:r>
              <a:rPr sz="1350" b="0" i="0">
                <a:solidFill>
                  <a:srgbClr val="CBD5E1"/>
                </a:solidFill>
                <a:latin typeface="Montserrat"/>
              </a:rPr>
              <a:t>• Biến từng chuyến đi thành </a:t>
            </a:r>
            <a:r>
              <a:rPr sz="1350" b="1" i="0">
                <a:solidFill>
                  <a:srgbClr val="FCFFFF"/>
                </a:solidFill>
                <a:latin typeface="Montserrat"/>
              </a:rPr>
              <a:t>ki-lô-mét xanh thực chất</a:t>
            </a:r>
            <a:r>
              <a:rPr sz="1350" b="0" i="0">
                <a:solidFill>
                  <a:srgbClr val="CBD5E1"/>
                </a:solidFill>
                <a:latin typeface="Montserrat"/>
              </a:rPr>
              <a:t>.</a:t>
            </a:r>
          </a:p>
        </p:txBody>
      </p:sp>
      <p:sp>
        <p:nvSpPr>
          <p:cNvPr id="18" name="Rounded Rectangle 17"/>
          <p:cNvSpPr/>
          <p:nvPr/>
        </p:nvSpPr>
        <p:spPr>
          <a:xfrm>
            <a:off x="6604000" y="4826000"/>
            <a:ext cx="5080000" cy="4191000"/>
          </a:xfrm>
          <a:prstGeom prst="roundRect">
            <a:avLst>
              <a:gd name="adj" fmla="val 4000"/>
            </a:avLst>
          </a:prstGeom>
          <a:solidFill>
            <a:srgbClr val="131B2A"/>
          </a:solidFill>
          <a:ln w="1905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8800" y="5105400"/>
            <a:ext cx="4470400" cy="3632200"/>
          </a:xfrm>
          <a:prstGeom prst="rect">
            <a:avLst/>
          </a:prstGeom>
          <a:noFill/>
        </p:spPr>
        <p:txBody>
          <a:bodyPr wrap="square" lIns="0" tIns="0" rIns="0" bIns="0">
            <a:spAutoFit/>
          </a:bodyPr>
          <a:lstStyle/>
          <a:p>
            <a:pPr algn="l">
              <a:spcBef>
                <a:spcPts val="0"/>
              </a:spcBef>
              <a:spcAft>
                <a:spcPts val="800"/>
              </a:spcAft>
              <a:defRPr sz="1200" b="1" i="0">
                <a:solidFill>
                  <a:srgbClr val="F3740B"/>
                </a:solidFill>
                <a:latin typeface="Montserrat"/>
              </a:defRPr>
            </a:pPr>
            <a:r>
              <a:t>» NGHỊ ĐỊNH 06/2022/NĐ-CP »</a:t>
            </a:r>
          </a:p>
          <a:p>
            <a:pPr algn="l">
              <a:spcBef>
                <a:spcPts val="0"/>
              </a:spcBef>
              <a:spcAft>
                <a:spcPts val="1200"/>
              </a:spcAft>
              <a:defRPr sz="1900" b="1" i="0">
                <a:solidFill>
                  <a:srgbClr val="FCFFFF"/>
                </a:solidFill>
                <a:latin typeface="Montserrat"/>
              </a:defRPr>
            </a:pPr>
            <a:r>
              <a:t>Tuân thủ lộ trình kiểm kê KNK</a:t>
            </a:r>
          </a:p>
          <a:p>
            <a:pPr algn="l">
              <a:spcBef>
                <a:spcPts val="0"/>
              </a:spcBef>
              <a:spcAft>
                <a:spcPts val="400"/>
              </a:spcAft>
            </a:pPr>
            <a:r>
              <a:rPr sz="1350" b="0" i="0">
                <a:solidFill>
                  <a:srgbClr val="CBD5E1"/>
                </a:solidFill>
                <a:latin typeface="Montserrat"/>
              </a:rPr>
              <a:t>• Bắt buộc </a:t>
            </a:r>
            <a:r>
              <a:rPr sz="1350" b="1" i="0">
                <a:solidFill>
                  <a:srgbClr val="F3740B"/>
                </a:solidFill>
                <a:latin typeface="Montserrat"/>
              </a:rPr>
              <a:t>kiểm kê khí nhà kính bắt buộc từ năm 2026</a:t>
            </a:r>
            <a:r>
              <a:rPr sz="1350" b="0" i="0">
                <a:solidFill>
                  <a:srgbClr val="CBD5E1"/>
                </a:solidFill>
                <a:latin typeface="Montserrat"/>
              </a:rPr>
              <a:t> đối với doanh nghiệp phát thải.
</a:t>
            </a:r>
            <a:r>
              <a:rPr sz="1350" b="0" i="0">
                <a:solidFill>
                  <a:srgbClr val="CBD5E1"/>
                </a:solidFill>
                <a:latin typeface="Montserrat"/>
              </a:rPr>
              <a:t>• Cung cấp báo cáo phát thải CO₂ tự động chuẩn </a:t>
            </a:r>
            <a:r>
              <a:rPr sz="1350" b="1" i="0">
                <a:solidFill>
                  <a:srgbClr val="FFDE59"/>
                </a:solidFill>
                <a:latin typeface="Montserrat"/>
              </a:rPr>
              <a:t>GLEC Scope 3</a:t>
            </a:r>
            <a:r>
              <a:rPr sz="1350" b="0" i="0">
                <a:solidFill>
                  <a:srgbClr val="CBD5E1"/>
                </a:solidFill>
                <a:latin typeface="Montserrat"/>
              </a:rPr>
              <a:t> cho thanh tra môi trường.
</a:t>
            </a:r>
            <a:r>
              <a:rPr sz="1350" b="0" i="0">
                <a:solidFill>
                  <a:srgbClr val="CBD5E1"/>
                </a:solidFill>
                <a:latin typeface="Montserrat"/>
              </a:rPr>
              <a:t>• Giảm </a:t>
            </a:r>
            <a:r>
              <a:rPr sz="1350" b="1" i="0">
                <a:solidFill>
                  <a:srgbClr val="11C96B"/>
                </a:solidFill>
                <a:latin typeface="Montserrat"/>
              </a:rPr>
              <a:t>100% thời gian tính toán thủ công</a:t>
            </a:r>
            <a:r>
              <a:rPr sz="1350" b="0" i="0">
                <a:solidFill>
                  <a:srgbClr val="CBD5E1"/>
                </a:solidFill>
                <a:latin typeface="Montserrat"/>
              </a:rPr>
              <a:t>.</a:t>
            </a:r>
          </a:p>
        </p:txBody>
      </p:sp>
      <p:sp>
        <p:nvSpPr>
          <p:cNvPr id="20" name="Rounded Rectangle 19"/>
          <p:cNvSpPr/>
          <p:nvPr/>
        </p:nvSpPr>
        <p:spPr>
          <a:xfrm>
            <a:off x="12192000" y="4826000"/>
            <a:ext cx="5080000" cy="4191000"/>
          </a:xfrm>
          <a:prstGeom prst="roundRect">
            <a:avLst>
              <a:gd name="adj" fmla="val 4000"/>
            </a:avLst>
          </a:prstGeom>
          <a:solidFill>
            <a:srgbClr val="131B2A"/>
          </a:solidFill>
          <a:ln w="1905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496800" y="5105400"/>
            <a:ext cx="4470400" cy="3632200"/>
          </a:xfrm>
          <a:prstGeom prst="rect">
            <a:avLst/>
          </a:prstGeom>
          <a:noFill/>
        </p:spPr>
        <p:txBody>
          <a:bodyPr wrap="square" lIns="0" tIns="0" rIns="0" bIns="0">
            <a:spAutoFit/>
          </a:bodyPr>
          <a:lstStyle/>
          <a:p>
            <a:pPr algn="l">
              <a:spcBef>
                <a:spcPts val="0"/>
              </a:spcBef>
              <a:spcAft>
                <a:spcPts val="800"/>
              </a:spcAft>
              <a:defRPr sz="1200" b="1" i="0">
                <a:solidFill>
                  <a:srgbClr val="11C96B"/>
                </a:solidFill>
                <a:latin typeface="Montserrat"/>
              </a:defRPr>
            </a:pPr>
            <a:r>
              <a:t>» ĐỒNG HÀNH CÙNG 34.000+ SME »</a:t>
            </a:r>
          </a:p>
          <a:p>
            <a:pPr algn="l">
              <a:spcBef>
                <a:spcPts val="0"/>
              </a:spcBef>
              <a:spcAft>
                <a:spcPts val="1200"/>
              </a:spcAft>
              <a:defRPr sz="1900" b="1" i="0">
                <a:solidFill>
                  <a:srgbClr val="FCFFFF"/>
                </a:solidFill>
                <a:latin typeface="Montserrat"/>
              </a:defRPr>
            </a:pPr>
            <a:r>
              <a:t>Bình đẳng hóa công nghệ logistics</a:t>
            </a:r>
          </a:p>
          <a:p>
            <a:pPr algn="l">
              <a:spcBef>
                <a:spcPts val="0"/>
              </a:spcBef>
              <a:spcAft>
                <a:spcPts val="400"/>
              </a:spcAft>
            </a:pPr>
            <a:r>
              <a:rPr sz="1350" b="0" i="0">
                <a:solidFill>
                  <a:srgbClr val="CBD5E1"/>
                </a:solidFill>
                <a:latin typeface="Montserrat"/>
              </a:rPr>
              <a:t>• Mang thuật toán điều phối thông minh (VRP) đến SME với </a:t>
            </a:r>
            <a:r>
              <a:rPr sz="1350" b="1" i="0">
                <a:solidFill>
                  <a:srgbClr val="11C96B"/>
                </a:solidFill>
                <a:latin typeface="Montserrat"/>
              </a:rPr>
              <a:t>chi phí SaaS cực thấp</a:t>
            </a:r>
            <a:r>
              <a:rPr sz="1350" b="0" i="0">
                <a:solidFill>
                  <a:srgbClr val="CBD5E1"/>
                </a:solidFill>
                <a:latin typeface="Montserrat"/>
              </a:rPr>
              <a:t>.
</a:t>
            </a:r>
            <a:r>
              <a:rPr sz="1350" b="0" i="0">
                <a:solidFill>
                  <a:srgbClr val="CBD5E1"/>
                </a:solidFill>
                <a:latin typeface="Montserrat"/>
              </a:rPr>
              <a:t>• Giúp SME đủ chuẩn tham gia </a:t>
            </a:r>
            <a:r>
              <a:rPr sz="1350" b="1" i="0">
                <a:solidFill>
                  <a:srgbClr val="2BBBED"/>
                </a:solidFill>
                <a:latin typeface="Montserrat"/>
              </a:rPr>
              <a:t>chuỗi cung ứng xuất khẩu xanh toàn cầu</a:t>
            </a:r>
            <a:r>
              <a:rPr sz="1350" b="0" i="0">
                <a:solidFill>
                  <a:srgbClr val="CBD5E1"/>
                </a:solidFill>
                <a:latin typeface="Montserrat"/>
              </a:rPr>
              <a:t> (ESG, CBAM).
</a:t>
            </a:r>
            <a:r>
              <a:rPr sz="1350" b="0" i="0">
                <a:solidFill>
                  <a:srgbClr val="CBD5E1"/>
                </a:solidFill>
                <a:latin typeface="Montserrat"/>
              </a:rPr>
              <a:t>• Nâng cao năng lực cạnh tranh bền vững cho nền kinh tế.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amber.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emerald.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cyan.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016000" y="254000"/>
            <a:ext cx="4927600" cy="3302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2BBBED"/>
                </a:solidFill>
                <a:latin typeface="Montserrat"/>
              </a:defRPr>
            </a:pPr>
            <a:r>
              <a:t>» GIẢI PHÁP CÔNG NGHỆ · NỀN TẢNG CARGOX ENGINE »</a:t>
            </a:r>
          </a:p>
        </p:txBody>
      </p:sp>
      <p:sp>
        <p:nvSpPr>
          <p:cNvPr id="7" name="Rounded Rectangle 6"/>
          <p:cNvSpPr/>
          <p:nvPr/>
        </p:nvSpPr>
        <p:spPr>
          <a:xfrm>
            <a:off x="13462000" y="254000"/>
            <a:ext cx="2667000" cy="330200"/>
          </a:xfrm>
          <a:prstGeom prst="roundRect">
            <a:avLst>
              <a:gd name="adj" fmla="val 5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94A3B8"/>
                </a:solidFill>
                <a:latin typeface="Montserrat"/>
              </a:defRPr>
            </a:pPr>
            <a:r>
              <a:t>🏆 OLYMPIC KHỞI NGHIỆP 2026</a:t>
            </a:r>
          </a:p>
        </p:txBody>
      </p:sp>
      <p:pic>
        <p:nvPicPr>
          <p:cNvPr id="8" name="Picture 7" descr="logo_neu_transparent.png"/>
          <p:cNvPicPr>
            <a:picLocks noChangeAspect="1"/>
          </p:cNvPicPr>
          <p:nvPr/>
        </p:nvPicPr>
        <p:blipFill>
          <a:blip r:embed="rId5"/>
          <a:stretch>
            <a:fillRect/>
          </a:stretch>
        </p:blipFill>
        <p:spPr>
          <a:xfrm>
            <a:off x="16281400" y="203200"/>
            <a:ext cx="406400" cy="406400"/>
          </a:xfrm>
          <a:prstGeom prst="rect">
            <a:avLst/>
          </a:prstGeom>
        </p:spPr>
      </p:pic>
      <p:pic>
        <p:nvPicPr>
          <p:cNvPr id="9" name="Picture 8" descr="logo_greenlogix_badge.png"/>
          <p:cNvPicPr>
            <a:picLocks noChangeAspect="1"/>
          </p:cNvPicPr>
          <p:nvPr/>
        </p:nvPicPr>
        <p:blipFill>
          <a:blip r:embed="rId6"/>
          <a:stretch>
            <a:fillRect/>
          </a:stretch>
        </p:blipFill>
        <p:spPr>
          <a:xfrm>
            <a:off x="16814800" y="203200"/>
            <a:ext cx="406400" cy="406400"/>
          </a:xfrm>
          <a:prstGeom prst="rect">
            <a:avLst/>
          </a:prstGeom>
        </p:spPr>
      </p:pic>
      <p:sp>
        <p:nvSpPr>
          <p:cNvPr id="10" name="TextBox 9"/>
          <p:cNvSpPr txBox="1"/>
          <p:nvPr/>
        </p:nvSpPr>
        <p:spPr>
          <a:xfrm>
            <a:off x="1016000" y="660400"/>
            <a:ext cx="16256000" cy="482600"/>
          </a:xfrm>
          <a:prstGeom prst="rect">
            <a:avLst/>
          </a:prstGeom>
          <a:noFill/>
        </p:spPr>
        <p:txBody>
          <a:bodyPr wrap="square" lIns="0" tIns="0" rIns="0" bIns="0">
            <a:spAutoFit/>
          </a:bodyPr>
          <a:lstStyle/>
          <a:p>
            <a:pPr algn="l">
              <a:spcBef>
                <a:spcPts val="0"/>
              </a:spcBef>
              <a:spcAft>
                <a:spcPts val="0"/>
              </a:spcAft>
              <a:defRPr sz="2600" b="1" i="0">
                <a:solidFill>
                  <a:srgbClr val="F3740B"/>
                </a:solidFill>
                <a:latin typeface="Montserrat"/>
              </a:defRPr>
            </a:pPr>
            <a:r>
              <a:t>4 CÁCH GREENLOGIX GIÚP VẬN HÀNH HIỆU QUẢ HƠN</a:t>
            </a:r>
          </a:p>
        </p:txBody>
      </p:sp>
      <p:sp>
        <p:nvSpPr>
          <p:cNvPr id="11" name="Rectangle 10"/>
          <p:cNvSpPr/>
          <p:nvPr/>
        </p:nvSpPr>
        <p:spPr>
          <a:xfrm>
            <a:off x="1016000" y="1193800"/>
            <a:ext cx="16256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1524000"/>
            <a:ext cx="7937500" cy="3556000"/>
          </a:xfrm>
          <a:prstGeom prst="roundRect">
            <a:avLst>
              <a:gd name="adj" fmla="val 4000"/>
            </a:avLst>
          </a:prstGeom>
          <a:solidFill>
            <a:srgbClr val="131B2A"/>
          </a:solidFill>
          <a:ln w="1905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1778000"/>
            <a:ext cx="7226300" cy="3048000"/>
          </a:xfrm>
          <a:prstGeom prst="rect">
            <a:avLst/>
          </a:prstGeom>
          <a:noFill/>
        </p:spPr>
        <p:txBody>
          <a:bodyPr wrap="square" lIns="0" tIns="0" rIns="0" bIns="0">
            <a:spAutoFit/>
          </a:bodyPr>
          <a:lstStyle/>
          <a:p>
            <a:pPr algn="l">
              <a:spcBef>
                <a:spcPts val="0"/>
              </a:spcBef>
              <a:spcAft>
                <a:spcPts val="600"/>
              </a:spcAft>
            </a:pPr>
            <a:r>
              <a:rPr sz="1200" b="1" i="0">
                <a:solidFill>
                  <a:srgbClr val="11C96B"/>
                </a:solidFill>
                <a:latin typeface="Montserrat"/>
              </a:rPr>
              <a:t>» 01 / THUẬT TOÁN TỐI ƯU TUYẾN ĐƯỜNG »</a:t>
            </a:r>
          </a:p>
          <a:p>
            <a:pPr algn="l">
              <a:spcBef>
                <a:spcPts val="0"/>
              </a:spcBef>
              <a:spcAft>
                <a:spcPts val="1000"/>
              </a:spcAft>
              <a:defRPr sz="2100" b="1" i="0">
                <a:solidFill>
                  <a:srgbClr val="FCFFFF"/>
                </a:solidFill>
                <a:latin typeface="Montserrat"/>
              </a:defRPr>
            </a:pPr>
            <a:r>
              <a:t>Tự động sắp tuyến (Smart VRP)</a:t>
            </a:r>
          </a:p>
          <a:p>
            <a:pPr algn="l">
              <a:spcBef>
                <a:spcPts val="0"/>
              </a:spcBef>
              <a:spcAft>
                <a:spcPts val="1400"/>
              </a:spcAft>
              <a:defRPr sz="1400" b="0" i="0">
                <a:solidFill>
                  <a:srgbClr val="CBD5E1"/>
                </a:solidFill>
                <a:latin typeface="Montserrat"/>
              </a:defRPr>
            </a:pPr>
            <a:r>
              <a:t>Gom điểm giao gần nhau theo cụm địa lý, tự động cân đối tải trọng xe và khung giờ nhận hàng. Tạo lộ trình giao tối ưu cho toàn bộ đội xe chỉ trong 3–5 giây thay vì mất 2–3 tiếng làm thủ công trên Excel.</a:t>
            </a:r>
          </a:p>
        </p:txBody>
      </p:sp>
      <p:sp>
        <p:nvSpPr>
          <p:cNvPr id="14" name="Rounded Rectangle 13"/>
          <p:cNvSpPr/>
          <p:nvPr/>
        </p:nvSpPr>
        <p:spPr>
          <a:xfrm>
            <a:off x="1371600" y="4368800"/>
            <a:ext cx="7226300" cy="457200"/>
          </a:xfrm>
          <a:prstGeom prst="roundRect">
            <a:avLst>
              <a:gd name="adj" fmla="val 40000"/>
            </a:avLst>
          </a:prstGeom>
          <a:solidFill>
            <a:srgbClr val="0E1422"/>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l">
              <a:defRPr sz="1200" b="1">
                <a:solidFill>
                  <a:srgbClr val="FCFFFF"/>
                </a:solidFill>
                <a:latin typeface="Montserrat"/>
              </a:defRPr>
            </a:pPr>
            <a:r>
              <a:t>⚡ Rút ngắn 80–90% thời gian điều phối mỗi sáng</a:t>
            </a:r>
          </a:p>
        </p:txBody>
      </p:sp>
      <p:sp>
        <p:nvSpPr>
          <p:cNvPr id="15" name="Rounded Rectangle 14"/>
          <p:cNvSpPr/>
          <p:nvPr/>
        </p:nvSpPr>
        <p:spPr>
          <a:xfrm>
            <a:off x="9334500" y="1524000"/>
            <a:ext cx="7937500" cy="3556000"/>
          </a:xfrm>
          <a:prstGeom prst="roundRect">
            <a:avLst>
              <a:gd name="adj" fmla="val 4000"/>
            </a:avLst>
          </a:prstGeom>
          <a:solidFill>
            <a:srgbClr val="131B2A"/>
          </a:solidFill>
          <a:ln w="1905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0100" y="1778000"/>
            <a:ext cx="7226300" cy="3048000"/>
          </a:xfrm>
          <a:prstGeom prst="rect">
            <a:avLst/>
          </a:prstGeom>
          <a:noFill/>
        </p:spPr>
        <p:txBody>
          <a:bodyPr wrap="square" lIns="0" tIns="0" rIns="0" bIns="0">
            <a:spAutoFit/>
          </a:bodyPr>
          <a:lstStyle/>
          <a:p>
            <a:pPr algn="l">
              <a:spcBef>
                <a:spcPts val="0"/>
              </a:spcBef>
              <a:spcAft>
                <a:spcPts val="600"/>
              </a:spcAft>
            </a:pPr>
            <a:r>
              <a:rPr sz="1200" b="1" i="0">
                <a:solidFill>
                  <a:srgbClr val="2BBBED"/>
                </a:solidFill>
                <a:latin typeface="Montserrat"/>
              </a:rPr>
              <a:t>» 02 / ĐIỀU HÀNH THỜI GIAN THỰC &amp; GIỜ CẤM TẢI »</a:t>
            </a:r>
          </a:p>
          <a:p>
            <a:pPr algn="l">
              <a:spcBef>
                <a:spcPts val="0"/>
              </a:spcBef>
              <a:spcAft>
                <a:spcPts val="1000"/>
              </a:spcAft>
              <a:defRPr sz="2100" b="1" i="0">
                <a:solidFill>
                  <a:srgbClr val="FCFFFF"/>
                </a:solidFill>
                <a:latin typeface="Montserrat"/>
              </a:defRPr>
            </a:pPr>
            <a:r>
              <a:t>Chủ động tránh giờ cấm tải (QĐ 23/2018/QĐ-UBND)</a:t>
            </a:r>
          </a:p>
          <a:p>
            <a:pPr algn="l">
              <a:spcBef>
                <a:spcPts val="0"/>
              </a:spcBef>
              <a:spcAft>
                <a:spcPts val="1400"/>
              </a:spcAft>
              <a:defRPr sz="1400" b="0" i="0">
                <a:solidFill>
                  <a:srgbClr val="CBD5E1"/>
                </a:solidFill>
                <a:latin typeface="Montserrat"/>
              </a:defRPr>
            </a:pPr>
            <a:r>
              <a:t>Tích hợp bản đồ OSRM mạng lưới đường bộ thực tế và bộ lọc giờ cấm tải nội đô TP.HCM. Cảnh báo lệch tuyến tức thì và tự động định tuyến lại để tránh các điểm nghẽn và khung giờ cấm xe tải.</a:t>
            </a:r>
          </a:p>
        </p:txBody>
      </p:sp>
      <p:sp>
        <p:nvSpPr>
          <p:cNvPr id="17" name="Rounded Rectangle 16"/>
          <p:cNvSpPr/>
          <p:nvPr/>
        </p:nvSpPr>
        <p:spPr>
          <a:xfrm>
            <a:off x="9690100" y="4368800"/>
            <a:ext cx="7226300" cy="457200"/>
          </a:xfrm>
          <a:prstGeom prst="roundRect">
            <a:avLst>
              <a:gd name="adj" fmla="val 4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l">
              <a:defRPr sz="1200" b="1">
                <a:solidFill>
                  <a:srgbClr val="FCFFFF"/>
                </a:solidFill>
                <a:latin typeface="Montserrat"/>
              </a:defRPr>
            </a:pPr>
            <a:r>
              <a:t>⏱ Nâng tỷ lệ giao hàng đúng hẹn lên tới 98,8%</a:t>
            </a:r>
          </a:p>
        </p:txBody>
      </p:sp>
      <p:sp>
        <p:nvSpPr>
          <p:cNvPr id="18" name="Rounded Rectangle 17"/>
          <p:cNvSpPr/>
          <p:nvPr/>
        </p:nvSpPr>
        <p:spPr>
          <a:xfrm>
            <a:off x="1016000" y="5397500"/>
            <a:ext cx="7937500" cy="3556000"/>
          </a:xfrm>
          <a:prstGeom prst="roundRect">
            <a:avLst>
              <a:gd name="adj" fmla="val 4000"/>
            </a:avLst>
          </a:prstGeom>
          <a:solidFill>
            <a:srgbClr val="131B2A"/>
          </a:solidFill>
          <a:ln w="1905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71600" y="5651500"/>
            <a:ext cx="7226300" cy="3048000"/>
          </a:xfrm>
          <a:prstGeom prst="rect">
            <a:avLst/>
          </a:prstGeom>
          <a:noFill/>
        </p:spPr>
        <p:txBody>
          <a:bodyPr wrap="square" lIns="0" tIns="0" rIns="0" bIns="0">
            <a:spAutoFit/>
          </a:bodyPr>
          <a:lstStyle/>
          <a:p>
            <a:pPr algn="l">
              <a:spcBef>
                <a:spcPts val="0"/>
              </a:spcBef>
              <a:spcAft>
                <a:spcPts val="600"/>
              </a:spcAft>
            </a:pPr>
            <a:r>
              <a:rPr sz="1200" b="1" i="0">
                <a:solidFill>
                  <a:srgbClr val="F3740B"/>
                </a:solidFill>
                <a:latin typeface="Montserrat"/>
              </a:rPr>
              <a:t>» 03 / MẠNG LƯỚI VẬN TẢI HAI CHIỀU »</a:t>
            </a:r>
          </a:p>
          <a:p>
            <a:pPr algn="l">
              <a:spcBef>
                <a:spcPts val="0"/>
              </a:spcBef>
              <a:spcAft>
                <a:spcPts val="1000"/>
              </a:spcAft>
              <a:defRPr sz="2100" b="1" i="0">
                <a:solidFill>
                  <a:srgbClr val="FCFFFF"/>
                </a:solidFill>
                <a:latin typeface="Montserrat"/>
              </a:defRPr>
            </a:pPr>
            <a:r>
              <a:t>Ghép đơn chiều về (Backhaul Matching)</a:t>
            </a:r>
          </a:p>
          <a:p>
            <a:pPr algn="l">
              <a:spcBef>
                <a:spcPts val="0"/>
              </a:spcBef>
              <a:spcAft>
                <a:spcPts val="1400"/>
              </a:spcAft>
              <a:defRPr sz="1400" b="0" i="0">
                <a:solidFill>
                  <a:srgbClr val="CBD5E1"/>
                </a:solidFill>
                <a:latin typeface="Montserrat"/>
              </a:defRPr>
            </a:pPr>
            <a:r>
              <a:t>Thuật toán tìm kiếm và ghép đơn hàng chiều về dọc theo hành trình xe quay lại kho xuất phát. Tận dụng tối đa tải trọng trống của phương tiện, biến chuyến xe chạy rỗng thành doanh thu thặng dư.</a:t>
            </a:r>
          </a:p>
        </p:txBody>
      </p:sp>
      <p:sp>
        <p:nvSpPr>
          <p:cNvPr id="20" name="Rounded Rectangle 19"/>
          <p:cNvSpPr/>
          <p:nvPr/>
        </p:nvSpPr>
        <p:spPr>
          <a:xfrm>
            <a:off x="1371600" y="8242300"/>
            <a:ext cx="7226300" cy="457200"/>
          </a:xfrm>
          <a:prstGeom prst="roundRect">
            <a:avLst>
              <a:gd name="adj" fmla="val 40000"/>
            </a:avLst>
          </a:prstGeom>
          <a:solidFill>
            <a:srgbClr val="0E1422"/>
          </a:solidFill>
          <a:ln w="1524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l">
              <a:defRPr sz="1200" b="1">
                <a:solidFill>
                  <a:srgbClr val="FCFFFF"/>
                </a:solidFill>
                <a:latin typeface="Montserrat"/>
              </a:defRPr>
            </a:pPr>
            <a:r>
              <a:t>📉 Giảm tỷ lệ xe chạy rỗng từ 30–35% xuống chỉ còn 5–10%</a:t>
            </a:r>
          </a:p>
        </p:txBody>
      </p:sp>
      <p:sp>
        <p:nvSpPr>
          <p:cNvPr id="21" name="Rounded Rectangle 20"/>
          <p:cNvSpPr/>
          <p:nvPr/>
        </p:nvSpPr>
        <p:spPr>
          <a:xfrm>
            <a:off x="9334500" y="5397500"/>
            <a:ext cx="7937500" cy="3556000"/>
          </a:xfrm>
          <a:prstGeom prst="roundRect">
            <a:avLst>
              <a:gd name="adj" fmla="val 4000"/>
            </a:avLst>
          </a:prstGeom>
          <a:solidFill>
            <a:srgbClr val="131B2A"/>
          </a:solidFill>
          <a:ln w="1905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0100" y="5651500"/>
            <a:ext cx="7226300" cy="3048000"/>
          </a:xfrm>
          <a:prstGeom prst="rect">
            <a:avLst/>
          </a:prstGeom>
          <a:noFill/>
        </p:spPr>
        <p:txBody>
          <a:bodyPr wrap="square" lIns="0" tIns="0" rIns="0" bIns="0">
            <a:spAutoFit/>
          </a:bodyPr>
          <a:lstStyle/>
          <a:p>
            <a:pPr algn="l">
              <a:spcBef>
                <a:spcPts val="0"/>
              </a:spcBef>
              <a:spcAft>
                <a:spcPts val="600"/>
              </a:spcAft>
            </a:pPr>
            <a:r>
              <a:rPr sz="1200" b="1" i="0">
                <a:solidFill>
                  <a:srgbClr val="11C96B"/>
                </a:solidFill>
                <a:latin typeface="Montserrat"/>
              </a:rPr>
              <a:t>» 04 / KIỂM KÊ CARBON MINH BẠCH »</a:t>
            </a:r>
          </a:p>
          <a:p>
            <a:pPr algn="l">
              <a:spcBef>
                <a:spcPts val="0"/>
              </a:spcBef>
              <a:spcAft>
                <a:spcPts val="1000"/>
              </a:spcAft>
              <a:defRPr sz="2100" b="1" i="0">
                <a:solidFill>
                  <a:srgbClr val="FCFFFF"/>
                </a:solidFill>
                <a:latin typeface="Montserrat"/>
              </a:defRPr>
            </a:pPr>
            <a:r>
              <a:t>Đo lường &amp; báo cáo CO₂ (Carbon Accounting)</a:t>
            </a:r>
          </a:p>
          <a:p>
            <a:pPr algn="l">
              <a:spcBef>
                <a:spcPts val="0"/>
              </a:spcBef>
              <a:spcAft>
                <a:spcPts val="1400"/>
              </a:spcAft>
              <a:defRPr sz="1400" b="0" i="0">
                <a:solidFill>
                  <a:srgbClr val="CBD5E1"/>
                </a:solidFill>
                <a:latin typeface="Montserrat"/>
              </a:defRPr>
            </a:pPr>
            <a:r>
              <a:t>Tự động tính toán lượng phát thải khí nhà kính dựa trên ki-lô-mét thực tế và tải trọng theo chuẩn quốc tế GLEC Framework và GHG Protocol Scope 3. Xuất chứng chỉ báo cáo ESG chỉ với 1 cú nhấp chuột.</a:t>
            </a:r>
          </a:p>
        </p:txBody>
      </p:sp>
      <p:sp>
        <p:nvSpPr>
          <p:cNvPr id="23" name="Rounded Rectangle 22"/>
          <p:cNvSpPr/>
          <p:nvPr/>
        </p:nvSpPr>
        <p:spPr>
          <a:xfrm>
            <a:off x="9690100" y="8242300"/>
            <a:ext cx="7226300" cy="457200"/>
          </a:xfrm>
          <a:prstGeom prst="roundRect">
            <a:avLst>
              <a:gd name="adj" fmla="val 40000"/>
            </a:avLst>
          </a:prstGeom>
          <a:solidFill>
            <a:srgbClr val="0E1422"/>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l">
              <a:defRPr sz="1200" b="1">
                <a:solidFill>
                  <a:srgbClr val="FCFFFF"/>
                </a:solidFill>
                <a:latin typeface="Montserrat"/>
              </a:defRPr>
            </a:pPr>
            <a:r>
              <a:t>🌱 Chuẩn hóa quốc tế GLEC / GHG Protocol Scope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cyan.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emerald.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amber.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016000" y="254000"/>
            <a:ext cx="7112000" cy="330200"/>
          </a:xfrm>
          <a:prstGeom prst="roundRect">
            <a:avLst>
              <a:gd name="adj" fmla="val 50000"/>
            </a:avLst>
          </a:prstGeom>
          <a:solidFill>
            <a:srgbClr val="0E1422"/>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11C96B"/>
                </a:solidFill>
                <a:latin typeface="Montserrat"/>
              </a:defRPr>
            </a:pPr>
            <a:r>
              <a:t>» SẢN PHẨM THỰC TẾ · THUẬT TOÁN ĐỊNH TUYẾN ĐƯỜNG BỘ OSRM THỜI GIAN THỰC »</a:t>
            </a:r>
          </a:p>
        </p:txBody>
      </p:sp>
      <p:sp>
        <p:nvSpPr>
          <p:cNvPr id="7" name="Rounded Rectangle 6"/>
          <p:cNvSpPr/>
          <p:nvPr/>
        </p:nvSpPr>
        <p:spPr>
          <a:xfrm>
            <a:off x="13462000" y="254000"/>
            <a:ext cx="2667000" cy="330200"/>
          </a:xfrm>
          <a:prstGeom prst="roundRect">
            <a:avLst>
              <a:gd name="adj" fmla="val 5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94A3B8"/>
                </a:solidFill>
                <a:latin typeface="Montserrat"/>
              </a:defRPr>
            </a:pPr>
            <a:r>
              <a:t>🏆 OLYMPIC KHỞI NGHIỆP 2026</a:t>
            </a:r>
          </a:p>
        </p:txBody>
      </p:sp>
      <p:pic>
        <p:nvPicPr>
          <p:cNvPr id="8" name="Picture 7" descr="logo_neu_transparent.png"/>
          <p:cNvPicPr>
            <a:picLocks noChangeAspect="1"/>
          </p:cNvPicPr>
          <p:nvPr/>
        </p:nvPicPr>
        <p:blipFill>
          <a:blip r:embed="rId5"/>
          <a:stretch>
            <a:fillRect/>
          </a:stretch>
        </p:blipFill>
        <p:spPr>
          <a:xfrm>
            <a:off x="16281400" y="203200"/>
            <a:ext cx="406400" cy="406400"/>
          </a:xfrm>
          <a:prstGeom prst="rect">
            <a:avLst/>
          </a:prstGeom>
        </p:spPr>
      </p:pic>
      <p:pic>
        <p:nvPicPr>
          <p:cNvPr id="9" name="Picture 8" descr="logo_greenlogix_badge.png"/>
          <p:cNvPicPr>
            <a:picLocks noChangeAspect="1"/>
          </p:cNvPicPr>
          <p:nvPr/>
        </p:nvPicPr>
        <p:blipFill>
          <a:blip r:embed="rId6"/>
          <a:stretch>
            <a:fillRect/>
          </a:stretch>
        </p:blipFill>
        <p:spPr>
          <a:xfrm>
            <a:off x="16814800" y="203200"/>
            <a:ext cx="406400" cy="406400"/>
          </a:xfrm>
          <a:prstGeom prst="rect">
            <a:avLst/>
          </a:prstGeom>
        </p:spPr>
      </p:pic>
      <p:sp>
        <p:nvSpPr>
          <p:cNvPr id="10" name="TextBox 9"/>
          <p:cNvSpPr txBox="1"/>
          <p:nvPr/>
        </p:nvSpPr>
        <p:spPr>
          <a:xfrm>
            <a:off x="1016000" y="660400"/>
            <a:ext cx="16256000" cy="482600"/>
          </a:xfrm>
          <a:prstGeom prst="rect">
            <a:avLst/>
          </a:prstGeom>
          <a:noFill/>
        </p:spPr>
        <p:txBody>
          <a:bodyPr wrap="square" lIns="0" tIns="0" rIns="0" bIns="0">
            <a:spAutoFit/>
          </a:bodyPr>
          <a:lstStyle/>
          <a:p>
            <a:pPr algn="l">
              <a:spcBef>
                <a:spcPts val="0"/>
              </a:spcBef>
              <a:spcAft>
                <a:spcPts val="0"/>
              </a:spcAft>
              <a:defRPr sz="2600" b="1" i="0">
                <a:solidFill>
                  <a:srgbClr val="2BBBED"/>
                </a:solidFill>
                <a:latin typeface="Montserrat"/>
              </a:defRPr>
            </a:pPr>
            <a:r>
              <a:t>GIAO DIỆN QUẢN LÝ TRỰC QUAN &amp; ỨNG DỤNG DI ĐỘNG TÀI XẾ</a:t>
            </a:r>
          </a:p>
        </p:txBody>
      </p:sp>
      <p:sp>
        <p:nvSpPr>
          <p:cNvPr id="11" name="Rectangle 10"/>
          <p:cNvSpPr/>
          <p:nvPr/>
        </p:nvSpPr>
        <p:spPr>
          <a:xfrm>
            <a:off x="1016000" y="1193800"/>
            <a:ext cx="16256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1498600"/>
            <a:ext cx="11811000" cy="7429500"/>
          </a:xfrm>
          <a:prstGeom prst="roundRect">
            <a:avLst>
              <a:gd name="adj" fmla="val 2500"/>
            </a:avLst>
          </a:prstGeom>
          <a:solidFill>
            <a:srgbClr val="0E1422"/>
          </a:solidFill>
          <a:ln w="2032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44600" y="1600200"/>
            <a:ext cx="11353800" cy="304800"/>
          </a:xfrm>
          <a:prstGeom prst="rect">
            <a:avLst/>
          </a:prstGeom>
          <a:noFill/>
        </p:spPr>
        <p:txBody>
          <a:bodyPr wrap="square" lIns="0" tIns="0" rIns="0" bIns="0">
            <a:spAutoFit/>
          </a:bodyPr>
          <a:lstStyle/>
          <a:p>
            <a:pPr algn="l">
              <a:spcBef>
                <a:spcPts val="0"/>
              </a:spcBef>
              <a:spcAft>
                <a:spcPts val="400"/>
              </a:spcAft>
            </a:pPr>
            <a:r>
              <a:rPr sz="1100" b="1" i="0">
                <a:solidFill>
                  <a:srgbClr val="F3740B"/>
                </a:solidFill>
                <a:latin typeface="Montserrat"/>
              </a:rPr>
              <a:t>● ● ●   </a:t>
            </a:r>
            <a:r>
              <a:rPr sz="1150" b="0" i="0">
                <a:solidFill>
                  <a:srgbClr val="94A3B8"/>
                </a:solidFill>
                <a:latin typeface="Montserrat"/>
              </a:rPr>
              <a:t>console.greenlogix.vn/dispatcher — Bản đồ điều phối &amp; mạng lưới đường bộ OSRM thực tế TP.HCM (80 đơn / 5 tuyến)</a:t>
            </a:r>
          </a:p>
        </p:txBody>
      </p:sp>
      <p:pic>
        <p:nvPicPr>
          <p:cNvPr id="14" name="Picture 13" descr="dispatcher_real_latest.png"/>
          <p:cNvPicPr>
            <a:picLocks noChangeAspect="1"/>
          </p:cNvPicPr>
          <p:nvPr/>
        </p:nvPicPr>
        <p:blipFill>
          <a:blip r:embed="rId8"/>
          <a:stretch>
            <a:fillRect/>
          </a:stretch>
        </p:blipFill>
        <p:spPr>
          <a:xfrm>
            <a:off x="1092200" y="1955800"/>
            <a:ext cx="11658600" cy="6870700"/>
          </a:xfrm>
          <a:prstGeom prst="rect">
            <a:avLst/>
          </a:prstGeom>
        </p:spPr>
      </p:pic>
      <p:pic>
        <p:nvPicPr>
          <p:cNvPr id="15" name="Picture 14" descr="driver_phone_mockup.png"/>
          <p:cNvPicPr>
            <a:picLocks noChangeAspect="1"/>
          </p:cNvPicPr>
          <p:nvPr/>
        </p:nvPicPr>
        <p:blipFill>
          <a:blip r:embed="rId9"/>
          <a:stretch>
            <a:fillRect/>
          </a:stretch>
        </p:blipFill>
        <p:spPr>
          <a:xfrm>
            <a:off x="13550900" y="1549400"/>
            <a:ext cx="3302000" cy="7175500"/>
          </a:xfrm>
          <a:prstGeom prst="rect">
            <a:avLst/>
          </a:prstGeom>
        </p:spPr>
      </p:pic>
      <p:sp>
        <p:nvSpPr>
          <p:cNvPr id="16" name="Rounded Rectangle 15"/>
          <p:cNvSpPr/>
          <p:nvPr/>
        </p:nvSpPr>
        <p:spPr>
          <a:xfrm>
            <a:off x="1219200" y="8267700"/>
            <a:ext cx="5461000" cy="457200"/>
          </a:xfrm>
          <a:prstGeom prst="roundRect">
            <a:avLst>
              <a:gd name="adj" fmla="val 50000"/>
            </a:avLst>
          </a:prstGeom>
          <a:solidFill>
            <a:srgbClr val="0E1422"/>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50" b="1">
                <a:solidFill>
                  <a:srgbClr val="11C96B"/>
                </a:solidFill>
                <a:latin typeface="Montserrat"/>
              </a:defRPr>
            </a:pPr>
            <a:r>
              <a:t>⚡ OSRM Road Pathfinding: 5/5 xe theo đường phố thực</a:t>
            </a:r>
          </a:p>
        </p:txBody>
      </p:sp>
      <p:sp>
        <p:nvSpPr>
          <p:cNvPr id="17" name="Rounded Rectangle 16"/>
          <p:cNvSpPr/>
          <p:nvPr/>
        </p:nvSpPr>
        <p:spPr>
          <a:xfrm>
            <a:off x="6858000" y="8267700"/>
            <a:ext cx="5715000" cy="4572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150" b="1">
                <a:solidFill>
                  <a:srgbClr val="2BBBED"/>
                </a:solidFill>
                <a:latin typeface="Montserrat"/>
              </a:defRPr>
            </a:pPr>
            <a:r>
              <a:t>🌱 -88.31% CO₂ TTW so với kịch bản chạy thủ công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emerald.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cyan.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amber.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016000" y="254000"/>
            <a:ext cx="5130800" cy="330200"/>
          </a:xfrm>
          <a:prstGeom prst="roundRect">
            <a:avLst>
              <a:gd name="adj" fmla="val 50000"/>
            </a:avLst>
          </a:prstGeom>
          <a:solidFill>
            <a:srgbClr val="0E1422"/>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11C96B"/>
                </a:solidFill>
                <a:latin typeface="Montserrat"/>
              </a:defRPr>
            </a:pPr>
            <a:r>
              <a:t>» LỢI THẾ CẠNH TRANH VƯỢT TRỘI · BẢO VỆ THỊ PHẦN »</a:t>
            </a:r>
          </a:p>
        </p:txBody>
      </p:sp>
      <p:sp>
        <p:nvSpPr>
          <p:cNvPr id="7" name="Rounded Rectangle 6"/>
          <p:cNvSpPr/>
          <p:nvPr/>
        </p:nvSpPr>
        <p:spPr>
          <a:xfrm>
            <a:off x="13462000" y="254000"/>
            <a:ext cx="2667000" cy="330200"/>
          </a:xfrm>
          <a:prstGeom prst="roundRect">
            <a:avLst>
              <a:gd name="adj" fmla="val 5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94A3B8"/>
                </a:solidFill>
                <a:latin typeface="Montserrat"/>
              </a:defRPr>
            </a:pPr>
            <a:r>
              <a:t>🏆 OLYMPIC KHỞI NGHIỆP 2026</a:t>
            </a:r>
          </a:p>
        </p:txBody>
      </p:sp>
      <p:pic>
        <p:nvPicPr>
          <p:cNvPr id="8" name="Picture 7" descr="logo_neu_transparent.png"/>
          <p:cNvPicPr>
            <a:picLocks noChangeAspect="1"/>
          </p:cNvPicPr>
          <p:nvPr/>
        </p:nvPicPr>
        <p:blipFill>
          <a:blip r:embed="rId5"/>
          <a:stretch>
            <a:fillRect/>
          </a:stretch>
        </p:blipFill>
        <p:spPr>
          <a:xfrm>
            <a:off x="16281400" y="203200"/>
            <a:ext cx="406400" cy="406400"/>
          </a:xfrm>
          <a:prstGeom prst="rect">
            <a:avLst/>
          </a:prstGeom>
        </p:spPr>
      </p:pic>
      <p:pic>
        <p:nvPicPr>
          <p:cNvPr id="9" name="Picture 8" descr="logo_greenlogix_badge.png"/>
          <p:cNvPicPr>
            <a:picLocks noChangeAspect="1"/>
          </p:cNvPicPr>
          <p:nvPr/>
        </p:nvPicPr>
        <p:blipFill>
          <a:blip r:embed="rId6"/>
          <a:stretch>
            <a:fillRect/>
          </a:stretch>
        </p:blipFill>
        <p:spPr>
          <a:xfrm>
            <a:off x="16814800" y="203200"/>
            <a:ext cx="406400" cy="406400"/>
          </a:xfrm>
          <a:prstGeom prst="rect">
            <a:avLst/>
          </a:prstGeom>
        </p:spPr>
      </p:pic>
      <p:sp>
        <p:nvSpPr>
          <p:cNvPr id="10" name="TextBox 9"/>
          <p:cNvSpPr txBox="1"/>
          <p:nvPr/>
        </p:nvSpPr>
        <p:spPr>
          <a:xfrm>
            <a:off x="1016000" y="660400"/>
            <a:ext cx="16256000" cy="482600"/>
          </a:xfrm>
          <a:prstGeom prst="rect">
            <a:avLst/>
          </a:prstGeom>
          <a:noFill/>
        </p:spPr>
        <p:txBody>
          <a:bodyPr wrap="square" lIns="0" tIns="0" rIns="0" bIns="0">
            <a:spAutoFit/>
          </a:bodyPr>
          <a:lstStyle/>
          <a:p>
            <a:pPr algn="l">
              <a:spcBef>
                <a:spcPts val="0"/>
              </a:spcBef>
              <a:spcAft>
                <a:spcPts val="0"/>
              </a:spcAft>
              <a:defRPr sz="2600" b="1" i="0">
                <a:solidFill>
                  <a:srgbClr val="F3740B"/>
                </a:solidFill>
                <a:latin typeface="Montserrat"/>
              </a:defRPr>
            </a:pPr>
            <a:r>
              <a:t>SO SÁNH HIỆU QUẢ: CÁCH LÀM CŨ VS. GREENLOGIX</a:t>
            </a:r>
          </a:p>
        </p:txBody>
      </p:sp>
      <p:sp>
        <p:nvSpPr>
          <p:cNvPr id="11" name="Rectangle 10"/>
          <p:cNvSpPr/>
          <p:nvPr/>
        </p:nvSpPr>
        <p:spPr>
          <a:xfrm>
            <a:off x="1016000" y="1193800"/>
            <a:ext cx="16256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1524000"/>
            <a:ext cx="16256000" cy="7429500"/>
          </a:xfrm>
          <a:prstGeom prst="roundRect">
            <a:avLst>
              <a:gd name="adj" fmla="val 4000"/>
            </a:avLst>
          </a:prstGeom>
          <a:solidFill>
            <a:srgbClr val="131B2A"/>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22000" y="1651000"/>
            <a:ext cx="6096000" cy="6477000"/>
          </a:xfrm>
          <a:prstGeom prst="roundRect">
            <a:avLst>
              <a:gd name="adj" fmla="val 4000"/>
            </a:avLst>
          </a:prstGeom>
          <a:solidFill>
            <a:srgbClr val="0A261A"/>
          </a:solidFill>
          <a:ln w="2286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0800" y="1752600"/>
            <a:ext cx="3556000" cy="457200"/>
          </a:xfrm>
          <a:prstGeom prst="rect">
            <a:avLst/>
          </a:prstGeom>
          <a:noFill/>
        </p:spPr>
        <p:txBody>
          <a:bodyPr wrap="square" lIns="0" tIns="0" rIns="0" bIns="0">
            <a:spAutoFit/>
          </a:bodyPr>
          <a:lstStyle/>
          <a:p>
            <a:pPr algn="l">
              <a:spcBef>
                <a:spcPts val="0"/>
              </a:spcBef>
              <a:spcAft>
                <a:spcPts val="400"/>
              </a:spcAft>
              <a:defRPr sz="1350" b="1" i="0">
                <a:solidFill>
                  <a:srgbClr val="94A3B8"/>
                </a:solidFill>
                <a:latin typeface="Montserrat"/>
              </a:defRPr>
            </a:pPr>
            <a:r>
              <a:t>» TIÊU CHÍ ĐÁNH GIÁ »</a:t>
            </a:r>
          </a:p>
        </p:txBody>
      </p:sp>
      <p:sp>
        <p:nvSpPr>
          <p:cNvPr id="15" name="TextBox 14"/>
          <p:cNvSpPr txBox="1"/>
          <p:nvPr/>
        </p:nvSpPr>
        <p:spPr>
          <a:xfrm>
            <a:off x="5080000" y="1752600"/>
            <a:ext cx="5588000" cy="457200"/>
          </a:xfrm>
          <a:prstGeom prst="rect">
            <a:avLst/>
          </a:prstGeom>
          <a:noFill/>
        </p:spPr>
        <p:txBody>
          <a:bodyPr wrap="square" lIns="0" tIns="0" rIns="0" bIns="0">
            <a:spAutoFit/>
          </a:bodyPr>
          <a:lstStyle/>
          <a:p>
            <a:pPr algn="l">
              <a:spcBef>
                <a:spcPts val="0"/>
              </a:spcBef>
              <a:spcAft>
                <a:spcPts val="400"/>
              </a:spcAft>
              <a:defRPr sz="1350" b="1" i="0">
                <a:solidFill>
                  <a:srgbClr val="EF4444"/>
                </a:solidFill>
                <a:latin typeface="Montserrat"/>
              </a:defRPr>
            </a:pPr>
            <a:r>
              <a:t>CÁCH LÀM CŨ (THỦ CÔNG / ERP TRUYỀN THỐNG)</a:t>
            </a:r>
          </a:p>
        </p:txBody>
      </p:sp>
      <p:sp>
        <p:nvSpPr>
          <p:cNvPr id="16" name="TextBox 15"/>
          <p:cNvSpPr txBox="1"/>
          <p:nvPr/>
        </p:nvSpPr>
        <p:spPr>
          <a:xfrm>
            <a:off x="11226800" y="1752600"/>
            <a:ext cx="5486400" cy="457200"/>
          </a:xfrm>
          <a:prstGeom prst="rect">
            <a:avLst/>
          </a:prstGeom>
          <a:noFill/>
        </p:spPr>
        <p:txBody>
          <a:bodyPr wrap="square" lIns="0" tIns="0" rIns="0" bIns="0">
            <a:spAutoFit/>
          </a:bodyPr>
          <a:lstStyle/>
          <a:p>
            <a:pPr algn="l">
              <a:spcBef>
                <a:spcPts val="0"/>
              </a:spcBef>
              <a:spcAft>
                <a:spcPts val="400"/>
              </a:spcAft>
              <a:defRPr sz="1500" b="1" i="0">
                <a:solidFill>
                  <a:srgbClr val="11C96B"/>
                </a:solidFill>
                <a:latin typeface="Montserrat"/>
              </a:defRPr>
            </a:pPr>
            <a:r>
              <a:t>★ NỀN TẢNG GREENLOGIX (VƯỢT TRỘI)</a:t>
            </a:r>
          </a:p>
        </p:txBody>
      </p:sp>
      <p:sp>
        <p:nvSpPr>
          <p:cNvPr id="17" name="Rectangle 16"/>
          <p:cNvSpPr/>
          <p:nvPr/>
        </p:nvSpPr>
        <p:spPr>
          <a:xfrm>
            <a:off x="1219200" y="2235200"/>
            <a:ext cx="15849600" cy="1524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0800" y="2514600"/>
            <a:ext cx="3556000" cy="1016000"/>
          </a:xfrm>
          <a:prstGeom prst="rect">
            <a:avLst/>
          </a:prstGeom>
          <a:noFill/>
        </p:spPr>
        <p:txBody>
          <a:bodyPr wrap="square" lIns="0" tIns="0" rIns="0" bIns="0">
            <a:spAutoFit/>
          </a:bodyPr>
          <a:lstStyle/>
          <a:p>
            <a:pPr algn="l">
              <a:spcBef>
                <a:spcPts val="0"/>
              </a:spcBef>
              <a:spcAft>
                <a:spcPts val="400"/>
              </a:spcAft>
              <a:defRPr sz="1450" b="1" i="0">
                <a:solidFill>
                  <a:srgbClr val="FCFFFF"/>
                </a:solidFill>
                <a:latin typeface="Montserrat"/>
              </a:defRPr>
            </a:pPr>
            <a:r>
              <a:t>Tỷ lệ xe chạy rỗng chiều về</a:t>
            </a:r>
          </a:p>
        </p:txBody>
      </p:sp>
      <p:sp>
        <p:nvSpPr>
          <p:cNvPr id="19" name="TextBox 18"/>
          <p:cNvSpPr txBox="1"/>
          <p:nvPr/>
        </p:nvSpPr>
        <p:spPr>
          <a:xfrm>
            <a:off x="5080000" y="2514600"/>
            <a:ext cx="5588000" cy="1016000"/>
          </a:xfrm>
          <a:prstGeom prst="rect">
            <a:avLst/>
          </a:prstGeom>
          <a:noFill/>
        </p:spPr>
        <p:txBody>
          <a:bodyPr wrap="square" lIns="0" tIns="0" rIns="0" bIns="0">
            <a:spAutoFit/>
          </a:bodyPr>
          <a:lstStyle/>
          <a:p>
            <a:pPr algn="l">
              <a:spcBef>
                <a:spcPts val="0"/>
              </a:spcBef>
              <a:spcAft>
                <a:spcPts val="300"/>
              </a:spcAft>
              <a:defRPr sz="1400" b="1" i="0">
                <a:solidFill>
                  <a:srgbClr val="EF4444"/>
                </a:solidFill>
                <a:latin typeface="Montserrat"/>
              </a:defRPr>
            </a:pPr>
            <a:r>
              <a:t>✗  30–35% xe chạy rỗng sau khi giao</a:t>
            </a:r>
          </a:p>
          <a:p>
            <a:pPr algn="l">
              <a:spcBef>
                <a:spcPts val="0"/>
              </a:spcBef>
              <a:spcAft>
                <a:spcPts val="400"/>
              </a:spcAft>
              <a:defRPr sz="1200" b="0" i="0">
                <a:solidFill>
                  <a:srgbClr val="94A3B8"/>
                </a:solidFill>
                <a:latin typeface="Montserrat"/>
              </a:defRPr>
            </a:pPr>
            <a:r>
              <a:t>Hoàn toàn không có công cụ tìm đơn ngược lại, lãng phí nhiên liệu và khấu hao xe.</a:t>
            </a:r>
          </a:p>
        </p:txBody>
      </p:sp>
      <p:sp>
        <p:nvSpPr>
          <p:cNvPr id="20" name="TextBox 19"/>
          <p:cNvSpPr txBox="1"/>
          <p:nvPr/>
        </p:nvSpPr>
        <p:spPr>
          <a:xfrm>
            <a:off x="11226800" y="2514600"/>
            <a:ext cx="5486400" cy="1016000"/>
          </a:xfrm>
          <a:prstGeom prst="rect">
            <a:avLst/>
          </a:prstGeom>
          <a:noFill/>
        </p:spPr>
        <p:txBody>
          <a:bodyPr wrap="square" lIns="0" tIns="0" rIns="0" bIns="0">
            <a:spAutoFit/>
          </a:bodyPr>
          <a:lstStyle/>
          <a:p>
            <a:pPr algn="l">
              <a:spcBef>
                <a:spcPts val="0"/>
              </a:spcBef>
              <a:spcAft>
                <a:spcPts val="300"/>
              </a:spcAft>
              <a:defRPr sz="1450" b="1" i="0">
                <a:solidFill>
                  <a:srgbClr val="11C96B"/>
                </a:solidFill>
                <a:latin typeface="Montserrat"/>
              </a:defRPr>
            </a:pPr>
            <a:r>
              <a:t>✓  Ghép đơn chiều về, giảm còn 5–10%</a:t>
            </a:r>
          </a:p>
          <a:p>
            <a:pPr algn="l">
              <a:spcBef>
                <a:spcPts val="0"/>
              </a:spcBef>
              <a:spcAft>
                <a:spcPts val="400"/>
              </a:spcAft>
              <a:defRPr sz="1250" b="0" i="0">
                <a:solidFill>
                  <a:srgbClr val="FCFFFF"/>
                </a:solidFill>
                <a:latin typeface="Montserrat"/>
              </a:defRPr>
            </a:pPr>
            <a:r>
              <a:t>Thuật toán tự động tìm và gợi ý đơn hàng chiều về, tận dụng tối đa tải trọng phương tiện.</a:t>
            </a:r>
          </a:p>
        </p:txBody>
      </p:sp>
      <p:sp>
        <p:nvSpPr>
          <p:cNvPr id="21" name="Rectangle 20"/>
          <p:cNvSpPr/>
          <p:nvPr/>
        </p:nvSpPr>
        <p:spPr>
          <a:xfrm>
            <a:off x="1320800" y="3683000"/>
            <a:ext cx="15646400" cy="1016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0800" y="3835400"/>
            <a:ext cx="3556000" cy="1016000"/>
          </a:xfrm>
          <a:prstGeom prst="rect">
            <a:avLst/>
          </a:prstGeom>
          <a:noFill/>
        </p:spPr>
        <p:txBody>
          <a:bodyPr wrap="square" lIns="0" tIns="0" rIns="0" bIns="0">
            <a:spAutoFit/>
          </a:bodyPr>
          <a:lstStyle/>
          <a:p>
            <a:pPr algn="l">
              <a:spcBef>
                <a:spcPts val="0"/>
              </a:spcBef>
              <a:spcAft>
                <a:spcPts val="400"/>
              </a:spcAft>
              <a:defRPr sz="1450" b="1" i="0">
                <a:solidFill>
                  <a:srgbClr val="FCFFFF"/>
                </a:solidFill>
                <a:latin typeface="Montserrat"/>
              </a:defRPr>
            </a:pPr>
            <a:r>
              <a:t>Đo lường phát thải CO₂</a:t>
            </a:r>
          </a:p>
        </p:txBody>
      </p:sp>
      <p:sp>
        <p:nvSpPr>
          <p:cNvPr id="23" name="TextBox 22"/>
          <p:cNvSpPr txBox="1"/>
          <p:nvPr/>
        </p:nvSpPr>
        <p:spPr>
          <a:xfrm>
            <a:off x="5080000" y="3835400"/>
            <a:ext cx="5588000" cy="1016000"/>
          </a:xfrm>
          <a:prstGeom prst="rect">
            <a:avLst/>
          </a:prstGeom>
          <a:noFill/>
        </p:spPr>
        <p:txBody>
          <a:bodyPr wrap="square" lIns="0" tIns="0" rIns="0" bIns="0">
            <a:spAutoFit/>
          </a:bodyPr>
          <a:lstStyle/>
          <a:p>
            <a:pPr algn="l">
              <a:spcBef>
                <a:spcPts val="0"/>
              </a:spcBef>
              <a:spcAft>
                <a:spcPts val="300"/>
              </a:spcAft>
              <a:defRPr sz="1400" b="1" i="0">
                <a:solidFill>
                  <a:srgbClr val="EF4444"/>
                </a:solidFill>
                <a:latin typeface="Montserrat"/>
              </a:defRPr>
            </a:pPr>
            <a:r>
              <a:t>✗  Không có dữ liệu / không tính được</a:t>
            </a:r>
          </a:p>
          <a:p>
            <a:pPr algn="l">
              <a:spcBef>
                <a:spcPts val="0"/>
              </a:spcBef>
              <a:spcAft>
                <a:spcPts val="400"/>
              </a:spcAft>
              <a:defRPr sz="1200" b="0" i="0">
                <a:solidFill>
                  <a:srgbClr val="94A3B8"/>
                </a:solidFill>
                <a:latin typeface="Montserrat"/>
              </a:defRPr>
            </a:pPr>
            <a:r>
              <a:t>Hoàn toàn mù mờ về phát thải, không thể cung cấp báo cáo ESG và kiểm kê khí nhà kính.</a:t>
            </a:r>
          </a:p>
        </p:txBody>
      </p:sp>
      <p:sp>
        <p:nvSpPr>
          <p:cNvPr id="24" name="TextBox 23"/>
          <p:cNvSpPr txBox="1"/>
          <p:nvPr/>
        </p:nvSpPr>
        <p:spPr>
          <a:xfrm>
            <a:off x="11226800" y="3835400"/>
            <a:ext cx="5486400" cy="1016000"/>
          </a:xfrm>
          <a:prstGeom prst="rect">
            <a:avLst/>
          </a:prstGeom>
          <a:noFill/>
        </p:spPr>
        <p:txBody>
          <a:bodyPr wrap="square" lIns="0" tIns="0" rIns="0" bIns="0">
            <a:spAutoFit/>
          </a:bodyPr>
          <a:lstStyle/>
          <a:p>
            <a:pPr algn="l">
              <a:spcBef>
                <a:spcPts val="0"/>
              </a:spcBef>
              <a:spcAft>
                <a:spcPts val="300"/>
              </a:spcAft>
              <a:defRPr sz="1450" b="1" i="0">
                <a:solidFill>
                  <a:srgbClr val="11C96B"/>
                </a:solidFill>
                <a:latin typeface="Montserrat"/>
              </a:defRPr>
            </a:pPr>
            <a:r>
              <a:t>✓  Tự động theo chuẩn GLEC / GHG Protocol Scope 3</a:t>
            </a:r>
          </a:p>
          <a:p>
            <a:pPr algn="l">
              <a:spcBef>
                <a:spcPts val="0"/>
              </a:spcBef>
              <a:spcAft>
                <a:spcPts val="400"/>
              </a:spcAft>
              <a:defRPr sz="1250" b="0" i="0">
                <a:solidFill>
                  <a:srgbClr val="FCFFFF"/>
                </a:solidFill>
                <a:latin typeface="Montserrat"/>
              </a:defRPr>
            </a:pPr>
            <a:r>
              <a:t>Tự động tính toán lượng phát thải từng chuyến xe, xuất chứng chỉ báo cáo chuẩn quốc tế.</a:t>
            </a:r>
          </a:p>
        </p:txBody>
      </p:sp>
      <p:sp>
        <p:nvSpPr>
          <p:cNvPr id="25" name="Rectangle 24"/>
          <p:cNvSpPr/>
          <p:nvPr/>
        </p:nvSpPr>
        <p:spPr>
          <a:xfrm>
            <a:off x="1320800" y="5003800"/>
            <a:ext cx="15646400" cy="1016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20800" y="5156200"/>
            <a:ext cx="3556000" cy="1016000"/>
          </a:xfrm>
          <a:prstGeom prst="rect">
            <a:avLst/>
          </a:prstGeom>
          <a:noFill/>
        </p:spPr>
        <p:txBody>
          <a:bodyPr wrap="square" lIns="0" tIns="0" rIns="0" bIns="0">
            <a:spAutoFit/>
          </a:bodyPr>
          <a:lstStyle/>
          <a:p>
            <a:pPr algn="l">
              <a:spcBef>
                <a:spcPts val="0"/>
              </a:spcBef>
              <a:spcAft>
                <a:spcPts val="400"/>
              </a:spcAft>
              <a:defRPr sz="1450" b="1" i="0">
                <a:solidFill>
                  <a:srgbClr val="FCFFFF"/>
                </a:solidFill>
                <a:latin typeface="Montserrat"/>
              </a:defRPr>
            </a:pPr>
            <a:r>
              <a:t>Thời gian điều phối mỗi ngày</a:t>
            </a:r>
          </a:p>
        </p:txBody>
      </p:sp>
      <p:sp>
        <p:nvSpPr>
          <p:cNvPr id="27" name="TextBox 26"/>
          <p:cNvSpPr txBox="1"/>
          <p:nvPr/>
        </p:nvSpPr>
        <p:spPr>
          <a:xfrm>
            <a:off x="5080000" y="5156200"/>
            <a:ext cx="5588000" cy="1016000"/>
          </a:xfrm>
          <a:prstGeom prst="rect">
            <a:avLst/>
          </a:prstGeom>
          <a:noFill/>
        </p:spPr>
        <p:txBody>
          <a:bodyPr wrap="square" lIns="0" tIns="0" rIns="0" bIns="0">
            <a:spAutoFit/>
          </a:bodyPr>
          <a:lstStyle/>
          <a:p>
            <a:pPr algn="l">
              <a:spcBef>
                <a:spcPts val="0"/>
              </a:spcBef>
              <a:spcAft>
                <a:spcPts val="300"/>
              </a:spcAft>
              <a:defRPr sz="1400" b="1" i="0">
                <a:solidFill>
                  <a:srgbClr val="EF4444"/>
                </a:solidFill>
                <a:latin typeface="Montserrat"/>
              </a:defRPr>
            </a:pPr>
            <a:r>
              <a:t>✗  Thủ công trên bảng tính, mất 2–4 giờ</a:t>
            </a:r>
          </a:p>
          <a:p>
            <a:pPr algn="l">
              <a:spcBef>
                <a:spcPts val="0"/>
              </a:spcBef>
              <a:spcAft>
                <a:spcPts val="400"/>
              </a:spcAft>
              <a:defRPr sz="1200" b="0" i="0">
                <a:solidFill>
                  <a:srgbClr val="94A3B8"/>
                </a:solidFill>
                <a:latin typeface="Montserrat"/>
              </a:defRPr>
            </a:pPr>
            <a:r>
              <a:t>Điều phối viên phải ngồi ghép tuyến trên Excel mỗi sáng, dễ sai sót và chồng chéo.</a:t>
            </a:r>
          </a:p>
        </p:txBody>
      </p:sp>
      <p:sp>
        <p:nvSpPr>
          <p:cNvPr id="28" name="TextBox 27"/>
          <p:cNvSpPr txBox="1"/>
          <p:nvPr/>
        </p:nvSpPr>
        <p:spPr>
          <a:xfrm>
            <a:off x="11226800" y="5156200"/>
            <a:ext cx="5486400" cy="1016000"/>
          </a:xfrm>
          <a:prstGeom prst="rect">
            <a:avLst/>
          </a:prstGeom>
          <a:noFill/>
        </p:spPr>
        <p:txBody>
          <a:bodyPr wrap="square" lIns="0" tIns="0" rIns="0" bIns="0">
            <a:spAutoFit/>
          </a:bodyPr>
          <a:lstStyle/>
          <a:p>
            <a:pPr algn="l">
              <a:spcBef>
                <a:spcPts val="0"/>
              </a:spcBef>
              <a:spcAft>
                <a:spcPts val="300"/>
              </a:spcAft>
              <a:defRPr sz="1450" b="1" i="0">
                <a:solidFill>
                  <a:srgbClr val="11C96B"/>
                </a:solidFill>
                <a:latin typeface="Montserrat"/>
              </a:defRPr>
            </a:pPr>
            <a:r>
              <a:t>✓  Tự động hoá OSRM, rút ngắn 80–90% thời gian</a:t>
            </a:r>
          </a:p>
          <a:p>
            <a:pPr algn="l">
              <a:spcBef>
                <a:spcPts val="0"/>
              </a:spcBef>
              <a:spcAft>
                <a:spcPts val="400"/>
              </a:spcAft>
              <a:defRPr sz="1250" b="0" i="0">
                <a:solidFill>
                  <a:srgbClr val="FCFFFF"/>
                </a:solidFill>
                <a:latin typeface="Montserrat"/>
              </a:defRPr>
            </a:pPr>
            <a:r>
              <a:t>Thuật toán VRP tự động phân bổ tuyến và giao việc xuống điện thoại tài xế trong vài giây.</a:t>
            </a:r>
          </a:p>
        </p:txBody>
      </p:sp>
      <p:sp>
        <p:nvSpPr>
          <p:cNvPr id="29" name="Rectangle 28"/>
          <p:cNvSpPr/>
          <p:nvPr/>
        </p:nvSpPr>
        <p:spPr>
          <a:xfrm>
            <a:off x="1320800" y="6324600"/>
            <a:ext cx="15646400" cy="1016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20800" y="6477000"/>
            <a:ext cx="3556000" cy="1016000"/>
          </a:xfrm>
          <a:prstGeom prst="rect">
            <a:avLst/>
          </a:prstGeom>
          <a:noFill/>
        </p:spPr>
        <p:txBody>
          <a:bodyPr wrap="square" lIns="0" tIns="0" rIns="0" bIns="0">
            <a:spAutoFit/>
          </a:bodyPr>
          <a:lstStyle/>
          <a:p>
            <a:pPr algn="l">
              <a:spcBef>
                <a:spcPts val="0"/>
              </a:spcBef>
              <a:spcAft>
                <a:spcPts val="400"/>
              </a:spcAft>
              <a:defRPr sz="1450" b="1" i="0">
                <a:solidFill>
                  <a:srgbClr val="FCFFFF"/>
                </a:solidFill>
                <a:latin typeface="Montserrat"/>
              </a:defRPr>
            </a:pPr>
            <a:r>
              <a:t>Cách nhập dữ liệu &amp; triển khai</a:t>
            </a:r>
          </a:p>
        </p:txBody>
      </p:sp>
      <p:sp>
        <p:nvSpPr>
          <p:cNvPr id="31" name="TextBox 30"/>
          <p:cNvSpPr txBox="1"/>
          <p:nvPr/>
        </p:nvSpPr>
        <p:spPr>
          <a:xfrm>
            <a:off x="5080000" y="6477000"/>
            <a:ext cx="5588000" cy="1016000"/>
          </a:xfrm>
          <a:prstGeom prst="rect">
            <a:avLst/>
          </a:prstGeom>
          <a:noFill/>
        </p:spPr>
        <p:txBody>
          <a:bodyPr wrap="square" lIns="0" tIns="0" rIns="0" bIns="0">
            <a:spAutoFit/>
          </a:bodyPr>
          <a:lstStyle/>
          <a:p>
            <a:pPr algn="l">
              <a:spcBef>
                <a:spcPts val="0"/>
              </a:spcBef>
              <a:spcAft>
                <a:spcPts val="300"/>
              </a:spcAft>
              <a:defRPr sz="1400" b="1" i="0">
                <a:solidFill>
                  <a:srgbClr val="EF4444"/>
                </a:solidFill>
                <a:latin typeface="Montserrat"/>
              </a:defRPr>
            </a:pPr>
            <a:r>
              <a:t>✗  Cần tích hợp hệ thống ERP phức tạp</a:t>
            </a:r>
          </a:p>
          <a:p>
            <a:pPr algn="l">
              <a:spcBef>
                <a:spcPts val="0"/>
              </a:spcBef>
              <a:spcAft>
                <a:spcPts val="400"/>
              </a:spcAft>
              <a:defRPr sz="1200" b="0" i="0">
                <a:solidFill>
                  <a:srgbClr val="94A3B8"/>
                </a:solidFill>
                <a:latin typeface="Montserrat"/>
              </a:defRPr>
            </a:pPr>
            <a:r>
              <a:t>Tốn kém hàng trăm triệu đồng, mất 3–6 tháng triển khai, rào cản quá lớn cho SME.</a:t>
            </a:r>
          </a:p>
        </p:txBody>
      </p:sp>
      <p:sp>
        <p:nvSpPr>
          <p:cNvPr id="32" name="TextBox 31"/>
          <p:cNvSpPr txBox="1"/>
          <p:nvPr/>
        </p:nvSpPr>
        <p:spPr>
          <a:xfrm>
            <a:off x="11226800" y="6477000"/>
            <a:ext cx="5486400" cy="1016000"/>
          </a:xfrm>
          <a:prstGeom prst="rect">
            <a:avLst/>
          </a:prstGeom>
          <a:noFill/>
        </p:spPr>
        <p:txBody>
          <a:bodyPr wrap="square" lIns="0" tIns="0" rIns="0" bIns="0">
            <a:spAutoFit/>
          </a:bodyPr>
          <a:lstStyle/>
          <a:p>
            <a:pPr algn="l">
              <a:spcBef>
                <a:spcPts val="0"/>
              </a:spcBef>
              <a:spcAft>
                <a:spcPts val="300"/>
              </a:spcAft>
              <a:defRPr sz="1450" b="1" i="0">
                <a:solidFill>
                  <a:srgbClr val="11C96B"/>
                </a:solidFill>
                <a:latin typeface="Montserrat"/>
              </a:defRPr>
            </a:pPr>
            <a:r>
              <a:t>✓  Đơn giản qua Excel / Google Sheets</a:t>
            </a:r>
          </a:p>
          <a:p>
            <a:pPr algn="l">
              <a:spcBef>
                <a:spcPts val="0"/>
              </a:spcBef>
              <a:spcAft>
                <a:spcPts val="400"/>
              </a:spcAft>
              <a:defRPr sz="1250" b="0" i="0">
                <a:solidFill>
                  <a:srgbClr val="FCFFFF"/>
                </a:solidFill>
                <a:latin typeface="Montserrat"/>
              </a:defRPr>
            </a:pPr>
            <a:r>
              <a:t>Sẵn sàng sử dụng ngay sau 5 phút tải file đơn hàng, giao diện thân thiện không cần đào tạo.</a:t>
            </a:r>
          </a:p>
        </p:txBody>
      </p:sp>
      <p:sp>
        <p:nvSpPr>
          <p:cNvPr id="33" name="TextBox 32"/>
          <p:cNvSpPr txBox="1"/>
          <p:nvPr/>
        </p:nvSpPr>
        <p:spPr>
          <a:xfrm>
            <a:off x="1320800" y="8216900"/>
            <a:ext cx="15646400" cy="558800"/>
          </a:xfrm>
          <a:prstGeom prst="rect">
            <a:avLst/>
          </a:prstGeom>
          <a:noFill/>
        </p:spPr>
        <p:txBody>
          <a:bodyPr wrap="square" lIns="0" tIns="0" rIns="0" bIns="0">
            <a:spAutoFit/>
          </a:bodyPr>
          <a:lstStyle/>
          <a:p>
            <a:pPr algn="ctr">
              <a:spcBef>
                <a:spcPts val="0"/>
              </a:spcBef>
              <a:spcAft>
                <a:spcPts val="400"/>
              </a:spcAft>
            </a:pPr>
            <a:r>
              <a:rPr sz="1350" b="1" i="0">
                <a:solidFill>
                  <a:srgbClr val="FFDE59"/>
                </a:solidFill>
                <a:latin typeface="Montserrat"/>
              </a:rPr>
              <a:t>🏆 KẾT LUẬN: </a:t>
            </a:r>
            <a:r>
              <a:rPr sz="1350" b="0" i="0">
                <a:solidFill>
                  <a:srgbClr val="CBD5E1"/>
                </a:solidFill>
                <a:latin typeface="Montserrat"/>
              </a:rPr>
              <a:t>Khác với cách làm cũ vốn thủ công và không đo lường được phát thải, GreenLogix là </a:t>
            </a:r>
            <a:r>
              <a:rPr sz="1350" b="1" i="0">
                <a:solidFill>
                  <a:srgbClr val="2BBBED"/>
                </a:solidFill>
                <a:latin typeface="Montserrat"/>
              </a:rPr>
              <a:t>nền tảng duy nhất kết hợp đồng thời tối ưu vận hành và đo lường CO₂ minh bạch</a:t>
            </a:r>
            <a:r>
              <a:rPr sz="1350" b="0" i="0">
                <a:solidFill>
                  <a:srgbClr val="CBD5E1"/>
                </a:solidFill>
                <a:latin typeface="Montserrat"/>
              </a:rPr>
              <a:t>, truy vết đến từng đơn hàng cụ thể.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amber.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cyan.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emerald.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016000" y="254000"/>
            <a:ext cx="4927600" cy="330200"/>
          </a:xfrm>
          <a:prstGeom prst="roundRect">
            <a:avLst>
              <a:gd name="adj" fmla="val 50000"/>
            </a:avLst>
          </a:prstGeom>
          <a:solidFill>
            <a:srgbClr val="0E1422"/>
          </a:solidFill>
          <a:ln w="1524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2BBBED"/>
                </a:solidFill>
                <a:latin typeface="Montserrat"/>
              </a:defRPr>
            </a:pPr>
            <a:r>
              <a:t>» TÍNH KHẢ THI &amp; KẾ HOẠCH TÀI CHÍNH · B2B SAAS »</a:t>
            </a:r>
          </a:p>
        </p:txBody>
      </p:sp>
      <p:sp>
        <p:nvSpPr>
          <p:cNvPr id="7" name="Rounded Rectangle 6"/>
          <p:cNvSpPr/>
          <p:nvPr/>
        </p:nvSpPr>
        <p:spPr>
          <a:xfrm>
            <a:off x="13462000" y="254000"/>
            <a:ext cx="2667000" cy="330200"/>
          </a:xfrm>
          <a:prstGeom prst="roundRect">
            <a:avLst>
              <a:gd name="adj" fmla="val 5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94A3B8"/>
                </a:solidFill>
                <a:latin typeface="Montserrat"/>
              </a:defRPr>
            </a:pPr>
            <a:r>
              <a:t>🏆 OLYMPIC KHỞI NGHIỆP 2026</a:t>
            </a:r>
          </a:p>
        </p:txBody>
      </p:sp>
      <p:pic>
        <p:nvPicPr>
          <p:cNvPr id="8" name="Picture 7" descr="logo_neu_transparent.png"/>
          <p:cNvPicPr>
            <a:picLocks noChangeAspect="1"/>
          </p:cNvPicPr>
          <p:nvPr/>
        </p:nvPicPr>
        <p:blipFill>
          <a:blip r:embed="rId5"/>
          <a:stretch>
            <a:fillRect/>
          </a:stretch>
        </p:blipFill>
        <p:spPr>
          <a:xfrm>
            <a:off x="16281400" y="203200"/>
            <a:ext cx="406400" cy="406400"/>
          </a:xfrm>
          <a:prstGeom prst="rect">
            <a:avLst/>
          </a:prstGeom>
        </p:spPr>
      </p:pic>
      <p:pic>
        <p:nvPicPr>
          <p:cNvPr id="9" name="Picture 8" descr="logo_greenlogix_badge.png"/>
          <p:cNvPicPr>
            <a:picLocks noChangeAspect="1"/>
          </p:cNvPicPr>
          <p:nvPr/>
        </p:nvPicPr>
        <p:blipFill>
          <a:blip r:embed="rId6"/>
          <a:stretch>
            <a:fillRect/>
          </a:stretch>
        </p:blipFill>
        <p:spPr>
          <a:xfrm>
            <a:off x="16814800" y="203200"/>
            <a:ext cx="406400" cy="406400"/>
          </a:xfrm>
          <a:prstGeom prst="rect">
            <a:avLst/>
          </a:prstGeom>
        </p:spPr>
      </p:pic>
      <p:sp>
        <p:nvSpPr>
          <p:cNvPr id="10" name="TextBox 9"/>
          <p:cNvSpPr txBox="1"/>
          <p:nvPr/>
        </p:nvSpPr>
        <p:spPr>
          <a:xfrm>
            <a:off x="1016000" y="660400"/>
            <a:ext cx="16256000" cy="482600"/>
          </a:xfrm>
          <a:prstGeom prst="rect">
            <a:avLst/>
          </a:prstGeom>
          <a:noFill/>
        </p:spPr>
        <p:txBody>
          <a:bodyPr wrap="square" lIns="0" tIns="0" rIns="0" bIns="0">
            <a:spAutoFit/>
          </a:bodyPr>
          <a:lstStyle/>
          <a:p>
            <a:pPr algn="l">
              <a:spcBef>
                <a:spcPts val="0"/>
              </a:spcBef>
              <a:spcAft>
                <a:spcPts val="0"/>
              </a:spcAft>
              <a:defRPr sz="2600" b="1" i="0">
                <a:solidFill>
                  <a:srgbClr val="11C96B"/>
                </a:solidFill>
                <a:latin typeface="Montserrat"/>
              </a:defRPr>
            </a:pPr>
            <a:r>
              <a:t>KHÔNG CHỈ LÀ Ý TƯỞNG — ĐÃ CÓ SẢN PHẨM THẬT &amp; TÀI CHÍNH VỮNG CHẮC</a:t>
            </a:r>
          </a:p>
        </p:txBody>
      </p:sp>
      <p:sp>
        <p:nvSpPr>
          <p:cNvPr id="11" name="Rectangle 10"/>
          <p:cNvSpPr/>
          <p:nvPr/>
        </p:nvSpPr>
        <p:spPr>
          <a:xfrm>
            <a:off x="1016000" y="1193800"/>
            <a:ext cx="16256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1498600"/>
            <a:ext cx="5842000" cy="457200"/>
          </a:xfrm>
          <a:prstGeom prst="roundRect">
            <a:avLst>
              <a:gd name="adj" fmla="val 50000"/>
            </a:avLst>
          </a:prstGeom>
          <a:solidFill>
            <a:srgbClr val="0A261A"/>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250" b="1">
                <a:solidFill>
                  <a:srgbClr val="FCFFFF"/>
                </a:solidFill>
                <a:latin typeface="Montserrat"/>
              </a:defRPr>
            </a:pPr>
            <a:r>
              <a:t>● MVP ĐANG HOẠT ĐỘNG — greenlogix.w9.nu</a:t>
            </a:r>
          </a:p>
        </p:txBody>
      </p:sp>
      <p:sp>
        <p:nvSpPr>
          <p:cNvPr id="13" name="Rounded Rectangle 12"/>
          <p:cNvSpPr/>
          <p:nvPr/>
        </p:nvSpPr>
        <p:spPr>
          <a:xfrm>
            <a:off x="1016000" y="2108200"/>
            <a:ext cx="3873500" cy="5016500"/>
          </a:xfrm>
          <a:prstGeom prst="roundRect">
            <a:avLst>
              <a:gd name="adj" fmla="val 4000"/>
            </a:avLst>
          </a:prstGeom>
          <a:solidFill>
            <a:srgbClr val="131B2A"/>
          </a:solidFill>
          <a:ln w="1905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5400" y="2362200"/>
            <a:ext cx="3314700" cy="4508500"/>
          </a:xfrm>
          <a:prstGeom prst="rect">
            <a:avLst/>
          </a:prstGeom>
          <a:noFill/>
        </p:spPr>
        <p:txBody>
          <a:bodyPr wrap="square" lIns="0" tIns="0" rIns="0" bIns="0">
            <a:spAutoFit/>
          </a:bodyPr>
          <a:lstStyle/>
          <a:p>
            <a:pPr algn="l">
              <a:spcBef>
                <a:spcPts val="0"/>
              </a:spcBef>
              <a:spcAft>
                <a:spcPts val="1000"/>
              </a:spcAft>
              <a:defRPr sz="1150" b="1" i="0">
                <a:solidFill>
                  <a:srgbClr val="11C96B"/>
                </a:solidFill>
                <a:latin typeface="Montserrat"/>
              </a:defRPr>
            </a:pPr>
            <a:r>
              <a:t>» THỜI GIAN HOÀN VỐN »</a:t>
            </a:r>
          </a:p>
          <a:p>
            <a:pPr algn="l">
              <a:spcBef>
                <a:spcPts val="0"/>
              </a:spcBef>
              <a:spcAft>
                <a:spcPts val="800"/>
              </a:spcAft>
              <a:defRPr sz="5000" b="1" i="0">
                <a:solidFill>
                  <a:srgbClr val="11C96B"/>
                </a:solidFill>
                <a:latin typeface="Montserrat"/>
              </a:defRPr>
            </a:pPr>
            <a:r>
              <a:t>1,68 năm</a:t>
            </a:r>
          </a:p>
          <a:p>
            <a:pPr algn="l">
              <a:spcBef>
                <a:spcPts val="0"/>
              </a:spcBef>
              <a:spcAft>
                <a:spcPts val="1200"/>
              </a:spcAft>
              <a:defRPr sz="1600" b="1" i="0">
                <a:solidFill>
                  <a:srgbClr val="FCFFFF"/>
                </a:solidFill>
                <a:latin typeface="Montserrat"/>
              </a:defRPr>
            </a:pPr>
            <a:r>
              <a:t>Thời gian hoàn vốn</a:t>
            </a:r>
          </a:p>
          <a:p>
            <a:pPr algn="l">
              <a:spcBef>
                <a:spcPts val="0"/>
              </a:spcBef>
              <a:spcAft>
                <a:spcPts val="1400"/>
              </a:spcAft>
              <a:defRPr sz="1300" b="0" i="0">
                <a:solidFill>
                  <a:srgbClr val="CBD5E1"/>
                </a:solidFill>
                <a:latin typeface="Montserrat"/>
              </a:defRPr>
            </a:pPr>
            <a:r>
              <a:t>Thu hồi toàn bộ chi phí đầu tư ban đầu trong chưa đầy 20 tháng nhờ chi phí SaaS tinh gọn và tối ưu chi phí hạ tầng Cloud.</a:t>
            </a:r>
          </a:p>
          <a:p>
            <a:pPr algn="l">
              <a:spcBef>
                <a:spcPts val="0"/>
              </a:spcBef>
              <a:spcAft>
                <a:spcPts val="400"/>
              </a:spcAft>
              <a:defRPr sz="1150" b="0" i="0">
                <a:solidFill>
                  <a:srgbClr val="94A3B8"/>
                </a:solidFill>
                <a:latin typeface="Montserrat"/>
              </a:defRPr>
            </a:pPr>
            <a:r>
              <a:t>• Điểm hòa vốn đạt được vào Quý 3 năm thứ 2 vận hành.</a:t>
            </a:r>
          </a:p>
        </p:txBody>
      </p:sp>
      <p:sp>
        <p:nvSpPr>
          <p:cNvPr id="15" name="Rounded Rectangle 14"/>
          <p:cNvSpPr/>
          <p:nvPr/>
        </p:nvSpPr>
        <p:spPr>
          <a:xfrm>
            <a:off x="5143500" y="2108200"/>
            <a:ext cx="3873500" cy="5016500"/>
          </a:xfrm>
          <a:prstGeom prst="roundRect">
            <a:avLst>
              <a:gd name="adj" fmla="val 4000"/>
            </a:avLst>
          </a:prstGeom>
          <a:solidFill>
            <a:srgbClr val="131B2A"/>
          </a:solidFill>
          <a:ln w="1905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22900" y="2362200"/>
            <a:ext cx="3314700" cy="4508500"/>
          </a:xfrm>
          <a:prstGeom prst="rect">
            <a:avLst/>
          </a:prstGeom>
          <a:noFill/>
        </p:spPr>
        <p:txBody>
          <a:bodyPr wrap="square" lIns="0" tIns="0" rIns="0" bIns="0">
            <a:spAutoFit/>
          </a:bodyPr>
          <a:lstStyle/>
          <a:p>
            <a:pPr algn="l">
              <a:spcBef>
                <a:spcPts val="0"/>
              </a:spcBef>
              <a:spcAft>
                <a:spcPts val="1000"/>
              </a:spcAft>
              <a:defRPr sz="1150" b="1" i="0">
                <a:solidFill>
                  <a:srgbClr val="11C96B"/>
                </a:solidFill>
                <a:latin typeface="Montserrat"/>
              </a:defRPr>
            </a:pPr>
            <a:r>
              <a:t>» TỶ SUẤT NỘI BỘ »</a:t>
            </a:r>
          </a:p>
          <a:p>
            <a:pPr algn="l">
              <a:spcBef>
                <a:spcPts val="0"/>
              </a:spcBef>
              <a:spcAft>
                <a:spcPts val="800"/>
              </a:spcAft>
              <a:defRPr sz="5000" b="1" i="0">
                <a:solidFill>
                  <a:srgbClr val="11C96B"/>
                </a:solidFill>
                <a:latin typeface="Montserrat"/>
              </a:defRPr>
            </a:pPr>
            <a:r>
              <a:t>28%</a:t>
            </a:r>
          </a:p>
          <a:p>
            <a:pPr algn="l">
              <a:spcBef>
                <a:spcPts val="0"/>
              </a:spcBef>
              <a:spcAft>
                <a:spcPts val="1200"/>
              </a:spcAft>
              <a:defRPr sz="1600" b="1" i="0">
                <a:solidFill>
                  <a:srgbClr val="FCFFFF"/>
                </a:solidFill>
                <a:latin typeface="Montserrat"/>
              </a:defRPr>
            </a:pPr>
            <a:r>
              <a:t>IRR — tỷ suất hoàn vốn nội bộ</a:t>
            </a:r>
          </a:p>
          <a:p>
            <a:pPr algn="l">
              <a:spcBef>
                <a:spcPts val="0"/>
              </a:spcBef>
              <a:spcAft>
                <a:spcPts val="1400"/>
              </a:spcAft>
              <a:defRPr sz="1300" b="0" i="0">
                <a:solidFill>
                  <a:srgbClr val="CBD5E1"/>
                </a:solidFill>
                <a:latin typeface="Montserrat"/>
              </a:defRPr>
            </a:pPr>
            <a:r>
              <a:t>Tỷ suất hoàn vốn nội bộ hấp dẫn vượt trội so với lãi suất vốn vay ngân hàng (9–10%) và chi phí cơ hội bình quân (WACC 12%).</a:t>
            </a:r>
          </a:p>
          <a:p>
            <a:pPr algn="l">
              <a:spcBef>
                <a:spcPts val="0"/>
              </a:spcBef>
              <a:spcAft>
                <a:spcPts val="400"/>
              </a:spcAft>
              <a:defRPr sz="1150" b="0" i="0">
                <a:solidFill>
                  <a:srgbClr val="94A3B8"/>
                </a:solidFill>
                <a:latin typeface="Montserrat"/>
              </a:defRPr>
            </a:pPr>
            <a:r>
              <a:t>• Dự phóng 5 năm với kịch bản tăng trưởng thận trọng.</a:t>
            </a:r>
          </a:p>
        </p:txBody>
      </p:sp>
      <p:sp>
        <p:nvSpPr>
          <p:cNvPr id="17" name="Rounded Rectangle 16"/>
          <p:cNvSpPr/>
          <p:nvPr/>
        </p:nvSpPr>
        <p:spPr>
          <a:xfrm>
            <a:off x="9271000" y="2108200"/>
            <a:ext cx="3873500" cy="5016500"/>
          </a:xfrm>
          <a:prstGeom prst="roundRect">
            <a:avLst>
              <a:gd name="adj" fmla="val 4000"/>
            </a:avLst>
          </a:prstGeom>
          <a:solidFill>
            <a:srgbClr val="131B2A"/>
          </a:solidFill>
          <a:ln w="1905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50400" y="2362200"/>
            <a:ext cx="3314700" cy="4508500"/>
          </a:xfrm>
          <a:prstGeom prst="rect">
            <a:avLst/>
          </a:prstGeom>
          <a:noFill/>
        </p:spPr>
        <p:txBody>
          <a:bodyPr wrap="square" lIns="0" tIns="0" rIns="0" bIns="0">
            <a:spAutoFit/>
          </a:bodyPr>
          <a:lstStyle/>
          <a:p>
            <a:pPr algn="l">
              <a:spcBef>
                <a:spcPts val="0"/>
              </a:spcBef>
              <a:spcAft>
                <a:spcPts val="1000"/>
              </a:spcAft>
              <a:defRPr sz="1150" b="1" i="0">
                <a:solidFill>
                  <a:srgbClr val="2BBBED"/>
                </a:solidFill>
                <a:latin typeface="Montserrat"/>
              </a:defRPr>
            </a:pPr>
            <a:r>
              <a:t>» GIÁ TRỊ HIỆN TẠI RÒNG »</a:t>
            </a:r>
          </a:p>
          <a:p>
            <a:pPr algn="l">
              <a:spcBef>
                <a:spcPts val="0"/>
              </a:spcBef>
              <a:spcAft>
                <a:spcPts val="800"/>
              </a:spcAft>
              <a:defRPr sz="5000" b="1" i="0">
                <a:solidFill>
                  <a:srgbClr val="2BBBED"/>
                </a:solidFill>
                <a:latin typeface="Montserrat"/>
              </a:defRPr>
            </a:pPr>
            <a:r>
              <a:t>185,5 tr ₫</a:t>
            </a:r>
          </a:p>
          <a:p>
            <a:pPr algn="l">
              <a:spcBef>
                <a:spcPts val="0"/>
              </a:spcBef>
              <a:spcAft>
                <a:spcPts val="1200"/>
              </a:spcAft>
              <a:defRPr sz="1600" b="1" i="0">
                <a:solidFill>
                  <a:srgbClr val="FCFFFF"/>
                </a:solidFill>
                <a:latin typeface="Montserrat"/>
              </a:defRPr>
            </a:pPr>
            <a:r>
              <a:t>NPV — giá trị hiện tại ròng</a:t>
            </a:r>
          </a:p>
          <a:p>
            <a:pPr algn="l">
              <a:spcBef>
                <a:spcPts val="0"/>
              </a:spcBef>
              <a:spcAft>
                <a:spcPts val="1400"/>
              </a:spcAft>
              <a:defRPr sz="1300" b="0" i="0">
                <a:solidFill>
                  <a:srgbClr val="CBD5E1"/>
                </a:solidFill>
                <a:latin typeface="Montserrat"/>
              </a:defRPr>
            </a:pPr>
            <a:r>
              <a:t>Giá trị hiện tại ròng dương khẳng định dự án có tính khả thi kinh tế độc lập ngay cả khi áp dụng tỷ lệ chiết khấu thận trọng 12%/năm.</a:t>
            </a:r>
          </a:p>
          <a:p>
            <a:pPr algn="l">
              <a:spcBef>
                <a:spcPts val="0"/>
              </a:spcBef>
              <a:spcAft>
                <a:spcPts val="400"/>
              </a:spcAft>
              <a:defRPr sz="1150" b="0" i="0">
                <a:solidFill>
                  <a:srgbClr val="94A3B8"/>
                </a:solidFill>
                <a:latin typeface="Montserrat"/>
              </a:defRPr>
            </a:pPr>
            <a:r>
              <a:t>• Khẳng định hiệu quả đầu tư an toàn cho các quỹ khởi nghiệp.</a:t>
            </a:r>
          </a:p>
        </p:txBody>
      </p:sp>
      <p:sp>
        <p:nvSpPr>
          <p:cNvPr id="19" name="Rounded Rectangle 18"/>
          <p:cNvSpPr/>
          <p:nvPr/>
        </p:nvSpPr>
        <p:spPr>
          <a:xfrm>
            <a:off x="13398500" y="2108200"/>
            <a:ext cx="3873500" cy="5016500"/>
          </a:xfrm>
          <a:prstGeom prst="roundRect">
            <a:avLst>
              <a:gd name="adj" fmla="val 4000"/>
            </a:avLst>
          </a:prstGeom>
          <a:solidFill>
            <a:srgbClr val="131B2A"/>
          </a:solidFill>
          <a:ln w="1905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677900" y="2362200"/>
            <a:ext cx="3314700" cy="4508500"/>
          </a:xfrm>
          <a:prstGeom prst="rect">
            <a:avLst/>
          </a:prstGeom>
          <a:noFill/>
        </p:spPr>
        <p:txBody>
          <a:bodyPr wrap="square" lIns="0" tIns="0" rIns="0" bIns="0">
            <a:spAutoFit/>
          </a:bodyPr>
          <a:lstStyle/>
          <a:p>
            <a:pPr algn="l">
              <a:spcBef>
                <a:spcPts val="0"/>
              </a:spcBef>
              <a:spcAft>
                <a:spcPts val="1000"/>
              </a:spcAft>
              <a:defRPr sz="1150" b="1" i="0">
                <a:solidFill>
                  <a:srgbClr val="F3740B"/>
                </a:solidFill>
                <a:latin typeface="Montserrat"/>
              </a:defRPr>
            </a:pPr>
            <a:r>
              <a:t>» QUY MÔ PILOT »</a:t>
            </a:r>
          </a:p>
          <a:p>
            <a:pPr algn="l">
              <a:spcBef>
                <a:spcPts val="0"/>
              </a:spcBef>
              <a:spcAft>
                <a:spcPts val="800"/>
              </a:spcAft>
              <a:defRPr sz="5000" b="1" i="0">
                <a:solidFill>
                  <a:srgbClr val="F3740B"/>
                </a:solidFill>
                <a:latin typeface="Montserrat"/>
              </a:defRPr>
            </a:pPr>
            <a:r>
              <a:t>3–5 DN</a:t>
            </a:r>
          </a:p>
          <a:p>
            <a:pPr algn="l">
              <a:spcBef>
                <a:spcPts val="0"/>
              </a:spcBef>
              <a:spcAft>
                <a:spcPts val="1200"/>
              </a:spcAft>
              <a:defRPr sz="1600" b="1" i="0">
                <a:solidFill>
                  <a:srgbClr val="FCFFFF"/>
                </a:solidFill>
                <a:latin typeface="Montserrat"/>
              </a:defRPr>
            </a:pPr>
            <a:r>
              <a:t>Quy mô pilot (30–100 xe)</a:t>
            </a:r>
          </a:p>
          <a:p>
            <a:pPr algn="l">
              <a:spcBef>
                <a:spcPts val="0"/>
              </a:spcBef>
              <a:spcAft>
                <a:spcPts val="1400"/>
              </a:spcAft>
              <a:defRPr sz="1300" b="0" i="0">
                <a:solidFill>
                  <a:srgbClr val="CBD5E1"/>
                </a:solidFill>
                <a:latin typeface="Montserrat"/>
              </a:defRPr>
            </a:pPr>
            <a:r>
              <a:t>Giai đoạn thử nghiệm thực địa tập trung vào 3–5 doanh nghiệp vận tải đô thị tại TP.HCM để tinh chỉnh thuật toán và xác thực chỉ số.</a:t>
            </a:r>
          </a:p>
          <a:p>
            <a:pPr algn="l">
              <a:spcBef>
                <a:spcPts val="0"/>
              </a:spcBef>
              <a:spcAft>
                <a:spcPts val="400"/>
              </a:spcAft>
              <a:defRPr sz="1150" b="0" i="0">
                <a:solidFill>
                  <a:srgbClr val="94A3B8"/>
                </a:solidFill>
                <a:latin typeface="Montserrat"/>
              </a:defRPr>
            </a:pPr>
            <a:r>
              <a:t>• Cam kết kiểm chứng thực tế trước khi thương mại hóa rộng rãi.</a:t>
            </a:r>
          </a:p>
        </p:txBody>
      </p:sp>
      <p:sp>
        <p:nvSpPr>
          <p:cNvPr id="21" name="Rounded Rectangle 20"/>
          <p:cNvSpPr/>
          <p:nvPr/>
        </p:nvSpPr>
        <p:spPr>
          <a:xfrm>
            <a:off x="1016000" y="7366000"/>
            <a:ext cx="16256000" cy="1651000"/>
          </a:xfrm>
          <a:prstGeom prst="roundRect">
            <a:avLst>
              <a:gd name="adj" fmla="val 3500"/>
            </a:avLst>
          </a:prstGeom>
          <a:solidFill>
            <a:srgbClr val="241C06"/>
          </a:solidFill>
          <a:ln w="22860">
            <a:solidFill>
              <a:srgbClr val="FFDE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0800" y="7543800"/>
            <a:ext cx="15646400" cy="1295400"/>
          </a:xfrm>
          <a:prstGeom prst="rect">
            <a:avLst/>
          </a:prstGeom>
          <a:noFill/>
        </p:spPr>
        <p:txBody>
          <a:bodyPr wrap="square" lIns="0" tIns="0" rIns="0" bIns="0">
            <a:spAutoFit/>
          </a:bodyPr>
          <a:lstStyle/>
          <a:p>
            <a:pPr>
              <a:spcAft>
                <a:spcPts val="600"/>
              </a:spcAft>
              <a:defRPr sz="1400" b="1">
                <a:solidFill>
                  <a:srgbClr val="FFDE59"/>
                </a:solidFill>
                <a:latin typeface="Montserrat"/>
              </a:defRPr>
            </a:pPr>
            <a:r>
              <a:t>» ĐIỂM HÒA VỐN &amp; HIỆU QUẢ TÀI CHÍNH »</a:t>
            </a:r>
          </a:p>
          <a:p>
            <a:pPr algn="l">
              <a:spcBef>
                <a:spcPts val="0"/>
              </a:spcBef>
              <a:spcAft>
                <a:spcPts val="200"/>
              </a:spcAft>
            </a:pPr>
            <a:r>
              <a:rPr sz="1500" b="1" i="0">
                <a:solidFill>
                  <a:srgbClr val="FFDE59"/>
                </a:solidFill>
                <a:latin typeface="Montserrat"/>
              </a:rPr>
              <a:t>📈 LỢI NHUẬN TRƯỚC THUẾ CHUYỂN DƯƠNG TỪ NĂM THỨ 2 VẬN HÀNH: </a:t>
            </a:r>
            <a:r>
              <a:rPr sz="1400" b="0" i="0">
                <a:solidFill>
                  <a:srgbClr val="FCFFFF"/>
                </a:solidFill>
                <a:latin typeface="Montserrat"/>
              </a:rPr>
              <a:t>Mô hình định giá SaaS theo quy mô đầu xe (</a:t>
            </a:r>
            <a:r>
              <a:rPr sz="1400" b="1" i="0">
                <a:solidFill>
                  <a:srgbClr val="11C96B"/>
                </a:solidFill>
                <a:latin typeface="Montserrat"/>
              </a:rPr>
              <a:t>300.000 – 500.000 ₫/xe/tháng</a:t>
            </a:r>
            <a:r>
              <a:rPr sz="1400" b="0" i="0">
                <a:solidFill>
                  <a:srgbClr val="FCFFFF"/>
                </a:solidFill>
                <a:latin typeface="Montserrat"/>
              </a:rPr>
              <a:t>) mang lại dòng tiền đăng ký định kỳ ổn định, </a:t>
            </a:r>
            <a:r>
              <a:rPr sz="1400" b="1" i="0">
                <a:solidFill>
                  <a:srgbClr val="2BBBED"/>
                </a:solidFill>
                <a:latin typeface="Montserrat"/>
              </a:rPr>
              <a:t>chi phí biên gần như bằng 0</a:t>
            </a:r>
            <a:r>
              <a:rPr sz="1400" b="0" i="0">
                <a:solidFill>
                  <a:srgbClr val="FCFFFF"/>
                </a:solidFill>
                <a:latin typeface="Montserrat"/>
              </a:rPr>
              <a:t> khi mở rộng quy mô đội xe, giúp GreenLogix vừa khả thi vừa bền vững.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cyan.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emerald.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amber.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016000" y="254000"/>
            <a:ext cx="4927600" cy="330200"/>
          </a:xfrm>
          <a:prstGeom prst="roundRect">
            <a:avLst>
              <a:gd name="adj" fmla="val 50000"/>
            </a:avLst>
          </a:prstGeom>
          <a:solidFill>
            <a:srgbClr val="0E1422"/>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11C96B"/>
                </a:solidFill>
                <a:latin typeface="Montserrat"/>
              </a:defRPr>
            </a:pPr>
            <a:r>
              <a:t>» THÔNG ĐIỆP CỘNG ĐỒNG &amp; TÁC ĐỘNG BỀN VỮNG ESG »</a:t>
            </a:r>
          </a:p>
        </p:txBody>
      </p:sp>
      <p:sp>
        <p:nvSpPr>
          <p:cNvPr id="7" name="Rounded Rectangle 6"/>
          <p:cNvSpPr/>
          <p:nvPr/>
        </p:nvSpPr>
        <p:spPr>
          <a:xfrm>
            <a:off x="13462000" y="254000"/>
            <a:ext cx="2667000" cy="330200"/>
          </a:xfrm>
          <a:prstGeom prst="roundRect">
            <a:avLst>
              <a:gd name="adj" fmla="val 50000"/>
            </a:avLst>
          </a:prstGeom>
          <a:solidFill>
            <a:srgbClr val="0E1422"/>
          </a:solidFill>
          <a:ln w="15240">
            <a:solidFill>
              <a:srgbClr val="1E2D42"/>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950" b="1">
                <a:solidFill>
                  <a:srgbClr val="94A3B8"/>
                </a:solidFill>
                <a:latin typeface="Montserrat"/>
              </a:defRPr>
            </a:pPr>
            <a:r>
              <a:t>🏆 OLYMPIC KHỞI NGHIỆP 2026</a:t>
            </a:r>
          </a:p>
        </p:txBody>
      </p:sp>
      <p:pic>
        <p:nvPicPr>
          <p:cNvPr id="8" name="Picture 7" descr="logo_neu_transparent.png"/>
          <p:cNvPicPr>
            <a:picLocks noChangeAspect="1"/>
          </p:cNvPicPr>
          <p:nvPr/>
        </p:nvPicPr>
        <p:blipFill>
          <a:blip r:embed="rId5"/>
          <a:stretch>
            <a:fillRect/>
          </a:stretch>
        </p:blipFill>
        <p:spPr>
          <a:xfrm>
            <a:off x="16281400" y="203200"/>
            <a:ext cx="406400" cy="406400"/>
          </a:xfrm>
          <a:prstGeom prst="rect">
            <a:avLst/>
          </a:prstGeom>
        </p:spPr>
      </p:pic>
      <p:pic>
        <p:nvPicPr>
          <p:cNvPr id="9" name="Picture 8" descr="logo_greenlogix_badge.png"/>
          <p:cNvPicPr>
            <a:picLocks noChangeAspect="1"/>
          </p:cNvPicPr>
          <p:nvPr/>
        </p:nvPicPr>
        <p:blipFill>
          <a:blip r:embed="rId6"/>
          <a:stretch>
            <a:fillRect/>
          </a:stretch>
        </p:blipFill>
        <p:spPr>
          <a:xfrm>
            <a:off x="16814800" y="203200"/>
            <a:ext cx="406400" cy="406400"/>
          </a:xfrm>
          <a:prstGeom prst="rect">
            <a:avLst/>
          </a:prstGeom>
        </p:spPr>
      </p:pic>
      <p:sp>
        <p:nvSpPr>
          <p:cNvPr id="10" name="TextBox 9"/>
          <p:cNvSpPr txBox="1"/>
          <p:nvPr/>
        </p:nvSpPr>
        <p:spPr>
          <a:xfrm>
            <a:off x="1016000" y="660400"/>
            <a:ext cx="16256000" cy="482600"/>
          </a:xfrm>
          <a:prstGeom prst="rect">
            <a:avLst/>
          </a:prstGeom>
          <a:noFill/>
        </p:spPr>
        <p:txBody>
          <a:bodyPr wrap="square" lIns="0" tIns="0" rIns="0" bIns="0">
            <a:spAutoFit/>
          </a:bodyPr>
          <a:lstStyle/>
          <a:p>
            <a:pPr algn="l">
              <a:spcBef>
                <a:spcPts val="0"/>
              </a:spcBef>
              <a:spcAft>
                <a:spcPts val="0"/>
              </a:spcAft>
              <a:defRPr sz="2600" b="1" i="0">
                <a:solidFill>
                  <a:srgbClr val="2BBBED"/>
                </a:solidFill>
                <a:latin typeface="Montserrat"/>
              </a:defRPr>
            </a:pPr>
            <a:r>
              <a:t>THÔNG ĐIỆP CỘNG ĐỒNG: KHI KINH TẾ VÀ MÔI TRƯỜNG SONG HÀNH</a:t>
            </a:r>
          </a:p>
        </p:txBody>
      </p:sp>
      <p:sp>
        <p:nvSpPr>
          <p:cNvPr id="11" name="Rectangle 10"/>
          <p:cNvSpPr/>
          <p:nvPr/>
        </p:nvSpPr>
        <p:spPr>
          <a:xfrm>
            <a:off x="1016000" y="1193800"/>
            <a:ext cx="16256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6000" y="1498600"/>
            <a:ext cx="16256000" cy="1524000"/>
          </a:xfrm>
          <a:prstGeom prst="roundRect">
            <a:avLst>
              <a:gd name="adj" fmla="val 4000"/>
            </a:avLst>
          </a:prstGeom>
          <a:solidFill>
            <a:srgbClr val="0E1422"/>
          </a:solidFill>
          <a:ln w="1905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7000" y="1625600"/>
            <a:ext cx="15494000" cy="1270000"/>
          </a:xfrm>
          <a:prstGeom prst="rect">
            <a:avLst/>
          </a:prstGeom>
          <a:noFill/>
        </p:spPr>
        <p:txBody>
          <a:bodyPr wrap="square" lIns="0" tIns="0" rIns="0" bIns="0">
            <a:spAutoFit/>
          </a:bodyPr>
          <a:lstStyle/>
          <a:p>
            <a:pPr algn="l">
              <a:spcBef>
                <a:spcPts val="0"/>
              </a:spcBef>
              <a:spcAft>
                <a:spcPts val="300"/>
              </a:spcAft>
              <a:defRPr sz="2000" b="1" i="0">
                <a:solidFill>
                  <a:srgbClr val="FCFFFF"/>
                </a:solidFill>
                <a:latin typeface="Montserrat"/>
              </a:defRPr>
            </a:pPr>
            <a:r>
              <a:t>“ Một tuyến đường không chạy rỗng. ”</a:t>
            </a:r>
          </a:p>
          <a:p>
            <a:pPr algn="l">
              <a:spcBef>
                <a:spcPts val="0"/>
              </a:spcBef>
              <a:spcAft>
                <a:spcPts val="300"/>
              </a:spcAft>
              <a:defRPr sz="2000" b="1" i="0">
                <a:solidFill>
                  <a:srgbClr val="11C96B"/>
                </a:solidFill>
                <a:latin typeface="Montserrat"/>
              </a:defRPr>
            </a:pPr>
            <a:r>
              <a:t>“ Một đơn hàng được ghép tối ưu. ”</a:t>
            </a:r>
          </a:p>
          <a:p>
            <a:pPr algn="l">
              <a:spcBef>
                <a:spcPts val="0"/>
              </a:spcBef>
              <a:spcAft>
                <a:spcPts val="400"/>
              </a:spcAft>
              <a:defRPr sz="2000" b="1" i="0">
                <a:solidFill>
                  <a:srgbClr val="2BBBED"/>
                </a:solidFill>
                <a:latin typeface="Montserrat"/>
              </a:defRPr>
            </a:pPr>
            <a:r>
              <a:t>“ Một hơi thở trong lành hơn cho thành phố. ”</a:t>
            </a:r>
          </a:p>
        </p:txBody>
      </p:sp>
      <p:sp>
        <p:nvSpPr>
          <p:cNvPr id="14" name="Rounded Rectangle 13"/>
          <p:cNvSpPr/>
          <p:nvPr/>
        </p:nvSpPr>
        <p:spPr>
          <a:xfrm>
            <a:off x="1016000" y="3276600"/>
            <a:ext cx="5080000" cy="5397500"/>
          </a:xfrm>
          <a:prstGeom prst="roundRect">
            <a:avLst>
              <a:gd name="adj" fmla="val 4000"/>
            </a:avLst>
          </a:prstGeom>
          <a:solidFill>
            <a:srgbClr val="131B2A"/>
          </a:solidFill>
          <a:ln w="1905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0800" y="3530600"/>
            <a:ext cx="4470400" cy="1524000"/>
          </a:xfrm>
          <a:prstGeom prst="rect">
            <a:avLst/>
          </a:prstGeom>
          <a:noFill/>
        </p:spPr>
        <p:txBody>
          <a:bodyPr wrap="square" lIns="0" tIns="0" rIns="0" bIns="0">
            <a:spAutoFit/>
          </a:bodyPr>
          <a:lstStyle/>
          <a:p>
            <a:pPr algn="l">
              <a:spcBef>
                <a:spcPts val="0"/>
              </a:spcBef>
              <a:spcAft>
                <a:spcPts val="600"/>
              </a:spcAft>
              <a:defRPr sz="1150" b="1" i="0">
                <a:solidFill>
                  <a:srgbClr val="11C96B"/>
                </a:solidFill>
                <a:latin typeface="Montserrat"/>
              </a:defRPr>
            </a:pPr>
            <a:r>
              <a:t>» ENVIRONMENT — MÔI TRƯỜNG »</a:t>
            </a:r>
          </a:p>
          <a:p>
            <a:pPr algn="l">
              <a:spcBef>
                <a:spcPts val="0"/>
              </a:spcBef>
              <a:spcAft>
                <a:spcPts val="600"/>
              </a:spcAft>
              <a:defRPr sz="3200" b="1" i="0">
                <a:solidFill>
                  <a:srgbClr val="11C96B"/>
                </a:solidFill>
                <a:latin typeface="Montserrat"/>
              </a:defRPr>
            </a:pPr>
            <a:r>
              <a:t>Giảm 20–30% CO₂</a:t>
            </a:r>
          </a:p>
          <a:p>
            <a:pPr algn="l">
              <a:spcBef>
                <a:spcPts val="0"/>
              </a:spcBef>
              <a:spcAft>
                <a:spcPts val="1000"/>
              </a:spcAft>
              <a:defRPr sz="1700" b="1" i="0">
                <a:solidFill>
                  <a:srgbClr val="FCFFFF"/>
                </a:solidFill>
                <a:latin typeface="Montserrat"/>
              </a:defRPr>
            </a:pPr>
            <a:r>
              <a:t>Xanh hóa phương tiện hiện hữu</a:t>
            </a:r>
          </a:p>
        </p:txBody>
      </p:sp>
      <p:sp>
        <p:nvSpPr>
          <p:cNvPr id="16" name="Rectangle 15"/>
          <p:cNvSpPr/>
          <p:nvPr/>
        </p:nvSpPr>
        <p:spPr>
          <a:xfrm>
            <a:off x="1270000" y="4927600"/>
            <a:ext cx="4572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0800" y="5130800"/>
            <a:ext cx="4470400" cy="3302000"/>
          </a:xfrm>
          <a:prstGeom prst="rect">
            <a:avLst/>
          </a:prstGeom>
          <a:noFill/>
        </p:spPr>
        <p:txBody>
          <a:bodyPr wrap="square" lIns="0" tIns="0" rIns="0" bIns="0">
            <a:spAutoFit/>
          </a:bodyPr>
          <a:lstStyle/>
          <a:p>
            <a:pPr algn="l">
              <a:spcBef>
                <a:spcPts val="0"/>
              </a:spcBef>
              <a:spcAft>
                <a:spcPts val="1000"/>
              </a:spcAft>
              <a:defRPr sz="1300" b="0" i="0">
                <a:solidFill>
                  <a:srgbClr val="CBD5E1"/>
                </a:solidFill>
                <a:latin typeface="Montserrat"/>
              </a:defRPr>
            </a:pPr>
            <a:r>
              <a:t>• Cắt giảm trực tiếp lượng phát thải khí nhà kính mà không cần chờ đợi thay thế toàn bộ sang xe điện đắt đỏ.</a:t>
            </a:r>
          </a:p>
          <a:p>
            <a:pPr algn="l">
              <a:spcBef>
                <a:spcPts val="0"/>
              </a:spcBef>
              <a:spcAft>
                <a:spcPts val="1000"/>
              </a:spcAft>
              <a:defRPr sz="1300" b="0" i="0">
                <a:solidFill>
                  <a:srgbClr val="CBD5E1"/>
                </a:solidFill>
                <a:latin typeface="Montserrat"/>
              </a:defRPr>
            </a:pPr>
            <a:r>
              <a:t>• Giảm áp lực ùn tắc giao thông đô thị giờ cao điểm bằng cách tối ưu hóa các cung đường ngắn nhất.</a:t>
            </a:r>
          </a:p>
          <a:p>
            <a:pPr algn="l">
              <a:spcBef>
                <a:spcPts val="0"/>
              </a:spcBef>
              <a:spcAft>
                <a:spcPts val="1000"/>
              </a:spcAft>
              <a:defRPr sz="1300" b="0" i="0">
                <a:solidFill>
                  <a:srgbClr val="CBD5E1"/>
                </a:solidFill>
                <a:latin typeface="Montserrat"/>
              </a:defRPr>
            </a:pPr>
            <a:r>
              <a:t>• Đóng góp trực tiếp vào mục tiêu Net Zero 2050 và Kế hoạch hành động tăng trưởng xanh của TP.HCM.</a:t>
            </a:r>
          </a:p>
        </p:txBody>
      </p:sp>
      <p:sp>
        <p:nvSpPr>
          <p:cNvPr id="18" name="Rounded Rectangle 17"/>
          <p:cNvSpPr/>
          <p:nvPr/>
        </p:nvSpPr>
        <p:spPr>
          <a:xfrm>
            <a:off x="6604000" y="3276600"/>
            <a:ext cx="5080000" cy="5397500"/>
          </a:xfrm>
          <a:prstGeom prst="roundRect">
            <a:avLst>
              <a:gd name="adj" fmla="val 4000"/>
            </a:avLst>
          </a:prstGeom>
          <a:solidFill>
            <a:srgbClr val="131B2A"/>
          </a:solidFill>
          <a:ln w="1905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08800" y="3530600"/>
            <a:ext cx="4470400" cy="1524000"/>
          </a:xfrm>
          <a:prstGeom prst="rect">
            <a:avLst/>
          </a:prstGeom>
          <a:noFill/>
        </p:spPr>
        <p:txBody>
          <a:bodyPr wrap="square" lIns="0" tIns="0" rIns="0" bIns="0">
            <a:spAutoFit/>
          </a:bodyPr>
          <a:lstStyle/>
          <a:p>
            <a:pPr algn="l">
              <a:spcBef>
                <a:spcPts val="0"/>
              </a:spcBef>
              <a:spcAft>
                <a:spcPts val="600"/>
              </a:spcAft>
              <a:defRPr sz="1150" b="1" i="0">
                <a:solidFill>
                  <a:srgbClr val="2BBBED"/>
                </a:solidFill>
                <a:latin typeface="Montserrat"/>
              </a:defRPr>
            </a:pPr>
            <a:r>
              <a:t>» SOCIAL — XÃ HỘI &amp; CON NGƯỜI »</a:t>
            </a:r>
          </a:p>
          <a:p>
            <a:pPr algn="l">
              <a:spcBef>
                <a:spcPts val="0"/>
              </a:spcBef>
              <a:spcAft>
                <a:spcPts val="600"/>
              </a:spcAft>
              <a:defRPr sz="3200" b="1" i="0">
                <a:solidFill>
                  <a:srgbClr val="2BBBED"/>
                </a:solidFill>
                <a:latin typeface="Montserrat"/>
              </a:defRPr>
            </a:pPr>
            <a:r>
              <a:t>+15–20% thu nhập</a:t>
            </a:r>
          </a:p>
          <a:p>
            <a:pPr algn="l">
              <a:spcBef>
                <a:spcPts val="0"/>
              </a:spcBef>
              <a:spcAft>
                <a:spcPts val="1000"/>
              </a:spcAft>
              <a:defRPr sz="1700" b="1" i="0">
                <a:solidFill>
                  <a:srgbClr val="FCFFFF"/>
                </a:solidFill>
                <a:latin typeface="Montserrat"/>
              </a:defRPr>
            </a:pPr>
            <a:r>
              <a:t>Nâng cao thu nhập người tài xế</a:t>
            </a:r>
          </a:p>
        </p:txBody>
      </p:sp>
      <p:sp>
        <p:nvSpPr>
          <p:cNvPr id="20" name="Rectangle 19"/>
          <p:cNvSpPr/>
          <p:nvPr/>
        </p:nvSpPr>
        <p:spPr>
          <a:xfrm>
            <a:off x="6858000" y="4927600"/>
            <a:ext cx="4572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08800" y="5130800"/>
            <a:ext cx="4470400" cy="3302000"/>
          </a:xfrm>
          <a:prstGeom prst="rect">
            <a:avLst/>
          </a:prstGeom>
          <a:noFill/>
        </p:spPr>
        <p:txBody>
          <a:bodyPr wrap="square" lIns="0" tIns="0" rIns="0" bIns="0">
            <a:spAutoFit/>
          </a:bodyPr>
          <a:lstStyle/>
          <a:p>
            <a:pPr algn="l">
              <a:spcBef>
                <a:spcPts val="0"/>
              </a:spcBef>
              <a:spcAft>
                <a:spcPts val="1000"/>
              </a:spcAft>
              <a:defRPr sz="1300" b="0" i="0">
                <a:solidFill>
                  <a:srgbClr val="CBD5E1"/>
                </a:solidFill>
                <a:latin typeface="Montserrat"/>
              </a:defRPr>
            </a:pPr>
            <a:r>
              <a:t>• Giảm thời gian lái xe căng thẳng lòng vòng tìm đơn, giúp người tài xế làm việc an toàn và nhẹ nhàng hơn.</a:t>
            </a:r>
          </a:p>
          <a:p>
            <a:pPr algn="l">
              <a:spcBef>
                <a:spcPts val="0"/>
              </a:spcBef>
              <a:spcAft>
                <a:spcPts val="1000"/>
              </a:spcAft>
              <a:defRPr sz="1300" b="0" i="0">
                <a:solidFill>
                  <a:srgbClr val="CBD5E1"/>
                </a:solidFill>
                <a:latin typeface="Montserrat"/>
              </a:defRPr>
            </a:pPr>
            <a:r>
              <a:t>• Tăng thu nhập thực nhận thông qua cơ chế chia sẻ doanh thu từ các đơn hàng ghép chiều về.</a:t>
            </a:r>
          </a:p>
          <a:p>
            <a:pPr algn="l">
              <a:spcBef>
                <a:spcPts val="0"/>
              </a:spcBef>
              <a:spcAft>
                <a:spcPts val="1000"/>
              </a:spcAft>
              <a:defRPr sz="1300" b="0" i="0">
                <a:solidFill>
                  <a:srgbClr val="CBD5E1"/>
                </a:solidFill>
                <a:latin typeface="Montserrat"/>
              </a:defRPr>
            </a:pPr>
            <a:r>
              <a:t>• Bảo vệ sức khỏe hô hấp cho cộng đồng đô thị nhờ giảm thiểu bụi mịn PM2.5 từ khói xe tải.</a:t>
            </a:r>
          </a:p>
        </p:txBody>
      </p:sp>
      <p:sp>
        <p:nvSpPr>
          <p:cNvPr id="22" name="Rounded Rectangle 21"/>
          <p:cNvSpPr/>
          <p:nvPr/>
        </p:nvSpPr>
        <p:spPr>
          <a:xfrm>
            <a:off x="12192000" y="3276600"/>
            <a:ext cx="5080000" cy="5397500"/>
          </a:xfrm>
          <a:prstGeom prst="roundRect">
            <a:avLst>
              <a:gd name="adj" fmla="val 4000"/>
            </a:avLst>
          </a:prstGeom>
          <a:solidFill>
            <a:srgbClr val="131B2A"/>
          </a:solidFill>
          <a:ln w="19050">
            <a:solidFill>
              <a:srgbClr val="F374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496800" y="3530600"/>
            <a:ext cx="4470400" cy="1524000"/>
          </a:xfrm>
          <a:prstGeom prst="rect">
            <a:avLst/>
          </a:prstGeom>
          <a:noFill/>
        </p:spPr>
        <p:txBody>
          <a:bodyPr wrap="square" lIns="0" tIns="0" rIns="0" bIns="0">
            <a:spAutoFit/>
          </a:bodyPr>
          <a:lstStyle/>
          <a:p>
            <a:pPr algn="l">
              <a:spcBef>
                <a:spcPts val="0"/>
              </a:spcBef>
              <a:spcAft>
                <a:spcPts val="600"/>
              </a:spcAft>
              <a:defRPr sz="1150" b="1" i="0">
                <a:solidFill>
                  <a:srgbClr val="F3740B"/>
                </a:solidFill>
                <a:latin typeface="Montserrat"/>
              </a:defRPr>
            </a:pPr>
            <a:r>
              <a:t>» GOVERNANCE — QUẢN TRỊ MINH BẠCH »</a:t>
            </a:r>
          </a:p>
          <a:p>
            <a:pPr algn="l">
              <a:spcBef>
                <a:spcPts val="0"/>
              </a:spcBef>
              <a:spcAft>
                <a:spcPts val="600"/>
              </a:spcAft>
              <a:defRPr sz="3200" b="1" i="0">
                <a:solidFill>
                  <a:srgbClr val="F3740B"/>
                </a:solidFill>
                <a:latin typeface="Montserrat"/>
              </a:defRPr>
            </a:pPr>
            <a:r>
              <a:t>100% tuân thủ NĐ 06</a:t>
            </a:r>
          </a:p>
          <a:p>
            <a:pPr algn="l">
              <a:spcBef>
                <a:spcPts val="0"/>
              </a:spcBef>
              <a:spcAft>
                <a:spcPts val="1000"/>
              </a:spcAft>
              <a:defRPr sz="1700" b="1" i="0">
                <a:solidFill>
                  <a:srgbClr val="FCFFFF"/>
                </a:solidFill>
                <a:latin typeface="Montserrat"/>
              </a:defRPr>
            </a:pPr>
            <a:r>
              <a:t>Số hóa &amp; Tuân thủ pháp lý</a:t>
            </a:r>
          </a:p>
        </p:txBody>
      </p:sp>
      <p:sp>
        <p:nvSpPr>
          <p:cNvPr id="24" name="Rectangle 23"/>
          <p:cNvSpPr/>
          <p:nvPr/>
        </p:nvSpPr>
        <p:spPr>
          <a:xfrm>
            <a:off x="12446000" y="4927600"/>
            <a:ext cx="4572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496800" y="5130800"/>
            <a:ext cx="4470400" cy="3302000"/>
          </a:xfrm>
          <a:prstGeom prst="rect">
            <a:avLst/>
          </a:prstGeom>
          <a:noFill/>
        </p:spPr>
        <p:txBody>
          <a:bodyPr wrap="square" lIns="0" tIns="0" rIns="0" bIns="0">
            <a:spAutoFit/>
          </a:bodyPr>
          <a:lstStyle/>
          <a:p>
            <a:pPr algn="l">
              <a:spcBef>
                <a:spcPts val="0"/>
              </a:spcBef>
              <a:spcAft>
                <a:spcPts val="1000"/>
              </a:spcAft>
              <a:defRPr sz="1300" b="0" i="0">
                <a:solidFill>
                  <a:srgbClr val="CBD5E1"/>
                </a:solidFill>
                <a:latin typeface="Montserrat"/>
              </a:defRPr>
            </a:pPr>
            <a:r>
              <a:t>• Minh bạch hóa toàn bộ dữ liệu tiêu thụ nhiên liệu và phát thải carbon đến từng chuyến hàng cụ thể.</a:t>
            </a:r>
          </a:p>
          <a:p>
            <a:pPr algn="l">
              <a:spcBef>
                <a:spcPts val="0"/>
              </a:spcBef>
              <a:spcAft>
                <a:spcPts val="1000"/>
              </a:spcAft>
              <a:defRPr sz="1300" b="0" i="0">
                <a:solidFill>
                  <a:srgbClr val="CBD5E1"/>
                </a:solidFill>
                <a:latin typeface="Montserrat"/>
              </a:defRPr>
            </a:pPr>
            <a:r>
              <a:t>• Sẵn sàng đáp ứng đầy đủ lộ trình kiểm kê khí nhà kính bắt buộc theo Nghị định 06/2022/NĐ-CP.</a:t>
            </a:r>
          </a:p>
          <a:p>
            <a:pPr algn="l">
              <a:spcBef>
                <a:spcPts val="0"/>
              </a:spcBef>
              <a:spcAft>
                <a:spcPts val="1000"/>
              </a:spcAft>
              <a:defRPr sz="1300" b="0" i="0">
                <a:solidFill>
                  <a:srgbClr val="CBD5E1"/>
                </a:solidFill>
                <a:latin typeface="Montserrat"/>
              </a:defRPr>
            </a:pPr>
            <a:r>
              <a:t>• Tạo lợi thế cạnh tranh bền vững để doanh nghiệp Việt Nam tự tin tham gia chuỗi cung ứng toàn cầu.</a:t>
            </a:r>
          </a:p>
        </p:txBody>
      </p:sp>
      <p:sp>
        <p:nvSpPr>
          <p:cNvPr id="26" name="TextBox 25"/>
          <p:cNvSpPr txBox="1"/>
          <p:nvPr/>
        </p:nvSpPr>
        <p:spPr>
          <a:xfrm>
            <a:off x="1016000" y="8826500"/>
            <a:ext cx="16256000" cy="317500"/>
          </a:xfrm>
          <a:prstGeom prst="rect">
            <a:avLst/>
          </a:prstGeom>
          <a:noFill/>
        </p:spPr>
        <p:txBody>
          <a:bodyPr wrap="square" lIns="0" tIns="0" rIns="0" bIns="0">
            <a:spAutoFit/>
          </a:bodyPr>
          <a:lstStyle/>
          <a:p>
            <a:pPr algn="ctr">
              <a:spcBef>
                <a:spcPts val="0"/>
              </a:spcBef>
              <a:spcAft>
                <a:spcPts val="400"/>
              </a:spcAft>
              <a:defRPr sz="1450" b="1" i="1">
                <a:solidFill>
                  <a:srgbClr val="11C96B"/>
                </a:solidFill>
                <a:latin typeface="Montserrat"/>
              </a:defRPr>
            </a:pPr>
            <a:r>
              <a:t>“ Nơi phát triển kinh tế và bảo vệ môi trường có thể song hành trên từng ki-lô-mét vận chuyển.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lean_glow_amber.png"/>
          <p:cNvPicPr>
            <a:picLocks noChangeAspect="1"/>
          </p:cNvPicPr>
          <p:nvPr/>
        </p:nvPicPr>
        <p:blipFill>
          <a:blip r:embed="rId2"/>
          <a:stretch>
            <a:fillRect/>
          </a:stretch>
        </p:blipFill>
        <p:spPr>
          <a:xfrm>
            <a:off x="12065000" y="-1524000"/>
            <a:ext cx="8255000" cy="8255000"/>
          </a:xfrm>
          <a:prstGeom prst="rect">
            <a:avLst/>
          </a:prstGeom>
        </p:spPr>
      </p:pic>
      <p:pic>
        <p:nvPicPr>
          <p:cNvPr id="4" name="Picture 3" descr="clean_glow_cyan.png"/>
          <p:cNvPicPr>
            <a:picLocks noChangeAspect="1"/>
          </p:cNvPicPr>
          <p:nvPr/>
        </p:nvPicPr>
        <p:blipFill>
          <a:blip r:embed="rId3"/>
          <a:stretch>
            <a:fillRect/>
          </a:stretch>
        </p:blipFill>
        <p:spPr>
          <a:xfrm>
            <a:off x="12446000" y="4826000"/>
            <a:ext cx="7874000" cy="6985000"/>
          </a:xfrm>
          <a:prstGeom prst="rect">
            <a:avLst/>
          </a:prstGeom>
        </p:spPr>
      </p:pic>
      <p:pic>
        <p:nvPicPr>
          <p:cNvPr id="5" name="Picture 4" descr="clean_glow_emerald.png"/>
          <p:cNvPicPr>
            <a:picLocks noChangeAspect="1"/>
          </p:cNvPicPr>
          <p:nvPr/>
        </p:nvPicPr>
        <p:blipFill>
          <a:blip r:embed="rId4"/>
          <a:stretch>
            <a:fillRect/>
          </a:stretch>
        </p:blipFill>
        <p:spPr>
          <a:xfrm>
            <a:off x="-1524000" y="-1524000"/>
            <a:ext cx="7620000" cy="7620000"/>
          </a:xfrm>
          <a:prstGeom prst="rect">
            <a:avLst/>
          </a:prstGeom>
        </p:spPr>
      </p:pic>
      <p:sp>
        <p:nvSpPr>
          <p:cNvPr id="6" name="Rounded Rectangle 5"/>
          <p:cNvSpPr/>
          <p:nvPr/>
        </p:nvSpPr>
        <p:spPr>
          <a:xfrm>
            <a:off x="1778000" y="533400"/>
            <a:ext cx="14732000" cy="9207500"/>
          </a:xfrm>
          <a:prstGeom prst="roundRect">
            <a:avLst>
              <a:gd name="adj" fmla="val 4000"/>
            </a:avLst>
          </a:prstGeom>
          <a:solidFill>
            <a:srgbClr val="131B2A"/>
          </a:solidFill>
          <a:ln w="20320">
            <a:solidFill>
              <a:srgbClr val="2BBB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787400"/>
            <a:ext cx="13716000" cy="571500"/>
          </a:xfrm>
          <a:prstGeom prst="rect">
            <a:avLst/>
          </a:prstGeom>
          <a:noFill/>
        </p:spPr>
        <p:txBody>
          <a:bodyPr wrap="square" lIns="0" tIns="0" rIns="0" bIns="0">
            <a:spAutoFit/>
          </a:bodyPr>
          <a:lstStyle/>
          <a:p>
            <a:pPr algn="ctr">
              <a:spcBef>
                <a:spcPts val="0"/>
              </a:spcBef>
              <a:spcAft>
                <a:spcPts val="200"/>
              </a:spcAft>
              <a:defRPr sz="1350" b="1" i="0">
                <a:solidFill>
                  <a:srgbClr val="2BBBED"/>
                </a:solidFill>
                <a:latin typeface="Montserrat"/>
              </a:defRPr>
            </a:pPr>
            <a:r>
              <a:t>CUỘC THI OLYMPIC KHỞI NGHIỆP 2026 (SO 2026)</a:t>
            </a:r>
          </a:p>
          <a:p>
            <a:pPr algn="ctr">
              <a:spcBef>
                <a:spcPts val="0"/>
              </a:spcBef>
              <a:spcAft>
                <a:spcPts val="400"/>
              </a:spcAft>
              <a:defRPr sz="1150" b="0" i="0">
                <a:solidFill>
                  <a:srgbClr val="94A3B8"/>
                </a:solidFill>
                <a:latin typeface="Montserrat"/>
              </a:defRPr>
            </a:pPr>
            <a:r>
              <a:t>Đơn vị tổ chức: Trường Đại học Kinh tế Quốc dân (NEU) &amp; Trung tâm Đổi mới sáng tạo và Hướng nghiệp (CICN)</a:t>
            </a:r>
          </a:p>
        </p:txBody>
      </p:sp>
      <p:pic>
        <p:nvPicPr>
          <p:cNvPr id="8" name="Picture 7" descr="logo_neu_transparent.png"/>
          <p:cNvPicPr>
            <a:picLocks noChangeAspect="1"/>
          </p:cNvPicPr>
          <p:nvPr/>
        </p:nvPicPr>
        <p:blipFill>
          <a:blip r:embed="rId6"/>
          <a:stretch>
            <a:fillRect/>
          </a:stretch>
        </p:blipFill>
        <p:spPr>
          <a:xfrm>
            <a:off x="8509000" y="1498600"/>
            <a:ext cx="736600" cy="736600"/>
          </a:xfrm>
          <a:prstGeom prst="rect">
            <a:avLst/>
          </a:prstGeom>
        </p:spPr>
      </p:pic>
      <p:pic>
        <p:nvPicPr>
          <p:cNvPr id="9" name="Picture 8" descr="logo_greenlogix_badge.png"/>
          <p:cNvPicPr>
            <a:picLocks noChangeAspect="1"/>
          </p:cNvPicPr>
          <p:nvPr/>
        </p:nvPicPr>
        <p:blipFill>
          <a:blip r:embed="rId7"/>
          <a:stretch>
            <a:fillRect/>
          </a:stretch>
        </p:blipFill>
        <p:spPr>
          <a:xfrm>
            <a:off x="9461500" y="1498600"/>
            <a:ext cx="736600" cy="736600"/>
          </a:xfrm>
          <a:prstGeom prst="rect">
            <a:avLst/>
          </a:prstGeom>
        </p:spPr>
      </p:pic>
      <p:sp>
        <p:nvSpPr>
          <p:cNvPr id="10" name="TextBox 9"/>
          <p:cNvSpPr txBox="1"/>
          <p:nvPr/>
        </p:nvSpPr>
        <p:spPr>
          <a:xfrm>
            <a:off x="2286000" y="2387600"/>
            <a:ext cx="13716000" cy="698500"/>
          </a:xfrm>
          <a:prstGeom prst="rect">
            <a:avLst/>
          </a:prstGeom>
          <a:noFill/>
        </p:spPr>
        <p:txBody>
          <a:bodyPr wrap="square" lIns="0" tIns="0" rIns="0" bIns="0">
            <a:spAutoFit/>
          </a:bodyPr>
          <a:lstStyle/>
          <a:p>
            <a:pPr algn="ctr">
              <a:spcBef>
                <a:spcPts val="0"/>
              </a:spcBef>
              <a:spcAft>
                <a:spcPts val="400"/>
              </a:spcAft>
            </a:pPr>
            <a:r>
              <a:rPr sz="4600" b="1" i="0">
                <a:solidFill>
                  <a:srgbClr val="FCFFFF"/>
                </a:solidFill>
                <a:latin typeface="Montserrat"/>
              </a:rPr>
              <a:t>GREEN</a:t>
            </a:r>
            <a:r>
              <a:rPr sz="4600" b="1" i="0">
                <a:solidFill>
                  <a:srgbClr val="11C96B"/>
                </a:solidFill>
                <a:latin typeface="Montserrat"/>
              </a:rPr>
              <a:t>LOGIX</a:t>
            </a:r>
          </a:p>
        </p:txBody>
      </p:sp>
      <p:sp>
        <p:nvSpPr>
          <p:cNvPr id="11" name="TextBox 10"/>
          <p:cNvSpPr txBox="1"/>
          <p:nvPr/>
        </p:nvSpPr>
        <p:spPr>
          <a:xfrm>
            <a:off x="2286000" y="3073400"/>
            <a:ext cx="13716000" cy="1333500"/>
          </a:xfrm>
          <a:prstGeom prst="rect">
            <a:avLst/>
          </a:prstGeom>
          <a:noFill/>
        </p:spPr>
        <p:txBody>
          <a:bodyPr wrap="square" lIns="0" tIns="0" rIns="0" bIns="0">
            <a:spAutoFit/>
          </a:bodyPr>
          <a:lstStyle/>
          <a:p>
            <a:pPr algn="ctr">
              <a:spcBef>
                <a:spcPts val="0"/>
              </a:spcBef>
              <a:spcAft>
                <a:spcPts val="400"/>
              </a:spcAft>
              <a:defRPr sz="7600" b="1" i="0">
                <a:solidFill>
                  <a:srgbClr val="FFDE59"/>
                </a:solidFill>
                <a:latin typeface="Montserrat"/>
              </a:defRPr>
            </a:pPr>
            <a:r>
              <a:t>THANK YOU</a:t>
            </a:r>
          </a:p>
        </p:txBody>
      </p:sp>
      <p:sp>
        <p:nvSpPr>
          <p:cNvPr id="12" name="TextBox 11"/>
          <p:cNvSpPr txBox="1"/>
          <p:nvPr/>
        </p:nvSpPr>
        <p:spPr>
          <a:xfrm>
            <a:off x="2286000" y="4521200"/>
            <a:ext cx="13716000" cy="444500"/>
          </a:xfrm>
          <a:prstGeom prst="rect">
            <a:avLst/>
          </a:prstGeom>
          <a:noFill/>
        </p:spPr>
        <p:txBody>
          <a:bodyPr wrap="square" lIns="0" tIns="0" rIns="0" bIns="0">
            <a:spAutoFit/>
          </a:bodyPr>
          <a:lstStyle/>
          <a:p>
            <a:pPr algn="ctr">
              <a:spcBef>
                <a:spcPts val="0"/>
              </a:spcBef>
              <a:spcAft>
                <a:spcPts val="400"/>
              </a:spcAft>
              <a:defRPr sz="1800" b="1" i="0">
                <a:solidFill>
                  <a:srgbClr val="11C96B"/>
                </a:solidFill>
                <a:latin typeface="Montserrat"/>
              </a:defRPr>
            </a:pPr>
            <a:r>
              <a:t>TỐI ƯU VẬN CHUYỂN · TIẾT KIỆM CHI PHÍ · KIẾN TẠO TƯƠNG LAI XANH</a:t>
            </a:r>
          </a:p>
        </p:txBody>
      </p:sp>
      <p:sp>
        <p:nvSpPr>
          <p:cNvPr id="13" name="Rounded Rectangle 12"/>
          <p:cNvSpPr/>
          <p:nvPr/>
        </p:nvSpPr>
        <p:spPr>
          <a:xfrm>
            <a:off x="5461000" y="5143500"/>
            <a:ext cx="7366000" cy="660400"/>
          </a:xfrm>
          <a:prstGeom prst="roundRect">
            <a:avLst>
              <a:gd name="adj" fmla="val 50000"/>
            </a:avLst>
          </a:prstGeom>
          <a:solidFill>
            <a:srgbClr val="0A261A"/>
          </a:solidFill>
          <a:ln w="15240">
            <a:solidFill>
              <a:srgbClr val="11C96B"/>
            </a:solid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600" b="1">
                <a:solidFill>
                  <a:srgbClr val="FCFFFF"/>
                </a:solidFill>
                <a:latin typeface="Montserrat"/>
              </a:defRPr>
            </a:pPr>
            <a:r>
              <a:t>🚀 TRẢI NGHIỆM TRỰC TIẾP DEMO: greenlogix.w9.nu</a:t>
            </a:r>
          </a:p>
        </p:txBody>
      </p:sp>
      <p:sp>
        <p:nvSpPr>
          <p:cNvPr id="14" name="TextBox 13"/>
          <p:cNvSpPr txBox="1"/>
          <p:nvPr/>
        </p:nvSpPr>
        <p:spPr>
          <a:xfrm>
            <a:off x="2286000" y="6070600"/>
            <a:ext cx="13716000" cy="444500"/>
          </a:xfrm>
          <a:prstGeom prst="rect">
            <a:avLst/>
          </a:prstGeom>
          <a:noFill/>
        </p:spPr>
        <p:txBody>
          <a:bodyPr wrap="square" lIns="0" tIns="0" rIns="0" bIns="0">
            <a:spAutoFit/>
          </a:bodyPr>
          <a:lstStyle/>
          <a:p>
            <a:pPr algn="ctr">
              <a:spcBef>
                <a:spcPts val="0"/>
              </a:spcBef>
              <a:spcAft>
                <a:spcPts val="400"/>
              </a:spcAft>
              <a:defRPr sz="1650" b="1" i="1">
                <a:solidFill>
                  <a:srgbClr val="2BBBED"/>
                </a:solidFill>
                <a:latin typeface="Montserrat"/>
              </a:defRPr>
            </a:pPr>
            <a:r>
              <a:t>“ Cảm ơn Ban Giám Khảo và Quý Khán Giả đã dành thời gian đồng hành cùng EcoMiles! ”</a:t>
            </a:r>
          </a:p>
        </p:txBody>
      </p:sp>
      <p:sp>
        <p:nvSpPr>
          <p:cNvPr id="15" name="Rectangle 14"/>
          <p:cNvSpPr/>
          <p:nvPr/>
        </p:nvSpPr>
        <p:spPr>
          <a:xfrm>
            <a:off x="2794000" y="6705600"/>
            <a:ext cx="12700000" cy="12700"/>
          </a:xfrm>
          <a:prstGeom prst="rect">
            <a:avLst/>
          </a:prstGeom>
          <a:solidFill>
            <a:srgbClr val="1E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0" y="6921500"/>
            <a:ext cx="13716000" cy="1778000"/>
          </a:xfrm>
          <a:prstGeom prst="rect">
            <a:avLst/>
          </a:prstGeom>
          <a:noFill/>
        </p:spPr>
        <p:txBody>
          <a:bodyPr wrap="square" lIns="0" tIns="0" rIns="0" bIns="0">
            <a:spAutoFit/>
          </a:bodyPr>
          <a:lstStyle/>
          <a:p>
            <a:pPr algn="ctr">
              <a:spcBef>
                <a:spcPts val="0"/>
              </a:spcBef>
              <a:spcAft>
                <a:spcPts val="600"/>
              </a:spcAft>
              <a:defRPr sz="1200" b="1" i="0">
                <a:solidFill>
                  <a:srgbClr val="FCFFFF"/>
                </a:solidFill>
                <a:latin typeface="Montserrat"/>
              </a:defRPr>
            </a:pPr>
            <a:r>
              <a:t>» ĐỘI NGŨ SÁNG LẬP DỰ THI ECOMILES »</a:t>
            </a:r>
          </a:p>
          <a:p>
            <a:pPr algn="ctr">
              <a:spcBef>
                <a:spcPts val="0"/>
              </a:spcBef>
              <a:spcAft>
                <a:spcPts val="800"/>
              </a:spcAft>
              <a:defRPr sz="1300" b="0" i="0">
                <a:solidFill>
                  <a:srgbClr val="CBD5E1"/>
                </a:solidFill>
                <a:latin typeface="Montserrat"/>
              </a:defRPr>
            </a:pPr>
            <a:r>
              <a:t>Nguyễn Thu Thuỷ (NEU)  ·  Phạm Quốc Thanh (IU - VNU)  ·  Nguyễn N. Khánh Phương (FTU2)</a:t>
            </a:r>
            <a:br/>
            <a:r>
              <a:t>Nguyễn Hồng Phúc (FPT Hà Nội)  ·  Lê Thị Hoàng Ngân (NEU)</a:t>
            </a:r>
          </a:p>
          <a:p>
            <a:pPr algn="ctr">
              <a:spcBef>
                <a:spcPts val="0"/>
              </a:spcBef>
              <a:spcAft>
                <a:spcPts val="400"/>
              </a:spcAft>
              <a:defRPr sz="1050" b="0" i="0">
                <a:solidFill>
                  <a:srgbClr val="64748B"/>
                </a:solidFill>
                <a:latin typeface="Montserrat"/>
              </a:defRPr>
            </a:pPr>
            <a:r>
              <a:t>EcoMiles — Nền tảng điều hành vận tải xanh &amp; đo lường phát thải carbon đô thị · Powered by CargoX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